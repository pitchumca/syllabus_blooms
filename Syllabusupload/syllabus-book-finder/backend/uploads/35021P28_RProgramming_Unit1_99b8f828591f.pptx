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slides/slide8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4"/>
  </p:notesMasterIdLst>
  <p:sldIdLst>
    <p:sldId id="257" r:id="rId2"/>
    <p:sldId id="258" r:id="rId3"/>
    <p:sldId id="259" r:id="rId4"/>
    <p:sldId id="260" r:id="rId5"/>
    <p:sldId id="261" r:id="rId6"/>
    <p:sldId id="262" r:id="rId7"/>
    <p:sldId id="326" r:id="rId8"/>
    <p:sldId id="328" r:id="rId9"/>
    <p:sldId id="327" r:id="rId10"/>
    <p:sldId id="263" r:id="rId11"/>
    <p:sldId id="264" r:id="rId12"/>
    <p:sldId id="265" r:id="rId13"/>
    <p:sldId id="266" r:id="rId14"/>
    <p:sldId id="267" r:id="rId15"/>
    <p:sldId id="268" r:id="rId16"/>
    <p:sldId id="280" r:id="rId17"/>
    <p:sldId id="269" r:id="rId18"/>
    <p:sldId id="270" r:id="rId19"/>
    <p:sldId id="271" r:id="rId20"/>
    <p:sldId id="272" r:id="rId21"/>
    <p:sldId id="273" r:id="rId22"/>
    <p:sldId id="274" r:id="rId23"/>
    <p:sldId id="322" r:id="rId24"/>
    <p:sldId id="323" r:id="rId25"/>
    <p:sldId id="324" r:id="rId26"/>
    <p:sldId id="325" r:id="rId27"/>
    <p:sldId id="329" r:id="rId28"/>
    <p:sldId id="330" r:id="rId29"/>
    <p:sldId id="276" r:id="rId30"/>
    <p:sldId id="275" r:id="rId31"/>
    <p:sldId id="331" r:id="rId32"/>
    <p:sldId id="332" r:id="rId33"/>
    <p:sldId id="277" r:id="rId34"/>
    <p:sldId id="278" r:id="rId35"/>
    <p:sldId id="279" r:id="rId36"/>
    <p:sldId id="281"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333" r:id="rId51"/>
    <p:sldId id="295" r:id="rId52"/>
    <p:sldId id="336" r:id="rId53"/>
    <p:sldId id="334" r:id="rId54"/>
    <p:sldId id="335" r:id="rId55"/>
    <p:sldId id="339" r:id="rId56"/>
    <p:sldId id="340" r:id="rId57"/>
    <p:sldId id="341" r:id="rId58"/>
    <p:sldId id="342" r:id="rId59"/>
    <p:sldId id="343" r:id="rId60"/>
    <p:sldId id="344" r:id="rId61"/>
    <p:sldId id="345" r:id="rId62"/>
    <p:sldId id="346" r:id="rId63"/>
    <p:sldId id="296" r:id="rId64"/>
    <p:sldId id="337" r:id="rId65"/>
    <p:sldId id="338" r:id="rId66"/>
    <p:sldId id="297" r:id="rId67"/>
    <p:sldId id="298" r:id="rId68"/>
    <p:sldId id="299" r:id="rId69"/>
    <p:sldId id="300" r:id="rId70"/>
    <p:sldId id="301" r:id="rId71"/>
    <p:sldId id="302" r:id="rId72"/>
    <p:sldId id="311" r:id="rId73"/>
    <p:sldId id="312" r:id="rId74"/>
    <p:sldId id="313" r:id="rId75"/>
    <p:sldId id="314" r:id="rId76"/>
    <p:sldId id="315" r:id="rId77"/>
    <p:sldId id="316" r:id="rId78"/>
    <p:sldId id="317" r:id="rId79"/>
    <p:sldId id="318" r:id="rId80"/>
    <p:sldId id="319" r:id="rId81"/>
    <p:sldId id="320" r:id="rId82"/>
    <p:sldId id="321"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995" autoAdjust="0"/>
    <p:restoredTop sz="94660"/>
  </p:normalViewPr>
  <p:slideViewPr>
    <p:cSldViewPr snapToGrid="0">
      <p:cViewPr>
        <p:scale>
          <a:sx n="100" d="100"/>
          <a:sy n="100" d="100"/>
        </p:scale>
        <p:origin x="-14" y="331"/>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67186B5-5B3F-4552-8D46-FE8F44B09DCA}" type="datetimeFigureOut">
              <a:rPr lang="en-US" smtClean="0"/>
              <a:pPr/>
              <a:t>7/22/2026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AD43D9B-A273-4791-BBE1-87694DDC976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AD43D9B-A273-4791-BBE1-87694DDC9768}" type="slidenum">
              <a:rPr lang="en-US" smtClean="0"/>
              <a:pPr/>
              <a:t>35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080AB31-276A-8FF4-EB09-44996C8293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910294ED-D6CC-547C-5C5B-1043D3C5D1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1D3B2A78-468E-ED44-2423-E08F5858E1D3}"/>
              </a:ext>
            </a:extLst>
          </p:cNvPr>
          <p:cNvSpPr>
            <a:spLocks noGrp="1"/>
          </p:cNvSpPr>
          <p:nvPr>
            <p:ph type="dt" sz="half" idx="10"/>
          </p:nvPr>
        </p:nvSpPr>
        <p:spPr/>
        <p:txBody>
          <a:bodyPr/>
          <a:lstStyle/>
          <a:p>
            <a:fld id="{9E8279BA-5D56-4D1D-B800-451306E07291}" type="datetimeFigureOut">
              <a:rPr lang="en-IN" smtClean="0"/>
              <a:pPr/>
              <a:t>22-07-2026</a:t>
            </a:fld>
            <a:endParaRPr lang="en-IN"/>
          </a:p>
        </p:txBody>
      </p:sp>
      <p:sp>
        <p:nvSpPr>
          <p:cNvPr id="5" name="Footer Placeholder 4">
            <a:extLst>
              <a:ext uri="{FF2B5EF4-FFF2-40B4-BE49-F238E27FC236}">
                <a16:creationId xmlns="" xmlns:a16="http://schemas.microsoft.com/office/drawing/2014/main" id="{03DE8586-E89C-267D-8E51-AC94A1631C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722FB6D-17D1-6EFD-D8DB-BDF18E15CBE4}"/>
              </a:ext>
            </a:extLst>
          </p:cNvPr>
          <p:cNvSpPr>
            <a:spLocks noGrp="1"/>
          </p:cNvSpPr>
          <p:nvPr>
            <p:ph type="sldNum" sz="quarter" idx="12"/>
          </p:nvPr>
        </p:nvSpPr>
        <p:spPr/>
        <p:txBody>
          <a:bodyPr/>
          <a:lstStyle/>
          <a:p>
            <a:fld id="{ADC59214-723C-43C9-91B1-B85B33B58537}" type="slidenum">
              <a:rPr lang="en-IN" smtClean="0"/>
              <a:pPr/>
              <a:t>‹#›</a:t>
            </a:fld>
            <a:endParaRPr lang="en-IN"/>
          </a:p>
        </p:txBody>
      </p:sp>
    </p:spTree>
    <p:extLst>
      <p:ext uri="{BB962C8B-B14F-4D97-AF65-F5344CB8AC3E}">
        <p14:creationId xmlns="" xmlns:p14="http://schemas.microsoft.com/office/powerpoint/2010/main" val="996534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5B12A84-3856-5AEB-9519-D5E17B343A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A89F83AD-377D-5C46-E172-F1A249D4C3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8DABDCCA-5439-ED73-C833-64187A41C953}"/>
              </a:ext>
            </a:extLst>
          </p:cNvPr>
          <p:cNvSpPr>
            <a:spLocks noGrp="1"/>
          </p:cNvSpPr>
          <p:nvPr>
            <p:ph type="dt" sz="half" idx="10"/>
          </p:nvPr>
        </p:nvSpPr>
        <p:spPr/>
        <p:txBody>
          <a:bodyPr/>
          <a:lstStyle/>
          <a:p>
            <a:fld id="{9E8279BA-5D56-4D1D-B800-451306E07291}" type="datetimeFigureOut">
              <a:rPr lang="en-IN" smtClean="0"/>
              <a:pPr/>
              <a:t>22-07-2026</a:t>
            </a:fld>
            <a:endParaRPr lang="en-IN"/>
          </a:p>
        </p:txBody>
      </p:sp>
      <p:sp>
        <p:nvSpPr>
          <p:cNvPr id="5" name="Footer Placeholder 4">
            <a:extLst>
              <a:ext uri="{FF2B5EF4-FFF2-40B4-BE49-F238E27FC236}">
                <a16:creationId xmlns="" xmlns:a16="http://schemas.microsoft.com/office/drawing/2014/main" id="{124A368F-8CBA-F795-17EB-B647A5F5C1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7C9CB37E-4292-7B41-AECA-932E5D13A3FD}"/>
              </a:ext>
            </a:extLst>
          </p:cNvPr>
          <p:cNvSpPr>
            <a:spLocks noGrp="1"/>
          </p:cNvSpPr>
          <p:nvPr>
            <p:ph type="sldNum" sz="quarter" idx="12"/>
          </p:nvPr>
        </p:nvSpPr>
        <p:spPr/>
        <p:txBody>
          <a:bodyPr/>
          <a:lstStyle/>
          <a:p>
            <a:fld id="{ADC59214-723C-43C9-91B1-B85B33B58537}" type="slidenum">
              <a:rPr lang="en-IN" smtClean="0"/>
              <a:pPr/>
              <a:t>‹#›</a:t>
            </a:fld>
            <a:endParaRPr lang="en-IN"/>
          </a:p>
        </p:txBody>
      </p:sp>
    </p:spTree>
    <p:extLst>
      <p:ext uri="{BB962C8B-B14F-4D97-AF65-F5344CB8AC3E}">
        <p14:creationId xmlns="" xmlns:p14="http://schemas.microsoft.com/office/powerpoint/2010/main" val="39263358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64CDB82-B488-5BBF-B944-1649F7C272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613DF797-DD0C-EE01-AD29-641FAC1820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536EBCC7-3BB0-852E-9BF0-5A71D33210AC}"/>
              </a:ext>
            </a:extLst>
          </p:cNvPr>
          <p:cNvSpPr>
            <a:spLocks noGrp="1"/>
          </p:cNvSpPr>
          <p:nvPr>
            <p:ph type="dt" sz="half" idx="10"/>
          </p:nvPr>
        </p:nvSpPr>
        <p:spPr/>
        <p:txBody>
          <a:bodyPr/>
          <a:lstStyle/>
          <a:p>
            <a:fld id="{9E8279BA-5D56-4D1D-B800-451306E07291}" type="datetimeFigureOut">
              <a:rPr lang="en-IN" smtClean="0"/>
              <a:pPr/>
              <a:t>22-07-2026</a:t>
            </a:fld>
            <a:endParaRPr lang="en-IN"/>
          </a:p>
        </p:txBody>
      </p:sp>
      <p:sp>
        <p:nvSpPr>
          <p:cNvPr id="5" name="Footer Placeholder 4">
            <a:extLst>
              <a:ext uri="{FF2B5EF4-FFF2-40B4-BE49-F238E27FC236}">
                <a16:creationId xmlns="" xmlns:a16="http://schemas.microsoft.com/office/drawing/2014/main" id="{11CFFA85-6D10-7A51-C22D-6371E815D0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000A8116-0659-EE35-AD41-CBD47CCC5650}"/>
              </a:ext>
            </a:extLst>
          </p:cNvPr>
          <p:cNvSpPr>
            <a:spLocks noGrp="1"/>
          </p:cNvSpPr>
          <p:nvPr>
            <p:ph type="sldNum" sz="quarter" idx="12"/>
          </p:nvPr>
        </p:nvSpPr>
        <p:spPr/>
        <p:txBody>
          <a:bodyPr/>
          <a:lstStyle/>
          <a:p>
            <a:fld id="{ADC59214-723C-43C9-91B1-B85B33B58537}" type="slidenum">
              <a:rPr lang="en-IN" smtClean="0"/>
              <a:pPr/>
              <a:t>‹#›</a:t>
            </a:fld>
            <a:endParaRPr lang="en-IN"/>
          </a:p>
        </p:txBody>
      </p:sp>
    </p:spTree>
    <p:extLst>
      <p:ext uri="{BB962C8B-B14F-4D97-AF65-F5344CB8AC3E}">
        <p14:creationId xmlns="" xmlns:p14="http://schemas.microsoft.com/office/powerpoint/2010/main" val="746385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62378A2-111E-0F7E-40C6-88E910E163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05CE1D4C-88CB-8203-B9D0-EBD7C57A8B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A1219353-DD52-3AB5-EA76-9D210993DA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9D79FB1F-8052-7C95-73EC-8D0894CCA2F4}"/>
              </a:ext>
            </a:extLst>
          </p:cNvPr>
          <p:cNvSpPr>
            <a:spLocks noGrp="1"/>
          </p:cNvSpPr>
          <p:nvPr>
            <p:ph type="dt" sz="half" idx="10"/>
          </p:nvPr>
        </p:nvSpPr>
        <p:spPr/>
        <p:txBody>
          <a:bodyPr/>
          <a:lstStyle/>
          <a:p>
            <a:fld id="{9E8279BA-5D56-4D1D-B800-451306E07291}" type="datetimeFigureOut">
              <a:rPr lang="en-IN" smtClean="0"/>
              <a:pPr/>
              <a:t>22-07-2026</a:t>
            </a:fld>
            <a:endParaRPr lang="en-IN"/>
          </a:p>
        </p:txBody>
      </p:sp>
      <p:sp>
        <p:nvSpPr>
          <p:cNvPr id="6" name="Footer Placeholder 5">
            <a:extLst>
              <a:ext uri="{FF2B5EF4-FFF2-40B4-BE49-F238E27FC236}">
                <a16:creationId xmlns="" xmlns:a16="http://schemas.microsoft.com/office/drawing/2014/main" id="{8A08D6A7-6011-6C68-4A3F-A766859102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B309ACAC-3CFB-6813-D6CF-7FFF5F197142}"/>
              </a:ext>
            </a:extLst>
          </p:cNvPr>
          <p:cNvSpPr>
            <a:spLocks noGrp="1"/>
          </p:cNvSpPr>
          <p:nvPr>
            <p:ph type="sldNum" sz="quarter" idx="12"/>
          </p:nvPr>
        </p:nvSpPr>
        <p:spPr/>
        <p:txBody>
          <a:bodyPr/>
          <a:lstStyle/>
          <a:p>
            <a:fld id="{ADC59214-723C-43C9-91B1-B85B33B58537}" type="slidenum">
              <a:rPr lang="en-IN" smtClean="0"/>
              <a:pPr/>
              <a:t>‹#›</a:t>
            </a:fld>
            <a:endParaRPr lang="en-IN"/>
          </a:p>
        </p:txBody>
      </p:sp>
    </p:spTree>
    <p:extLst>
      <p:ext uri="{BB962C8B-B14F-4D97-AF65-F5344CB8AC3E}">
        <p14:creationId xmlns="" xmlns:p14="http://schemas.microsoft.com/office/powerpoint/2010/main" val="309323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A9F4378-1BBD-AA2B-18EE-067560E33D2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17781856-0D4E-C4E3-8D10-FA147C862D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C026B6C0-F593-2172-4974-3E6941FDCE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9E01FADE-C1FF-7F76-9CDC-F1C62C7EF2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2301B85F-023B-F3CC-8715-D538664D866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7C1206E9-6165-4BF0-5789-89FC0D8722B1}"/>
              </a:ext>
            </a:extLst>
          </p:cNvPr>
          <p:cNvSpPr>
            <a:spLocks noGrp="1"/>
          </p:cNvSpPr>
          <p:nvPr>
            <p:ph type="dt" sz="half" idx="10"/>
          </p:nvPr>
        </p:nvSpPr>
        <p:spPr/>
        <p:txBody>
          <a:bodyPr/>
          <a:lstStyle/>
          <a:p>
            <a:fld id="{9E8279BA-5D56-4D1D-B800-451306E07291}" type="datetimeFigureOut">
              <a:rPr lang="en-IN" smtClean="0"/>
              <a:pPr/>
              <a:t>22-07-2026</a:t>
            </a:fld>
            <a:endParaRPr lang="en-IN"/>
          </a:p>
        </p:txBody>
      </p:sp>
      <p:sp>
        <p:nvSpPr>
          <p:cNvPr id="8" name="Footer Placeholder 7">
            <a:extLst>
              <a:ext uri="{FF2B5EF4-FFF2-40B4-BE49-F238E27FC236}">
                <a16:creationId xmlns="" xmlns:a16="http://schemas.microsoft.com/office/drawing/2014/main" id="{F227B190-F4B5-3D7F-F64E-B3F96F601E1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6138CE70-06E0-55ED-103B-F307C0709EDD}"/>
              </a:ext>
            </a:extLst>
          </p:cNvPr>
          <p:cNvSpPr>
            <a:spLocks noGrp="1"/>
          </p:cNvSpPr>
          <p:nvPr>
            <p:ph type="sldNum" sz="quarter" idx="12"/>
          </p:nvPr>
        </p:nvSpPr>
        <p:spPr/>
        <p:txBody>
          <a:bodyPr/>
          <a:lstStyle/>
          <a:p>
            <a:fld id="{ADC59214-723C-43C9-91B1-B85B33B58537}" type="slidenum">
              <a:rPr lang="en-IN" smtClean="0"/>
              <a:pPr/>
              <a:t>‹#›</a:t>
            </a:fld>
            <a:endParaRPr lang="en-IN"/>
          </a:p>
        </p:txBody>
      </p:sp>
    </p:spTree>
    <p:extLst>
      <p:ext uri="{BB962C8B-B14F-4D97-AF65-F5344CB8AC3E}">
        <p14:creationId xmlns="" xmlns:p14="http://schemas.microsoft.com/office/powerpoint/2010/main" val="1967165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7E6B595-D58C-B336-F5B3-2AC9050168A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DA4EEF5E-01E3-E245-935B-F284DE922FEA}"/>
              </a:ext>
            </a:extLst>
          </p:cNvPr>
          <p:cNvSpPr>
            <a:spLocks noGrp="1"/>
          </p:cNvSpPr>
          <p:nvPr>
            <p:ph type="dt" sz="half" idx="10"/>
          </p:nvPr>
        </p:nvSpPr>
        <p:spPr/>
        <p:txBody>
          <a:bodyPr/>
          <a:lstStyle/>
          <a:p>
            <a:fld id="{9E8279BA-5D56-4D1D-B800-451306E07291}" type="datetimeFigureOut">
              <a:rPr lang="en-IN" smtClean="0"/>
              <a:pPr/>
              <a:t>22-07-2026</a:t>
            </a:fld>
            <a:endParaRPr lang="en-IN"/>
          </a:p>
        </p:txBody>
      </p:sp>
      <p:sp>
        <p:nvSpPr>
          <p:cNvPr id="4" name="Footer Placeholder 3">
            <a:extLst>
              <a:ext uri="{FF2B5EF4-FFF2-40B4-BE49-F238E27FC236}">
                <a16:creationId xmlns="" xmlns:a16="http://schemas.microsoft.com/office/drawing/2014/main" id="{3B88B124-736C-16DA-1319-110B14CABBF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F81A370C-3D0E-C9F8-5CA1-70775A8A564E}"/>
              </a:ext>
            </a:extLst>
          </p:cNvPr>
          <p:cNvSpPr>
            <a:spLocks noGrp="1"/>
          </p:cNvSpPr>
          <p:nvPr>
            <p:ph type="sldNum" sz="quarter" idx="12"/>
          </p:nvPr>
        </p:nvSpPr>
        <p:spPr/>
        <p:txBody>
          <a:bodyPr/>
          <a:lstStyle/>
          <a:p>
            <a:fld id="{ADC59214-723C-43C9-91B1-B85B33B58537}" type="slidenum">
              <a:rPr lang="en-IN" smtClean="0"/>
              <a:pPr/>
              <a:t>‹#›</a:t>
            </a:fld>
            <a:endParaRPr lang="en-IN"/>
          </a:p>
        </p:txBody>
      </p:sp>
    </p:spTree>
    <p:extLst>
      <p:ext uri="{BB962C8B-B14F-4D97-AF65-F5344CB8AC3E}">
        <p14:creationId xmlns="" xmlns:p14="http://schemas.microsoft.com/office/powerpoint/2010/main" val="1605579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26E2BE6D-8C9E-7EAC-89BA-18FD4C2F6CC4}"/>
              </a:ext>
            </a:extLst>
          </p:cNvPr>
          <p:cNvSpPr>
            <a:spLocks noGrp="1"/>
          </p:cNvSpPr>
          <p:nvPr>
            <p:ph type="dt" sz="half" idx="10"/>
          </p:nvPr>
        </p:nvSpPr>
        <p:spPr/>
        <p:txBody>
          <a:bodyPr/>
          <a:lstStyle/>
          <a:p>
            <a:fld id="{9E8279BA-5D56-4D1D-B800-451306E07291}" type="datetimeFigureOut">
              <a:rPr lang="en-IN" smtClean="0"/>
              <a:pPr/>
              <a:t>22-07-2026</a:t>
            </a:fld>
            <a:endParaRPr lang="en-IN"/>
          </a:p>
        </p:txBody>
      </p:sp>
      <p:sp>
        <p:nvSpPr>
          <p:cNvPr id="3" name="Footer Placeholder 2">
            <a:extLst>
              <a:ext uri="{FF2B5EF4-FFF2-40B4-BE49-F238E27FC236}">
                <a16:creationId xmlns="" xmlns:a16="http://schemas.microsoft.com/office/drawing/2014/main" id="{D5703B37-F3CD-909B-E793-A28A4D0EC8A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CFD55733-FE84-EA4D-CC27-906F288A0594}"/>
              </a:ext>
            </a:extLst>
          </p:cNvPr>
          <p:cNvSpPr>
            <a:spLocks noGrp="1"/>
          </p:cNvSpPr>
          <p:nvPr>
            <p:ph type="sldNum" sz="quarter" idx="12"/>
          </p:nvPr>
        </p:nvSpPr>
        <p:spPr/>
        <p:txBody>
          <a:bodyPr/>
          <a:lstStyle/>
          <a:p>
            <a:fld id="{ADC59214-723C-43C9-91B1-B85B33B58537}" type="slidenum">
              <a:rPr lang="en-IN" smtClean="0"/>
              <a:pPr/>
              <a:t>‹#›</a:t>
            </a:fld>
            <a:endParaRPr lang="en-IN"/>
          </a:p>
        </p:txBody>
      </p:sp>
    </p:spTree>
    <p:extLst>
      <p:ext uri="{BB962C8B-B14F-4D97-AF65-F5344CB8AC3E}">
        <p14:creationId xmlns="" xmlns:p14="http://schemas.microsoft.com/office/powerpoint/2010/main" val="620985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84D43B2-4B89-0479-5FA3-DA876307BF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256559EB-3AA1-BC9D-06E9-1D68B44961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6D17041C-6BEE-2A57-72A4-B851A8BAA5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2F1ECC9F-3A29-4335-55BE-F8FE5D672F3E}"/>
              </a:ext>
            </a:extLst>
          </p:cNvPr>
          <p:cNvSpPr>
            <a:spLocks noGrp="1"/>
          </p:cNvSpPr>
          <p:nvPr>
            <p:ph type="dt" sz="half" idx="10"/>
          </p:nvPr>
        </p:nvSpPr>
        <p:spPr/>
        <p:txBody>
          <a:bodyPr/>
          <a:lstStyle/>
          <a:p>
            <a:fld id="{9E8279BA-5D56-4D1D-B800-451306E07291}" type="datetimeFigureOut">
              <a:rPr lang="en-IN" smtClean="0"/>
              <a:pPr/>
              <a:t>22-07-2026</a:t>
            </a:fld>
            <a:endParaRPr lang="en-IN"/>
          </a:p>
        </p:txBody>
      </p:sp>
      <p:sp>
        <p:nvSpPr>
          <p:cNvPr id="6" name="Footer Placeholder 5">
            <a:extLst>
              <a:ext uri="{FF2B5EF4-FFF2-40B4-BE49-F238E27FC236}">
                <a16:creationId xmlns="" xmlns:a16="http://schemas.microsoft.com/office/drawing/2014/main" id="{55CF58B9-0270-28AA-573C-77260E9D5D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E41EB625-A36C-B32B-0771-B069C5FED9AE}"/>
              </a:ext>
            </a:extLst>
          </p:cNvPr>
          <p:cNvSpPr>
            <a:spLocks noGrp="1"/>
          </p:cNvSpPr>
          <p:nvPr>
            <p:ph type="sldNum" sz="quarter" idx="12"/>
          </p:nvPr>
        </p:nvSpPr>
        <p:spPr/>
        <p:txBody>
          <a:bodyPr/>
          <a:lstStyle/>
          <a:p>
            <a:fld id="{ADC59214-723C-43C9-91B1-B85B33B58537}" type="slidenum">
              <a:rPr lang="en-IN" smtClean="0"/>
              <a:pPr/>
              <a:t>‹#›</a:t>
            </a:fld>
            <a:endParaRPr lang="en-IN"/>
          </a:p>
        </p:txBody>
      </p:sp>
    </p:spTree>
    <p:extLst>
      <p:ext uri="{BB962C8B-B14F-4D97-AF65-F5344CB8AC3E}">
        <p14:creationId xmlns="" xmlns:p14="http://schemas.microsoft.com/office/powerpoint/2010/main" val="2202851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C1B316-43FF-047F-D802-98FCF534A2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0D0B9BF3-B1B6-2DAE-3645-CF4B29AE88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F9981138-FD72-AC77-0FC6-0E4C5847B7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64FA0C71-8FB0-F97A-7F00-9CA709A7D88A}"/>
              </a:ext>
            </a:extLst>
          </p:cNvPr>
          <p:cNvSpPr>
            <a:spLocks noGrp="1"/>
          </p:cNvSpPr>
          <p:nvPr>
            <p:ph type="dt" sz="half" idx="10"/>
          </p:nvPr>
        </p:nvSpPr>
        <p:spPr/>
        <p:txBody>
          <a:bodyPr/>
          <a:lstStyle/>
          <a:p>
            <a:fld id="{9E8279BA-5D56-4D1D-B800-451306E07291}" type="datetimeFigureOut">
              <a:rPr lang="en-IN" smtClean="0"/>
              <a:pPr/>
              <a:t>22-07-2026</a:t>
            </a:fld>
            <a:endParaRPr lang="en-IN"/>
          </a:p>
        </p:txBody>
      </p:sp>
      <p:sp>
        <p:nvSpPr>
          <p:cNvPr id="6" name="Footer Placeholder 5">
            <a:extLst>
              <a:ext uri="{FF2B5EF4-FFF2-40B4-BE49-F238E27FC236}">
                <a16:creationId xmlns="" xmlns:a16="http://schemas.microsoft.com/office/drawing/2014/main" id="{976C7E45-AA91-BF2A-1728-5DC011EAED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180091DD-432D-E1CB-7338-6BA156DF84A2}"/>
              </a:ext>
            </a:extLst>
          </p:cNvPr>
          <p:cNvSpPr>
            <a:spLocks noGrp="1"/>
          </p:cNvSpPr>
          <p:nvPr>
            <p:ph type="sldNum" sz="quarter" idx="12"/>
          </p:nvPr>
        </p:nvSpPr>
        <p:spPr/>
        <p:txBody>
          <a:bodyPr/>
          <a:lstStyle/>
          <a:p>
            <a:fld id="{ADC59214-723C-43C9-91B1-B85B33B58537}" type="slidenum">
              <a:rPr lang="en-IN" smtClean="0"/>
              <a:pPr/>
              <a:t>‹#›</a:t>
            </a:fld>
            <a:endParaRPr lang="en-IN"/>
          </a:p>
        </p:txBody>
      </p:sp>
    </p:spTree>
    <p:extLst>
      <p:ext uri="{BB962C8B-B14F-4D97-AF65-F5344CB8AC3E}">
        <p14:creationId xmlns="" xmlns:p14="http://schemas.microsoft.com/office/powerpoint/2010/main" val="63075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8D2C996-A643-2E38-AF40-9941927A90C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D3A7BBC7-4942-514F-2730-CE1ECDC466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6C676D50-E492-A996-2DA0-241E7A0FD759}"/>
              </a:ext>
            </a:extLst>
          </p:cNvPr>
          <p:cNvSpPr>
            <a:spLocks noGrp="1"/>
          </p:cNvSpPr>
          <p:nvPr>
            <p:ph type="dt" sz="half" idx="10"/>
          </p:nvPr>
        </p:nvSpPr>
        <p:spPr/>
        <p:txBody>
          <a:bodyPr/>
          <a:lstStyle/>
          <a:p>
            <a:fld id="{9E8279BA-5D56-4D1D-B800-451306E07291}" type="datetimeFigureOut">
              <a:rPr lang="en-IN" smtClean="0"/>
              <a:pPr/>
              <a:t>22-07-2026</a:t>
            </a:fld>
            <a:endParaRPr lang="en-IN"/>
          </a:p>
        </p:txBody>
      </p:sp>
      <p:sp>
        <p:nvSpPr>
          <p:cNvPr id="5" name="Footer Placeholder 4">
            <a:extLst>
              <a:ext uri="{FF2B5EF4-FFF2-40B4-BE49-F238E27FC236}">
                <a16:creationId xmlns="" xmlns:a16="http://schemas.microsoft.com/office/drawing/2014/main" id="{0BEF559D-8C61-67BB-F649-3DA946F54C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35035F14-053C-0C66-7E90-1D188E86F4C9}"/>
              </a:ext>
            </a:extLst>
          </p:cNvPr>
          <p:cNvSpPr>
            <a:spLocks noGrp="1"/>
          </p:cNvSpPr>
          <p:nvPr>
            <p:ph type="sldNum" sz="quarter" idx="12"/>
          </p:nvPr>
        </p:nvSpPr>
        <p:spPr/>
        <p:txBody>
          <a:bodyPr/>
          <a:lstStyle/>
          <a:p>
            <a:fld id="{ADC59214-723C-43C9-91B1-B85B33B58537}" type="slidenum">
              <a:rPr lang="en-IN" smtClean="0"/>
              <a:pPr/>
              <a:t>‹#›</a:t>
            </a:fld>
            <a:endParaRPr lang="en-IN"/>
          </a:p>
        </p:txBody>
      </p:sp>
    </p:spTree>
    <p:extLst>
      <p:ext uri="{BB962C8B-B14F-4D97-AF65-F5344CB8AC3E}">
        <p14:creationId xmlns="" xmlns:p14="http://schemas.microsoft.com/office/powerpoint/2010/main" val="4139086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E5E31DE6-8741-77AC-B6F3-055C3BCF0DC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FE7106AD-5016-9DE5-70D7-8E054F88E7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9D28912E-4F50-5230-9119-78FA15EEB52A}"/>
              </a:ext>
            </a:extLst>
          </p:cNvPr>
          <p:cNvSpPr>
            <a:spLocks noGrp="1"/>
          </p:cNvSpPr>
          <p:nvPr>
            <p:ph type="dt" sz="half" idx="10"/>
          </p:nvPr>
        </p:nvSpPr>
        <p:spPr/>
        <p:txBody>
          <a:bodyPr/>
          <a:lstStyle/>
          <a:p>
            <a:fld id="{9E8279BA-5D56-4D1D-B800-451306E07291}" type="datetimeFigureOut">
              <a:rPr lang="en-IN" smtClean="0"/>
              <a:pPr/>
              <a:t>22-07-2026</a:t>
            </a:fld>
            <a:endParaRPr lang="en-IN"/>
          </a:p>
        </p:txBody>
      </p:sp>
      <p:sp>
        <p:nvSpPr>
          <p:cNvPr id="5" name="Footer Placeholder 4">
            <a:extLst>
              <a:ext uri="{FF2B5EF4-FFF2-40B4-BE49-F238E27FC236}">
                <a16:creationId xmlns="" xmlns:a16="http://schemas.microsoft.com/office/drawing/2014/main" id="{B69B9953-1F65-A00B-E780-B012225E6A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1A71C46E-8E21-4244-1CD0-BD2258C64F69}"/>
              </a:ext>
            </a:extLst>
          </p:cNvPr>
          <p:cNvSpPr>
            <a:spLocks noGrp="1"/>
          </p:cNvSpPr>
          <p:nvPr>
            <p:ph type="sldNum" sz="quarter" idx="12"/>
          </p:nvPr>
        </p:nvSpPr>
        <p:spPr/>
        <p:txBody>
          <a:bodyPr/>
          <a:lstStyle/>
          <a:p>
            <a:fld id="{ADC59214-723C-43C9-91B1-B85B33B58537}" type="slidenum">
              <a:rPr lang="en-IN" smtClean="0"/>
              <a:pPr/>
              <a:t>‹#›</a:t>
            </a:fld>
            <a:endParaRPr lang="en-IN"/>
          </a:p>
        </p:txBody>
      </p:sp>
    </p:spTree>
    <p:extLst>
      <p:ext uri="{BB962C8B-B14F-4D97-AF65-F5344CB8AC3E}">
        <p14:creationId xmlns="" xmlns:p14="http://schemas.microsoft.com/office/powerpoint/2010/main" val="1428373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08C31FF5-2B2A-6F8E-80D0-AA95A2C7E8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63485845-3387-B341-B308-AC2587BAD3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0B4696AE-EBE1-164F-2B34-1DB5989897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8279BA-5D56-4D1D-B800-451306E07291}" type="datetimeFigureOut">
              <a:rPr lang="en-IN" smtClean="0"/>
              <a:pPr/>
              <a:t>22-07-2026</a:t>
            </a:fld>
            <a:endParaRPr lang="en-IN"/>
          </a:p>
        </p:txBody>
      </p:sp>
      <p:sp>
        <p:nvSpPr>
          <p:cNvPr id="5" name="Footer Placeholder 4">
            <a:extLst>
              <a:ext uri="{FF2B5EF4-FFF2-40B4-BE49-F238E27FC236}">
                <a16:creationId xmlns="" xmlns:a16="http://schemas.microsoft.com/office/drawing/2014/main" id="{F19732D5-7634-DA5D-E8EE-8CE5A93771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9CB7437C-3A0B-DC7C-C3BD-A5576E622C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C59214-723C-43C9-91B1-B85B33B58537}" type="slidenum">
              <a:rPr lang="en-IN" smtClean="0"/>
              <a:pPr/>
              <a:t>‹#›</a:t>
            </a:fld>
            <a:endParaRPr lang="en-IN"/>
          </a:p>
        </p:txBody>
      </p:sp>
    </p:spTree>
    <p:extLst>
      <p:ext uri="{BB962C8B-B14F-4D97-AF65-F5344CB8AC3E}">
        <p14:creationId xmlns="" xmlns:p14="http://schemas.microsoft.com/office/powerpoint/2010/main" val="11333952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geeksforgeeks.org/r-language/dplyr-package-in-r-programmi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hyperlink" Target="https://www.geeksforgeeks.org/r-language/getting-and-setting-length-of-the-vectors-in-r-programming-length-function/" TargetMode="Externa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14D27621-9ACC-B86F-AE6A-700B5FA34F2A}"/>
              </a:ext>
            </a:extLst>
          </p:cNvPr>
          <p:cNvSpPr txBox="1"/>
          <p:nvPr/>
        </p:nvSpPr>
        <p:spPr>
          <a:xfrm>
            <a:off x="3048000" y="3260074"/>
            <a:ext cx="6096000" cy="1171988"/>
          </a:xfrm>
          <a:prstGeom prst="rect">
            <a:avLst/>
          </a:prstGeom>
          <a:noFill/>
        </p:spPr>
        <p:txBody>
          <a:bodyPr wrap="square">
            <a:spAutoFit/>
          </a:bodyPr>
          <a:lstStyle/>
          <a:p>
            <a:pPr algn="ctr">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Course Code: </a:t>
            </a:r>
            <a:r>
              <a:rPr lang="en-IN" b="1" kern="100" dirty="0">
                <a:latin typeface="Times New Roman" panose="02020603050405020304" pitchFamily="18" charset="0"/>
                <a:cs typeface="Times New Roman" panose="02020603050405020304" pitchFamily="18" charset="0"/>
              </a:rPr>
              <a:t>35021P28 </a:t>
            </a:r>
          </a:p>
          <a:p>
            <a:pPr algn="ctr">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Course Title: </a:t>
            </a:r>
            <a:r>
              <a:rPr lang="en-IN" b="1" kern="100" dirty="0">
                <a:latin typeface="Times New Roman" panose="02020603050405020304" pitchFamily="18" charset="0"/>
                <a:ea typeface="Calibri" panose="020F0502020204030204" pitchFamily="34" charset="0"/>
                <a:cs typeface="Times New Roman" panose="02020603050405020304" pitchFamily="18" charset="0"/>
              </a:rPr>
              <a:t>R Programming</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Category: CC | L-T-P: 3-0-0 | Credits: 3</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 xmlns:a16="http://schemas.microsoft.com/office/drawing/2014/main" id="{47AC1918-6B48-F12C-8772-73617AABAABF}"/>
              </a:ext>
            </a:extLst>
          </p:cNvPr>
          <p:cNvSpPr txBox="1"/>
          <p:nvPr/>
        </p:nvSpPr>
        <p:spPr>
          <a:xfrm>
            <a:off x="2749733" y="1482567"/>
            <a:ext cx="6892414" cy="1365758"/>
          </a:xfrm>
          <a:prstGeom prst="rect">
            <a:avLst/>
          </a:prstGeom>
          <a:noFill/>
        </p:spPr>
        <p:txBody>
          <a:bodyPr wrap="square">
            <a:spAutoFit/>
          </a:bodyPr>
          <a:lstStyle/>
          <a:p>
            <a:pPr algn="ctr">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AARUPADAI VEEDU INSTITUTE OF TECHNOLOGY</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(Constituent College of Vinayaka Mission's Research Foundation – Deemed to be University)</a:t>
            </a:r>
            <a:b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Department of Computer Science and Engineering</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 xmlns:a16="http://schemas.microsoft.com/office/drawing/2014/main" id="{DE7ADCD5-96E0-AD56-18B6-EF299B672C88}"/>
              </a:ext>
            </a:extLst>
          </p:cNvPr>
          <p:cNvSpPr/>
          <p:nvPr/>
        </p:nvSpPr>
        <p:spPr>
          <a:xfrm>
            <a:off x="5909187" y="5086223"/>
            <a:ext cx="5820697" cy="146500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rial Narrow" panose="020B0606020202030204" pitchFamily="34" charset="0"/>
              </a:rPr>
              <a:t>COURSE INSTRUCTOR: Dr. S. Pitchumani Angayarkanni</a:t>
            </a:r>
          </a:p>
          <a:p>
            <a:pPr algn="ctr"/>
            <a:r>
              <a:rPr lang="en-US" b="1" dirty="0">
                <a:latin typeface="Arial Narrow" panose="020B0606020202030204" pitchFamily="34" charset="0"/>
              </a:rPr>
              <a:t>Professor, Department of CSE, AVIT</a:t>
            </a:r>
            <a:endParaRPr lang="en-IN" b="1" dirty="0">
              <a:latin typeface="Arial Narrow" panose="020B0606020202030204" pitchFamily="34" charset="0"/>
            </a:endParaRPr>
          </a:p>
        </p:txBody>
      </p:sp>
      <p:grpSp>
        <p:nvGrpSpPr>
          <p:cNvPr id="20" name="Group 19">
            <a:extLst>
              <a:ext uri="{FF2B5EF4-FFF2-40B4-BE49-F238E27FC236}">
                <a16:creationId xmlns="" xmlns:a16="http://schemas.microsoft.com/office/drawing/2014/main" id="{1AE1F801-DC1B-DDA4-CB25-7A618D4D3208}"/>
              </a:ext>
            </a:extLst>
          </p:cNvPr>
          <p:cNvGrpSpPr/>
          <p:nvPr/>
        </p:nvGrpSpPr>
        <p:grpSpPr>
          <a:xfrm>
            <a:off x="820882" y="-23868"/>
            <a:ext cx="9725891" cy="1219723"/>
            <a:chOff x="0" y="20432"/>
            <a:chExt cx="9725891" cy="1219723"/>
          </a:xfrm>
        </p:grpSpPr>
        <p:pic>
          <p:nvPicPr>
            <p:cNvPr id="15" name="Picture 14">
              <a:extLst>
                <a:ext uri="{FF2B5EF4-FFF2-40B4-BE49-F238E27FC236}">
                  <a16:creationId xmlns="" xmlns:a16="http://schemas.microsoft.com/office/drawing/2014/main" id="{5AC61E8A-5BEE-45E1-566E-F5B00BE446C9}"/>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20432"/>
              <a:ext cx="4395354" cy="1219723"/>
            </a:xfrm>
            <a:prstGeom prst="rect">
              <a:avLst/>
            </a:prstGeom>
          </p:spPr>
        </p:pic>
        <p:pic>
          <p:nvPicPr>
            <p:cNvPr id="17" name="Picture 16">
              <a:extLst>
                <a:ext uri="{FF2B5EF4-FFF2-40B4-BE49-F238E27FC236}">
                  <a16:creationId xmlns="" xmlns:a16="http://schemas.microsoft.com/office/drawing/2014/main" id="{92D2ADEB-2CEC-DFBD-5DA3-13BA1DCCA62B}"/>
                </a:ext>
              </a:extLst>
            </p:cNvPr>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5177531" y="20433"/>
              <a:ext cx="1077796" cy="1105286"/>
            </a:xfrm>
            <a:prstGeom prst="rect">
              <a:avLst/>
            </a:prstGeom>
          </p:spPr>
        </p:pic>
        <p:pic>
          <p:nvPicPr>
            <p:cNvPr id="19" name="Picture 18">
              <a:extLst>
                <a:ext uri="{FF2B5EF4-FFF2-40B4-BE49-F238E27FC236}">
                  <a16:creationId xmlns="" xmlns:a16="http://schemas.microsoft.com/office/drawing/2014/main" id="{06D89561-4912-6761-71D0-2FF3CD61CD19}"/>
                </a:ext>
              </a:extLst>
            </p:cNvPr>
            <p:cNvPicPr>
              <a:picLocks noChangeAspect="1"/>
            </p:cNvPicPr>
            <p:nvPr/>
          </p:nvPicPr>
          <p:blipFill>
            <a:blip r:embed="rId4">
              <a:extLst>
                <a:ext uri="{28A0092B-C50C-407E-A947-70E740481C1C}">
                  <a14:useLocalDpi xmlns="" xmlns:a14="http://schemas.microsoft.com/office/drawing/2010/main" val="0"/>
                </a:ext>
              </a:extLst>
            </a:blip>
            <a:srcRect r="63325"/>
            <a:stretch>
              <a:fillRect/>
            </a:stretch>
          </p:blipFill>
          <p:spPr>
            <a:xfrm>
              <a:off x="7203529" y="178233"/>
              <a:ext cx="2522362" cy="958086"/>
            </a:xfrm>
            <a:prstGeom prst="rect">
              <a:avLst/>
            </a:prstGeom>
          </p:spPr>
        </p:pic>
      </p:grpSp>
    </p:spTree>
    <p:extLst>
      <p:ext uri="{BB962C8B-B14F-4D97-AF65-F5344CB8AC3E}">
        <p14:creationId xmlns="" xmlns:p14="http://schemas.microsoft.com/office/powerpoint/2010/main" val="2896723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 xmlns:a16="http://schemas.microsoft.com/office/drawing/2014/main" id="{3466B8BB-6C63-CAFA-EB77-ABEB89C6B468}"/>
              </a:ext>
            </a:extLst>
          </p:cNvPr>
          <p:cNvGraphicFramePr>
            <a:graphicFrameLocks noGrp="1"/>
          </p:cNvGraphicFramePr>
          <p:nvPr>
            <p:ph idx="1"/>
            <p:extLst>
              <p:ext uri="{D42A27DB-BD31-4B8C-83A1-F6EECF244321}">
                <p14:modId xmlns="" xmlns:p14="http://schemas.microsoft.com/office/powerpoint/2010/main" val="1710782154"/>
              </p:ext>
            </p:extLst>
          </p:nvPr>
        </p:nvGraphicFramePr>
        <p:xfrm>
          <a:off x="2266161" y="216440"/>
          <a:ext cx="7659678" cy="1654155"/>
        </p:xfrm>
        <a:graphic>
          <a:graphicData uri="http://schemas.openxmlformats.org/drawingml/2006/table">
            <a:tbl>
              <a:tblPr/>
              <a:tblGrid>
                <a:gridCol w="6312190">
                  <a:extLst>
                    <a:ext uri="{9D8B030D-6E8A-4147-A177-3AD203B41FA5}">
                      <a16:colId xmlns="" xmlns:a16="http://schemas.microsoft.com/office/drawing/2014/main" val="209623279"/>
                    </a:ext>
                  </a:extLst>
                </a:gridCol>
                <a:gridCol w="1347488">
                  <a:extLst>
                    <a:ext uri="{9D8B030D-6E8A-4147-A177-3AD203B41FA5}">
                      <a16:colId xmlns="" xmlns:a16="http://schemas.microsoft.com/office/drawing/2014/main" val="46626630"/>
                    </a:ext>
                  </a:extLst>
                </a:gridCol>
              </a:tblGrid>
              <a:tr h="0">
                <a:tc gridSpan="2">
                  <a:txBody>
                    <a:bodyPr/>
                    <a:lstStyle/>
                    <a:p>
                      <a:pPr marL="71120" rtl="0" fontAlgn="t">
                        <a:spcBef>
                          <a:spcPts val="265"/>
                        </a:spcBef>
                        <a:buNone/>
                      </a:pPr>
                      <a:r>
                        <a:rPr lang="en-IN" sz="1600" b="1" i="0" u="none" strike="noStrike" dirty="0">
                          <a:solidFill>
                            <a:srgbClr val="000000"/>
                          </a:solidFill>
                          <a:effectLst/>
                          <a:latin typeface="Times New Roman" panose="02020603050405020304" pitchFamily="18" charset="0"/>
                        </a:rPr>
                        <a:t>COURSE OUTCOMES</a:t>
                      </a:r>
                      <a:endParaRPr lang="en-IN" sz="1600" dirty="0">
                        <a:effectLst/>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IN"/>
                    </a:p>
                  </a:txBody>
                  <a:tcPr/>
                </a:tc>
                <a:extLst>
                  <a:ext uri="{0D108BD9-81ED-4DB2-BD59-A6C34878D82A}">
                    <a16:rowId xmlns="" xmlns:a16="http://schemas.microsoft.com/office/drawing/2014/main" val="626557732"/>
                  </a:ext>
                </a:extLst>
              </a:tr>
              <a:tr h="400373">
                <a:tc gridSpan="2">
                  <a:txBody>
                    <a:bodyPr/>
                    <a:lstStyle/>
                    <a:p>
                      <a:pPr marL="71120" rtl="0" fontAlgn="t">
                        <a:buNone/>
                      </a:pPr>
                      <a:r>
                        <a:rPr lang="en-US" sz="1600" b="0" i="0" u="none" strike="noStrike" dirty="0">
                          <a:solidFill>
                            <a:srgbClr val="000000"/>
                          </a:solidFill>
                          <a:effectLst/>
                          <a:latin typeface="Times New Roman" panose="02020603050405020304" pitchFamily="18" charset="0"/>
                        </a:rPr>
                        <a:t>On the successful completion of the course, students will be able to</a:t>
                      </a:r>
                      <a:endParaRPr lang="en-US" sz="1600" dirty="0">
                        <a:effectLst/>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IN"/>
                    </a:p>
                  </a:txBody>
                  <a:tcPr/>
                </a:tc>
                <a:extLst>
                  <a:ext uri="{0D108BD9-81ED-4DB2-BD59-A6C34878D82A}">
                    <a16:rowId xmlns="" xmlns:a16="http://schemas.microsoft.com/office/drawing/2014/main" val="3086718778"/>
                  </a:ext>
                </a:extLst>
              </a:tr>
              <a:tr h="918502">
                <a:tc>
                  <a:txBody>
                    <a:bodyPr/>
                    <a:lstStyle/>
                    <a:p>
                      <a:pPr marL="71120" rtl="0" fontAlgn="t">
                        <a:buNone/>
                      </a:pPr>
                      <a:r>
                        <a:rPr lang="en-US" sz="1600" b="1" i="0" u="none" strike="noStrike" dirty="0">
                          <a:solidFill>
                            <a:srgbClr val="000000"/>
                          </a:solidFill>
                          <a:effectLst/>
                          <a:latin typeface="Times New Roman" panose="02020603050405020304" pitchFamily="18" charset="0"/>
                        </a:rPr>
                        <a:t>CO1: </a:t>
                      </a:r>
                      <a:r>
                        <a:rPr lang="en-US" sz="1600" b="0" i="0" u="none" strike="noStrike" dirty="0">
                          <a:solidFill>
                            <a:srgbClr val="000000"/>
                          </a:solidFill>
                          <a:effectLst/>
                          <a:latin typeface="Times New Roman" panose="02020603050405020304" pitchFamily="18" charset="0"/>
                        </a:rPr>
                        <a:t>To Understand the basics in R programming in terms of constructs, control statements, string functions</a:t>
                      </a:r>
                      <a:endParaRPr lang="en-US" sz="1600" dirty="0">
                        <a:effectLst/>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67310" rtl="0" fontAlgn="t">
                        <a:spcBef>
                          <a:spcPts val="590"/>
                        </a:spcBef>
                        <a:buNone/>
                      </a:pPr>
                      <a:r>
                        <a:rPr lang="en-IN" sz="1600" b="0" i="0" u="none" strike="noStrike" dirty="0">
                          <a:solidFill>
                            <a:srgbClr val="000000"/>
                          </a:solidFill>
                          <a:effectLst/>
                          <a:latin typeface="Times New Roman" panose="02020603050405020304" pitchFamily="18" charset="0"/>
                        </a:rPr>
                        <a:t>Understand &amp; Apply</a:t>
                      </a:r>
                      <a:endParaRPr lang="en-IN" sz="1600" dirty="0">
                        <a:effectLst/>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894983229"/>
                  </a:ext>
                </a:extLst>
              </a:tr>
            </a:tbl>
          </a:graphicData>
        </a:graphic>
      </p:graphicFrame>
      <p:sp>
        <p:nvSpPr>
          <p:cNvPr id="8" name="Rectangle 2">
            <a:extLst>
              <a:ext uri="{FF2B5EF4-FFF2-40B4-BE49-F238E27FC236}">
                <a16:creationId xmlns="" xmlns:a16="http://schemas.microsoft.com/office/drawing/2014/main" id="{D548C7DE-4350-DA0B-D379-9F8F122705D7}"/>
              </a:ext>
            </a:extLst>
          </p:cNvPr>
          <p:cNvSpPr>
            <a:spLocks noChangeArrowheads="1"/>
          </p:cNvSpPr>
          <p:nvPr/>
        </p:nvSpPr>
        <p:spPr bwMode="auto">
          <a:xfrm>
            <a:off x="3644900" y="3444875"/>
            <a:ext cx="12192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TextBox 9">
            <a:extLst>
              <a:ext uri="{FF2B5EF4-FFF2-40B4-BE49-F238E27FC236}">
                <a16:creationId xmlns="" xmlns:a16="http://schemas.microsoft.com/office/drawing/2014/main" id="{699B626A-81EC-CD99-991C-16DB9E821902}"/>
              </a:ext>
            </a:extLst>
          </p:cNvPr>
          <p:cNvSpPr txBox="1"/>
          <p:nvPr/>
        </p:nvSpPr>
        <p:spPr>
          <a:xfrm>
            <a:off x="1548244" y="2956081"/>
            <a:ext cx="9694719" cy="1754326"/>
          </a:xfrm>
          <a:prstGeom prst="rect">
            <a:avLst/>
          </a:prstGeom>
          <a:noFill/>
        </p:spPr>
        <p:txBody>
          <a:bodyPr wrap="square">
            <a:spAutoFit/>
          </a:bodyPr>
          <a:lstStyle/>
          <a:p>
            <a:pPr marL="71120" marR="5193665" rtl="0">
              <a:buNone/>
            </a:pPr>
            <a:r>
              <a:rPr lang="en-US" sz="1800" b="1" i="0" u="none" strike="noStrike" dirty="0">
                <a:solidFill>
                  <a:srgbClr val="000000"/>
                </a:solidFill>
                <a:effectLst/>
                <a:latin typeface="Times New Roman" panose="02020603050405020304" pitchFamily="18" charset="0"/>
              </a:rPr>
              <a:t>INTRODUCTION</a:t>
            </a:r>
            <a:endParaRPr lang="en-US" b="0" dirty="0">
              <a:effectLst/>
            </a:endParaRPr>
          </a:p>
          <a:p>
            <a:pPr marL="211455" marR="177165" algn="just" rtl="0">
              <a:buNone/>
            </a:pPr>
            <a:r>
              <a:rPr lang="en-US" sz="1800" b="0" i="0" u="none" strike="noStrike" dirty="0">
                <a:solidFill>
                  <a:srgbClr val="000000"/>
                </a:solidFill>
                <a:effectLst/>
                <a:latin typeface="Times New Roman" panose="02020603050405020304" pitchFamily="18" charset="0"/>
              </a:rPr>
              <a:t>Introducing to R – R Data Structures – Help functions in R – Vectors – Scalars – Declarations – recycling – Common Vector operations – Using all and any – Vectorized operations – NA and NULL values – Filtering – </a:t>
            </a:r>
            <a:r>
              <a:rPr lang="en-US" sz="1800" b="0" i="0" u="none" strike="noStrike" dirty="0" err="1">
                <a:solidFill>
                  <a:srgbClr val="000000"/>
                </a:solidFill>
                <a:effectLst/>
                <a:latin typeface="Times New Roman" panose="02020603050405020304" pitchFamily="18" charset="0"/>
              </a:rPr>
              <a:t>Vectorised</a:t>
            </a:r>
            <a:r>
              <a:rPr lang="en-US" sz="1800" b="0" i="0" u="none" strike="noStrike" dirty="0">
                <a:solidFill>
                  <a:srgbClr val="000000"/>
                </a:solidFill>
                <a:effectLst/>
                <a:latin typeface="Times New Roman" panose="02020603050405020304" pitchFamily="18" charset="0"/>
              </a:rPr>
              <a:t> if-then else – Vector Equality – Vector Element names</a:t>
            </a:r>
            <a:endParaRPr lang="en-US" b="0" dirty="0">
              <a:effectLst/>
            </a:endParaRPr>
          </a:p>
          <a:p>
            <a:pPr>
              <a:buNone/>
            </a:pPr>
            <a:r>
              <a:rPr lang="en-US" dirty="0"/>
              <a:t/>
            </a:r>
            <a:br>
              <a:rPr lang="en-US" dirty="0"/>
            </a:br>
            <a:endParaRPr lang="en-IN" dirty="0"/>
          </a:p>
        </p:txBody>
      </p:sp>
    </p:spTree>
    <p:extLst>
      <p:ext uri="{BB962C8B-B14F-4D97-AF65-F5344CB8AC3E}">
        <p14:creationId xmlns="" xmlns:p14="http://schemas.microsoft.com/office/powerpoint/2010/main" val="4195038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CBB4D6B-B96C-4913-4B79-F3F89D3983E9}"/>
              </a:ext>
            </a:extLst>
          </p:cNvPr>
          <p:cNvSpPr>
            <a:spLocks noGrp="1"/>
          </p:cNvSpPr>
          <p:nvPr>
            <p:ph type="title"/>
          </p:nvPr>
        </p:nvSpPr>
        <p:spPr/>
        <p:txBody>
          <a:bodyPr/>
          <a:lstStyle/>
          <a:p>
            <a:r>
              <a:rPr lang="en-US" dirty="0">
                <a:solidFill>
                  <a:srgbClr val="000000"/>
                </a:solidFill>
                <a:latin typeface="Times New Roman" panose="02020603050405020304" pitchFamily="18" charset="0"/>
              </a:rPr>
              <a:t>1.1 Introducing to R</a:t>
            </a:r>
            <a:endParaRPr lang="en-IN" dirty="0"/>
          </a:p>
        </p:txBody>
      </p:sp>
      <p:sp>
        <p:nvSpPr>
          <p:cNvPr id="3" name="Content Placeholder 2">
            <a:extLst>
              <a:ext uri="{FF2B5EF4-FFF2-40B4-BE49-F238E27FC236}">
                <a16:creationId xmlns="" xmlns:a16="http://schemas.microsoft.com/office/drawing/2014/main" id="{6DEB0DAE-9436-3670-B4B4-7C6437D884F9}"/>
              </a:ext>
            </a:extLst>
          </p:cNvPr>
          <p:cNvSpPr>
            <a:spLocks noGrp="1"/>
          </p:cNvSpPr>
          <p:nvPr>
            <p:ph idx="1"/>
          </p:nvPr>
        </p:nvSpPr>
        <p:spPr/>
        <p:txBody>
          <a:bodyPr>
            <a:normAutofit fontScale="92500" lnSpcReduction="10000"/>
          </a:bodyPr>
          <a:lstStyle/>
          <a:p>
            <a:pPr algn="just"/>
            <a:r>
              <a:rPr lang="en-US" dirty="0">
                <a:latin typeface="Arial Narrow" panose="020B0606020202030204" pitchFamily="34" charset="0"/>
              </a:rPr>
              <a:t>R is a </a:t>
            </a:r>
            <a:r>
              <a:rPr lang="en-US" b="1" dirty="0">
                <a:latin typeface="Arial Narrow" panose="020B0606020202030204" pitchFamily="34" charset="0"/>
              </a:rPr>
              <a:t>programming language and software environment </a:t>
            </a:r>
            <a:r>
              <a:rPr lang="en-US" dirty="0">
                <a:latin typeface="Arial Narrow" panose="020B0606020202030204" pitchFamily="34" charset="0"/>
              </a:rPr>
              <a:t>that has become the first choice for </a:t>
            </a:r>
            <a:r>
              <a:rPr lang="en-US" b="1" dirty="0">
                <a:latin typeface="Arial Narrow" panose="020B0606020202030204" pitchFamily="34" charset="0"/>
              </a:rPr>
              <a:t>statistical computing and data analysis</a:t>
            </a:r>
            <a:r>
              <a:rPr lang="en-US" dirty="0">
                <a:latin typeface="Arial Narrow" panose="020B0606020202030204" pitchFamily="34" charset="0"/>
              </a:rPr>
              <a:t>.</a:t>
            </a:r>
          </a:p>
          <a:p>
            <a:pPr algn="just"/>
            <a:r>
              <a:rPr lang="en-US" dirty="0">
                <a:latin typeface="Arial Narrow" panose="020B0606020202030204" pitchFamily="34" charset="0"/>
              </a:rPr>
              <a:t> Developed in the </a:t>
            </a:r>
            <a:r>
              <a:rPr lang="en-US" b="1" dirty="0">
                <a:latin typeface="Arial Narrow" panose="020B0606020202030204" pitchFamily="34" charset="0"/>
              </a:rPr>
              <a:t>early 1990s </a:t>
            </a:r>
            <a:r>
              <a:rPr lang="en-US" dirty="0">
                <a:latin typeface="Arial Narrow" panose="020B0606020202030204" pitchFamily="34" charset="0"/>
              </a:rPr>
              <a:t>by </a:t>
            </a:r>
            <a:r>
              <a:rPr lang="en-US" b="1" dirty="0">
                <a:latin typeface="Arial Narrow" panose="020B0606020202030204" pitchFamily="34" charset="0"/>
              </a:rPr>
              <a:t>Ross Ihaka and Robert Gentleman</a:t>
            </a:r>
            <a:r>
              <a:rPr lang="en-US" dirty="0">
                <a:latin typeface="Arial Narrow" panose="020B0606020202030204" pitchFamily="34" charset="0"/>
              </a:rPr>
              <a:t>, R has built to </a:t>
            </a:r>
            <a:r>
              <a:rPr lang="en-US" b="1" dirty="0">
                <a:latin typeface="Arial Narrow" panose="020B0606020202030204" pitchFamily="34" charset="0"/>
              </a:rPr>
              <a:t>simplify complex data manipulation and create clear customizable visualizations</a:t>
            </a:r>
            <a:r>
              <a:rPr lang="en-US" dirty="0">
                <a:latin typeface="Arial Narrow" panose="020B0606020202030204" pitchFamily="34" charset="0"/>
              </a:rPr>
              <a:t>.</a:t>
            </a:r>
            <a:endParaRPr lang="en-US" b="0" dirty="0">
              <a:effectLst/>
              <a:latin typeface="Arial Narrow" panose="020B0606020202030204" pitchFamily="34" charset="0"/>
            </a:endParaRPr>
          </a:p>
          <a:p>
            <a:pPr algn="just"/>
            <a:r>
              <a:rPr lang="en-US" dirty="0">
                <a:latin typeface="Arial Narrow" panose="020B0606020202030204" pitchFamily="34" charset="0"/>
              </a:rPr>
              <a:t>Over time, it has gained popularity among </a:t>
            </a:r>
            <a:r>
              <a:rPr lang="en-US" b="1" dirty="0">
                <a:latin typeface="Arial Narrow" panose="020B0606020202030204" pitchFamily="34" charset="0"/>
              </a:rPr>
              <a:t>statisticians, data scientists and researchers because of its capabilities and the vast array of packages available</a:t>
            </a:r>
            <a:r>
              <a:rPr lang="en-US" dirty="0">
                <a:latin typeface="Arial Narrow" panose="020B0606020202030204" pitchFamily="34" charset="0"/>
              </a:rPr>
              <a:t>.</a:t>
            </a:r>
            <a:endParaRPr lang="en-US" b="0" dirty="0">
              <a:effectLst/>
              <a:latin typeface="Arial Narrow" panose="020B0606020202030204" pitchFamily="34" charset="0"/>
            </a:endParaRPr>
          </a:p>
          <a:p>
            <a:r>
              <a:rPr lang="en-US" dirty="0">
                <a:latin typeface="Arial Narrow" panose="020B0606020202030204" pitchFamily="34" charset="0"/>
              </a:rPr>
              <a:t>As data-driven decision-making has grown, R has established itself as an important tool in </a:t>
            </a:r>
            <a:r>
              <a:rPr lang="en-US" b="1" dirty="0">
                <a:latin typeface="Arial Narrow" panose="020B0606020202030204" pitchFamily="34" charset="0"/>
              </a:rPr>
              <a:t>various industries</a:t>
            </a:r>
            <a:r>
              <a:rPr lang="en-US" dirty="0">
                <a:latin typeface="Arial Narrow" panose="020B0606020202030204" pitchFamily="34" charset="0"/>
              </a:rPr>
              <a:t>, including </a:t>
            </a:r>
            <a:r>
              <a:rPr lang="en-US" b="1" dirty="0">
                <a:latin typeface="Arial Narrow" panose="020B0606020202030204" pitchFamily="34" charset="0"/>
              </a:rPr>
              <a:t>finance and healthcare</a:t>
            </a:r>
            <a:r>
              <a:rPr lang="en-US" dirty="0">
                <a:latin typeface="Arial Narrow" panose="020B0606020202030204" pitchFamily="34" charset="0"/>
              </a:rPr>
              <a:t>, due to its ability to </a:t>
            </a:r>
            <a:r>
              <a:rPr lang="en-US" b="1" dirty="0">
                <a:latin typeface="Arial Narrow" panose="020B0606020202030204" pitchFamily="34" charset="0"/>
              </a:rPr>
              <a:t>handle large datasets and perform in-depth statistical analysis</a:t>
            </a:r>
            <a:r>
              <a:rPr lang="en-US" dirty="0"/>
              <a:t/>
            </a:r>
            <a:br>
              <a:rPr lang="en-US" dirty="0"/>
            </a:br>
            <a:endParaRPr lang="en-IN" dirty="0"/>
          </a:p>
        </p:txBody>
      </p:sp>
    </p:spTree>
    <p:extLst>
      <p:ext uri="{BB962C8B-B14F-4D97-AF65-F5344CB8AC3E}">
        <p14:creationId xmlns="" xmlns:p14="http://schemas.microsoft.com/office/powerpoint/2010/main" val="2477774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188A2C-100F-256A-7CC7-772939AED635}"/>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8241A342-95F6-D6E2-ECA5-8EC4DF9B61EA}"/>
              </a:ext>
            </a:extLst>
          </p:cNvPr>
          <p:cNvSpPr>
            <a:spLocks noGrp="1"/>
          </p:cNvSpPr>
          <p:nvPr>
            <p:ph idx="1"/>
          </p:nvPr>
        </p:nvSpPr>
        <p:spPr/>
        <p:txBody>
          <a:bodyPr>
            <a:normAutofit fontScale="85000" lnSpcReduction="20000"/>
          </a:bodyPr>
          <a:lstStyle/>
          <a:p>
            <a:r>
              <a:rPr lang="en-IN" b="1" dirty="0">
                <a:latin typeface="Arial Narrow" panose="020B0606020202030204" pitchFamily="34" charset="0"/>
              </a:rPr>
              <a:t>Why Choose R Programming?</a:t>
            </a:r>
          </a:p>
          <a:p>
            <a:r>
              <a:rPr lang="en-US" dirty="0">
                <a:latin typeface="Arial Narrow" panose="020B0606020202030204" pitchFamily="34" charset="0"/>
              </a:rPr>
              <a:t>R is a </a:t>
            </a:r>
            <a:r>
              <a:rPr lang="en-US" b="1" dirty="0">
                <a:latin typeface="Arial Narrow" panose="020B0606020202030204" pitchFamily="34" charset="0"/>
              </a:rPr>
              <a:t>unique language </a:t>
            </a:r>
            <a:r>
              <a:rPr lang="en-US" dirty="0">
                <a:latin typeface="Arial Narrow" panose="020B0606020202030204" pitchFamily="34" charset="0"/>
              </a:rPr>
              <a:t>that offers a wide range of features for </a:t>
            </a:r>
            <a:r>
              <a:rPr lang="en-US" b="1" dirty="0">
                <a:latin typeface="Arial Narrow" panose="020B0606020202030204" pitchFamily="34" charset="0"/>
              </a:rPr>
              <a:t>data analysis, making it an essential tool for professionals in various fields</a:t>
            </a:r>
            <a:r>
              <a:rPr lang="en-US" dirty="0">
                <a:latin typeface="Arial Narrow" panose="020B0606020202030204" pitchFamily="34" charset="0"/>
              </a:rPr>
              <a:t>. Here’s why R is preferred:</a:t>
            </a:r>
            <a:endParaRPr lang="en-US" b="0" dirty="0">
              <a:effectLst/>
              <a:latin typeface="Arial Narrow" panose="020B0606020202030204" pitchFamily="34" charset="0"/>
            </a:endParaRPr>
          </a:p>
          <a:p>
            <a:pPr fontAlgn="base"/>
            <a:r>
              <a:rPr lang="en-US" b="1" dirty="0">
                <a:latin typeface="Arial Narrow" panose="020B0606020202030204" pitchFamily="34" charset="0"/>
              </a:rPr>
              <a:t>Free and Open-Source: </a:t>
            </a:r>
            <a:r>
              <a:rPr lang="en-US" dirty="0">
                <a:latin typeface="Arial Narrow" panose="020B0606020202030204" pitchFamily="34" charset="0"/>
              </a:rPr>
              <a:t>R is open to everyone, meaning users can modify, share and distribute their work freely.</a:t>
            </a:r>
          </a:p>
          <a:p>
            <a:pPr fontAlgn="base"/>
            <a:r>
              <a:rPr lang="en-US" b="1" dirty="0">
                <a:latin typeface="Arial Narrow" panose="020B0606020202030204" pitchFamily="34" charset="0"/>
              </a:rPr>
              <a:t>Designed for Data: </a:t>
            </a:r>
            <a:r>
              <a:rPr lang="en-US" dirty="0">
                <a:latin typeface="Arial Narrow" panose="020B0606020202030204" pitchFamily="34" charset="0"/>
              </a:rPr>
              <a:t>R is built for data analysis, offering a comprehensive set of tools for statistical computing and graphics.</a:t>
            </a:r>
          </a:p>
          <a:p>
            <a:pPr fontAlgn="base"/>
            <a:r>
              <a:rPr lang="en-US" b="1" dirty="0">
                <a:latin typeface="Arial Narrow" panose="020B0606020202030204" pitchFamily="34" charset="0"/>
              </a:rPr>
              <a:t>Large Package Repository: </a:t>
            </a:r>
            <a:r>
              <a:rPr lang="en-US" dirty="0">
                <a:latin typeface="Arial Narrow" panose="020B0606020202030204" pitchFamily="34" charset="0"/>
              </a:rPr>
              <a:t>The Comprehensive R Archive Network (CRAN) offers thousands of add-on packages for specialized tasks.</a:t>
            </a:r>
          </a:p>
          <a:p>
            <a:pPr fontAlgn="base"/>
            <a:r>
              <a:rPr lang="en-US" b="1" dirty="0">
                <a:latin typeface="Arial Narrow" panose="020B0606020202030204" pitchFamily="34" charset="0"/>
              </a:rPr>
              <a:t>Cross-Platform Compatibility: </a:t>
            </a:r>
            <a:r>
              <a:rPr lang="en-US" dirty="0">
                <a:latin typeface="Arial Narrow" panose="020B0606020202030204" pitchFamily="34" charset="0"/>
              </a:rPr>
              <a:t>R can work on Windows, Mac and Linux operating systems.</a:t>
            </a:r>
          </a:p>
          <a:p>
            <a:pPr fontAlgn="base"/>
            <a:r>
              <a:rPr lang="en-US" b="1" dirty="0">
                <a:latin typeface="Arial Narrow" panose="020B0606020202030204" pitchFamily="34" charset="0"/>
              </a:rPr>
              <a:t>Great for Visualization</a:t>
            </a:r>
            <a:r>
              <a:rPr lang="en-US" dirty="0">
                <a:latin typeface="Arial Narrow" panose="020B0606020202030204" pitchFamily="34" charset="0"/>
              </a:rPr>
              <a:t>: With packages like ggplot2, R makes it easy to create informative, interactive charts and plots.</a:t>
            </a:r>
          </a:p>
          <a:p>
            <a:endParaRPr lang="en-IN" b="0" dirty="0">
              <a:effectLst/>
            </a:endParaRPr>
          </a:p>
          <a:p>
            <a:pPr marL="0" indent="0">
              <a:buNone/>
            </a:pPr>
            <a:endParaRPr lang="en-IN" dirty="0"/>
          </a:p>
        </p:txBody>
      </p:sp>
    </p:spTree>
    <p:extLst>
      <p:ext uri="{BB962C8B-B14F-4D97-AF65-F5344CB8AC3E}">
        <p14:creationId xmlns="" xmlns:p14="http://schemas.microsoft.com/office/powerpoint/2010/main" val="1012639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6B89547-9FE4-809F-1A42-9861593588F2}"/>
              </a:ext>
            </a:extLst>
          </p:cNvPr>
          <p:cNvSpPr>
            <a:spLocks noGrp="1"/>
          </p:cNvSpPr>
          <p:nvPr>
            <p:ph idx="1"/>
          </p:nvPr>
        </p:nvSpPr>
        <p:spPr>
          <a:xfrm>
            <a:off x="838200" y="665018"/>
            <a:ext cx="10515600" cy="5511945"/>
          </a:xfrm>
        </p:spPr>
        <p:txBody>
          <a:bodyPr>
            <a:normAutofit/>
          </a:bodyPr>
          <a:lstStyle/>
          <a:p>
            <a:pPr algn="just"/>
            <a:r>
              <a:rPr lang="en-US" b="1" dirty="0">
                <a:latin typeface="Arial Narrow" panose="020B0606020202030204" pitchFamily="34" charset="0"/>
              </a:rPr>
              <a:t>Key Features of R</a:t>
            </a:r>
            <a:endParaRPr lang="en-US" b="0" dirty="0">
              <a:effectLst/>
              <a:latin typeface="Arial Narrow" panose="020B0606020202030204" pitchFamily="34" charset="0"/>
            </a:endParaRPr>
          </a:p>
          <a:p>
            <a:pPr algn="just" fontAlgn="base"/>
            <a:r>
              <a:rPr lang="en-US" b="1" dirty="0">
                <a:latin typeface="Arial Narrow" panose="020B0606020202030204" pitchFamily="34" charset="0"/>
              </a:rPr>
              <a:t>Cross-Platform Support: </a:t>
            </a:r>
            <a:r>
              <a:rPr lang="en-US" dirty="0">
                <a:latin typeface="Arial Narrow" panose="020B0606020202030204" pitchFamily="34" charset="0"/>
              </a:rPr>
              <a:t>R works on multiple operating systems, making it versatile for different environments.</a:t>
            </a:r>
          </a:p>
          <a:p>
            <a:pPr algn="just" fontAlgn="base"/>
            <a:r>
              <a:rPr lang="en-US" b="1" dirty="0">
                <a:latin typeface="Arial Narrow" panose="020B0606020202030204" pitchFamily="34" charset="0"/>
              </a:rPr>
              <a:t>Interactive Development: </a:t>
            </a:r>
            <a:r>
              <a:rPr lang="en-US" dirty="0">
                <a:latin typeface="Arial Narrow" panose="020B0606020202030204" pitchFamily="34" charset="0"/>
              </a:rPr>
              <a:t>R allows users to interactively experiment with data and see the results immediately.</a:t>
            </a:r>
          </a:p>
          <a:p>
            <a:pPr algn="just" fontAlgn="base"/>
            <a:r>
              <a:rPr lang="en-US" b="1" dirty="0">
                <a:latin typeface="Arial Narrow" panose="020B0606020202030204" pitchFamily="34" charset="0"/>
              </a:rPr>
              <a:t>Data Wrangling: </a:t>
            </a:r>
            <a:r>
              <a:rPr lang="en-US" dirty="0">
                <a:latin typeface="Arial Narrow" panose="020B0606020202030204" pitchFamily="34" charset="0"/>
              </a:rPr>
              <a:t>Tools like </a:t>
            </a:r>
            <a:r>
              <a:rPr lang="en-US" u="sng" dirty="0" err="1">
                <a:latin typeface="Arial Narrow" panose="020B0606020202030204" pitchFamily="34" charset="0"/>
                <a:hlinkClick r:id="rId2"/>
              </a:rPr>
              <a:t>dplyr</a:t>
            </a:r>
            <a:r>
              <a:rPr lang="en-US" u="sng" dirty="0">
                <a:latin typeface="Arial Narrow" panose="020B0606020202030204" pitchFamily="34" charset="0"/>
                <a:hlinkClick r:id="rId2"/>
              </a:rPr>
              <a:t> </a:t>
            </a:r>
            <a:r>
              <a:rPr lang="en-US" dirty="0">
                <a:latin typeface="Arial Narrow" panose="020B0606020202030204" pitchFamily="34" charset="0"/>
              </a:rPr>
              <a:t>and </a:t>
            </a:r>
            <a:r>
              <a:rPr lang="en-US" dirty="0" err="1">
                <a:latin typeface="Arial Narrow" panose="020B0606020202030204" pitchFamily="34" charset="0"/>
              </a:rPr>
              <a:t>tidyr</a:t>
            </a:r>
            <a:r>
              <a:rPr lang="en-US" dirty="0">
                <a:latin typeface="Arial Narrow" panose="020B0606020202030204" pitchFamily="34" charset="0"/>
              </a:rPr>
              <a:t> help simplify data cleaning and transformation.</a:t>
            </a:r>
          </a:p>
          <a:p>
            <a:pPr algn="just" fontAlgn="base"/>
            <a:r>
              <a:rPr lang="en-US" b="1" dirty="0">
                <a:latin typeface="Arial Narrow" panose="020B0606020202030204" pitchFamily="34" charset="0"/>
              </a:rPr>
              <a:t>Statistical Modeling: </a:t>
            </a:r>
            <a:r>
              <a:rPr lang="en-US" dirty="0">
                <a:latin typeface="Arial Narrow" panose="020B0606020202030204" pitchFamily="34" charset="0"/>
              </a:rPr>
              <a:t>R has built-in support for various statistical models like regression, time-series analysis and clustering.</a:t>
            </a:r>
          </a:p>
          <a:p>
            <a:pPr algn="just" fontAlgn="base"/>
            <a:r>
              <a:rPr lang="en-US" b="1" dirty="0">
                <a:latin typeface="Arial Narrow" panose="020B0606020202030204" pitchFamily="34" charset="0"/>
              </a:rPr>
              <a:t>Reproducible Research: </a:t>
            </a:r>
            <a:r>
              <a:rPr lang="en-US" dirty="0">
                <a:latin typeface="Arial Narrow" panose="020B0606020202030204" pitchFamily="34" charset="0"/>
              </a:rPr>
              <a:t>With R Markdown, users can combine code, output and narrative in one document, ensuring their analysis is reproducible.</a:t>
            </a:r>
          </a:p>
          <a:p>
            <a:endParaRPr lang="en-IN" dirty="0"/>
          </a:p>
        </p:txBody>
      </p:sp>
    </p:spTree>
    <p:extLst>
      <p:ext uri="{BB962C8B-B14F-4D97-AF65-F5344CB8AC3E}">
        <p14:creationId xmlns="" xmlns:p14="http://schemas.microsoft.com/office/powerpoint/2010/main" val="2944468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A81B7E-F8A5-201C-FCFF-F62E16FDC424}"/>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3651435D-9D4C-5890-7797-1BA74E736BEB}"/>
              </a:ext>
            </a:extLst>
          </p:cNvPr>
          <p:cNvSpPr>
            <a:spLocks noGrp="1"/>
          </p:cNvSpPr>
          <p:nvPr>
            <p:ph idx="1"/>
          </p:nvPr>
        </p:nvSpPr>
        <p:spPr/>
        <p:txBody>
          <a:bodyPr/>
          <a:lstStyle/>
          <a:p>
            <a:endParaRPr lang="en-IN"/>
          </a:p>
        </p:txBody>
      </p:sp>
      <p:pic>
        <p:nvPicPr>
          <p:cNvPr id="2050" name="Picture 2">
            <a:extLst>
              <a:ext uri="{FF2B5EF4-FFF2-40B4-BE49-F238E27FC236}">
                <a16:creationId xmlns="" xmlns:a16="http://schemas.microsoft.com/office/drawing/2014/main" id="{6142881A-5141-2BFD-9A58-C3DED1731256}"/>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241382" y="402336"/>
            <a:ext cx="9550774" cy="5678423"/>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4151620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itchFamily="34" charset="0"/>
              </a:rPr>
              <a:t>Assignment Operator in R</a:t>
            </a:r>
          </a:p>
        </p:txBody>
      </p:sp>
      <p:sp>
        <p:nvSpPr>
          <p:cNvPr id="3" name="Content Placeholder 2"/>
          <p:cNvSpPr>
            <a:spLocks noGrp="1"/>
          </p:cNvSpPr>
          <p:nvPr>
            <p:ph idx="1"/>
          </p:nvPr>
        </p:nvSpPr>
        <p:spPr/>
        <p:txBody>
          <a:bodyPr/>
          <a:lstStyle/>
          <a:p>
            <a:pPr algn="just" fontAlgn="base"/>
            <a:r>
              <a:rPr lang="en-US" b="1" dirty="0">
                <a:latin typeface="Arial Narrow" pitchFamily="34" charset="0"/>
              </a:rPr>
              <a:t>The "&lt;-" Operator</a:t>
            </a:r>
          </a:p>
          <a:p>
            <a:pPr algn="just" fontAlgn="base"/>
            <a:r>
              <a:rPr lang="en-US" dirty="0">
                <a:latin typeface="Arial Narrow" pitchFamily="34" charset="0"/>
              </a:rPr>
              <a:t>The "&lt;-" operator is the traditional assignment operator in R. It is specifically designed for assignment operations and is considered a best practice by many R programmers for regular variable assignments.</a:t>
            </a:r>
          </a:p>
          <a:p>
            <a:endParaRPr lang="en-US" dirty="0"/>
          </a:p>
        </p:txBody>
      </p:sp>
      <p:pic>
        <p:nvPicPr>
          <p:cNvPr id="5122" name="Picture 2"/>
          <p:cNvPicPr>
            <a:picLocks noChangeAspect="1" noChangeArrowheads="1"/>
          </p:cNvPicPr>
          <p:nvPr/>
        </p:nvPicPr>
        <p:blipFill>
          <a:blip r:embed="rId2"/>
          <a:srcRect/>
          <a:stretch>
            <a:fillRect/>
          </a:stretch>
        </p:blipFill>
        <p:spPr bwMode="auto">
          <a:xfrm>
            <a:off x="1598740" y="3796665"/>
            <a:ext cx="8221662" cy="173355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itchFamily="34" charset="0"/>
              </a:rPr>
              <a:t>Basic Data Types</a:t>
            </a:r>
            <a:r>
              <a:rPr lang="en-US" dirty="0"/>
              <a:t/>
            </a:r>
            <a:br>
              <a:rPr lang="en-US" dirty="0"/>
            </a:br>
            <a:endParaRPr lang="en-US" dirty="0"/>
          </a:p>
        </p:txBody>
      </p:sp>
      <p:sp>
        <p:nvSpPr>
          <p:cNvPr id="3" name="Content Placeholder 2"/>
          <p:cNvSpPr>
            <a:spLocks noGrp="1"/>
          </p:cNvSpPr>
          <p:nvPr>
            <p:ph idx="1"/>
          </p:nvPr>
        </p:nvSpPr>
        <p:spPr/>
        <p:txBody>
          <a:bodyPr/>
          <a:lstStyle/>
          <a:p>
            <a:r>
              <a:rPr lang="en-US" dirty="0">
                <a:latin typeface="Arial Narrow" pitchFamily="34" charset="0"/>
              </a:rPr>
              <a:t>Basic data types in R can be divided into the following types:</a:t>
            </a:r>
          </a:p>
          <a:p>
            <a:r>
              <a:rPr lang="en-US" dirty="0">
                <a:latin typeface="Arial Narrow" pitchFamily="34" charset="0"/>
              </a:rPr>
              <a:t>numeric - (10.5, 55, 787)</a:t>
            </a:r>
          </a:p>
          <a:p>
            <a:r>
              <a:rPr lang="en-US" dirty="0">
                <a:latin typeface="Arial Narrow" pitchFamily="34" charset="0"/>
              </a:rPr>
              <a:t>integer - (1L, 55L, 100L, where the letter "L" declares this as an integer)</a:t>
            </a:r>
          </a:p>
          <a:p>
            <a:r>
              <a:rPr lang="en-US" dirty="0">
                <a:latin typeface="Arial Narrow" pitchFamily="34" charset="0"/>
              </a:rPr>
              <a:t>complex - (9 + 3i, where "</a:t>
            </a:r>
            <a:r>
              <a:rPr lang="en-US" dirty="0" err="1">
                <a:latin typeface="Arial Narrow" pitchFamily="34" charset="0"/>
              </a:rPr>
              <a:t>i</a:t>
            </a:r>
            <a:r>
              <a:rPr lang="en-US" dirty="0">
                <a:latin typeface="Arial Narrow" pitchFamily="34" charset="0"/>
              </a:rPr>
              <a:t>" is the imaginary part)</a:t>
            </a:r>
          </a:p>
          <a:p>
            <a:r>
              <a:rPr lang="en-US" dirty="0">
                <a:latin typeface="Arial Narrow" pitchFamily="34" charset="0"/>
              </a:rPr>
              <a:t>character (a.k.a. string) - ("k", "R is exciting", "FALSE", "11.5")</a:t>
            </a:r>
          </a:p>
          <a:p>
            <a:r>
              <a:rPr lang="en-US" dirty="0">
                <a:latin typeface="Arial Narrow" pitchFamily="34" charset="0"/>
              </a:rPr>
              <a:t>logical (a.k.a. </a:t>
            </a:r>
            <a:r>
              <a:rPr lang="en-US" dirty="0" err="1">
                <a:latin typeface="Arial Narrow" pitchFamily="34" charset="0"/>
              </a:rPr>
              <a:t>boolean</a:t>
            </a:r>
            <a:r>
              <a:rPr lang="en-US" dirty="0">
                <a:latin typeface="Arial Narrow" pitchFamily="34" charset="0"/>
              </a:rPr>
              <a:t>) - (TRUE or FALSE)</a:t>
            </a:r>
          </a:p>
          <a:p>
            <a:endParaRPr lang="en-US" dirty="0"/>
          </a:p>
        </p:txBody>
      </p:sp>
      <p:pic>
        <p:nvPicPr>
          <p:cNvPr id="88066" name="Picture 2"/>
          <p:cNvPicPr>
            <a:picLocks noChangeAspect="1" noChangeArrowheads="1"/>
          </p:cNvPicPr>
          <p:nvPr/>
        </p:nvPicPr>
        <p:blipFill>
          <a:blip r:embed="rId2"/>
          <a:srcRect/>
          <a:stretch>
            <a:fillRect/>
          </a:stretch>
        </p:blipFill>
        <p:spPr bwMode="auto">
          <a:xfrm>
            <a:off x="766445" y="5248085"/>
            <a:ext cx="6173788" cy="714375"/>
          </a:xfrm>
          <a:prstGeom prst="rect">
            <a:avLst/>
          </a:prstGeom>
          <a:noFill/>
          <a:ln w="9525">
            <a:noFill/>
            <a:miter lim="800000"/>
            <a:headEnd/>
            <a:tailEnd/>
          </a:ln>
          <a:effectLst/>
        </p:spPr>
      </p:pic>
      <p:sp>
        <p:nvSpPr>
          <p:cNvPr id="5" name="Rectangle 4"/>
          <p:cNvSpPr/>
          <p:nvPr/>
        </p:nvSpPr>
        <p:spPr>
          <a:xfrm>
            <a:off x="5873496" y="5811119"/>
            <a:ext cx="6096000" cy="646331"/>
          </a:xfrm>
          <a:prstGeom prst="rect">
            <a:avLst/>
          </a:prstGeom>
        </p:spPr>
        <p:txBody>
          <a:bodyPr>
            <a:spAutoFit/>
          </a:bodyPr>
          <a:lstStyle/>
          <a:p>
            <a:pPr algn="just"/>
            <a:r>
              <a:rPr lang="en-US" dirty="0">
                <a:latin typeface="Arial Narrow" pitchFamily="34" charset="0"/>
              </a:rPr>
              <a:t>The </a:t>
            </a:r>
            <a:r>
              <a:rPr lang="en-US" b="1" dirty="0">
                <a:latin typeface="Arial Narrow" pitchFamily="34" charset="0"/>
              </a:rPr>
              <a:t>implicit coercion hierarchy</a:t>
            </a:r>
            <a:r>
              <a:rPr lang="en-US" dirty="0">
                <a:latin typeface="Arial Narrow" pitchFamily="34" charset="0"/>
              </a:rPr>
              <a:t> determines how data types are ordered and automatically converted in R when mixed together.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2400597" y="1823568"/>
          <a:ext cx="7390806" cy="4355452"/>
        </p:xfrm>
        <a:graphic>
          <a:graphicData uri="http://schemas.openxmlformats.org/drawingml/2006/table">
            <a:tbl>
              <a:tblPr/>
              <a:tblGrid>
                <a:gridCol w="2463602">
                  <a:extLst>
                    <a:ext uri="{9D8B030D-6E8A-4147-A177-3AD203B41FA5}">
                      <a16:colId xmlns="" xmlns:a16="http://schemas.microsoft.com/office/drawing/2014/main" val="20000"/>
                    </a:ext>
                  </a:extLst>
                </a:gridCol>
                <a:gridCol w="2463602">
                  <a:extLst>
                    <a:ext uri="{9D8B030D-6E8A-4147-A177-3AD203B41FA5}">
                      <a16:colId xmlns="" xmlns:a16="http://schemas.microsoft.com/office/drawing/2014/main" val="20001"/>
                    </a:ext>
                  </a:extLst>
                </a:gridCol>
                <a:gridCol w="2463602">
                  <a:extLst>
                    <a:ext uri="{9D8B030D-6E8A-4147-A177-3AD203B41FA5}">
                      <a16:colId xmlns="" xmlns:a16="http://schemas.microsoft.com/office/drawing/2014/main" val="20002"/>
                    </a:ext>
                  </a:extLst>
                </a:gridCol>
              </a:tblGrid>
              <a:tr h="332586">
                <a:tc>
                  <a:txBody>
                    <a:bodyPr/>
                    <a:lstStyle/>
                    <a:p>
                      <a:pPr algn="ctr" rtl="0" fontAlgn="base"/>
                      <a:r>
                        <a:rPr lang="en-US" sz="1300" b="1">
                          <a:latin typeface="Nunito"/>
                        </a:rPr>
                        <a:t>Feature</a:t>
                      </a:r>
                      <a:endParaRPr lang="en-US" sz="1300" b="0">
                        <a:latin typeface="Nunito"/>
                      </a:endParaRPr>
                    </a:p>
                  </a:txBody>
                  <a:tcPr marL="34644" marR="34644" marT="69289" marB="69289"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US" sz="1300" b="1">
                          <a:latin typeface="Nunito"/>
                        </a:rPr>
                        <a:t>"=" Operator</a:t>
                      </a:r>
                      <a:endParaRPr lang="en-US" sz="1300" b="0">
                        <a:latin typeface="Nunito"/>
                      </a:endParaRPr>
                    </a:p>
                  </a:txBody>
                  <a:tcPr marL="69289" marR="69289" marT="69289" marB="69289"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US" sz="1300" b="1">
                          <a:latin typeface="Nunito"/>
                        </a:rPr>
                        <a:t>"&lt;-" Operator</a:t>
                      </a:r>
                      <a:endParaRPr lang="en-US" sz="1300" b="0">
                        <a:latin typeface="Nunito"/>
                      </a:endParaRPr>
                    </a:p>
                  </a:txBody>
                  <a:tcPr marL="69289" marR="69289" marT="69289" marB="69289"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extLst>
                  <a:ext uri="{0D108BD9-81ED-4DB2-BD59-A6C34878D82A}">
                    <a16:rowId xmlns="" xmlns:a16="http://schemas.microsoft.com/office/drawing/2014/main" val="10000"/>
                  </a:ext>
                </a:extLst>
              </a:tr>
              <a:tr h="367231">
                <a:tc>
                  <a:txBody>
                    <a:bodyPr/>
                    <a:lstStyle/>
                    <a:p>
                      <a:pPr algn="ctr" rtl="0" fontAlgn="base"/>
                      <a:r>
                        <a:rPr lang="en-US" sz="1100" b="0">
                          <a:latin typeface="Nunito"/>
                        </a:rPr>
                        <a:t>Basic Use</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100" b="0">
                          <a:latin typeface="Nunito"/>
                        </a:rPr>
                        <a:t>Assigns values to variables</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100" b="0">
                          <a:latin typeface="Nunito"/>
                        </a:rPr>
                        <a:t>Assigns values to variables</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367231">
                <a:tc>
                  <a:txBody>
                    <a:bodyPr/>
                    <a:lstStyle/>
                    <a:p>
                      <a:pPr algn="ctr" rtl="0" fontAlgn="base"/>
                      <a:r>
                        <a:rPr lang="en-US" sz="1100" b="0">
                          <a:latin typeface="Nunito"/>
                        </a:rPr>
                        <a:t>Typical Context</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100" b="0">
                          <a:latin typeface="Nunito"/>
                        </a:rPr>
                        <a:t>Used within function calls</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100" b="0">
                          <a:latin typeface="Nunito"/>
                        </a:rPr>
                        <a:t>Used for general assignments</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10002"/>
                  </a:ext>
                </a:extLst>
              </a:tr>
              <a:tr h="367231">
                <a:tc>
                  <a:txBody>
                    <a:bodyPr/>
                    <a:lstStyle/>
                    <a:p>
                      <a:pPr algn="ctr" rtl="0" fontAlgn="base"/>
                      <a:r>
                        <a:rPr lang="en-US" sz="1100" b="0">
                          <a:latin typeface="Nunito"/>
                        </a:rPr>
                        <a:t>Usage Example</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100" b="0">
                          <a:latin typeface="Nunito"/>
                        </a:rPr>
                        <a:t>x = 10</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100" b="0">
                          <a:latin typeface="Nunito"/>
                        </a:rPr>
                        <a:t>y &lt;- 20</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367231">
                <a:tc>
                  <a:txBody>
                    <a:bodyPr/>
                    <a:lstStyle/>
                    <a:p>
                      <a:pPr algn="ctr" rtl="0" fontAlgn="base"/>
                      <a:r>
                        <a:rPr lang="en-US" sz="1100" b="0">
                          <a:latin typeface="Nunito"/>
                        </a:rPr>
                        <a:t>Function Arguments</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100" b="0">
                          <a:latin typeface="Nunito"/>
                        </a:rPr>
                        <a:t>Preferred</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100" b="0">
                          <a:latin typeface="Nunito"/>
                        </a:rPr>
                        <a:t>Not used`</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10004"/>
                  </a:ext>
                </a:extLst>
              </a:tr>
              <a:tr h="367231">
                <a:tc>
                  <a:txBody>
                    <a:bodyPr/>
                    <a:lstStyle/>
                    <a:p>
                      <a:pPr algn="ctr" rtl="0" fontAlgn="base"/>
                      <a:r>
                        <a:rPr lang="en-US" sz="1100" b="0">
                          <a:latin typeface="Nunito"/>
                        </a:rPr>
                        <a:t>General Assignment</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100" b="0">
                          <a:latin typeface="Nunito"/>
                        </a:rPr>
                        <a:t>Less preferred</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100" b="0">
                          <a:latin typeface="Nunito"/>
                        </a:rPr>
                        <a:t>Preferred</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367231">
                <a:tc>
                  <a:txBody>
                    <a:bodyPr/>
                    <a:lstStyle/>
                    <a:p>
                      <a:pPr algn="ctr" rtl="0" fontAlgn="base"/>
                      <a:r>
                        <a:rPr lang="en-US" sz="1100" b="0">
                          <a:latin typeface="Nunito"/>
                        </a:rPr>
                        <a:t>Readability</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100" b="0">
                          <a:latin typeface="Nunito"/>
                        </a:rPr>
                        <a:t>Less visually distinct</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100" b="0">
                          <a:latin typeface="Nunito"/>
                        </a:rPr>
                        <a:t>More visually distinct</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10006"/>
                  </a:ext>
                </a:extLst>
              </a:tr>
              <a:tr h="367231">
                <a:tc>
                  <a:txBody>
                    <a:bodyPr/>
                    <a:lstStyle/>
                    <a:p>
                      <a:pPr algn="ctr" rtl="0" fontAlgn="base"/>
                      <a:r>
                        <a:rPr lang="en-US" sz="1100" b="0">
                          <a:latin typeface="Nunito"/>
                        </a:rPr>
                        <a:t>Conventions</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100" b="0">
                          <a:latin typeface="Nunito"/>
                        </a:rPr>
                        <a:t>Less conventional in R</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100" b="0">
                          <a:latin typeface="Nunito"/>
                        </a:rPr>
                        <a:t>Widely accepted and promoted in R</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10007"/>
                  </a:ext>
                </a:extLst>
              </a:tr>
              <a:tr h="367231">
                <a:tc>
                  <a:txBody>
                    <a:bodyPr/>
                    <a:lstStyle/>
                    <a:p>
                      <a:pPr algn="ctr" rtl="0" fontAlgn="base"/>
                      <a:r>
                        <a:rPr lang="en-US" sz="1100" b="0">
                          <a:latin typeface="Nunito"/>
                        </a:rPr>
                        <a:t>Parsing and Evaluation</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100" b="0">
                          <a:latin typeface="Nunito"/>
                        </a:rPr>
                        <a:t>Subtle parsing differences</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100" b="0">
                          <a:latin typeface="Nunito"/>
                        </a:rPr>
                        <a:t>Standard parsing</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10008"/>
                  </a:ext>
                </a:extLst>
              </a:tr>
              <a:tr h="540453">
                <a:tc>
                  <a:txBody>
                    <a:bodyPr/>
                    <a:lstStyle/>
                    <a:p>
                      <a:pPr algn="ctr" rtl="0" fontAlgn="base"/>
                      <a:r>
                        <a:rPr lang="en-US" sz="1100" b="0">
                          <a:latin typeface="Nunito"/>
                        </a:rPr>
                        <a:t>Risk of Confusion</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100" b="0">
                          <a:latin typeface="Nunito"/>
                        </a:rPr>
                        <a:t>Can be mistaken for comparison operator (==)</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100" b="0">
                          <a:latin typeface="Nunito"/>
                        </a:rPr>
                        <a:t>Less risk of confusion</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10009"/>
                  </a:ext>
                </a:extLst>
              </a:tr>
              <a:tr h="540453">
                <a:tc>
                  <a:txBody>
                    <a:bodyPr/>
                    <a:lstStyle/>
                    <a:p>
                      <a:pPr algn="ctr" rtl="0" fontAlgn="base"/>
                      <a:r>
                        <a:rPr lang="en-US" sz="1100" b="0">
                          <a:latin typeface="Nunito"/>
                        </a:rPr>
                        <a:t>Best Practice</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100" b="0">
                          <a:latin typeface="Nunito"/>
                        </a:rPr>
                        <a:t>Can be mistaken for comparison operator (==)</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100" b="0" dirty="0">
                          <a:latin typeface="Nunito"/>
                        </a:rPr>
                        <a:t>Use for general assignments</a:t>
                      </a:r>
                    </a:p>
                  </a:txBody>
                  <a:tcPr marL="69289" marR="69289" marT="97004" marB="97004"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1001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CB5FD2F-205B-6134-3F9D-169B7338B238}"/>
              </a:ext>
            </a:extLst>
          </p:cNvPr>
          <p:cNvSpPr>
            <a:spLocks noGrp="1"/>
          </p:cNvSpPr>
          <p:nvPr>
            <p:ph type="title"/>
          </p:nvPr>
        </p:nvSpPr>
        <p:spPr/>
        <p:txBody>
          <a:bodyPr>
            <a:normAutofit fontScale="90000"/>
          </a:bodyPr>
          <a:lstStyle/>
          <a:p>
            <a:r>
              <a:rPr lang="en-US" b="1" dirty="0">
                <a:latin typeface="Arial Narrow" panose="020B0606020202030204" pitchFamily="34" charset="0"/>
              </a:rPr>
              <a:t>1.2 Data structures in R</a:t>
            </a:r>
            <a:r>
              <a:rPr lang="en-US" b="0" dirty="0">
                <a:effectLst/>
              </a:rPr>
              <a:t/>
            </a:r>
            <a:br>
              <a:rPr lang="en-US" b="0" dirty="0">
                <a:effectLst/>
              </a:rPr>
            </a:br>
            <a:r>
              <a:rPr lang="en-US" dirty="0"/>
              <a:t/>
            </a:r>
            <a:br>
              <a:rPr lang="en-US" dirty="0"/>
            </a:br>
            <a:endParaRPr lang="en-IN" dirty="0"/>
          </a:p>
        </p:txBody>
      </p:sp>
      <p:sp>
        <p:nvSpPr>
          <p:cNvPr id="3" name="Content Placeholder 2">
            <a:extLst>
              <a:ext uri="{FF2B5EF4-FFF2-40B4-BE49-F238E27FC236}">
                <a16:creationId xmlns="" xmlns:a16="http://schemas.microsoft.com/office/drawing/2014/main" id="{6C1EF921-62D2-3007-0E6F-F069741E9BE8}"/>
              </a:ext>
            </a:extLst>
          </p:cNvPr>
          <p:cNvSpPr>
            <a:spLocks noGrp="1"/>
          </p:cNvSpPr>
          <p:nvPr>
            <p:ph idx="1"/>
          </p:nvPr>
        </p:nvSpPr>
        <p:spPr>
          <a:xfrm>
            <a:off x="568037" y="1027906"/>
            <a:ext cx="10515600" cy="4351338"/>
          </a:xfrm>
        </p:spPr>
        <p:txBody>
          <a:bodyPr>
            <a:normAutofit fontScale="92500" lnSpcReduction="10000"/>
          </a:bodyPr>
          <a:lstStyle/>
          <a:p>
            <a:pPr algn="just"/>
            <a:r>
              <a:rPr lang="en-US" dirty="0">
                <a:latin typeface="Arial Narrow" panose="020B0606020202030204" pitchFamily="34" charset="0"/>
              </a:rPr>
              <a:t>Data Structures are the fundamental way R stores, </a:t>
            </a:r>
            <a:r>
              <a:rPr lang="en-US" dirty="0" err="1">
                <a:latin typeface="Arial Narrow" panose="020B0606020202030204" pitchFamily="34" charset="0"/>
              </a:rPr>
              <a:t>organises</a:t>
            </a:r>
            <a:r>
              <a:rPr lang="en-US" dirty="0">
                <a:latin typeface="Arial Narrow" panose="020B0606020202030204" pitchFamily="34" charset="0"/>
              </a:rPr>
              <a:t>, and manipulates data. Understanding data structures is essential because R is built around </a:t>
            </a:r>
            <a:r>
              <a:rPr lang="en-US" dirty="0" err="1">
                <a:latin typeface="Arial Narrow" panose="020B0606020202030204" pitchFamily="34" charset="0"/>
              </a:rPr>
              <a:t>vectorised</a:t>
            </a:r>
            <a:r>
              <a:rPr lang="en-US" dirty="0">
                <a:latin typeface="Arial Narrow" panose="020B0606020202030204" pitchFamily="34" charset="0"/>
              </a:rPr>
              <a:t> operations, and almost every program relies on these structures.</a:t>
            </a:r>
            <a:endParaRPr lang="en-US" b="0" dirty="0">
              <a:effectLst/>
              <a:latin typeface="Arial Narrow" panose="020B0606020202030204" pitchFamily="34" charset="0"/>
            </a:endParaRPr>
          </a:p>
          <a:p>
            <a:r>
              <a:rPr lang="en-US" dirty="0">
                <a:latin typeface="Arial Narrow" panose="020B0606020202030204" pitchFamily="34" charset="0"/>
              </a:rPr>
              <a:t>The primary data structures in R are:-</a:t>
            </a:r>
            <a:endParaRPr lang="en-US" b="0" dirty="0">
              <a:effectLst/>
              <a:latin typeface="Arial Narrow" panose="020B0606020202030204" pitchFamily="34" charset="0"/>
            </a:endParaRPr>
          </a:p>
          <a:p>
            <a:pPr lvl="1"/>
            <a:r>
              <a:rPr lang="en-US" dirty="0">
                <a:latin typeface="Arial Narrow" panose="020B0606020202030204" pitchFamily="34" charset="0"/>
              </a:rPr>
              <a:t>Vectors</a:t>
            </a:r>
            <a:endParaRPr lang="en-US" b="0" dirty="0">
              <a:effectLst/>
              <a:latin typeface="Arial Narrow" panose="020B0606020202030204" pitchFamily="34" charset="0"/>
            </a:endParaRPr>
          </a:p>
          <a:p>
            <a:pPr lvl="1"/>
            <a:r>
              <a:rPr lang="en-US" dirty="0">
                <a:latin typeface="Arial Narrow" panose="020B0606020202030204" pitchFamily="34" charset="0"/>
              </a:rPr>
              <a:t>Matrices</a:t>
            </a:r>
            <a:endParaRPr lang="en-US" b="0" dirty="0">
              <a:effectLst/>
              <a:latin typeface="Arial Narrow" panose="020B0606020202030204" pitchFamily="34" charset="0"/>
            </a:endParaRPr>
          </a:p>
          <a:p>
            <a:pPr lvl="1"/>
            <a:r>
              <a:rPr lang="en-US" dirty="0">
                <a:latin typeface="Arial Narrow" panose="020B0606020202030204" pitchFamily="34" charset="0"/>
              </a:rPr>
              <a:t>Arrays</a:t>
            </a:r>
            <a:endParaRPr lang="en-US" b="0" dirty="0">
              <a:effectLst/>
              <a:latin typeface="Arial Narrow" panose="020B0606020202030204" pitchFamily="34" charset="0"/>
            </a:endParaRPr>
          </a:p>
          <a:p>
            <a:pPr lvl="1"/>
            <a:r>
              <a:rPr lang="en-US" dirty="0">
                <a:latin typeface="Arial Narrow" panose="020B0606020202030204" pitchFamily="34" charset="0"/>
              </a:rPr>
              <a:t>Lists</a:t>
            </a:r>
            <a:endParaRPr lang="en-US" b="0" dirty="0">
              <a:effectLst/>
              <a:latin typeface="Arial Narrow" panose="020B0606020202030204" pitchFamily="34" charset="0"/>
            </a:endParaRPr>
          </a:p>
          <a:p>
            <a:pPr lvl="1"/>
            <a:r>
              <a:rPr lang="en-US" dirty="0">
                <a:latin typeface="Arial Narrow" panose="020B0606020202030204" pitchFamily="34" charset="0"/>
              </a:rPr>
              <a:t>Data frames</a:t>
            </a:r>
            <a:endParaRPr lang="en-US" b="0" dirty="0">
              <a:effectLst/>
              <a:latin typeface="Arial Narrow" panose="020B0606020202030204" pitchFamily="34" charset="0"/>
            </a:endParaRPr>
          </a:p>
          <a:p>
            <a:pPr lvl="1"/>
            <a:r>
              <a:rPr lang="en-US" dirty="0">
                <a:latin typeface="Arial Narrow" panose="020B0606020202030204" pitchFamily="34" charset="0"/>
              </a:rPr>
              <a:t>Factors (for categorical data)</a:t>
            </a:r>
            <a:endParaRPr lang="en-US" b="0" dirty="0">
              <a:effectLst/>
              <a:latin typeface="Arial Narrow" panose="020B0606020202030204" pitchFamily="34" charset="0"/>
            </a:endParaRPr>
          </a:p>
          <a:p>
            <a:pPr marL="0" indent="0">
              <a:buNone/>
            </a:pPr>
            <a:r>
              <a:rPr lang="en-US" dirty="0"/>
              <a:t/>
            </a:r>
            <a:br>
              <a:rPr lang="en-US" dirty="0"/>
            </a:br>
            <a:endParaRPr lang="en-IN" dirty="0"/>
          </a:p>
        </p:txBody>
      </p:sp>
      <p:pic>
        <p:nvPicPr>
          <p:cNvPr id="3074" name="Picture 2" descr="R Data Structures">
            <a:extLst>
              <a:ext uri="{FF2B5EF4-FFF2-40B4-BE49-F238E27FC236}">
                <a16:creationId xmlns="" xmlns:a16="http://schemas.microsoft.com/office/drawing/2014/main" id="{C2D42FBC-486E-2B36-50EC-664D6B2FDC39}"/>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4579505" y="2660217"/>
            <a:ext cx="7044458" cy="338180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998328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73E87C9-5BC8-E743-96F7-0ECB1485BCED}"/>
              </a:ext>
            </a:extLst>
          </p:cNvPr>
          <p:cNvSpPr>
            <a:spLocks noGrp="1"/>
          </p:cNvSpPr>
          <p:nvPr>
            <p:ph idx="1"/>
          </p:nvPr>
        </p:nvSpPr>
        <p:spPr>
          <a:xfrm>
            <a:off x="187036" y="311726"/>
            <a:ext cx="11166764" cy="6276109"/>
          </a:xfrm>
        </p:spPr>
        <p:txBody>
          <a:bodyPr>
            <a:normAutofit fontScale="55000" lnSpcReduction="20000"/>
          </a:bodyPr>
          <a:lstStyle/>
          <a:p>
            <a:r>
              <a:rPr lang="en-US" sz="3100" b="1" dirty="0">
                <a:latin typeface="Arial Narrow" pitchFamily="34" charset="0"/>
              </a:rPr>
              <a:t>Vectors</a:t>
            </a:r>
            <a:endParaRPr lang="en-US" sz="3100" b="0" dirty="0">
              <a:effectLst/>
              <a:latin typeface="Arial Narrow" pitchFamily="34" charset="0"/>
            </a:endParaRPr>
          </a:p>
          <a:p>
            <a:r>
              <a:rPr lang="en-US" sz="3100" dirty="0">
                <a:latin typeface="Arial Narrow" pitchFamily="34" charset="0"/>
              </a:rPr>
              <a:t>A vector is the most basic data structure in R. It contains a </a:t>
            </a:r>
            <a:r>
              <a:rPr lang="en-US" sz="3100" b="1" dirty="0">
                <a:latin typeface="Arial Narrow" pitchFamily="34" charset="0"/>
              </a:rPr>
              <a:t>list of items of the same type</a:t>
            </a:r>
            <a:r>
              <a:rPr lang="en-US" sz="3100" dirty="0">
                <a:latin typeface="Arial Narrow" pitchFamily="34" charset="0"/>
              </a:rPr>
              <a:t>.</a:t>
            </a:r>
          </a:p>
          <a:p>
            <a:r>
              <a:rPr lang="en-US" sz="3100" dirty="0">
                <a:latin typeface="Arial Narrow" pitchFamily="34" charset="0"/>
              </a:rPr>
              <a:t>To combine the list of items to a vector, use the c() function and separate the items by a comma.</a:t>
            </a:r>
          </a:p>
          <a:p>
            <a:r>
              <a:rPr lang="en-US" sz="3100" dirty="0">
                <a:latin typeface="Arial Narrow" pitchFamily="34" charset="0"/>
              </a:rPr>
              <a:t>Example:</a:t>
            </a:r>
            <a:endParaRPr lang="en-US" sz="3100" b="0" dirty="0">
              <a:effectLst/>
              <a:latin typeface="Arial Narrow" pitchFamily="34" charset="0"/>
            </a:endParaRPr>
          </a:p>
          <a:p>
            <a:r>
              <a:rPr lang="en-US" sz="3100" dirty="0">
                <a:latin typeface="Arial Narrow" pitchFamily="34" charset="0"/>
              </a:rPr>
              <a:t># Vector of strings</a:t>
            </a:r>
            <a:br>
              <a:rPr lang="en-US" sz="3100" dirty="0">
                <a:latin typeface="Arial Narrow" pitchFamily="34" charset="0"/>
              </a:rPr>
            </a:br>
            <a:r>
              <a:rPr lang="en-US" sz="3100" dirty="0">
                <a:latin typeface="Arial Narrow" pitchFamily="34" charset="0"/>
              </a:rPr>
              <a:t>fruits &lt;- c("banana", "apple", "orange")</a:t>
            </a:r>
            <a:br>
              <a:rPr lang="en-US" sz="3100" dirty="0">
                <a:latin typeface="Arial Narrow" pitchFamily="34" charset="0"/>
              </a:rPr>
            </a:br>
            <a:r>
              <a:rPr lang="en-US" sz="3100" dirty="0">
                <a:latin typeface="Arial Narrow" pitchFamily="34" charset="0"/>
              </a:rPr>
              <a:t/>
            </a:r>
            <a:br>
              <a:rPr lang="en-US" sz="3100" dirty="0">
                <a:latin typeface="Arial Narrow" pitchFamily="34" charset="0"/>
              </a:rPr>
            </a:br>
            <a:r>
              <a:rPr lang="en-US" sz="3100" dirty="0">
                <a:latin typeface="Arial Narrow" pitchFamily="34" charset="0"/>
              </a:rPr>
              <a:t># Print fruits</a:t>
            </a:r>
            <a:br>
              <a:rPr lang="en-US" sz="3100" dirty="0">
                <a:latin typeface="Arial Narrow" pitchFamily="34" charset="0"/>
              </a:rPr>
            </a:br>
            <a:r>
              <a:rPr lang="en-US" sz="3100" dirty="0">
                <a:latin typeface="Arial Narrow" pitchFamily="34" charset="0"/>
              </a:rPr>
              <a:t>fruits</a:t>
            </a:r>
          </a:p>
          <a:p>
            <a:r>
              <a:rPr lang="en-US" sz="3100" b="0" dirty="0">
                <a:effectLst/>
                <a:latin typeface="Arial Narrow" pitchFamily="34" charset="0"/>
              </a:rPr>
              <a:t>#Vector with Decimal numbers in sequence</a:t>
            </a:r>
          </a:p>
          <a:p>
            <a:r>
              <a:rPr lang="en-US" sz="3100" dirty="0">
                <a:latin typeface="Arial Narrow" pitchFamily="34" charset="0"/>
              </a:rPr>
              <a:t>Number1&lt;-1.2:5.6  </a:t>
            </a:r>
            <a:endParaRPr lang="en-US" sz="3100" b="0" dirty="0">
              <a:effectLst/>
              <a:latin typeface="Arial Narrow" pitchFamily="34" charset="0"/>
            </a:endParaRPr>
          </a:p>
          <a:p>
            <a:r>
              <a:rPr lang="en-US" sz="3100" b="1" dirty="0">
                <a:latin typeface="Arial Narrow" pitchFamily="34" charset="0"/>
              </a:rPr>
              <a:t>Lists</a:t>
            </a:r>
            <a:endParaRPr lang="en-US" sz="3100" b="0" dirty="0">
              <a:effectLst/>
              <a:latin typeface="Arial Narrow" pitchFamily="34" charset="0"/>
            </a:endParaRPr>
          </a:p>
          <a:p>
            <a:r>
              <a:rPr lang="en-US" sz="3100" dirty="0">
                <a:latin typeface="Arial Narrow" pitchFamily="34" charset="0"/>
              </a:rPr>
              <a:t>A list can hold </a:t>
            </a:r>
            <a:r>
              <a:rPr lang="en-US" sz="3100" b="1" dirty="0">
                <a:latin typeface="Arial Narrow" pitchFamily="34" charset="0"/>
              </a:rPr>
              <a:t>different types of data in one structure</a:t>
            </a:r>
            <a:r>
              <a:rPr lang="en-US" sz="3100" dirty="0">
                <a:latin typeface="Arial Narrow" pitchFamily="34" charset="0"/>
              </a:rPr>
              <a:t>. </a:t>
            </a:r>
          </a:p>
          <a:p>
            <a:r>
              <a:rPr lang="en-US" sz="3100" dirty="0">
                <a:latin typeface="Arial Narrow" pitchFamily="34" charset="0"/>
              </a:rPr>
              <a:t>You can combine </a:t>
            </a:r>
            <a:r>
              <a:rPr lang="en-US" sz="3100" b="1" dirty="0">
                <a:latin typeface="Arial Narrow" pitchFamily="34" charset="0"/>
              </a:rPr>
              <a:t>numbers, strings, vectors, and</a:t>
            </a:r>
          </a:p>
          <a:p>
            <a:r>
              <a:rPr lang="en-US" sz="3100" b="1" dirty="0">
                <a:latin typeface="Arial Narrow" pitchFamily="34" charset="0"/>
              </a:rPr>
              <a:t> even other lists.</a:t>
            </a:r>
            <a:endParaRPr lang="en-US" sz="3100" b="1" dirty="0">
              <a:effectLst/>
              <a:latin typeface="Arial Narrow" pitchFamily="34" charset="0"/>
            </a:endParaRPr>
          </a:p>
          <a:p>
            <a:r>
              <a:rPr lang="en-US" sz="3100" b="1" dirty="0">
                <a:latin typeface="Arial Narrow" pitchFamily="34" charset="0"/>
              </a:rPr>
              <a:t>Example</a:t>
            </a:r>
            <a:endParaRPr lang="en-US" sz="3100" b="0" dirty="0">
              <a:effectLst/>
              <a:latin typeface="Arial Narrow" pitchFamily="34" charset="0"/>
            </a:endParaRPr>
          </a:p>
          <a:p>
            <a:r>
              <a:rPr lang="en-US" sz="3100" dirty="0">
                <a:latin typeface="Arial Narrow" pitchFamily="34" charset="0"/>
              </a:rPr>
              <a:t># List of strings</a:t>
            </a:r>
            <a:br>
              <a:rPr lang="en-US" sz="3100" dirty="0">
                <a:latin typeface="Arial Narrow" pitchFamily="34" charset="0"/>
              </a:rPr>
            </a:br>
            <a:r>
              <a:rPr lang="en-US" sz="3100" dirty="0" err="1">
                <a:latin typeface="Arial Narrow" pitchFamily="34" charset="0"/>
              </a:rPr>
              <a:t>thislist</a:t>
            </a:r>
            <a:r>
              <a:rPr lang="en-US" sz="3100" dirty="0">
                <a:latin typeface="Arial Narrow" pitchFamily="34" charset="0"/>
              </a:rPr>
              <a:t> &lt;- list("apple", "banana", 50, 100)</a:t>
            </a:r>
            <a:br>
              <a:rPr lang="en-US" sz="3100" dirty="0">
                <a:latin typeface="Arial Narrow" pitchFamily="34" charset="0"/>
              </a:rPr>
            </a:br>
            <a:r>
              <a:rPr lang="en-US" sz="3100" dirty="0">
                <a:latin typeface="Arial Narrow" pitchFamily="34" charset="0"/>
              </a:rPr>
              <a:t/>
            </a:r>
            <a:br>
              <a:rPr lang="en-US" sz="3100" dirty="0">
                <a:latin typeface="Arial Narrow" pitchFamily="34" charset="0"/>
              </a:rPr>
            </a:br>
            <a:r>
              <a:rPr lang="en-US" sz="3100" dirty="0">
                <a:latin typeface="Arial Narrow" pitchFamily="34" charset="0"/>
              </a:rPr>
              <a:t># Print the list</a:t>
            </a:r>
            <a:br>
              <a:rPr lang="en-US" sz="3100" dirty="0">
                <a:latin typeface="Arial Narrow" pitchFamily="34" charset="0"/>
              </a:rPr>
            </a:br>
            <a:r>
              <a:rPr lang="en-US" sz="3100" dirty="0" err="1">
                <a:latin typeface="Arial Narrow" pitchFamily="34" charset="0"/>
              </a:rPr>
              <a:t>thislist</a:t>
            </a:r>
            <a:r>
              <a:rPr lang="en-US" sz="3100" dirty="0">
                <a:latin typeface="Arial Narrow" pitchFamily="34" charset="0"/>
              </a:rPr>
              <a:t> </a:t>
            </a:r>
            <a:endParaRPr lang="en-US" sz="3100" b="0" dirty="0">
              <a:effectLst/>
              <a:latin typeface="Arial Narrow" pitchFamily="34" charset="0"/>
            </a:endParaRPr>
          </a:p>
          <a:p>
            <a:pPr marL="0" indent="0">
              <a:buNone/>
            </a:pPr>
            <a:r>
              <a:rPr lang="en-US" dirty="0">
                <a:latin typeface="Arial Narrow" pitchFamily="34" charset="0"/>
              </a:rPr>
              <a:t/>
            </a:r>
            <a:br>
              <a:rPr lang="en-US" dirty="0">
                <a:latin typeface="Arial Narrow" pitchFamily="34" charset="0"/>
              </a:rPr>
            </a:br>
            <a:r>
              <a:rPr lang="en-US" dirty="0"/>
              <a:t/>
            </a:r>
            <a:br>
              <a:rPr lang="en-US" dirty="0"/>
            </a:br>
            <a:endParaRPr lang="en-IN" dirty="0"/>
          </a:p>
        </p:txBody>
      </p:sp>
      <p:pic>
        <p:nvPicPr>
          <p:cNvPr id="3075" name="Picture 3"/>
          <p:cNvPicPr>
            <a:picLocks noChangeAspect="1" noChangeArrowheads="1"/>
          </p:cNvPicPr>
          <p:nvPr/>
        </p:nvPicPr>
        <p:blipFill>
          <a:blip r:embed="rId2"/>
          <a:srcRect/>
          <a:stretch>
            <a:fillRect/>
          </a:stretch>
        </p:blipFill>
        <p:spPr bwMode="auto">
          <a:xfrm>
            <a:off x="4924172" y="1357695"/>
            <a:ext cx="4108428" cy="1184338"/>
          </a:xfrm>
          <a:prstGeom prst="rect">
            <a:avLst/>
          </a:prstGeom>
          <a:noFill/>
          <a:ln w="9525">
            <a:noFill/>
            <a:miter lim="800000"/>
            <a:headEnd/>
            <a:tailEnd/>
          </a:ln>
          <a:effectLst/>
        </p:spPr>
      </p:pic>
      <p:pic>
        <p:nvPicPr>
          <p:cNvPr id="1026" name="Picture 2"/>
          <p:cNvPicPr>
            <a:picLocks noChangeAspect="1" noChangeArrowheads="1"/>
          </p:cNvPicPr>
          <p:nvPr/>
        </p:nvPicPr>
        <p:blipFill>
          <a:blip r:embed="rId3"/>
          <a:srcRect/>
          <a:stretch>
            <a:fillRect/>
          </a:stretch>
        </p:blipFill>
        <p:spPr bwMode="auto">
          <a:xfrm>
            <a:off x="7141464" y="2693310"/>
            <a:ext cx="4548886" cy="3985811"/>
          </a:xfrm>
          <a:prstGeom prst="rect">
            <a:avLst/>
          </a:prstGeom>
          <a:noFill/>
          <a:ln w="9525">
            <a:noFill/>
            <a:miter lim="800000"/>
            <a:headEnd/>
            <a:tailEnd/>
          </a:ln>
          <a:effectLst/>
        </p:spPr>
      </p:pic>
    </p:spTree>
    <p:extLst>
      <p:ext uri="{BB962C8B-B14F-4D97-AF65-F5344CB8AC3E}">
        <p14:creationId xmlns="" xmlns:p14="http://schemas.microsoft.com/office/powerpoint/2010/main" val="1149270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F2531D8-FD29-1F1F-DD73-2D287FCFECBE}"/>
              </a:ext>
            </a:extLst>
          </p:cNvPr>
          <p:cNvSpPr>
            <a:spLocks noGrp="1"/>
          </p:cNvSpPr>
          <p:nvPr>
            <p:ph idx="1"/>
          </p:nvPr>
        </p:nvSpPr>
        <p:spPr>
          <a:xfrm>
            <a:off x="838200" y="716973"/>
            <a:ext cx="10515600" cy="5459990"/>
          </a:xfrm>
        </p:spPr>
        <p:txBody>
          <a:bodyPr>
            <a:normAutofit/>
          </a:bodyPr>
          <a:lstStyle/>
          <a:p>
            <a:r>
              <a:rPr lang="en-US" b="1" dirty="0">
                <a:latin typeface="Arial Narrow" pitchFamily="34" charset="0"/>
              </a:rPr>
              <a:t>Matrices</a:t>
            </a:r>
            <a:endParaRPr lang="en-US" b="0" dirty="0">
              <a:effectLst/>
              <a:latin typeface="Arial Narrow" pitchFamily="34" charset="0"/>
            </a:endParaRPr>
          </a:p>
          <a:p>
            <a:r>
              <a:rPr lang="en-US" dirty="0">
                <a:latin typeface="Arial Narrow" pitchFamily="34" charset="0"/>
              </a:rPr>
              <a:t>A matrix is a </a:t>
            </a:r>
            <a:r>
              <a:rPr lang="en-US" b="1" dirty="0">
                <a:latin typeface="Arial Narrow" pitchFamily="34" charset="0"/>
              </a:rPr>
              <a:t>2D data structure </a:t>
            </a:r>
            <a:r>
              <a:rPr lang="en-US" dirty="0">
                <a:latin typeface="Arial Narrow" pitchFamily="34" charset="0"/>
              </a:rPr>
              <a:t>where all elements are of the </a:t>
            </a:r>
            <a:r>
              <a:rPr lang="en-US" b="1" dirty="0">
                <a:latin typeface="Arial Narrow" pitchFamily="34" charset="0"/>
              </a:rPr>
              <a:t>same type</a:t>
            </a:r>
            <a:r>
              <a:rPr lang="en-US" dirty="0">
                <a:latin typeface="Arial Narrow" pitchFamily="34" charset="0"/>
              </a:rPr>
              <a:t>. It is like a table with rows and columns.</a:t>
            </a:r>
            <a:endParaRPr lang="en-US" b="0" dirty="0">
              <a:effectLst/>
              <a:latin typeface="Arial Narrow" pitchFamily="34" charset="0"/>
            </a:endParaRPr>
          </a:p>
          <a:p>
            <a:r>
              <a:rPr lang="en-US" b="1" dirty="0">
                <a:latin typeface="Arial Narrow" pitchFamily="34" charset="0"/>
              </a:rPr>
              <a:t>Example</a:t>
            </a:r>
            <a:endParaRPr lang="en-US" b="0" dirty="0">
              <a:effectLst/>
              <a:latin typeface="Arial Narrow" pitchFamily="34" charset="0"/>
            </a:endParaRPr>
          </a:p>
          <a:p>
            <a:r>
              <a:rPr lang="en-US" dirty="0">
                <a:latin typeface="Arial Narrow" pitchFamily="34" charset="0"/>
              </a:rPr>
              <a:t># Create a matrix</a:t>
            </a:r>
            <a:br>
              <a:rPr lang="en-US" dirty="0">
                <a:latin typeface="Arial Narrow" pitchFamily="34" charset="0"/>
              </a:rPr>
            </a:br>
            <a:r>
              <a:rPr lang="en-US" dirty="0" err="1">
                <a:latin typeface="Arial Narrow" pitchFamily="34" charset="0"/>
              </a:rPr>
              <a:t>thismatrix</a:t>
            </a:r>
            <a:r>
              <a:rPr lang="en-US" dirty="0">
                <a:latin typeface="Arial Narrow" pitchFamily="34" charset="0"/>
              </a:rPr>
              <a:t> &lt;- matrix(c(1,2,3,4,5,6), </a:t>
            </a:r>
            <a:r>
              <a:rPr lang="en-US" dirty="0" err="1">
                <a:latin typeface="Arial Narrow" pitchFamily="34" charset="0"/>
              </a:rPr>
              <a:t>nrow</a:t>
            </a:r>
            <a:r>
              <a:rPr lang="en-US" dirty="0">
                <a:latin typeface="Arial Narrow" pitchFamily="34" charset="0"/>
              </a:rPr>
              <a:t> = 3, </a:t>
            </a:r>
            <a:r>
              <a:rPr lang="en-US" dirty="0" err="1">
                <a:latin typeface="Arial Narrow" pitchFamily="34" charset="0"/>
              </a:rPr>
              <a:t>ncol</a:t>
            </a:r>
            <a:r>
              <a:rPr lang="en-US" dirty="0">
                <a:latin typeface="Arial Narrow" pitchFamily="34" charset="0"/>
              </a:rPr>
              <a:t> = 2)</a:t>
            </a:r>
            <a:br>
              <a:rPr lang="en-US" dirty="0">
                <a:latin typeface="Arial Narrow" pitchFamily="34" charset="0"/>
              </a:rPr>
            </a:br>
            <a:r>
              <a:rPr lang="en-US" dirty="0">
                <a:latin typeface="Arial Narrow" pitchFamily="34" charset="0"/>
              </a:rPr>
              <a:t/>
            </a:r>
            <a:br>
              <a:rPr lang="en-US" dirty="0">
                <a:latin typeface="Arial Narrow" pitchFamily="34" charset="0"/>
              </a:rPr>
            </a:br>
            <a:r>
              <a:rPr lang="en-US" dirty="0">
                <a:latin typeface="Arial Narrow" pitchFamily="34" charset="0"/>
              </a:rPr>
              <a:t># Print the matrix</a:t>
            </a:r>
            <a:br>
              <a:rPr lang="en-US" dirty="0">
                <a:latin typeface="Arial Narrow" pitchFamily="34" charset="0"/>
              </a:rPr>
            </a:br>
            <a:r>
              <a:rPr lang="en-US" dirty="0" err="1">
                <a:latin typeface="Arial Narrow" pitchFamily="34" charset="0"/>
              </a:rPr>
              <a:t>thismatrix</a:t>
            </a:r>
            <a:r>
              <a:rPr lang="en-US" dirty="0">
                <a:latin typeface="Arial Narrow" pitchFamily="34" charset="0"/>
              </a:rPr>
              <a:t> </a:t>
            </a:r>
            <a:endParaRPr lang="en-US" b="0" dirty="0">
              <a:effectLst/>
              <a:latin typeface="Arial Narrow" pitchFamily="34" charset="0"/>
            </a:endParaRPr>
          </a:p>
          <a:p>
            <a:r>
              <a:rPr lang="en-US" dirty="0">
                <a:latin typeface="Arial Narrow" pitchFamily="34" charset="0"/>
              </a:rPr>
              <a:t>Use </a:t>
            </a:r>
            <a:r>
              <a:rPr lang="en-US" dirty="0" err="1">
                <a:latin typeface="Arial Narrow" pitchFamily="34" charset="0"/>
              </a:rPr>
              <a:t>nrow</a:t>
            </a:r>
            <a:r>
              <a:rPr lang="en-US" dirty="0">
                <a:latin typeface="Arial Narrow" pitchFamily="34" charset="0"/>
              </a:rPr>
              <a:t> and </a:t>
            </a:r>
            <a:r>
              <a:rPr lang="en-US" dirty="0" err="1">
                <a:latin typeface="Arial Narrow" pitchFamily="34" charset="0"/>
              </a:rPr>
              <a:t>ncol</a:t>
            </a:r>
            <a:r>
              <a:rPr lang="en-US" dirty="0">
                <a:latin typeface="Arial Narrow" pitchFamily="34" charset="0"/>
              </a:rPr>
              <a:t> to control the size of the matrix.</a:t>
            </a:r>
            <a:endParaRPr lang="en-US" b="0" dirty="0">
              <a:effectLst/>
              <a:latin typeface="Arial Narrow" pitchFamily="34" charset="0"/>
            </a:endParaRPr>
          </a:p>
          <a:p>
            <a:pPr marL="0" indent="0">
              <a:buNone/>
            </a:pPr>
            <a:r>
              <a:rPr lang="en-US" dirty="0"/>
              <a:t/>
            </a:r>
            <a:br>
              <a:rPr lang="en-US" dirty="0"/>
            </a:br>
            <a:endParaRPr lang="en-IN" dirty="0"/>
          </a:p>
        </p:txBody>
      </p:sp>
      <p:pic>
        <p:nvPicPr>
          <p:cNvPr id="1027" name="Picture 3"/>
          <p:cNvPicPr>
            <a:picLocks noChangeAspect="1" noChangeArrowheads="1"/>
          </p:cNvPicPr>
          <p:nvPr/>
        </p:nvPicPr>
        <p:blipFill>
          <a:blip r:embed="rId2"/>
          <a:srcRect/>
          <a:stretch>
            <a:fillRect/>
          </a:stretch>
        </p:blipFill>
        <p:spPr bwMode="auto">
          <a:xfrm>
            <a:off x="8355648" y="3284030"/>
            <a:ext cx="2169096" cy="1377010"/>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t="11917"/>
          <a:stretch>
            <a:fillRect/>
          </a:stretch>
        </p:blipFill>
        <p:spPr bwMode="auto">
          <a:xfrm>
            <a:off x="3132138" y="5623560"/>
            <a:ext cx="2266950" cy="1015175"/>
          </a:xfrm>
          <a:prstGeom prst="rect">
            <a:avLst/>
          </a:prstGeom>
          <a:noFill/>
          <a:ln w="9525">
            <a:noFill/>
            <a:miter lim="800000"/>
            <a:headEnd/>
            <a:tailEnd/>
          </a:ln>
          <a:effectLst/>
        </p:spPr>
      </p:pic>
    </p:spTree>
    <p:extLst>
      <p:ext uri="{BB962C8B-B14F-4D97-AF65-F5344CB8AC3E}">
        <p14:creationId xmlns="" xmlns:p14="http://schemas.microsoft.com/office/powerpoint/2010/main" val="723172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B9DAC47-45F4-FBDD-4337-79102731B588}"/>
              </a:ext>
            </a:extLst>
          </p:cNvPr>
          <p:cNvSpPr>
            <a:spLocks noGrp="1"/>
          </p:cNvSpPr>
          <p:nvPr>
            <p:ph idx="1"/>
          </p:nvPr>
        </p:nvSpPr>
        <p:spPr>
          <a:xfrm>
            <a:off x="158219" y="0"/>
            <a:ext cx="11204864" cy="7315200"/>
          </a:xfrm>
        </p:spPr>
        <p:txBody>
          <a:bodyPr>
            <a:normAutofit fontScale="32500" lnSpcReduction="20000"/>
          </a:bodyPr>
          <a:lstStyle/>
          <a:p>
            <a:r>
              <a:rPr lang="en-US" sz="4300" b="1" dirty="0">
                <a:latin typeface="Arial Narrow" panose="020B0606020202030204" pitchFamily="34" charset="0"/>
              </a:rPr>
              <a:t>Arrays</a:t>
            </a:r>
            <a:endParaRPr lang="en-US" sz="4300" b="0" dirty="0">
              <a:effectLst/>
              <a:latin typeface="Arial Narrow" panose="020B0606020202030204" pitchFamily="34" charset="0"/>
            </a:endParaRPr>
          </a:p>
          <a:p>
            <a:r>
              <a:rPr lang="en-US" sz="4300" dirty="0">
                <a:latin typeface="Arial Narrow" panose="020B0606020202030204" pitchFamily="34" charset="0"/>
              </a:rPr>
              <a:t>Compared to matrices, arrays can have more than two dimensions. </a:t>
            </a:r>
            <a:endParaRPr lang="en-US" sz="4300" b="0" dirty="0">
              <a:effectLst/>
              <a:latin typeface="Arial Narrow" panose="020B0606020202030204" pitchFamily="34" charset="0"/>
            </a:endParaRPr>
          </a:p>
          <a:p>
            <a:r>
              <a:rPr lang="en-US" sz="4300" dirty="0">
                <a:latin typeface="Arial Narrow" panose="020B0606020202030204" pitchFamily="34" charset="0"/>
              </a:rPr>
              <a:t>We can use the array() function to create an array, and the dim parameter to specify the dimensions:</a:t>
            </a:r>
            <a:endParaRPr lang="en-US" sz="4300" b="0" dirty="0">
              <a:effectLst/>
              <a:latin typeface="Arial Narrow" panose="020B0606020202030204" pitchFamily="34" charset="0"/>
            </a:endParaRPr>
          </a:p>
          <a:p>
            <a:r>
              <a:rPr lang="en-US" sz="4300" b="1" dirty="0">
                <a:latin typeface="Arial Narrow" panose="020B0606020202030204" pitchFamily="34" charset="0"/>
              </a:rPr>
              <a:t>Example</a:t>
            </a:r>
            <a:endParaRPr lang="en-US" sz="4300" b="0" dirty="0">
              <a:effectLst/>
              <a:latin typeface="Arial Narrow" panose="020B0606020202030204" pitchFamily="34" charset="0"/>
            </a:endParaRPr>
          </a:p>
          <a:p>
            <a:r>
              <a:rPr lang="en-US" sz="4300" dirty="0">
                <a:latin typeface="Arial Narrow" panose="020B0606020202030204" pitchFamily="34" charset="0"/>
              </a:rPr>
              <a:t># An array with one dimension with values ranging from 1 to 24</a:t>
            </a:r>
            <a:br>
              <a:rPr lang="en-US" sz="4300" dirty="0">
                <a:latin typeface="Arial Narrow" panose="020B0606020202030204" pitchFamily="34" charset="0"/>
              </a:rPr>
            </a:br>
            <a:r>
              <a:rPr lang="en-US" sz="4300" dirty="0" err="1">
                <a:latin typeface="Arial Narrow" panose="020B0606020202030204" pitchFamily="34" charset="0"/>
              </a:rPr>
              <a:t>thisarray</a:t>
            </a:r>
            <a:r>
              <a:rPr lang="en-US" sz="4300" dirty="0">
                <a:latin typeface="Arial Narrow" panose="020B0606020202030204" pitchFamily="34" charset="0"/>
              </a:rPr>
              <a:t> &lt;- c(1:24)</a:t>
            </a:r>
            <a:br>
              <a:rPr lang="en-US" sz="4300" dirty="0">
                <a:latin typeface="Arial Narrow" panose="020B0606020202030204" pitchFamily="34" charset="0"/>
              </a:rPr>
            </a:br>
            <a:r>
              <a:rPr lang="en-US" sz="4300" dirty="0" err="1">
                <a:latin typeface="Arial Narrow" panose="020B0606020202030204" pitchFamily="34" charset="0"/>
              </a:rPr>
              <a:t>thisarray</a:t>
            </a:r>
            <a:r>
              <a:rPr lang="en-US" sz="4300" dirty="0">
                <a:latin typeface="Arial Narrow" panose="020B0606020202030204" pitchFamily="34" charset="0"/>
              </a:rPr>
              <a:t/>
            </a:r>
            <a:br>
              <a:rPr lang="en-US" sz="4300" dirty="0">
                <a:latin typeface="Arial Narrow" panose="020B0606020202030204" pitchFamily="34" charset="0"/>
              </a:rPr>
            </a:br>
            <a:r>
              <a:rPr lang="en-US" sz="4300" dirty="0">
                <a:latin typeface="Arial Narrow" panose="020B0606020202030204" pitchFamily="34" charset="0"/>
              </a:rPr>
              <a:t/>
            </a:r>
            <a:br>
              <a:rPr lang="en-US" sz="4300" dirty="0">
                <a:latin typeface="Arial Narrow" panose="020B0606020202030204" pitchFamily="34" charset="0"/>
              </a:rPr>
            </a:br>
            <a:r>
              <a:rPr lang="en-US" sz="4300" dirty="0">
                <a:latin typeface="Arial Narrow" panose="020B0606020202030204" pitchFamily="34" charset="0"/>
              </a:rPr>
              <a:t># An array with more than one dimension</a:t>
            </a:r>
            <a:br>
              <a:rPr lang="en-US" sz="4300" dirty="0">
                <a:latin typeface="Arial Narrow" panose="020B0606020202030204" pitchFamily="34" charset="0"/>
              </a:rPr>
            </a:br>
            <a:r>
              <a:rPr lang="en-US" sz="4300" dirty="0">
                <a:latin typeface="Arial Narrow" panose="020B0606020202030204" pitchFamily="34" charset="0"/>
              </a:rPr>
              <a:t>multiarray &lt;- array(</a:t>
            </a:r>
            <a:r>
              <a:rPr lang="en-US" sz="4300" dirty="0" err="1">
                <a:latin typeface="Arial Narrow" panose="020B0606020202030204" pitchFamily="34" charset="0"/>
              </a:rPr>
              <a:t>thisarray</a:t>
            </a:r>
            <a:r>
              <a:rPr lang="en-US" sz="4300" dirty="0">
                <a:latin typeface="Arial Narrow" panose="020B0606020202030204" pitchFamily="34" charset="0"/>
              </a:rPr>
              <a:t>, dim = c(4, 3, 2))</a:t>
            </a:r>
            <a:endParaRPr lang="en-US" sz="4300" b="0" dirty="0">
              <a:effectLst/>
              <a:latin typeface="Arial Narrow" panose="020B0606020202030204" pitchFamily="34" charset="0"/>
            </a:endParaRPr>
          </a:p>
          <a:p>
            <a:r>
              <a:rPr lang="en-US" sz="4300" b="1" dirty="0">
                <a:latin typeface="Arial Narrow" panose="020B0606020202030204" pitchFamily="34" charset="0"/>
              </a:rPr>
              <a:t>Access Array Items</a:t>
            </a:r>
            <a:endParaRPr lang="en-US" sz="4300" b="0" dirty="0">
              <a:effectLst/>
              <a:latin typeface="Arial Narrow" panose="020B0606020202030204" pitchFamily="34" charset="0"/>
            </a:endParaRPr>
          </a:p>
          <a:p>
            <a:r>
              <a:rPr lang="en-US" sz="4300" dirty="0">
                <a:latin typeface="Arial Narrow" panose="020B0606020202030204" pitchFamily="34" charset="0"/>
              </a:rPr>
              <a:t>You can access the array elements by referring to the index position. </a:t>
            </a:r>
          </a:p>
          <a:p>
            <a:r>
              <a:rPr lang="en-US" sz="4300" dirty="0">
                <a:latin typeface="Arial Narrow" panose="020B0606020202030204" pitchFamily="34" charset="0"/>
              </a:rPr>
              <a:t>You can use the [] brackets to access the desired elements from an array:</a:t>
            </a:r>
            <a:endParaRPr lang="en-US" sz="4300" b="0" dirty="0">
              <a:effectLst/>
              <a:latin typeface="Arial Narrow" panose="020B0606020202030204" pitchFamily="34" charset="0"/>
            </a:endParaRPr>
          </a:p>
          <a:p>
            <a:r>
              <a:rPr lang="en-US" sz="4300" b="1" dirty="0">
                <a:latin typeface="Arial Narrow" panose="020B0606020202030204" pitchFamily="34" charset="0"/>
              </a:rPr>
              <a:t>Example</a:t>
            </a:r>
            <a:endParaRPr lang="en-US" sz="4300" b="0" dirty="0">
              <a:effectLst/>
              <a:latin typeface="Arial Narrow" panose="020B0606020202030204" pitchFamily="34" charset="0"/>
            </a:endParaRPr>
          </a:p>
          <a:p>
            <a:r>
              <a:rPr lang="en-US" sz="4300" dirty="0" err="1">
                <a:latin typeface="Arial Narrow" panose="020B0606020202030204" pitchFamily="34" charset="0"/>
              </a:rPr>
              <a:t>thisarray</a:t>
            </a:r>
            <a:r>
              <a:rPr lang="en-US" sz="4300" dirty="0">
                <a:latin typeface="Arial Narrow" panose="020B0606020202030204" pitchFamily="34" charset="0"/>
              </a:rPr>
              <a:t> &lt;- c(1:24)</a:t>
            </a:r>
            <a:br>
              <a:rPr lang="en-US" sz="4300" dirty="0">
                <a:latin typeface="Arial Narrow" panose="020B0606020202030204" pitchFamily="34" charset="0"/>
              </a:rPr>
            </a:br>
            <a:r>
              <a:rPr lang="en-US" sz="4300" dirty="0">
                <a:latin typeface="Arial Narrow" panose="020B0606020202030204" pitchFamily="34" charset="0"/>
              </a:rPr>
              <a:t>multiarray &lt;- array(</a:t>
            </a:r>
            <a:r>
              <a:rPr lang="en-US" sz="4300" dirty="0" err="1">
                <a:latin typeface="Arial Narrow" panose="020B0606020202030204" pitchFamily="34" charset="0"/>
              </a:rPr>
              <a:t>thisarray</a:t>
            </a:r>
            <a:r>
              <a:rPr lang="en-US" sz="4300" dirty="0">
                <a:latin typeface="Arial Narrow" panose="020B0606020202030204" pitchFamily="34" charset="0"/>
              </a:rPr>
              <a:t>, dim = c(4, 3, 2))</a:t>
            </a:r>
            <a:br>
              <a:rPr lang="en-US" sz="4300" dirty="0">
                <a:latin typeface="Arial Narrow" panose="020B0606020202030204" pitchFamily="34" charset="0"/>
              </a:rPr>
            </a:br>
            <a:r>
              <a:rPr lang="en-US" sz="4300" dirty="0">
                <a:latin typeface="Arial Narrow" panose="020B0606020202030204" pitchFamily="34" charset="0"/>
              </a:rPr>
              <a:t/>
            </a:r>
            <a:br>
              <a:rPr lang="en-US" sz="4300" dirty="0">
                <a:latin typeface="Arial Narrow" panose="020B0606020202030204" pitchFamily="34" charset="0"/>
              </a:rPr>
            </a:br>
            <a:r>
              <a:rPr lang="en-US" sz="4300" dirty="0">
                <a:latin typeface="Arial Narrow" panose="020B0606020202030204" pitchFamily="34" charset="0"/>
              </a:rPr>
              <a:t>multiarray[2, 3, 2] </a:t>
            </a:r>
            <a:endParaRPr lang="en-US" sz="4300" b="0" dirty="0">
              <a:effectLst/>
              <a:latin typeface="Arial Narrow" panose="020B0606020202030204" pitchFamily="34" charset="0"/>
            </a:endParaRPr>
          </a:p>
          <a:p>
            <a:r>
              <a:rPr lang="en-US" sz="4300" dirty="0">
                <a:latin typeface="Arial Narrow" panose="020B0606020202030204" pitchFamily="34" charset="0"/>
              </a:rPr>
              <a:t>The syntax is as follow: array[row position, column position, matrix level]</a:t>
            </a:r>
            <a:endParaRPr lang="en-US" sz="4300" b="0" dirty="0">
              <a:effectLst/>
              <a:latin typeface="Arial Narrow" panose="020B0606020202030204" pitchFamily="34" charset="0"/>
            </a:endParaRPr>
          </a:p>
          <a:p>
            <a:r>
              <a:rPr lang="en-US" sz="4300" dirty="0">
                <a:latin typeface="Arial Narrow" panose="020B0606020202030204" pitchFamily="34" charset="0"/>
              </a:rPr>
              <a:t>You can also access the whole row or column from a matrix in an array, by using the c() function:</a:t>
            </a:r>
            <a:endParaRPr lang="en-US" sz="4300" b="0" dirty="0">
              <a:effectLst/>
              <a:latin typeface="Arial Narrow" panose="020B0606020202030204" pitchFamily="34" charset="0"/>
            </a:endParaRPr>
          </a:p>
          <a:p>
            <a:r>
              <a:rPr lang="en-US" sz="4300" b="1" dirty="0">
                <a:latin typeface="Arial Narrow" panose="020B0606020202030204" pitchFamily="34" charset="0"/>
              </a:rPr>
              <a:t>Example</a:t>
            </a:r>
            <a:endParaRPr lang="en-US" sz="4300" b="0" dirty="0">
              <a:effectLst/>
              <a:latin typeface="Arial Narrow" panose="020B0606020202030204" pitchFamily="34" charset="0"/>
            </a:endParaRPr>
          </a:p>
          <a:p>
            <a:r>
              <a:rPr lang="en-US" sz="4300" dirty="0" err="1">
                <a:latin typeface="Arial Narrow" panose="020B0606020202030204" pitchFamily="34" charset="0"/>
              </a:rPr>
              <a:t>thisarray</a:t>
            </a:r>
            <a:r>
              <a:rPr lang="en-US" sz="4300" dirty="0">
                <a:latin typeface="Arial Narrow" panose="020B0606020202030204" pitchFamily="34" charset="0"/>
              </a:rPr>
              <a:t> &lt;- c(1:24)</a:t>
            </a:r>
            <a:br>
              <a:rPr lang="en-US" sz="4300" dirty="0">
                <a:latin typeface="Arial Narrow" panose="020B0606020202030204" pitchFamily="34" charset="0"/>
              </a:rPr>
            </a:br>
            <a:r>
              <a:rPr lang="en-US" sz="4300" dirty="0">
                <a:latin typeface="Arial Narrow" panose="020B0606020202030204" pitchFamily="34" charset="0"/>
              </a:rPr>
              <a:t/>
            </a:r>
            <a:br>
              <a:rPr lang="en-US" sz="4300" dirty="0">
                <a:latin typeface="Arial Narrow" panose="020B0606020202030204" pitchFamily="34" charset="0"/>
              </a:rPr>
            </a:br>
            <a:r>
              <a:rPr lang="en-US" sz="4300" dirty="0">
                <a:latin typeface="Arial Narrow" panose="020B0606020202030204" pitchFamily="34" charset="0"/>
              </a:rPr>
              <a:t># Access all the items from the first row from matrix one</a:t>
            </a:r>
            <a:br>
              <a:rPr lang="en-US" sz="4300" dirty="0">
                <a:latin typeface="Arial Narrow" panose="020B0606020202030204" pitchFamily="34" charset="0"/>
              </a:rPr>
            </a:br>
            <a:r>
              <a:rPr lang="en-US" sz="4300" dirty="0">
                <a:latin typeface="Arial Narrow" panose="020B0606020202030204" pitchFamily="34" charset="0"/>
              </a:rPr>
              <a:t>multiarray &lt;- array(</a:t>
            </a:r>
            <a:r>
              <a:rPr lang="en-US" sz="4300" dirty="0" err="1">
                <a:latin typeface="Arial Narrow" panose="020B0606020202030204" pitchFamily="34" charset="0"/>
              </a:rPr>
              <a:t>thisarray</a:t>
            </a:r>
            <a:r>
              <a:rPr lang="en-US" sz="4300" dirty="0">
                <a:latin typeface="Arial Narrow" panose="020B0606020202030204" pitchFamily="34" charset="0"/>
              </a:rPr>
              <a:t>, dim = c(4, 3, 2))</a:t>
            </a:r>
            <a:br>
              <a:rPr lang="en-US" sz="4300" dirty="0">
                <a:latin typeface="Arial Narrow" panose="020B0606020202030204" pitchFamily="34" charset="0"/>
              </a:rPr>
            </a:br>
            <a:r>
              <a:rPr lang="en-US" sz="4300" dirty="0">
                <a:latin typeface="Arial Narrow" panose="020B0606020202030204" pitchFamily="34" charset="0"/>
              </a:rPr>
              <a:t>multiarray[c(1),,1]</a:t>
            </a:r>
            <a:br>
              <a:rPr lang="en-US" sz="4300" dirty="0">
                <a:latin typeface="Arial Narrow" panose="020B0606020202030204" pitchFamily="34" charset="0"/>
              </a:rPr>
            </a:br>
            <a:r>
              <a:rPr lang="en-US" sz="4300" dirty="0">
                <a:latin typeface="Arial Narrow" panose="020B0606020202030204" pitchFamily="34" charset="0"/>
              </a:rPr>
              <a:t/>
            </a:r>
            <a:br>
              <a:rPr lang="en-US" sz="4300" dirty="0">
                <a:latin typeface="Arial Narrow" panose="020B0606020202030204" pitchFamily="34" charset="0"/>
              </a:rPr>
            </a:br>
            <a:r>
              <a:rPr lang="en-US" sz="4300" dirty="0">
                <a:latin typeface="Arial Narrow" panose="020B0606020202030204" pitchFamily="34" charset="0"/>
              </a:rPr>
              <a:t># Access all the items from the first column from matrix one</a:t>
            </a:r>
            <a:br>
              <a:rPr lang="en-US" sz="4300" dirty="0">
                <a:latin typeface="Arial Narrow" panose="020B0606020202030204" pitchFamily="34" charset="0"/>
              </a:rPr>
            </a:br>
            <a:r>
              <a:rPr lang="en-US" sz="4300" dirty="0">
                <a:latin typeface="Arial Narrow" panose="020B0606020202030204" pitchFamily="34" charset="0"/>
              </a:rPr>
              <a:t>multiarray &lt;- array(</a:t>
            </a:r>
            <a:r>
              <a:rPr lang="en-US" sz="4300" dirty="0" err="1">
                <a:latin typeface="Arial Narrow" panose="020B0606020202030204" pitchFamily="34" charset="0"/>
              </a:rPr>
              <a:t>thisarray</a:t>
            </a:r>
            <a:r>
              <a:rPr lang="en-US" sz="4300" dirty="0">
                <a:latin typeface="Arial Narrow" panose="020B0606020202030204" pitchFamily="34" charset="0"/>
              </a:rPr>
              <a:t>, dim = c(4, 3, 2))</a:t>
            </a:r>
            <a:br>
              <a:rPr lang="en-US" sz="4300" dirty="0">
                <a:latin typeface="Arial Narrow" panose="020B0606020202030204" pitchFamily="34" charset="0"/>
              </a:rPr>
            </a:br>
            <a:r>
              <a:rPr lang="en-US" sz="4300" dirty="0">
                <a:latin typeface="Arial Narrow" panose="020B0606020202030204" pitchFamily="34" charset="0"/>
              </a:rPr>
              <a:t>multiarray[,c(1),1] </a:t>
            </a:r>
            <a:endParaRPr lang="en-US" sz="4300" b="0" dirty="0">
              <a:effectLst/>
              <a:latin typeface="Arial Narrow" panose="020B0606020202030204" pitchFamily="34" charset="0"/>
            </a:endParaRPr>
          </a:p>
          <a:p>
            <a:r>
              <a:rPr lang="en-US" sz="4300" dirty="0">
                <a:latin typeface="Arial Narrow" panose="020B0606020202030204" pitchFamily="34" charset="0"/>
              </a:rPr>
              <a:t>A comma (,) before c() means that we want to access the column.</a:t>
            </a:r>
            <a:endParaRPr lang="en-US" sz="4300" b="0" dirty="0">
              <a:effectLst/>
              <a:latin typeface="Arial Narrow" panose="020B0606020202030204" pitchFamily="34" charset="0"/>
            </a:endParaRPr>
          </a:p>
          <a:p>
            <a:r>
              <a:rPr lang="en-US" sz="4300" dirty="0">
                <a:latin typeface="Arial Narrow" panose="020B0606020202030204" pitchFamily="34" charset="0"/>
              </a:rPr>
              <a:t>A comma (,) after c() means that we want to access the row.</a:t>
            </a:r>
            <a:endParaRPr lang="en-US" sz="4300" b="0" dirty="0">
              <a:effectLst/>
              <a:latin typeface="Arial Narrow" panose="020B0606020202030204" pitchFamily="34" charset="0"/>
            </a:endParaRPr>
          </a:p>
          <a:p>
            <a:r>
              <a:rPr lang="en-US" dirty="0"/>
              <a:t/>
            </a:r>
            <a:br>
              <a:rPr lang="en-US" dirty="0"/>
            </a:br>
            <a:endParaRPr lang="en-IN" dirty="0"/>
          </a:p>
        </p:txBody>
      </p:sp>
      <p:pic>
        <p:nvPicPr>
          <p:cNvPr id="2050" name="Picture 2"/>
          <p:cNvPicPr>
            <a:picLocks noChangeAspect="1" noChangeArrowheads="1"/>
          </p:cNvPicPr>
          <p:nvPr/>
        </p:nvPicPr>
        <p:blipFill>
          <a:blip r:embed="rId2"/>
          <a:srcRect/>
          <a:stretch>
            <a:fillRect/>
          </a:stretch>
        </p:blipFill>
        <p:spPr bwMode="auto">
          <a:xfrm>
            <a:off x="6340887" y="793737"/>
            <a:ext cx="5851113" cy="3620453"/>
          </a:xfrm>
          <a:prstGeom prst="rect">
            <a:avLst/>
          </a:prstGeom>
          <a:noFill/>
          <a:ln w="9525">
            <a:noFill/>
            <a:miter lim="800000"/>
            <a:headEnd/>
            <a:tailEnd/>
          </a:ln>
          <a:effectLst/>
        </p:spPr>
      </p:pic>
    </p:spTree>
    <p:extLst>
      <p:ext uri="{BB962C8B-B14F-4D97-AF65-F5344CB8AC3E}">
        <p14:creationId xmlns="" xmlns:p14="http://schemas.microsoft.com/office/powerpoint/2010/main" val="3668825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9FA8FA9-0E59-E0F5-6DEA-2840D6FF07EE}"/>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5418622B-B56A-AECC-1C0F-774045812EC4}"/>
              </a:ext>
            </a:extLst>
          </p:cNvPr>
          <p:cNvSpPr>
            <a:spLocks noGrp="1"/>
          </p:cNvSpPr>
          <p:nvPr>
            <p:ph idx="1"/>
          </p:nvPr>
        </p:nvSpPr>
        <p:spPr/>
        <p:txBody>
          <a:bodyPr>
            <a:normAutofit fontScale="62500" lnSpcReduction="20000"/>
          </a:bodyPr>
          <a:lstStyle/>
          <a:p>
            <a:r>
              <a:rPr lang="en-US" b="1" dirty="0">
                <a:latin typeface="Arial Narrow" pitchFamily="34" charset="0"/>
              </a:rPr>
              <a:t>Data Frames</a:t>
            </a:r>
            <a:endParaRPr lang="en-US" b="0" dirty="0">
              <a:effectLst/>
              <a:latin typeface="Arial Narrow" pitchFamily="34" charset="0"/>
            </a:endParaRPr>
          </a:p>
          <a:p>
            <a:r>
              <a:rPr lang="en-US" dirty="0">
                <a:latin typeface="Arial Narrow" pitchFamily="34" charset="0"/>
              </a:rPr>
              <a:t>Data Frames are data displayed in a format as a table.</a:t>
            </a:r>
            <a:endParaRPr lang="en-US" b="0" dirty="0">
              <a:effectLst/>
              <a:latin typeface="Arial Narrow" pitchFamily="34" charset="0"/>
            </a:endParaRPr>
          </a:p>
          <a:p>
            <a:r>
              <a:rPr lang="en-US" dirty="0">
                <a:latin typeface="Arial Narrow" pitchFamily="34" charset="0"/>
              </a:rPr>
              <a:t>Data Frames can have different types of data inside it. While the first column can be character, the second and third can be numeric or logical. However, each column should have the same type of data.</a:t>
            </a:r>
            <a:endParaRPr lang="en-US" b="0" dirty="0">
              <a:effectLst/>
              <a:latin typeface="Arial Narrow" pitchFamily="34" charset="0"/>
            </a:endParaRPr>
          </a:p>
          <a:p>
            <a:r>
              <a:rPr lang="en-US" dirty="0">
                <a:latin typeface="Arial Narrow" pitchFamily="34" charset="0"/>
              </a:rPr>
              <a:t>Use the </a:t>
            </a:r>
            <a:r>
              <a:rPr lang="en-US" dirty="0" err="1">
                <a:latin typeface="Arial Narrow" pitchFamily="34" charset="0"/>
              </a:rPr>
              <a:t>data.frame</a:t>
            </a:r>
            <a:r>
              <a:rPr lang="en-US" dirty="0">
                <a:latin typeface="Arial Narrow" pitchFamily="34" charset="0"/>
              </a:rPr>
              <a:t>() function to create a data frame:</a:t>
            </a:r>
            <a:endParaRPr lang="en-US" b="0" dirty="0">
              <a:effectLst/>
              <a:latin typeface="Arial Narrow" pitchFamily="34" charset="0"/>
            </a:endParaRPr>
          </a:p>
          <a:p>
            <a:r>
              <a:rPr lang="en-US" b="1" dirty="0">
                <a:latin typeface="Arial Narrow" pitchFamily="34" charset="0"/>
              </a:rPr>
              <a:t>Example</a:t>
            </a:r>
            <a:endParaRPr lang="en-US" b="0" dirty="0">
              <a:effectLst/>
              <a:latin typeface="Arial Narrow" pitchFamily="34" charset="0"/>
            </a:endParaRPr>
          </a:p>
          <a:p>
            <a:r>
              <a:rPr lang="en-US" dirty="0">
                <a:latin typeface="Arial Narrow" pitchFamily="34" charset="0"/>
              </a:rPr>
              <a:t># Create a data frame</a:t>
            </a:r>
            <a:br>
              <a:rPr lang="en-US" dirty="0">
                <a:latin typeface="Arial Narrow" pitchFamily="34" charset="0"/>
              </a:rPr>
            </a:br>
            <a:r>
              <a:rPr lang="en-US" dirty="0" err="1">
                <a:latin typeface="Arial Narrow" pitchFamily="34" charset="0"/>
              </a:rPr>
              <a:t>Data_Frame</a:t>
            </a:r>
            <a:r>
              <a:rPr lang="en-US" dirty="0">
                <a:latin typeface="Arial Narrow" pitchFamily="34" charset="0"/>
              </a:rPr>
              <a:t> &lt;- </a:t>
            </a:r>
            <a:r>
              <a:rPr lang="en-US" dirty="0" err="1">
                <a:latin typeface="Arial Narrow" pitchFamily="34" charset="0"/>
              </a:rPr>
              <a:t>data.frame</a:t>
            </a:r>
            <a:r>
              <a:rPr lang="en-US" dirty="0">
                <a:latin typeface="Arial Narrow" pitchFamily="34" charset="0"/>
              </a:rPr>
              <a:t> (</a:t>
            </a:r>
            <a:br>
              <a:rPr lang="en-US" dirty="0">
                <a:latin typeface="Arial Narrow" pitchFamily="34" charset="0"/>
              </a:rPr>
            </a:br>
            <a:r>
              <a:rPr lang="en-US" dirty="0">
                <a:latin typeface="Arial Narrow" pitchFamily="34" charset="0"/>
              </a:rPr>
              <a:t>  Training = c("Strength", "Stamina", "Other"),</a:t>
            </a:r>
            <a:br>
              <a:rPr lang="en-US" dirty="0">
                <a:latin typeface="Arial Narrow" pitchFamily="34" charset="0"/>
              </a:rPr>
            </a:br>
            <a:r>
              <a:rPr lang="en-US" dirty="0">
                <a:latin typeface="Arial Narrow" pitchFamily="34" charset="0"/>
              </a:rPr>
              <a:t>  Pulse = c(100, 150, 120),</a:t>
            </a:r>
            <a:br>
              <a:rPr lang="en-US" dirty="0">
                <a:latin typeface="Arial Narrow" pitchFamily="34" charset="0"/>
              </a:rPr>
            </a:br>
            <a:r>
              <a:rPr lang="en-US" dirty="0">
                <a:latin typeface="Arial Narrow" pitchFamily="34" charset="0"/>
              </a:rPr>
              <a:t>  Duration = c(60, 30, 45)</a:t>
            </a:r>
            <a:br>
              <a:rPr lang="en-US" dirty="0">
                <a:latin typeface="Arial Narrow" pitchFamily="34" charset="0"/>
              </a:rPr>
            </a:br>
            <a:r>
              <a:rPr lang="en-US" dirty="0">
                <a:latin typeface="Arial Narrow" pitchFamily="34" charset="0"/>
              </a:rPr>
              <a:t>)</a:t>
            </a:r>
            <a:br>
              <a:rPr lang="en-US" dirty="0">
                <a:latin typeface="Arial Narrow" pitchFamily="34" charset="0"/>
              </a:rPr>
            </a:br>
            <a:r>
              <a:rPr lang="en-US" dirty="0">
                <a:latin typeface="Arial Narrow" pitchFamily="34" charset="0"/>
              </a:rPr>
              <a:t/>
            </a:r>
            <a:br>
              <a:rPr lang="en-US" dirty="0">
                <a:latin typeface="Arial Narrow" pitchFamily="34" charset="0"/>
              </a:rPr>
            </a:br>
            <a:r>
              <a:rPr lang="en-US" dirty="0">
                <a:latin typeface="Arial Narrow" pitchFamily="34" charset="0"/>
              </a:rPr>
              <a:t># Print the data frame</a:t>
            </a:r>
            <a:br>
              <a:rPr lang="en-US" dirty="0">
                <a:latin typeface="Arial Narrow" pitchFamily="34" charset="0"/>
              </a:rPr>
            </a:br>
            <a:r>
              <a:rPr lang="en-US" dirty="0" err="1">
                <a:latin typeface="Arial Narrow" pitchFamily="34" charset="0"/>
              </a:rPr>
              <a:t>Data_Frame</a:t>
            </a:r>
            <a:r>
              <a:rPr lang="en-US" dirty="0">
                <a:latin typeface="Arial Narrow" pitchFamily="34" charset="0"/>
              </a:rPr>
              <a:t> </a:t>
            </a:r>
            <a:endParaRPr lang="en-US" b="0" dirty="0">
              <a:effectLst/>
              <a:latin typeface="Arial Narrow" pitchFamily="34" charset="0"/>
            </a:endParaRPr>
          </a:p>
          <a:p>
            <a:r>
              <a:rPr lang="en-US" dirty="0"/>
              <a:t/>
            </a:r>
            <a:br>
              <a:rPr lang="en-US" dirty="0"/>
            </a:br>
            <a:endParaRPr lang="en-IN" dirty="0"/>
          </a:p>
        </p:txBody>
      </p:sp>
    </p:spTree>
    <p:extLst>
      <p:ext uri="{BB962C8B-B14F-4D97-AF65-F5344CB8AC3E}">
        <p14:creationId xmlns="" xmlns:p14="http://schemas.microsoft.com/office/powerpoint/2010/main" val="735855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70C9532-9846-DF98-852B-6417478399A0}"/>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4B2727ED-09B5-7131-AE7E-1A927608348C}"/>
              </a:ext>
            </a:extLst>
          </p:cNvPr>
          <p:cNvSpPr>
            <a:spLocks noGrp="1"/>
          </p:cNvSpPr>
          <p:nvPr>
            <p:ph idx="1"/>
          </p:nvPr>
        </p:nvSpPr>
        <p:spPr/>
        <p:txBody>
          <a:bodyPr>
            <a:normAutofit fontScale="85000" lnSpcReduction="20000"/>
          </a:bodyPr>
          <a:lstStyle/>
          <a:p>
            <a:r>
              <a:rPr lang="en-US" b="1" dirty="0">
                <a:latin typeface="Arial Narrow" pitchFamily="34" charset="0"/>
              </a:rPr>
              <a:t>Summarize the Data</a:t>
            </a:r>
            <a:endParaRPr lang="en-US" b="0" dirty="0">
              <a:effectLst/>
              <a:latin typeface="Arial Narrow" pitchFamily="34" charset="0"/>
            </a:endParaRPr>
          </a:p>
          <a:p>
            <a:r>
              <a:rPr lang="en-US" dirty="0">
                <a:latin typeface="Arial Narrow" pitchFamily="34" charset="0"/>
              </a:rPr>
              <a:t>Use the summary() function to summarize the data from a Data Frame:</a:t>
            </a:r>
            <a:endParaRPr lang="en-US" b="0" dirty="0">
              <a:effectLst/>
              <a:latin typeface="Arial Narrow" pitchFamily="34" charset="0"/>
            </a:endParaRPr>
          </a:p>
          <a:p>
            <a:r>
              <a:rPr lang="en-US" b="1" dirty="0">
                <a:latin typeface="Arial Narrow" pitchFamily="34" charset="0"/>
              </a:rPr>
              <a:t>Example</a:t>
            </a:r>
            <a:endParaRPr lang="en-US" b="0" dirty="0">
              <a:effectLst/>
              <a:latin typeface="Arial Narrow" pitchFamily="34" charset="0"/>
            </a:endParaRPr>
          </a:p>
          <a:p>
            <a:r>
              <a:rPr lang="en-US" dirty="0" err="1">
                <a:latin typeface="Arial Narrow" pitchFamily="34" charset="0"/>
              </a:rPr>
              <a:t>Data_Frame</a:t>
            </a:r>
            <a:r>
              <a:rPr lang="en-US" dirty="0">
                <a:latin typeface="Arial Narrow" pitchFamily="34" charset="0"/>
              </a:rPr>
              <a:t> &lt;- </a:t>
            </a:r>
            <a:r>
              <a:rPr lang="en-US" dirty="0" err="1">
                <a:latin typeface="Arial Narrow" pitchFamily="34" charset="0"/>
              </a:rPr>
              <a:t>data.frame</a:t>
            </a:r>
            <a:r>
              <a:rPr lang="en-US" dirty="0">
                <a:latin typeface="Arial Narrow" pitchFamily="34" charset="0"/>
              </a:rPr>
              <a:t> (</a:t>
            </a:r>
            <a:br>
              <a:rPr lang="en-US" dirty="0">
                <a:latin typeface="Arial Narrow" pitchFamily="34" charset="0"/>
              </a:rPr>
            </a:br>
            <a:r>
              <a:rPr lang="en-US" dirty="0">
                <a:latin typeface="Arial Narrow" pitchFamily="34" charset="0"/>
              </a:rPr>
              <a:t>  Training = c("Strength", "Stamina", "Other"),</a:t>
            </a:r>
            <a:br>
              <a:rPr lang="en-US" dirty="0">
                <a:latin typeface="Arial Narrow" pitchFamily="34" charset="0"/>
              </a:rPr>
            </a:br>
            <a:r>
              <a:rPr lang="en-US" dirty="0">
                <a:latin typeface="Arial Narrow" pitchFamily="34" charset="0"/>
              </a:rPr>
              <a:t>  Pulse = c(100, 150, 120),</a:t>
            </a:r>
            <a:br>
              <a:rPr lang="en-US" dirty="0">
                <a:latin typeface="Arial Narrow" pitchFamily="34" charset="0"/>
              </a:rPr>
            </a:br>
            <a:r>
              <a:rPr lang="en-US" dirty="0">
                <a:latin typeface="Arial Narrow" pitchFamily="34" charset="0"/>
              </a:rPr>
              <a:t>  Duration = c(60, 30, 45)</a:t>
            </a:r>
            <a:br>
              <a:rPr lang="en-US" dirty="0">
                <a:latin typeface="Arial Narrow" pitchFamily="34" charset="0"/>
              </a:rPr>
            </a:br>
            <a:r>
              <a:rPr lang="en-US" dirty="0">
                <a:latin typeface="Arial Narrow" pitchFamily="34" charset="0"/>
              </a:rPr>
              <a:t>)</a:t>
            </a:r>
            <a:br>
              <a:rPr lang="en-US" dirty="0">
                <a:latin typeface="Arial Narrow" pitchFamily="34" charset="0"/>
              </a:rPr>
            </a:br>
            <a:r>
              <a:rPr lang="en-US" dirty="0">
                <a:latin typeface="Arial Narrow" pitchFamily="34" charset="0"/>
              </a:rPr>
              <a:t/>
            </a:r>
            <a:br>
              <a:rPr lang="en-US" dirty="0">
                <a:latin typeface="Arial Narrow" pitchFamily="34" charset="0"/>
              </a:rPr>
            </a:br>
            <a:r>
              <a:rPr lang="en-US" dirty="0" err="1">
                <a:latin typeface="Arial Narrow" pitchFamily="34" charset="0"/>
              </a:rPr>
              <a:t>Data_Frame</a:t>
            </a:r>
            <a:r>
              <a:rPr lang="en-US" dirty="0">
                <a:latin typeface="Arial Narrow" pitchFamily="34" charset="0"/>
              </a:rPr>
              <a:t/>
            </a:r>
            <a:br>
              <a:rPr lang="en-US" dirty="0">
                <a:latin typeface="Arial Narrow" pitchFamily="34" charset="0"/>
              </a:rPr>
            </a:br>
            <a:r>
              <a:rPr lang="en-US" dirty="0">
                <a:latin typeface="Arial Narrow" pitchFamily="34" charset="0"/>
              </a:rPr>
              <a:t/>
            </a:r>
            <a:br>
              <a:rPr lang="en-US" dirty="0">
                <a:latin typeface="Arial Narrow" pitchFamily="34" charset="0"/>
              </a:rPr>
            </a:br>
            <a:r>
              <a:rPr lang="en-US" dirty="0">
                <a:latin typeface="Arial Narrow" pitchFamily="34" charset="0"/>
              </a:rPr>
              <a:t>summary(</a:t>
            </a:r>
            <a:r>
              <a:rPr lang="en-US" dirty="0" err="1">
                <a:latin typeface="Arial Narrow" pitchFamily="34" charset="0"/>
              </a:rPr>
              <a:t>Data_Frame</a:t>
            </a:r>
            <a:r>
              <a:rPr lang="en-US" dirty="0">
                <a:latin typeface="Arial Narrow" pitchFamily="34" charset="0"/>
              </a:rPr>
              <a:t>) </a:t>
            </a:r>
            <a:endParaRPr lang="en-US" b="0" dirty="0">
              <a:effectLst/>
              <a:latin typeface="Arial Narrow" pitchFamily="34" charset="0"/>
            </a:endParaRPr>
          </a:p>
          <a:p>
            <a:r>
              <a:rPr lang="en-US" dirty="0"/>
              <a:t/>
            </a:r>
            <a:br>
              <a:rPr lang="en-US" dirty="0"/>
            </a:br>
            <a:endParaRPr lang="en-IN" dirty="0"/>
          </a:p>
        </p:txBody>
      </p:sp>
      <p:pic>
        <p:nvPicPr>
          <p:cNvPr id="4098" name="Picture 2"/>
          <p:cNvPicPr>
            <a:picLocks noChangeAspect="1" noChangeArrowheads="1"/>
          </p:cNvPicPr>
          <p:nvPr/>
        </p:nvPicPr>
        <p:blipFill>
          <a:blip r:embed="rId2"/>
          <a:srcRect/>
          <a:stretch>
            <a:fillRect/>
          </a:stretch>
        </p:blipFill>
        <p:spPr bwMode="auto">
          <a:xfrm>
            <a:off x="6382512" y="2850693"/>
            <a:ext cx="5687568" cy="2343099"/>
          </a:xfrm>
          <a:prstGeom prst="rect">
            <a:avLst/>
          </a:prstGeom>
          <a:noFill/>
          <a:ln w="9525">
            <a:noFill/>
            <a:miter lim="800000"/>
            <a:headEnd/>
            <a:tailEnd/>
          </a:ln>
          <a:effectLst/>
        </p:spPr>
      </p:pic>
    </p:spTree>
    <p:extLst>
      <p:ext uri="{BB962C8B-B14F-4D97-AF65-F5344CB8AC3E}">
        <p14:creationId xmlns="" xmlns:p14="http://schemas.microsoft.com/office/powerpoint/2010/main" val="142361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latin typeface="Arial Narrow" pitchFamily="34" charset="0"/>
              </a:rPr>
              <a:t>The summary() function in R provides a quick statistical summary of each column in a data frame. It summarizes </a:t>
            </a:r>
            <a:r>
              <a:rPr lang="en-US" b="1" dirty="0">
                <a:latin typeface="Arial Narrow" pitchFamily="34" charset="0"/>
              </a:rPr>
              <a:t>numeric columns</a:t>
            </a:r>
            <a:r>
              <a:rPr lang="en-US" dirty="0">
                <a:latin typeface="Arial Narrow" pitchFamily="34" charset="0"/>
              </a:rPr>
              <a:t> differently from </a:t>
            </a:r>
            <a:r>
              <a:rPr lang="en-US" b="1" dirty="0">
                <a:latin typeface="Arial Narrow" pitchFamily="34" charset="0"/>
              </a:rPr>
              <a:t>character (text) columns</a:t>
            </a:r>
            <a:r>
              <a:rPr lang="en-US" dirty="0">
                <a:latin typeface="Arial Narrow" pitchFamily="34" charset="0"/>
              </a:rPr>
              <a:t>.</a:t>
            </a:r>
          </a:p>
          <a:p>
            <a:r>
              <a:rPr lang="en-US" dirty="0">
                <a:latin typeface="Arial Narrow" pitchFamily="34" charset="0"/>
              </a:rPr>
              <a:t>Meaning of each statistics</a:t>
            </a:r>
          </a:p>
          <a:p>
            <a:pPr>
              <a:buNone/>
            </a:pPr>
            <a:endParaRPr lang="en-US" dirty="0"/>
          </a:p>
        </p:txBody>
      </p:sp>
      <p:graphicFrame>
        <p:nvGraphicFramePr>
          <p:cNvPr id="4" name="Table 3"/>
          <p:cNvGraphicFramePr>
            <a:graphicFrameLocks noGrp="1"/>
          </p:cNvGraphicFramePr>
          <p:nvPr/>
        </p:nvGraphicFramePr>
        <p:xfrm>
          <a:off x="943864" y="3858767"/>
          <a:ext cx="8128000" cy="2560320"/>
        </p:xfrm>
        <a:graphic>
          <a:graphicData uri="http://schemas.openxmlformats.org/drawingml/2006/table">
            <a:tbl>
              <a:tblPr/>
              <a:tblGrid>
                <a:gridCol w="4064000">
                  <a:extLst>
                    <a:ext uri="{9D8B030D-6E8A-4147-A177-3AD203B41FA5}">
                      <a16:colId xmlns="" xmlns:a16="http://schemas.microsoft.com/office/drawing/2014/main" val="20000"/>
                    </a:ext>
                  </a:extLst>
                </a:gridCol>
                <a:gridCol w="4064000">
                  <a:extLst>
                    <a:ext uri="{9D8B030D-6E8A-4147-A177-3AD203B41FA5}">
                      <a16:colId xmlns="" xmlns:a16="http://schemas.microsoft.com/office/drawing/2014/main" val="20001"/>
                    </a:ext>
                  </a:extLst>
                </a:gridCol>
              </a:tblGrid>
              <a:tr h="0">
                <a:tc>
                  <a:txBody>
                    <a:bodyPr/>
                    <a:lstStyle/>
                    <a:p>
                      <a:r>
                        <a:rPr lang="en-US" b="1" dirty="0"/>
                        <a:t>Statistic</a:t>
                      </a:r>
                    </a:p>
                  </a:txBody>
                  <a:tcPr anchor="ctr">
                    <a:lnL>
                      <a:noFill/>
                    </a:lnL>
                    <a:lnR>
                      <a:noFill/>
                    </a:lnR>
                    <a:lnT>
                      <a:noFill/>
                    </a:lnT>
                    <a:lnB>
                      <a:noFill/>
                    </a:lnB>
                  </a:tcPr>
                </a:tc>
                <a:tc>
                  <a:txBody>
                    <a:bodyPr/>
                    <a:lstStyle/>
                    <a:p>
                      <a:r>
                        <a:rPr lang="en-US" b="1" dirty="0"/>
                        <a:t>Meaning</a:t>
                      </a:r>
                    </a:p>
                  </a:txBody>
                  <a:tcPr anchor="ctr">
                    <a:lnL>
                      <a:noFill/>
                    </a:lnL>
                    <a:lnR>
                      <a:noFill/>
                    </a:lnR>
                    <a:lnT>
                      <a:noFill/>
                    </a:lnT>
                    <a:lnB>
                      <a:noFill/>
                    </a:lnB>
                  </a:tcPr>
                </a:tc>
                <a:extLst>
                  <a:ext uri="{0D108BD9-81ED-4DB2-BD59-A6C34878D82A}">
                    <a16:rowId xmlns="" xmlns:a16="http://schemas.microsoft.com/office/drawing/2014/main" val="10000"/>
                  </a:ext>
                </a:extLst>
              </a:tr>
              <a:tr h="0">
                <a:tc>
                  <a:txBody>
                    <a:bodyPr/>
                    <a:lstStyle/>
                    <a:p>
                      <a:r>
                        <a:rPr lang="en-US" b="1"/>
                        <a:t>Min.</a:t>
                      </a:r>
                      <a:endParaRPr lang="en-US"/>
                    </a:p>
                  </a:txBody>
                  <a:tcPr anchor="ctr">
                    <a:lnL>
                      <a:noFill/>
                    </a:lnL>
                    <a:lnR>
                      <a:noFill/>
                    </a:lnR>
                    <a:lnT>
                      <a:noFill/>
                    </a:lnT>
                    <a:lnB>
                      <a:noFill/>
                    </a:lnB>
                  </a:tcPr>
                </a:tc>
                <a:tc>
                  <a:txBody>
                    <a:bodyPr/>
                    <a:lstStyle/>
                    <a:p>
                      <a:r>
                        <a:rPr lang="en-US"/>
                        <a:t>Smallest value in the column</a:t>
                      </a:r>
                    </a:p>
                  </a:txBody>
                  <a:tcPr anchor="ctr">
                    <a:lnL>
                      <a:noFill/>
                    </a:lnL>
                    <a:lnR>
                      <a:noFill/>
                    </a:lnR>
                    <a:lnT>
                      <a:noFill/>
                    </a:lnT>
                    <a:lnB>
                      <a:noFill/>
                    </a:lnB>
                  </a:tcPr>
                </a:tc>
                <a:extLst>
                  <a:ext uri="{0D108BD9-81ED-4DB2-BD59-A6C34878D82A}">
                    <a16:rowId xmlns="" xmlns:a16="http://schemas.microsoft.com/office/drawing/2014/main" val="10001"/>
                  </a:ext>
                </a:extLst>
              </a:tr>
              <a:tr h="0">
                <a:tc>
                  <a:txBody>
                    <a:bodyPr/>
                    <a:lstStyle/>
                    <a:p>
                      <a:r>
                        <a:rPr lang="en-US" b="1"/>
                        <a:t>1st Quartile (Q1)</a:t>
                      </a:r>
                      <a:endParaRPr lang="en-US"/>
                    </a:p>
                  </a:txBody>
                  <a:tcPr anchor="ctr">
                    <a:lnL>
                      <a:noFill/>
                    </a:lnL>
                    <a:lnR>
                      <a:noFill/>
                    </a:lnR>
                    <a:lnT>
                      <a:noFill/>
                    </a:lnT>
                    <a:lnB>
                      <a:noFill/>
                    </a:lnB>
                  </a:tcPr>
                </a:tc>
                <a:tc>
                  <a:txBody>
                    <a:bodyPr/>
                    <a:lstStyle/>
                    <a:p>
                      <a:r>
                        <a:rPr lang="en-US"/>
                        <a:t>25% of values lie below this value</a:t>
                      </a:r>
                    </a:p>
                  </a:txBody>
                  <a:tcPr anchor="ctr">
                    <a:lnL>
                      <a:noFill/>
                    </a:lnL>
                    <a:lnR>
                      <a:noFill/>
                    </a:lnR>
                    <a:lnT>
                      <a:noFill/>
                    </a:lnT>
                    <a:lnB>
                      <a:noFill/>
                    </a:lnB>
                  </a:tcPr>
                </a:tc>
                <a:extLst>
                  <a:ext uri="{0D108BD9-81ED-4DB2-BD59-A6C34878D82A}">
                    <a16:rowId xmlns="" xmlns:a16="http://schemas.microsoft.com/office/drawing/2014/main" val="10002"/>
                  </a:ext>
                </a:extLst>
              </a:tr>
              <a:tr h="0">
                <a:tc>
                  <a:txBody>
                    <a:bodyPr/>
                    <a:lstStyle/>
                    <a:p>
                      <a:r>
                        <a:rPr lang="en-US" b="1"/>
                        <a:t>Median</a:t>
                      </a:r>
                      <a:endParaRPr lang="en-US"/>
                    </a:p>
                  </a:txBody>
                  <a:tcPr anchor="ctr">
                    <a:lnL>
                      <a:noFill/>
                    </a:lnL>
                    <a:lnR>
                      <a:noFill/>
                    </a:lnR>
                    <a:lnT>
                      <a:noFill/>
                    </a:lnT>
                    <a:lnB>
                      <a:noFill/>
                    </a:lnB>
                  </a:tcPr>
                </a:tc>
                <a:tc>
                  <a:txBody>
                    <a:bodyPr/>
                    <a:lstStyle/>
                    <a:p>
                      <a:r>
                        <a:rPr lang="en-US"/>
                        <a:t>Middle value (50th percentile)</a:t>
                      </a:r>
                    </a:p>
                  </a:txBody>
                  <a:tcPr anchor="ctr">
                    <a:lnL>
                      <a:noFill/>
                    </a:lnL>
                    <a:lnR>
                      <a:noFill/>
                    </a:lnR>
                    <a:lnT>
                      <a:noFill/>
                    </a:lnT>
                    <a:lnB>
                      <a:noFill/>
                    </a:lnB>
                  </a:tcPr>
                </a:tc>
                <a:extLst>
                  <a:ext uri="{0D108BD9-81ED-4DB2-BD59-A6C34878D82A}">
                    <a16:rowId xmlns="" xmlns:a16="http://schemas.microsoft.com/office/drawing/2014/main" val="10003"/>
                  </a:ext>
                </a:extLst>
              </a:tr>
              <a:tr h="0">
                <a:tc>
                  <a:txBody>
                    <a:bodyPr/>
                    <a:lstStyle/>
                    <a:p>
                      <a:r>
                        <a:rPr lang="en-US" b="1"/>
                        <a:t>Mean</a:t>
                      </a:r>
                      <a:endParaRPr lang="en-US"/>
                    </a:p>
                  </a:txBody>
                  <a:tcPr anchor="ctr">
                    <a:lnL>
                      <a:noFill/>
                    </a:lnL>
                    <a:lnR>
                      <a:noFill/>
                    </a:lnR>
                    <a:lnT>
                      <a:noFill/>
                    </a:lnT>
                    <a:lnB>
                      <a:noFill/>
                    </a:lnB>
                  </a:tcPr>
                </a:tc>
                <a:tc>
                  <a:txBody>
                    <a:bodyPr/>
                    <a:lstStyle/>
                    <a:p>
                      <a:r>
                        <a:rPr lang="en-US"/>
                        <a:t>Arithmetic average</a:t>
                      </a:r>
                    </a:p>
                  </a:txBody>
                  <a:tcPr anchor="ctr">
                    <a:lnL>
                      <a:noFill/>
                    </a:lnL>
                    <a:lnR>
                      <a:noFill/>
                    </a:lnR>
                    <a:lnT>
                      <a:noFill/>
                    </a:lnT>
                    <a:lnB>
                      <a:noFill/>
                    </a:lnB>
                  </a:tcPr>
                </a:tc>
                <a:extLst>
                  <a:ext uri="{0D108BD9-81ED-4DB2-BD59-A6C34878D82A}">
                    <a16:rowId xmlns="" xmlns:a16="http://schemas.microsoft.com/office/drawing/2014/main" val="10004"/>
                  </a:ext>
                </a:extLst>
              </a:tr>
              <a:tr h="0">
                <a:tc>
                  <a:txBody>
                    <a:bodyPr/>
                    <a:lstStyle/>
                    <a:p>
                      <a:r>
                        <a:rPr lang="en-US" b="1"/>
                        <a:t>3rd Quartile (Q3)</a:t>
                      </a:r>
                      <a:endParaRPr lang="en-US"/>
                    </a:p>
                  </a:txBody>
                  <a:tcPr anchor="ctr">
                    <a:lnL>
                      <a:noFill/>
                    </a:lnL>
                    <a:lnR>
                      <a:noFill/>
                    </a:lnR>
                    <a:lnT>
                      <a:noFill/>
                    </a:lnT>
                    <a:lnB>
                      <a:noFill/>
                    </a:lnB>
                  </a:tcPr>
                </a:tc>
                <a:tc>
                  <a:txBody>
                    <a:bodyPr/>
                    <a:lstStyle/>
                    <a:p>
                      <a:r>
                        <a:rPr lang="en-US"/>
                        <a:t>75% of values lie below this value</a:t>
                      </a:r>
                    </a:p>
                  </a:txBody>
                  <a:tcPr anchor="ctr">
                    <a:lnL>
                      <a:noFill/>
                    </a:lnL>
                    <a:lnR>
                      <a:noFill/>
                    </a:lnR>
                    <a:lnT>
                      <a:noFill/>
                    </a:lnT>
                    <a:lnB>
                      <a:noFill/>
                    </a:lnB>
                  </a:tcPr>
                </a:tc>
                <a:extLst>
                  <a:ext uri="{0D108BD9-81ED-4DB2-BD59-A6C34878D82A}">
                    <a16:rowId xmlns="" xmlns:a16="http://schemas.microsoft.com/office/drawing/2014/main" val="10005"/>
                  </a:ext>
                </a:extLst>
              </a:tr>
              <a:tr h="0">
                <a:tc>
                  <a:txBody>
                    <a:bodyPr/>
                    <a:lstStyle/>
                    <a:p>
                      <a:r>
                        <a:rPr lang="en-US" b="1"/>
                        <a:t>Max.</a:t>
                      </a:r>
                      <a:endParaRPr lang="en-US"/>
                    </a:p>
                  </a:txBody>
                  <a:tcPr anchor="ctr">
                    <a:lnL>
                      <a:noFill/>
                    </a:lnL>
                    <a:lnR>
                      <a:noFill/>
                    </a:lnR>
                    <a:lnT>
                      <a:noFill/>
                    </a:lnT>
                    <a:lnB>
                      <a:noFill/>
                    </a:lnB>
                  </a:tcPr>
                </a:tc>
                <a:tc>
                  <a:txBody>
                    <a:bodyPr/>
                    <a:lstStyle/>
                    <a:p>
                      <a:r>
                        <a:rPr lang="en-US" dirty="0"/>
                        <a:t>Largest value</a:t>
                      </a:r>
                    </a:p>
                  </a:txBody>
                  <a:tcPr anchor="ctr">
                    <a:lnL>
                      <a:noFill/>
                    </a:lnL>
                    <a:lnR>
                      <a:noFill/>
                    </a:lnR>
                    <a:lnT>
                      <a:noFill/>
                    </a:lnT>
                    <a:lnB>
                      <a:noFill/>
                    </a:lnB>
                  </a:tcPr>
                </a:tc>
                <a:extLst>
                  <a:ext uri="{0D108BD9-81ED-4DB2-BD59-A6C34878D82A}">
                    <a16:rowId xmlns="" xmlns:a16="http://schemas.microsoft.com/office/drawing/2014/main" val="1000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3853115-D85E-08C6-D39C-7370A297E0EC}"/>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BCAABF80-8EA9-8976-1095-9D71BB5F099A}"/>
              </a:ext>
            </a:extLst>
          </p:cNvPr>
          <p:cNvSpPr>
            <a:spLocks noGrp="1"/>
          </p:cNvSpPr>
          <p:nvPr>
            <p:ph idx="1"/>
          </p:nvPr>
        </p:nvSpPr>
        <p:spPr/>
        <p:txBody>
          <a:bodyPr>
            <a:normAutofit fontScale="70000" lnSpcReduction="20000"/>
          </a:bodyPr>
          <a:lstStyle/>
          <a:p>
            <a:r>
              <a:rPr lang="en-US" b="1" dirty="0">
                <a:latin typeface="Arial Narrow" pitchFamily="34" charset="0"/>
              </a:rPr>
              <a:t>Access Items</a:t>
            </a:r>
            <a:endParaRPr lang="en-US" b="0" dirty="0">
              <a:effectLst/>
              <a:latin typeface="Arial Narrow" pitchFamily="34" charset="0"/>
            </a:endParaRPr>
          </a:p>
          <a:p>
            <a:r>
              <a:rPr lang="en-US" dirty="0">
                <a:latin typeface="Arial Narrow" pitchFamily="34" charset="0"/>
              </a:rPr>
              <a:t>We can use single brackets [ ], double brackets [[ ]] or $ to access columns from a data frame:</a:t>
            </a:r>
            <a:endParaRPr lang="en-US" b="0" dirty="0">
              <a:effectLst/>
              <a:latin typeface="Arial Narrow" pitchFamily="34" charset="0"/>
            </a:endParaRPr>
          </a:p>
          <a:p>
            <a:r>
              <a:rPr lang="en-US" b="1" dirty="0">
                <a:latin typeface="Arial Narrow" pitchFamily="34" charset="0"/>
              </a:rPr>
              <a:t>Example</a:t>
            </a:r>
            <a:endParaRPr lang="en-US" b="0" dirty="0">
              <a:effectLst/>
              <a:latin typeface="Arial Narrow" pitchFamily="34" charset="0"/>
            </a:endParaRPr>
          </a:p>
          <a:p>
            <a:r>
              <a:rPr lang="en-US" dirty="0" err="1">
                <a:latin typeface="Arial Narrow" pitchFamily="34" charset="0"/>
              </a:rPr>
              <a:t>Data_Frame</a:t>
            </a:r>
            <a:r>
              <a:rPr lang="en-US" dirty="0">
                <a:latin typeface="Arial Narrow" pitchFamily="34" charset="0"/>
              </a:rPr>
              <a:t> &lt;- </a:t>
            </a:r>
            <a:r>
              <a:rPr lang="en-US" dirty="0" err="1">
                <a:latin typeface="Arial Narrow" pitchFamily="34" charset="0"/>
              </a:rPr>
              <a:t>data.frame</a:t>
            </a:r>
            <a:r>
              <a:rPr lang="en-US" dirty="0">
                <a:latin typeface="Arial Narrow" pitchFamily="34" charset="0"/>
              </a:rPr>
              <a:t> (</a:t>
            </a:r>
            <a:br>
              <a:rPr lang="en-US" dirty="0">
                <a:latin typeface="Arial Narrow" pitchFamily="34" charset="0"/>
              </a:rPr>
            </a:br>
            <a:r>
              <a:rPr lang="en-US" dirty="0">
                <a:latin typeface="Arial Narrow" pitchFamily="34" charset="0"/>
              </a:rPr>
              <a:t>  Training = c("Strength", "Stamina", "Other"),</a:t>
            </a:r>
            <a:br>
              <a:rPr lang="en-US" dirty="0">
                <a:latin typeface="Arial Narrow" pitchFamily="34" charset="0"/>
              </a:rPr>
            </a:br>
            <a:r>
              <a:rPr lang="en-US" dirty="0">
                <a:latin typeface="Arial Narrow" pitchFamily="34" charset="0"/>
              </a:rPr>
              <a:t>  Pulse = c(100, 150, 120),</a:t>
            </a:r>
            <a:br>
              <a:rPr lang="en-US" dirty="0">
                <a:latin typeface="Arial Narrow" pitchFamily="34" charset="0"/>
              </a:rPr>
            </a:br>
            <a:r>
              <a:rPr lang="en-US" dirty="0">
                <a:latin typeface="Arial Narrow" pitchFamily="34" charset="0"/>
              </a:rPr>
              <a:t>  Duration = c(60, 30, 45)</a:t>
            </a:r>
            <a:br>
              <a:rPr lang="en-US" dirty="0">
                <a:latin typeface="Arial Narrow" pitchFamily="34" charset="0"/>
              </a:rPr>
            </a:br>
            <a:r>
              <a:rPr lang="en-US" dirty="0">
                <a:latin typeface="Arial Narrow" pitchFamily="34" charset="0"/>
              </a:rPr>
              <a:t>)</a:t>
            </a:r>
            <a:br>
              <a:rPr lang="en-US" dirty="0">
                <a:latin typeface="Arial Narrow" pitchFamily="34" charset="0"/>
              </a:rPr>
            </a:br>
            <a:r>
              <a:rPr lang="en-US" dirty="0">
                <a:latin typeface="Arial Narrow" pitchFamily="34" charset="0"/>
              </a:rPr>
              <a:t/>
            </a:r>
            <a:br>
              <a:rPr lang="en-US" dirty="0">
                <a:latin typeface="Arial Narrow" pitchFamily="34" charset="0"/>
              </a:rPr>
            </a:br>
            <a:r>
              <a:rPr lang="en-US" dirty="0" err="1">
                <a:latin typeface="Arial Narrow" pitchFamily="34" charset="0"/>
              </a:rPr>
              <a:t>Data_Frame</a:t>
            </a:r>
            <a:r>
              <a:rPr lang="en-US" dirty="0">
                <a:latin typeface="Arial Narrow" pitchFamily="34" charset="0"/>
              </a:rPr>
              <a:t>[1]</a:t>
            </a:r>
            <a:br>
              <a:rPr lang="en-US" dirty="0">
                <a:latin typeface="Arial Narrow" pitchFamily="34" charset="0"/>
              </a:rPr>
            </a:br>
            <a:r>
              <a:rPr lang="en-US" dirty="0">
                <a:latin typeface="Arial Narrow" pitchFamily="34" charset="0"/>
              </a:rPr>
              <a:t/>
            </a:r>
            <a:br>
              <a:rPr lang="en-US" dirty="0">
                <a:latin typeface="Arial Narrow" pitchFamily="34" charset="0"/>
              </a:rPr>
            </a:br>
            <a:r>
              <a:rPr lang="en-US" dirty="0" err="1">
                <a:latin typeface="Arial Narrow" pitchFamily="34" charset="0"/>
              </a:rPr>
              <a:t>Data_Frame</a:t>
            </a:r>
            <a:r>
              <a:rPr lang="en-US" dirty="0">
                <a:latin typeface="Arial Narrow" pitchFamily="34" charset="0"/>
              </a:rPr>
              <a:t>[["Training"]]</a:t>
            </a:r>
            <a:br>
              <a:rPr lang="en-US" dirty="0">
                <a:latin typeface="Arial Narrow" pitchFamily="34" charset="0"/>
              </a:rPr>
            </a:br>
            <a:r>
              <a:rPr lang="en-US" dirty="0">
                <a:latin typeface="Arial Narrow" pitchFamily="34" charset="0"/>
              </a:rPr>
              <a:t/>
            </a:r>
            <a:br>
              <a:rPr lang="en-US" dirty="0">
                <a:latin typeface="Arial Narrow" pitchFamily="34" charset="0"/>
              </a:rPr>
            </a:br>
            <a:r>
              <a:rPr lang="en-US" dirty="0" err="1">
                <a:latin typeface="Arial Narrow" pitchFamily="34" charset="0"/>
              </a:rPr>
              <a:t>Data_Frame$Training</a:t>
            </a:r>
            <a:r>
              <a:rPr lang="en-US" dirty="0">
                <a:latin typeface="Arial Narrow" pitchFamily="34" charset="0"/>
              </a:rPr>
              <a:t> </a:t>
            </a:r>
            <a:endParaRPr lang="en-US" b="0" dirty="0">
              <a:effectLst/>
              <a:latin typeface="Arial Narrow" pitchFamily="34" charset="0"/>
            </a:endParaRPr>
          </a:p>
          <a:p>
            <a:r>
              <a:rPr lang="en-US" dirty="0"/>
              <a:t/>
            </a:r>
            <a:br>
              <a:rPr lang="en-US" dirty="0"/>
            </a:br>
            <a:endParaRPr lang="en-IN" dirty="0"/>
          </a:p>
        </p:txBody>
      </p:sp>
    </p:spTree>
    <p:extLst>
      <p:ext uri="{BB962C8B-B14F-4D97-AF65-F5344CB8AC3E}">
        <p14:creationId xmlns="" xmlns:p14="http://schemas.microsoft.com/office/powerpoint/2010/main" val="3707881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C26226E-511E-76E0-F1C7-2B89C9045791}"/>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9E91EE9D-AE4C-93D7-2761-F1389F0EC31D}"/>
              </a:ext>
            </a:extLst>
          </p:cNvPr>
          <p:cNvSpPr>
            <a:spLocks noGrp="1"/>
          </p:cNvSpPr>
          <p:nvPr>
            <p:ph idx="1"/>
          </p:nvPr>
        </p:nvSpPr>
        <p:spPr/>
        <p:txBody>
          <a:bodyPr>
            <a:normAutofit fontScale="70000" lnSpcReduction="20000"/>
          </a:bodyPr>
          <a:lstStyle/>
          <a:p>
            <a:r>
              <a:rPr lang="en-US" b="1" dirty="0"/>
              <a:t>Add Rows</a:t>
            </a:r>
            <a:endParaRPr lang="en-US" b="0" dirty="0">
              <a:effectLst/>
            </a:endParaRPr>
          </a:p>
          <a:p>
            <a:r>
              <a:rPr lang="en-US" dirty="0"/>
              <a:t>Use the </a:t>
            </a:r>
            <a:r>
              <a:rPr lang="en-US" dirty="0" err="1"/>
              <a:t>rbind</a:t>
            </a:r>
            <a:r>
              <a:rPr lang="en-US" dirty="0"/>
              <a:t>() function to add new rows in a Data Frame:</a:t>
            </a:r>
            <a:endParaRPr lang="en-US" b="0" dirty="0">
              <a:effectLst/>
            </a:endParaRPr>
          </a:p>
          <a:p>
            <a:r>
              <a:rPr lang="en-US" b="1" dirty="0"/>
              <a:t>Example</a:t>
            </a:r>
            <a:endParaRPr lang="en-US" b="0" dirty="0">
              <a:effectLst/>
            </a:endParaRPr>
          </a:p>
          <a:p>
            <a:r>
              <a:rPr lang="en-US" dirty="0" err="1"/>
              <a:t>Data_Frame</a:t>
            </a:r>
            <a:r>
              <a:rPr lang="en-US" dirty="0"/>
              <a:t> &lt;- </a:t>
            </a:r>
            <a:r>
              <a:rPr lang="en-US" dirty="0" err="1"/>
              <a:t>data.frame</a:t>
            </a:r>
            <a:r>
              <a:rPr lang="en-US" dirty="0"/>
              <a:t> (</a:t>
            </a:r>
            <a:br>
              <a:rPr lang="en-US" dirty="0"/>
            </a:br>
            <a:r>
              <a:rPr lang="en-US" dirty="0"/>
              <a:t>  Training = c("Strength", "Stamina", "Other"),</a:t>
            </a:r>
            <a:br>
              <a:rPr lang="en-US" dirty="0"/>
            </a:br>
            <a:r>
              <a:rPr lang="en-US" dirty="0"/>
              <a:t>  Pulse = c(100, 150, 120),</a:t>
            </a:r>
            <a:br>
              <a:rPr lang="en-US" dirty="0"/>
            </a:br>
            <a:r>
              <a:rPr lang="en-US" dirty="0"/>
              <a:t>  Duration = c(60, 30, 45)</a:t>
            </a:r>
            <a:br>
              <a:rPr lang="en-US" dirty="0"/>
            </a:br>
            <a:r>
              <a:rPr lang="en-US" dirty="0"/>
              <a:t>)</a:t>
            </a:r>
            <a:br>
              <a:rPr lang="en-US" dirty="0"/>
            </a:br>
            <a:r>
              <a:rPr lang="en-US" dirty="0"/>
              <a:t/>
            </a:r>
            <a:br>
              <a:rPr lang="en-US" dirty="0"/>
            </a:br>
            <a:r>
              <a:rPr lang="en-US" dirty="0"/>
              <a:t># Add a new row</a:t>
            </a:r>
            <a:br>
              <a:rPr lang="en-US" dirty="0"/>
            </a:br>
            <a:r>
              <a:rPr lang="en-US" dirty="0" err="1"/>
              <a:t>New_row_DF</a:t>
            </a:r>
            <a:r>
              <a:rPr lang="en-US" dirty="0"/>
              <a:t> &lt;- </a:t>
            </a:r>
            <a:r>
              <a:rPr lang="en-US" dirty="0" err="1"/>
              <a:t>rbind</a:t>
            </a:r>
            <a:r>
              <a:rPr lang="en-US" dirty="0"/>
              <a:t>(</a:t>
            </a:r>
            <a:r>
              <a:rPr lang="en-US" dirty="0" err="1"/>
              <a:t>Data_Frame</a:t>
            </a:r>
            <a:r>
              <a:rPr lang="en-US" dirty="0"/>
              <a:t>, c("Strength", 110, 110))</a:t>
            </a:r>
            <a:br>
              <a:rPr lang="en-US" dirty="0"/>
            </a:br>
            <a:r>
              <a:rPr lang="en-US" dirty="0"/>
              <a:t/>
            </a:r>
            <a:br>
              <a:rPr lang="en-US" dirty="0"/>
            </a:br>
            <a:r>
              <a:rPr lang="en-US" dirty="0"/>
              <a:t># Print the new row</a:t>
            </a:r>
            <a:br>
              <a:rPr lang="en-US" dirty="0"/>
            </a:br>
            <a:r>
              <a:rPr lang="en-US" dirty="0" err="1"/>
              <a:t>New_row_DF</a:t>
            </a:r>
            <a:r>
              <a:rPr lang="en-US" dirty="0"/>
              <a:t> </a:t>
            </a:r>
            <a:endParaRPr lang="en-US" b="0" dirty="0">
              <a:effectLst/>
            </a:endParaRPr>
          </a:p>
          <a:p>
            <a:r>
              <a:rPr lang="en-US" dirty="0"/>
              <a:t/>
            </a:r>
            <a:br>
              <a:rPr lang="en-US" dirty="0"/>
            </a:br>
            <a:endParaRPr lang="en-IN" dirty="0"/>
          </a:p>
        </p:txBody>
      </p:sp>
    </p:spTree>
    <p:extLst>
      <p:ext uri="{BB962C8B-B14F-4D97-AF65-F5344CB8AC3E}">
        <p14:creationId xmlns="" xmlns:p14="http://schemas.microsoft.com/office/powerpoint/2010/main" val="4088116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60C1AA6-E452-7F91-6165-B9C6EAA1309E}"/>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86CB7F0E-D7F3-50B5-EF03-1C52026A1CA4}"/>
              </a:ext>
            </a:extLst>
          </p:cNvPr>
          <p:cNvSpPr>
            <a:spLocks noGrp="1"/>
          </p:cNvSpPr>
          <p:nvPr>
            <p:ph idx="1"/>
          </p:nvPr>
        </p:nvSpPr>
        <p:spPr/>
        <p:txBody>
          <a:bodyPr>
            <a:normAutofit fontScale="70000" lnSpcReduction="20000"/>
          </a:bodyPr>
          <a:lstStyle/>
          <a:p>
            <a:r>
              <a:rPr lang="en-US" b="1" dirty="0"/>
              <a:t>Add Columns</a:t>
            </a:r>
            <a:endParaRPr lang="en-US" b="0" dirty="0">
              <a:effectLst/>
            </a:endParaRPr>
          </a:p>
          <a:p>
            <a:r>
              <a:rPr lang="en-US" dirty="0"/>
              <a:t>Use the </a:t>
            </a:r>
            <a:r>
              <a:rPr lang="en-US" dirty="0" err="1"/>
              <a:t>cbind</a:t>
            </a:r>
            <a:r>
              <a:rPr lang="en-US" dirty="0"/>
              <a:t>() function to add new columns in a Data Frame:</a:t>
            </a:r>
            <a:endParaRPr lang="en-US" b="0" dirty="0">
              <a:effectLst/>
            </a:endParaRPr>
          </a:p>
          <a:p>
            <a:r>
              <a:rPr lang="en-US" b="1" dirty="0"/>
              <a:t>Example</a:t>
            </a:r>
            <a:endParaRPr lang="en-US" b="0" dirty="0">
              <a:effectLst/>
            </a:endParaRPr>
          </a:p>
          <a:p>
            <a:r>
              <a:rPr lang="en-US" dirty="0" err="1"/>
              <a:t>Data_Frame</a:t>
            </a:r>
            <a:r>
              <a:rPr lang="en-US" dirty="0"/>
              <a:t> &lt;- </a:t>
            </a:r>
            <a:r>
              <a:rPr lang="en-US" dirty="0" err="1"/>
              <a:t>data.frame</a:t>
            </a:r>
            <a:r>
              <a:rPr lang="en-US" dirty="0"/>
              <a:t> (</a:t>
            </a:r>
            <a:br>
              <a:rPr lang="en-US" dirty="0"/>
            </a:br>
            <a:r>
              <a:rPr lang="en-US" dirty="0"/>
              <a:t>  Training = c("Strength", "Stamina", "Other"),</a:t>
            </a:r>
            <a:br>
              <a:rPr lang="en-US" dirty="0"/>
            </a:br>
            <a:r>
              <a:rPr lang="en-US" dirty="0"/>
              <a:t>  Pulse = c(100, 150, 120),</a:t>
            </a:r>
            <a:br>
              <a:rPr lang="en-US" dirty="0"/>
            </a:br>
            <a:r>
              <a:rPr lang="en-US" dirty="0"/>
              <a:t>  Duration = c(60, 30, 45)</a:t>
            </a:r>
            <a:br>
              <a:rPr lang="en-US" dirty="0"/>
            </a:br>
            <a:r>
              <a:rPr lang="en-US" dirty="0"/>
              <a:t>)</a:t>
            </a:r>
            <a:br>
              <a:rPr lang="en-US" dirty="0"/>
            </a:br>
            <a:r>
              <a:rPr lang="en-US" dirty="0"/>
              <a:t/>
            </a:r>
            <a:br>
              <a:rPr lang="en-US" dirty="0"/>
            </a:br>
            <a:r>
              <a:rPr lang="en-US" dirty="0"/>
              <a:t># Add a new column</a:t>
            </a:r>
            <a:br>
              <a:rPr lang="en-US" dirty="0"/>
            </a:br>
            <a:r>
              <a:rPr lang="en-US" dirty="0" err="1"/>
              <a:t>New_col_DF</a:t>
            </a:r>
            <a:r>
              <a:rPr lang="en-US" dirty="0"/>
              <a:t> &lt;- </a:t>
            </a:r>
            <a:r>
              <a:rPr lang="en-US" dirty="0" err="1"/>
              <a:t>cbind</a:t>
            </a:r>
            <a:r>
              <a:rPr lang="en-US" dirty="0"/>
              <a:t>(</a:t>
            </a:r>
            <a:r>
              <a:rPr lang="en-US" dirty="0" err="1"/>
              <a:t>Data_Frame</a:t>
            </a:r>
            <a:r>
              <a:rPr lang="en-US" dirty="0"/>
              <a:t>, Steps = c(1000, 6000, 2000))</a:t>
            </a:r>
            <a:br>
              <a:rPr lang="en-US" dirty="0"/>
            </a:br>
            <a:r>
              <a:rPr lang="en-US" dirty="0"/>
              <a:t/>
            </a:r>
            <a:br>
              <a:rPr lang="en-US" dirty="0"/>
            </a:br>
            <a:r>
              <a:rPr lang="en-US" dirty="0"/>
              <a:t># Print the new column</a:t>
            </a:r>
            <a:br>
              <a:rPr lang="en-US" dirty="0"/>
            </a:br>
            <a:r>
              <a:rPr lang="en-US" dirty="0" err="1"/>
              <a:t>New_col_DF</a:t>
            </a:r>
            <a:r>
              <a:rPr lang="en-US" dirty="0"/>
              <a:t> </a:t>
            </a:r>
            <a:endParaRPr lang="en-US" b="0" dirty="0">
              <a:effectLst/>
            </a:endParaRPr>
          </a:p>
          <a:p>
            <a:pPr marL="0" indent="0">
              <a:buNone/>
            </a:pPr>
            <a:r>
              <a:rPr lang="en-US" dirty="0"/>
              <a:t/>
            </a:r>
            <a:br>
              <a:rPr lang="en-US" dirty="0"/>
            </a:br>
            <a:endParaRPr lang="en-IN" dirty="0"/>
          </a:p>
        </p:txBody>
      </p:sp>
    </p:spTree>
    <p:extLst>
      <p:ext uri="{BB962C8B-B14F-4D97-AF65-F5344CB8AC3E}">
        <p14:creationId xmlns="" xmlns:p14="http://schemas.microsoft.com/office/powerpoint/2010/main" val="13807757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B09F8B8B-1BEE-30AF-D8EC-97796E08A33B}"/>
              </a:ext>
            </a:extLst>
          </p:cNvPr>
          <p:cNvSpPr>
            <a:spLocks noGrp="1"/>
          </p:cNvSpPr>
          <p:nvPr>
            <p:ph idx="1"/>
          </p:nvPr>
        </p:nvSpPr>
        <p:spPr>
          <a:xfrm>
            <a:off x="353291" y="-1"/>
            <a:ext cx="11000509" cy="7263245"/>
          </a:xfrm>
        </p:spPr>
        <p:txBody>
          <a:bodyPr>
            <a:normAutofit fontScale="40000" lnSpcReduction="20000"/>
          </a:bodyPr>
          <a:lstStyle/>
          <a:p>
            <a:r>
              <a:rPr lang="en-US" sz="3500" b="1" dirty="0"/>
              <a:t>Remove Rows and Columns</a:t>
            </a:r>
            <a:endParaRPr lang="en-US" sz="3500" b="0" dirty="0">
              <a:effectLst/>
            </a:endParaRPr>
          </a:p>
          <a:p>
            <a:r>
              <a:rPr lang="en-US" sz="3500" dirty="0"/>
              <a:t>Use the c() function to remove rows and columns in a Data Frame:</a:t>
            </a:r>
            <a:endParaRPr lang="en-US" sz="3500" b="0" dirty="0">
              <a:effectLst/>
            </a:endParaRPr>
          </a:p>
          <a:p>
            <a:r>
              <a:rPr lang="en-US" sz="3500" b="1" dirty="0"/>
              <a:t>Example</a:t>
            </a:r>
            <a:endParaRPr lang="en-US" sz="3500" b="0" dirty="0">
              <a:effectLst/>
            </a:endParaRPr>
          </a:p>
          <a:p>
            <a:r>
              <a:rPr lang="en-US" sz="3500" dirty="0" err="1"/>
              <a:t>Data_Frame</a:t>
            </a:r>
            <a:r>
              <a:rPr lang="en-US" sz="3500" dirty="0"/>
              <a:t> &lt;- </a:t>
            </a:r>
            <a:r>
              <a:rPr lang="en-US" sz="3500" dirty="0" err="1"/>
              <a:t>data.frame</a:t>
            </a:r>
            <a:r>
              <a:rPr lang="en-US" sz="3500" dirty="0"/>
              <a:t> (</a:t>
            </a:r>
            <a:br>
              <a:rPr lang="en-US" sz="3500" dirty="0"/>
            </a:br>
            <a:r>
              <a:rPr lang="en-US" sz="3500" dirty="0"/>
              <a:t>  Training = c("Strength", "Stamina", "Other"),</a:t>
            </a:r>
            <a:br>
              <a:rPr lang="en-US" sz="3500" dirty="0"/>
            </a:br>
            <a:r>
              <a:rPr lang="en-US" sz="3500" dirty="0"/>
              <a:t>  Pulse = c(100, 150, 120),</a:t>
            </a:r>
            <a:br>
              <a:rPr lang="en-US" sz="3500" dirty="0"/>
            </a:br>
            <a:r>
              <a:rPr lang="en-US" sz="3500" dirty="0"/>
              <a:t>  Duration = c(60, 30, 45)</a:t>
            </a:r>
            <a:br>
              <a:rPr lang="en-US" sz="3500" dirty="0"/>
            </a:br>
            <a:r>
              <a:rPr lang="en-US" sz="3500" dirty="0"/>
              <a:t>)</a:t>
            </a:r>
            <a:br>
              <a:rPr lang="en-US" sz="3500" dirty="0"/>
            </a:br>
            <a:r>
              <a:rPr lang="en-US" sz="3500" dirty="0"/>
              <a:t/>
            </a:r>
            <a:br>
              <a:rPr lang="en-US" sz="3500" dirty="0"/>
            </a:br>
            <a:r>
              <a:rPr lang="en-US" sz="3500" dirty="0"/>
              <a:t># Remove the first row and column</a:t>
            </a:r>
            <a:br>
              <a:rPr lang="en-US" sz="3500" dirty="0"/>
            </a:br>
            <a:r>
              <a:rPr lang="en-US" sz="3500" dirty="0" err="1"/>
              <a:t>Data_Frame_New</a:t>
            </a:r>
            <a:r>
              <a:rPr lang="en-US" sz="3500" dirty="0"/>
              <a:t> &lt;- </a:t>
            </a:r>
            <a:r>
              <a:rPr lang="en-US" sz="3500" dirty="0" err="1"/>
              <a:t>Data_Frame</a:t>
            </a:r>
            <a:r>
              <a:rPr lang="en-US" sz="3500" dirty="0"/>
              <a:t>[-c(1), -c(1)]</a:t>
            </a:r>
            <a:br>
              <a:rPr lang="en-US" sz="3500" dirty="0"/>
            </a:br>
            <a:r>
              <a:rPr lang="en-US" sz="3500" dirty="0"/>
              <a:t/>
            </a:r>
            <a:br>
              <a:rPr lang="en-US" sz="3500" dirty="0"/>
            </a:br>
            <a:r>
              <a:rPr lang="en-US" sz="3500" dirty="0"/>
              <a:t># Print the new data frame</a:t>
            </a:r>
            <a:br>
              <a:rPr lang="en-US" sz="3500" dirty="0"/>
            </a:br>
            <a:r>
              <a:rPr lang="en-US" sz="3500" dirty="0" err="1"/>
              <a:t>Data_Frame_New</a:t>
            </a:r>
            <a:r>
              <a:rPr lang="en-US" sz="3500" dirty="0"/>
              <a:t> </a:t>
            </a:r>
            <a:endParaRPr lang="en-US" sz="3500" b="0" dirty="0">
              <a:effectLst/>
            </a:endParaRPr>
          </a:p>
          <a:p>
            <a:r>
              <a:rPr lang="en-US" sz="3500" b="1" dirty="0"/>
              <a:t>Amount of Rows and Columns</a:t>
            </a:r>
            <a:endParaRPr lang="en-US" sz="3500" b="0" dirty="0">
              <a:effectLst/>
            </a:endParaRPr>
          </a:p>
          <a:p>
            <a:r>
              <a:rPr lang="en-US" sz="3500" dirty="0"/>
              <a:t>Use the dim() function to find the amount of rows and columns in a Data Frame:</a:t>
            </a:r>
            <a:endParaRPr lang="en-US" sz="3500" b="0" dirty="0">
              <a:effectLst/>
            </a:endParaRPr>
          </a:p>
          <a:p>
            <a:r>
              <a:rPr lang="en-US" sz="3500" b="1" dirty="0"/>
              <a:t>Example</a:t>
            </a:r>
            <a:endParaRPr lang="en-US" sz="3500" b="0" dirty="0">
              <a:effectLst/>
            </a:endParaRPr>
          </a:p>
          <a:p>
            <a:r>
              <a:rPr lang="en-US" sz="3500" dirty="0" err="1"/>
              <a:t>Data_Frame</a:t>
            </a:r>
            <a:r>
              <a:rPr lang="en-US" sz="3500" dirty="0"/>
              <a:t> &lt;- </a:t>
            </a:r>
            <a:r>
              <a:rPr lang="en-US" sz="3500" dirty="0" err="1"/>
              <a:t>data.frame</a:t>
            </a:r>
            <a:r>
              <a:rPr lang="en-US" sz="3500" dirty="0"/>
              <a:t> (</a:t>
            </a:r>
            <a:br>
              <a:rPr lang="en-US" sz="3500" dirty="0"/>
            </a:br>
            <a:r>
              <a:rPr lang="en-US" sz="3500" dirty="0"/>
              <a:t>  Training = c("Strength", "Stamina", "Other"),</a:t>
            </a:r>
            <a:br>
              <a:rPr lang="en-US" sz="3500" dirty="0"/>
            </a:br>
            <a:r>
              <a:rPr lang="en-US" sz="3500" dirty="0"/>
              <a:t>  Pulse = c(100, 150, 120),</a:t>
            </a:r>
            <a:br>
              <a:rPr lang="en-US" sz="3500" dirty="0"/>
            </a:br>
            <a:r>
              <a:rPr lang="en-US" sz="3500" dirty="0"/>
              <a:t>  Duration = c(60, 30, 45)</a:t>
            </a:r>
            <a:br>
              <a:rPr lang="en-US" sz="3500" dirty="0"/>
            </a:br>
            <a:r>
              <a:rPr lang="en-US" sz="3500" dirty="0"/>
              <a:t>)</a:t>
            </a:r>
            <a:br>
              <a:rPr lang="en-US" sz="3500" dirty="0"/>
            </a:br>
            <a:r>
              <a:rPr lang="en-US" sz="3500" dirty="0"/>
              <a:t/>
            </a:r>
            <a:br>
              <a:rPr lang="en-US" sz="3500" dirty="0"/>
            </a:br>
            <a:r>
              <a:rPr lang="en-US" sz="3500" dirty="0"/>
              <a:t>dim(</a:t>
            </a:r>
            <a:r>
              <a:rPr lang="en-US" sz="3500" dirty="0" err="1"/>
              <a:t>Data_Frame</a:t>
            </a:r>
            <a:r>
              <a:rPr lang="en-US" sz="3500" dirty="0"/>
              <a:t>) </a:t>
            </a:r>
            <a:endParaRPr lang="en-US" sz="3500" b="0" dirty="0">
              <a:effectLst/>
            </a:endParaRPr>
          </a:p>
          <a:p>
            <a:r>
              <a:rPr lang="en-US" sz="3500" dirty="0"/>
              <a:t>You can also use the </a:t>
            </a:r>
            <a:r>
              <a:rPr lang="en-US" sz="3500" dirty="0" err="1"/>
              <a:t>ncol</a:t>
            </a:r>
            <a:r>
              <a:rPr lang="en-US" sz="3500" dirty="0"/>
              <a:t>() function to find the number of columns and </a:t>
            </a:r>
            <a:r>
              <a:rPr lang="en-US" sz="3500" dirty="0" err="1"/>
              <a:t>nrow</a:t>
            </a:r>
            <a:r>
              <a:rPr lang="en-US" sz="3500" dirty="0"/>
              <a:t>() to find the number of rows:</a:t>
            </a:r>
            <a:endParaRPr lang="en-US" sz="3500" b="0" dirty="0">
              <a:effectLst/>
            </a:endParaRPr>
          </a:p>
          <a:p>
            <a:r>
              <a:rPr lang="en-US" sz="3500" b="1" dirty="0"/>
              <a:t>Example</a:t>
            </a:r>
            <a:endParaRPr lang="en-US" sz="3500" b="0" dirty="0">
              <a:effectLst/>
            </a:endParaRPr>
          </a:p>
          <a:p>
            <a:r>
              <a:rPr lang="en-US" sz="3500" dirty="0" err="1"/>
              <a:t>Data_Frame</a:t>
            </a:r>
            <a:r>
              <a:rPr lang="en-US" sz="3500" dirty="0"/>
              <a:t> &lt;- </a:t>
            </a:r>
            <a:r>
              <a:rPr lang="en-US" sz="3500" dirty="0" err="1"/>
              <a:t>data.frame</a:t>
            </a:r>
            <a:r>
              <a:rPr lang="en-US" sz="3500" dirty="0"/>
              <a:t> (</a:t>
            </a:r>
            <a:br>
              <a:rPr lang="en-US" sz="3500" dirty="0"/>
            </a:br>
            <a:r>
              <a:rPr lang="en-US" sz="3500" dirty="0"/>
              <a:t>  Training = c("Strength", "Stamina", "Other"),</a:t>
            </a:r>
            <a:br>
              <a:rPr lang="en-US" sz="3500" dirty="0"/>
            </a:br>
            <a:r>
              <a:rPr lang="en-US" sz="3500" dirty="0"/>
              <a:t>  Pulse = c(100, 150, 120),</a:t>
            </a:r>
            <a:br>
              <a:rPr lang="en-US" sz="3500" dirty="0"/>
            </a:br>
            <a:r>
              <a:rPr lang="en-US" sz="3500" dirty="0"/>
              <a:t>  Duration = c(60, 30, 45)</a:t>
            </a:r>
            <a:br>
              <a:rPr lang="en-US" sz="3500" dirty="0"/>
            </a:br>
            <a:r>
              <a:rPr lang="en-US" sz="3500" dirty="0"/>
              <a:t>)</a:t>
            </a:r>
            <a:br>
              <a:rPr lang="en-US" sz="3500" dirty="0"/>
            </a:br>
            <a:r>
              <a:rPr lang="en-US" sz="3500" dirty="0"/>
              <a:t/>
            </a:r>
            <a:br>
              <a:rPr lang="en-US" sz="3500" dirty="0"/>
            </a:br>
            <a:r>
              <a:rPr lang="en-US" sz="3500" dirty="0" err="1"/>
              <a:t>ncol</a:t>
            </a:r>
            <a:r>
              <a:rPr lang="en-US" sz="3500" dirty="0"/>
              <a:t>(</a:t>
            </a:r>
            <a:r>
              <a:rPr lang="en-US" sz="3500" dirty="0" err="1"/>
              <a:t>Data_Frame</a:t>
            </a:r>
            <a:r>
              <a:rPr lang="en-US" sz="3500" dirty="0"/>
              <a:t>)</a:t>
            </a:r>
            <a:br>
              <a:rPr lang="en-US" sz="3500" dirty="0"/>
            </a:br>
            <a:r>
              <a:rPr lang="en-US" sz="3500" dirty="0" err="1"/>
              <a:t>nrow</a:t>
            </a:r>
            <a:r>
              <a:rPr lang="en-US" sz="3500" dirty="0"/>
              <a:t>(</a:t>
            </a:r>
            <a:r>
              <a:rPr lang="en-US" sz="3500" dirty="0" err="1"/>
              <a:t>Data_Frame</a:t>
            </a:r>
            <a:r>
              <a:rPr lang="en-US" sz="3500" dirty="0"/>
              <a:t>) </a:t>
            </a:r>
            <a:endParaRPr lang="en-US" sz="3500" b="0" dirty="0">
              <a:effectLst/>
            </a:endParaRPr>
          </a:p>
          <a:p>
            <a:r>
              <a:rPr lang="en-US" dirty="0"/>
              <a:t/>
            </a:r>
            <a:br>
              <a:rPr lang="en-US" dirty="0"/>
            </a:br>
            <a:endParaRPr lang="en-IN" dirty="0"/>
          </a:p>
        </p:txBody>
      </p:sp>
    </p:spTree>
    <p:extLst>
      <p:ext uri="{BB962C8B-B14F-4D97-AF65-F5344CB8AC3E}">
        <p14:creationId xmlns="" xmlns:p14="http://schemas.microsoft.com/office/powerpoint/2010/main" val="6410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2E7EDB3-4898-34B7-6C26-AE8E5EF87A96}"/>
              </a:ext>
            </a:extLst>
          </p:cNvPr>
          <p:cNvSpPr>
            <a:spLocks noGrp="1"/>
          </p:cNvSpPr>
          <p:nvPr>
            <p:ph idx="1"/>
          </p:nvPr>
        </p:nvSpPr>
        <p:spPr>
          <a:xfrm>
            <a:off x="838200" y="311727"/>
            <a:ext cx="10515600" cy="5865236"/>
          </a:xfrm>
        </p:spPr>
        <p:txBody>
          <a:bodyPr>
            <a:normAutofit fontScale="25000" lnSpcReduction="20000"/>
          </a:bodyPr>
          <a:lstStyle/>
          <a:p>
            <a:r>
              <a:rPr lang="en-IN" sz="7200" b="1" dirty="0"/>
              <a:t>Data Frame Length</a:t>
            </a:r>
            <a:endParaRPr lang="en-IN" sz="7200" b="0" dirty="0">
              <a:effectLst/>
            </a:endParaRPr>
          </a:p>
          <a:p>
            <a:r>
              <a:rPr lang="en-IN" sz="7200" dirty="0"/>
              <a:t>Use the length() function to find the number of columns in a Data Frame (similar to </a:t>
            </a:r>
            <a:r>
              <a:rPr lang="en-IN" sz="7200" dirty="0" err="1"/>
              <a:t>ncol</a:t>
            </a:r>
            <a:r>
              <a:rPr lang="en-IN" sz="7200" dirty="0"/>
              <a:t>()):</a:t>
            </a:r>
            <a:endParaRPr lang="en-IN" sz="7200" b="0" dirty="0">
              <a:effectLst/>
            </a:endParaRPr>
          </a:p>
          <a:p>
            <a:r>
              <a:rPr lang="en-IN" sz="7200" b="1" dirty="0"/>
              <a:t>Example</a:t>
            </a:r>
            <a:endParaRPr lang="en-IN" sz="7200" b="0" dirty="0">
              <a:effectLst/>
            </a:endParaRPr>
          </a:p>
          <a:p>
            <a:r>
              <a:rPr lang="en-IN" sz="7200" dirty="0" err="1"/>
              <a:t>Data_Frame</a:t>
            </a:r>
            <a:r>
              <a:rPr lang="en-IN" sz="7200" dirty="0"/>
              <a:t> &lt;- </a:t>
            </a:r>
            <a:r>
              <a:rPr lang="en-IN" sz="7200" dirty="0" err="1"/>
              <a:t>data.frame</a:t>
            </a:r>
            <a:r>
              <a:rPr lang="en-IN" sz="7200" dirty="0"/>
              <a:t> (</a:t>
            </a:r>
            <a:br>
              <a:rPr lang="en-IN" sz="7200" dirty="0"/>
            </a:br>
            <a:r>
              <a:rPr lang="en-IN" sz="7200" dirty="0"/>
              <a:t>  Training = c("Strength", "Stamina", "Other"),</a:t>
            </a:r>
            <a:br>
              <a:rPr lang="en-IN" sz="7200" dirty="0"/>
            </a:br>
            <a:r>
              <a:rPr lang="en-IN" sz="7200" dirty="0"/>
              <a:t>  Pulse = c(100, 150, 120),</a:t>
            </a:r>
            <a:br>
              <a:rPr lang="en-IN" sz="7200" dirty="0"/>
            </a:br>
            <a:r>
              <a:rPr lang="en-IN" sz="7200" dirty="0"/>
              <a:t>  Duration = c(60, 30, 45)</a:t>
            </a:r>
            <a:br>
              <a:rPr lang="en-IN" sz="7200" dirty="0"/>
            </a:br>
            <a:r>
              <a:rPr lang="en-IN" sz="7200" dirty="0"/>
              <a:t>)</a:t>
            </a:r>
            <a:br>
              <a:rPr lang="en-IN" sz="7200" dirty="0"/>
            </a:br>
            <a:r>
              <a:rPr lang="en-IN" sz="7200" dirty="0"/>
              <a:t/>
            </a:r>
            <a:br>
              <a:rPr lang="en-IN" sz="7200" dirty="0"/>
            </a:br>
            <a:r>
              <a:rPr lang="en-IN" sz="7200" dirty="0"/>
              <a:t>length(</a:t>
            </a:r>
            <a:r>
              <a:rPr lang="en-IN" sz="7200" dirty="0" err="1"/>
              <a:t>Data_Frame</a:t>
            </a:r>
            <a:r>
              <a:rPr lang="en-IN" sz="7200" dirty="0"/>
              <a:t>) </a:t>
            </a:r>
            <a:endParaRPr lang="en-IN" sz="7200" b="0" dirty="0">
              <a:effectLst/>
            </a:endParaRPr>
          </a:p>
          <a:p>
            <a:r>
              <a:rPr lang="en-IN" sz="7200" b="1" dirty="0"/>
              <a:t>Combining Data Frames</a:t>
            </a:r>
            <a:endParaRPr lang="en-IN" sz="7200" b="0" dirty="0">
              <a:effectLst/>
            </a:endParaRPr>
          </a:p>
          <a:p>
            <a:r>
              <a:rPr lang="en-IN" sz="7200" dirty="0"/>
              <a:t>Use the </a:t>
            </a:r>
            <a:r>
              <a:rPr lang="en-IN" sz="7200" dirty="0" err="1"/>
              <a:t>rbind</a:t>
            </a:r>
            <a:r>
              <a:rPr lang="en-IN" sz="7200" dirty="0"/>
              <a:t>() function to combine two or more data frames in R vertically:</a:t>
            </a:r>
            <a:endParaRPr lang="en-IN" sz="7200" b="0" dirty="0">
              <a:effectLst/>
            </a:endParaRPr>
          </a:p>
          <a:p>
            <a:r>
              <a:rPr lang="en-IN" sz="7200" b="1" dirty="0"/>
              <a:t>Example</a:t>
            </a:r>
            <a:endParaRPr lang="en-IN" sz="7200" b="0" dirty="0">
              <a:effectLst/>
            </a:endParaRPr>
          </a:p>
          <a:p>
            <a:r>
              <a:rPr lang="en-IN" sz="7200" dirty="0"/>
              <a:t>Data_Frame1 &lt;- </a:t>
            </a:r>
            <a:r>
              <a:rPr lang="en-IN" sz="7200" dirty="0" err="1"/>
              <a:t>data.frame</a:t>
            </a:r>
            <a:r>
              <a:rPr lang="en-IN" sz="7200" dirty="0"/>
              <a:t> (</a:t>
            </a:r>
            <a:br>
              <a:rPr lang="en-IN" sz="7200" dirty="0"/>
            </a:br>
            <a:r>
              <a:rPr lang="en-IN" sz="7200" dirty="0"/>
              <a:t>  Training = c("Strength", "Stamina", "Other"),</a:t>
            </a:r>
            <a:br>
              <a:rPr lang="en-IN" sz="7200" dirty="0"/>
            </a:br>
            <a:r>
              <a:rPr lang="en-IN" sz="7200" dirty="0"/>
              <a:t>  Pulse = c(100, 150, 120),</a:t>
            </a:r>
            <a:br>
              <a:rPr lang="en-IN" sz="7200" dirty="0"/>
            </a:br>
            <a:r>
              <a:rPr lang="en-IN" sz="7200" dirty="0"/>
              <a:t>  Duration = c(60, 30, 45)</a:t>
            </a:r>
            <a:br>
              <a:rPr lang="en-IN" sz="7200" dirty="0"/>
            </a:br>
            <a:r>
              <a:rPr lang="en-IN" sz="7200" dirty="0"/>
              <a:t>)</a:t>
            </a:r>
            <a:br>
              <a:rPr lang="en-IN" sz="7200" dirty="0"/>
            </a:br>
            <a:r>
              <a:rPr lang="en-IN" sz="7200" dirty="0"/>
              <a:t/>
            </a:r>
            <a:br>
              <a:rPr lang="en-IN" sz="7200" dirty="0"/>
            </a:br>
            <a:r>
              <a:rPr lang="en-IN" sz="7200" dirty="0"/>
              <a:t>Data_Frame2 &lt;- </a:t>
            </a:r>
            <a:r>
              <a:rPr lang="en-IN" sz="7200" dirty="0" err="1"/>
              <a:t>data.frame</a:t>
            </a:r>
            <a:r>
              <a:rPr lang="en-IN" sz="7200" dirty="0"/>
              <a:t> (</a:t>
            </a:r>
            <a:br>
              <a:rPr lang="en-IN" sz="7200" dirty="0"/>
            </a:br>
            <a:r>
              <a:rPr lang="en-IN" sz="7200" dirty="0"/>
              <a:t>  Training = c("Stamina", "Stamina", "Strength"),</a:t>
            </a:r>
            <a:br>
              <a:rPr lang="en-IN" sz="7200" dirty="0"/>
            </a:br>
            <a:r>
              <a:rPr lang="en-IN" sz="7200" dirty="0"/>
              <a:t>  Pulse = c(140, 150, 160),</a:t>
            </a:r>
            <a:br>
              <a:rPr lang="en-IN" sz="7200" dirty="0"/>
            </a:br>
            <a:r>
              <a:rPr lang="en-IN" sz="7200" dirty="0"/>
              <a:t>  Duration = c(30, 30, 20)</a:t>
            </a:r>
            <a:br>
              <a:rPr lang="en-IN" sz="7200" dirty="0"/>
            </a:br>
            <a:r>
              <a:rPr lang="en-IN" sz="7200" dirty="0"/>
              <a:t>)</a:t>
            </a:r>
            <a:br>
              <a:rPr lang="en-IN" sz="7200" dirty="0"/>
            </a:br>
            <a:r>
              <a:rPr lang="en-IN" sz="7200" dirty="0"/>
              <a:t/>
            </a:r>
            <a:br>
              <a:rPr lang="en-IN" sz="7200" dirty="0"/>
            </a:br>
            <a:r>
              <a:rPr lang="en-IN" sz="7200" dirty="0" err="1"/>
              <a:t>New_Data_Frame</a:t>
            </a:r>
            <a:r>
              <a:rPr lang="en-IN" sz="7200" dirty="0"/>
              <a:t> &lt;- </a:t>
            </a:r>
            <a:r>
              <a:rPr lang="en-IN" sz="7200" dirty="0" err="1"/>
              <a:t>rbind</a:t>
            </a:r>
            <a:r>
              <a:rPr lang="en-IN" sz="7200" dirty="0"/>
              <a:t>(Data_Frame1, Data_Frame2)</a:t>
            </a:r>
            <a:br>
              <a:rPr lang="en-IN" sz="7200" dirty="0"/>
            </a:br>
            <a:r>
              <a:rPr lang="en-IN" sz="7200" dirty="0" err="1"/>
              <a:t>New_Data_Frame</a:t>
            </a:r>
            <a:r>
              <a:rPr lang="en-IN" sz="7200" dirty="0"/>
              <a:t> </a:t>
            </a:r>
            <a:endParaRPr lang="en-IN" sz="7200" b="0" dirty="0">
              <a:effectLst/>
            </a:endParaRPr>
          </a:p>
        </p:txBody>
      </p:sp>
    </p:spTree>
    <p:extLst>
      <p:ext uri="{BB962C8B-B14F-4D97-AF65-F5344CB8AC3E}">
        <p14:creationId xmlns="" xmlns:p14="http://schemas.microsoft.com/office/powerpoint/2010/main" val="28350822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B5AC159-303D-E061-86A5-37529EEC595E}"/>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B61D1E87-D3DD-CC7A-D185-CAC4C6BD0B57}"/>
              </a:ext>
            </a:extLst>
          </p:cNvPr>
          <p:cNvSpPr>
            <a:spLocks noGrp="1"/>
          </p:cNvSpPr>
          <p:nvPr>
            <p:ph idx="1"/>
          </p:nvPr>
        </p:nvSpPr>
        <p:spPr/>
        <p:txBody>
          <a:bodyPr>
            <a:normAutofit fontScale="70000" lnSpcReduction="20000"/>
          </a:bodyPr>
          <a:lstStyle/>
          <a:p>
            <a:r>
              <a:rPr lang="en-IN" dirty="0"/>
              <a:t>And use the </a:t>
            </a:r>
            <a:r>
              <a:rPr lang="en-IN" dirty="0" err="1"/>
              <a:t>cbind</a:t>
            </a:r>
            <a:r>
              <a:rPr lang="en-IN" dirty="0"/>
              <a:t>() function to combine two or more data frames in R horizontally:</a:t>
            </a:r>
          </a:p>
          <a:p>
            <a:r>
              <a:rPr lang="en-IN" b="1" dirty="0"/>
              <a:t>Example</a:t>
            </a:r>
            <a:endParaRPr lang="en-IN" dirty="0"/>
          </a:p>
          <a:p>
            <a:r>
              <a:rPr lang="en-IN" dirty="0"/>
              <a:t>Data_Frame3 &lt;- </a:t>
            </a:r>
            <a:r>
              <a:rPr lang="en-IN" dirty="0" err="1"/>
              <a:t>data.frame</a:t>
            </a:r>
            <a:r>
              <a:rPr lang="en-IN" dirty="0"/>
              <a:t> (</a:t>
            </a:r>
            <a:br>
              <a:rPr lang="en-IN" dirty="0"/>
            </a:br>
            <a:r>
              <a:rPr lang="en-IN" dirty="0"/>
              <a:t>  Training = c("Strength", "Stamina", "Other"),</a:t>
            </a:r>
            <a:br>
              <a:rPr lang="en-IN" dirty="0"/>
            </a:br>
            <a:r>
              <a:rPr lang="en-IN" dirty="0"/>
              <a:t>  Pulse = c(100, 150, 120),</a:t>
            </a:r>
            <a:br>
              <a:rPr lang="en-IN" dirty="0"/>
            </a:br>
            <a:r>
              <a:rPr lang="en-IN" dirty="0"/>
              <a:t>  Duration = c(60, 30, 45)</a:t>
            </a:r>
            <a:br>
              <a:rPr lang="en-IN" dirty="0"/>
            </a:br>
            <a:r>
              <a:rPr lang="en-IN" dirty="0"/>
              <a:t>)</a:t>
            </a:r>
            <a:br>
              <a:rPr lang="en-IN" dirty="0"/>
            </a:br>
            <a:r>
              <a:rPr lang="en-IN" dirty="0"/>
              <a:t/>
            </a:r>
            <a:br>
              <a:rPr lang="en-IN" dirty="0"/>
            </a:br>
            <a:r>
              <a:rPr lang="en-IN" dirty="0"/>
              <a:t>Data_Frame4 &lt;- </a:t>
            </a:r>
            <a:r>
              <a:rPr lang="en-IN" dirty="0" err="1"/>
              <a:t>data.frame</a:t>
            </a:r>
            <a:r>
              <a:rPr lang="en-IN" dirty="0"/>
              <a:t> (</a:t>
            </a:r>
            <a:br>
              <a:rPr lang="en-IN" dirty="0"/>
            </a:br>
            <a:r>
              <a:rPr lang="en-IN" dirty="0"/>
              <a:t>  Steps = c(3000, 6000, 2000),</a:t>
            </a:r>
            <a:br>
              <a:rPr lang="en-IN" dirty="0"/>
            </a:br>
            <a:r>
              <a:rPr lang="en-IN" dirty="0"/>
              <a:t>  Calories = c(300, 400, 300)</a:t>
            </a:r>
            <a:br>
              <a:rPr lang="en-IN" dirty="0"/>
            </a:br>
            <a:r>
              <a:rPr lang="en-IN" dirty="0"/>
              <a:t>)</a:t>
            </a:r>
            <a:br>
              <a:rPr lang="en-IN" dirty="0"/>
            </a:br>
            <a:r>
              <a:rPr lang="en-IN" dirty="0"/>
              <a:t/>
            </a:r>
            <a:br>
              <a:rPr lang="en-IN" dirty="0"/>
            </a:br>
            <a:r>
              <a:rPr lang="en-IN" dirty="0"/>
              <a:t>New_Data_Frame1 &lt;- </a:t>
            </a:r>
            <a:r>
              <a:rPr lang="en-IN" dirty="0" err="1"/>
              <a:t>cbind</a:t>
            </a:r>
            <a:r>
              <a:rPr lang="en-IN" dirty="0"/>
              <a:t>(Data_Frame3, Data_Frame4)</a:t>
            </a:r>
            <a:br>
              <a:rPr lang="en-IN" dirty="0"/>
            </a:br>
            <a:r>
              <a:rPr lang="en-IN" dirty="0"/>
              <a:t>New_Data_Frame1 </a:t>
            </a:r>
            <a:endParaRPr lang="en-IN" b="0" dirty="0">
              <a:effectLst/>
            </a:endParaRPr>
          </a:p>
          <a:p>
            <a:pPr marL="0" indent="0">
              <a:buNone/>
            </a:pPr>
            <a:r>
              <a:rPr lang="en-IN" dirty="0"/>
              <a:t/>
            </a:r>
            <a:br>
              <a:rPr lang="en-IN" dirty="0"/>
            </a:br>
            <a:endParaRPr lang="en-IN" dirty="0"/>
          </a:p>
          <a:p>
            <a:endParaRPr lang="en-IN" dirty="0"/>
          </a:p>
        </p:txBody>
      </p:sp>
    </p:spTree>
    <p:extLst>
      <p:ext uri="{BB962C8B-B14F-4D97-AF65-F5344CB8AC3E}">
        <p14:creationId xmlns="" xmlns:p14="http://schemas.microsoft.com/office/powerpoint/2010/main" val="2797171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8472" y="-119507"/>
            <a:ext cx="10515600" cy="1325563"/>
          </a:xfrm>
        </p:spPr>
        <p:txBody>
          <a:bodyPr/>
          <a:lstStyle/>
          <a:p>
            <a:r>
              <a:rPr lang="en-US" b="1" dirty="0">
                <a:latin typeface="Arial Narrow" pitchFamily="34" charset="0"/>
              </a:rPr>
              <a:t>Factors</a:t>
            </a:r>
          </a:p>
        </p:txBody>
      </p:sp>
      <p:sp>
        <p:nvSpPr>
          <p:cNvPr id="3" name="Content Placeholder 2"/>
          <p:cNvSpPr>
            <a:spLocks noGrp="1"/>
          </p:cNvSpPr>
          <p:nvPr>
            <p:ph idx="1"/>
          </p:nvPr>
        </p:nvSpPr>
        <p:spPr>
          <a:xfrm>
            <a:off x="728472" y="938657"/>
            <a:ext cx="10515600" cy="4351338"/>
          </a:xfrm>
        </p:spPr>
        <p:txBody>
          <a:bodyPr/>
          <a:lstStyle/>
          <a:p>
            <a:r>
              <a:rPr lang="en-US" dirty="0">
                <a:latin typeface="Arial Narrow" pitchFamily="34" charset="0"/>
              </a:rPr>
              <a:t>Factors are used to categorize data. </a:t>
            </a:r>
          </a:p>
          <a:p>
            <a:r>
              <a:rPr lang="en-US" dirty="0">
                <a:latin typeface="Arial Narrow" pitchFamily="34" charset="0"/>
              </a:rPr>
              <a:t>Examples of factors are:</a:t>
            </a:r>
          </a:p>
          <a:p>
            <a:pPr lvl="1"/>
            <a:r>
              <a:rPr lang="en-US" dirty="0">
                <a:latin typeface="Arial Narrow" pitchFamily="34" charset="0"/>
              </a:rPr>
              <a:t>Demography: Male/Female</a:t>
            </a:r>
          </a:p>
          <a:p>
            <a:pPr lvl="1"/>
            <a:r>
              <a:rPr lang="en-US" dirty="0">
                <a:latin typeface="Arial Narrow" pitchFamily="34" charset="0"/>
              </a:rPr>
              <a:t>Music: Rock, Pop, Classic, Jazz</a:t>
            </a:r>
          </a:p>
          <a:p>
            <a:pPr lvl="1"/>
            <a:r>
              <a:rPr lang="en-US" dirty="0">
                <a:latin typeface="Arial Narrow" pitchFamily="34" charset="0"/>
              </a:rPr>
              <a:t>Training: Strength, Stamina</a:t>
            </a:r>
          </a:p>
          <a:p>
            <a:r>
              <a:rPr lang="en-US" dirty="0">
                <a:latin typeface="Arial Narrow" pitchFamily="34" charset="0"/>
              </a:rPr>
              <a:t>To create a factor, use the factor() function and add a vector as argument:</a:t>
            </a:r>
          </a:p>
        </p:txBody>
      </p:sp>
      <p:pic>
        <p:nvPicPr>
          <p:cNvPr id="1026" name="Picture 2"/>
          <p:cNvPicPr>
            <a:picLocks noChangeAspect="1" noChangeArrowheads="1"/>
          </p:cNvPicPr>
          <p:nvPr/>
        </p:nvPicPr>
        <p:blipFill>
          <a:blip r:embed="rId2"/>
          <a:srcRect/>
          <a:stretch>
            <a:fillRect/>
          </a:stretch>
        </p:blipFill>
        <p:spPr bwMode="auto">
          <a:xfrm>
            <a:off x="2962655" y="3693318"/>
            <a:ext cx="9006967" cy="2938177"/>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latin typeface="Arial Narrow" pitchFamily="34" charset="0"/>
              </a:rPr>
              <a:t>You can see from the example above that that the factor has four levels (categories): Classic, Jazz, Pop and Rock.</a:t>
            </a:r>
          </a:p>
          <a:p>
            <a:r>
              <a:rPr lang="en-US" dirty="0">
                <a:latin typeface="Arial Narrow" pitchFamily="34" charset="0"/>
              </a:rPr>
              <a:t>To only print the levels, use the levels() function:</a:t>
            </a:r>
          </a:p>
          <a:p>
            <a:endParaRPr lang="en-US" dirty="0"/>
          </a:p>
        </p:txBody>
      </p:sp>
      <p:pic>
        <p:nvPicPr>
          <p:cNvPr id="2050" name="Picture 2"/>
          <p:cNvPicPr>
            <a:picLocks noChangeAspect="1" noChangeArrowheads="1"/>
          </p:cNvPicPr>
          <p:nvPr/>
        </p:nvPicPr>
        <p:blipFill>
          <a:blip r:embed="rId2"/>
          <a:srcRect/>
          <a:stretch>
            <a:fillRect/>
          </a:stretch>
        </p:blipFill>
        <p:spPr bwMode="auto">
          <a:xfrm>
            <a:off x="859790" y="3305175"/>
            <a:ext cx="10650538" cy="3095625"/>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srcRect/>
          <a:stretch>
            <a:fillRect/>
          </a:stretch>
        </p:blipFill>
        <p:spPr bwMode="auto">
          <a:xfrm>
            <a:off x="-58738" y="1262063"/>
            <a:ext cx="12307888" cy="4333875"/>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a:srcRect/>
          <a:stretch>
            <a:fillRect/>
          </a:stretch>
        </p:blipFill>
        <p:spPr bwMode="auto">
          <a:xfrm>
            <a:off x="301625" y="1190625"/>
            <a:ext cx="11583988" cy="4476750"/>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0" y="0"/>
            <a:ext cx="5773738" cy="2486025"/>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4368419" y="128969"/>
            <a:ext cx="7433940" cy="5667375"/>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srcRect/>
          <a:stretch>
            <a:fillRect/>
          </a:stretch>
        </p:blipFill>
        <p:spPr bwMode="auto">
          <a:xfrm>
            <a:off x="3025775" y="881063"/>
            <a:ext cx="6135688" cy="5095875"/>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58040D1-7DB3-E24B-4DF0-F35C104858EE}"/>
              </a:ext>
            </a:extLst>
          </p:cNvPr>
          <p:cNvSpPr>
            <a:spLocks noGrp="1"/>
          </p:cNvSpPr>
          <p:nvPr>
            <p:ph idx="1"/>
          </p:nvPr>
        </p:nvSpPr>
        <p:spPr>
          <a:xfrm>
            <a:off x="838200" y="539496"/>
            <a:ext cx="10515600" cy="5637467"/>
          </a:xfrm>
        </p:spPr>
        <p:txBody>
          <a:bodyPr>
            <a:normAutofit fontScale="92500" lnSpcReduction="10000"/>
          </a:bodyPr>
          <a:lstStyle/>
          <a:p>
            <a:pPr fontAlgn="base"/>
            <a:r>
              <a:rPr lang="en-US" b="1" dirty="0">
                <a:latin typeface="Arial Narrow" pitchFamily="34" charset="0"/>
              </a:rPr>
              <a:t>Vectors (1D, Homogeneous):</a:t>
            </a:r>
            <a:r>
              <a:rPr lang="en-US" dirty="0">
                <a:latin typeface="Arial Narrow" pitchFamily="34" charset="0"/>
              </a:rPr>
              <a:t> A one-dimensional array containing elements of the same data type (e.g., numeric, character, logical).</a:t>
            </a:r>
          </a:p>
          <a:p>
            <a:pPr fontAlgn="base"/>
            <a:r>
              <a:rPr lang="en-US" b="1" dirty="0">
                <a:latin typeface="Arial Narrow" pitchFamily="34" charset="0"/>
              </a:rPr>
              <a:t>Matrices (2D, Homogeneous):</a:t>
            </a:r>
            <a:r>
              <a:rPr lang="en-US" dirty="0">
                <a:latin typeface="Arial Narrow" pitchFamily="34" charset="0"/>
              </a:rPr>
              <a:t> A two-dimensional rectangular data set where all columns contain the same mode of data.</a:t>
            </a:r>
          </a:p>
          <a:p>
            <a:pPr fontAlgn="base"/>
            <a:r>
              <a:rPr lang="en-US" b="1" dirty="0">
                <a:latin typeface="Arial Narrow" pitchFamily="34" charset="0"/>
              </a:rPr>
              <a:t>Arrays (n-D, Homogeneous):</a:t>
            </a:r>
            <a:r>
              <a:rPr lang="en-US" dirty="0">
                <a:latin typeface="Arial Narrow" pitchFamily="34" charset="0"/>
              </a:rPr>
              <a:t> An extension of matrices to more than two dimensions.</a:t>
            </a:r>
          </a:p>
          <a:p>
            <a:pPr fontAlgn="base"/>
            <a:r>
              <a:rPr lang="en-US" b="1" dirty="0">
                <a:latin typeface="Arial Narrow" pitchFamily="34" charset="0"/>
              </a:rPr>
              <a:t>Lists (1D, Heterogeneous):</a:t>
            </a:r>
            <a:r>
              <a:rPr lang="en-US" dirty="0">
                <a:latin typeface="Arial Narrow" pitchFamily="34" charset="0"/>
              </a:rPr>
              <a:t> A one-dimensional structure that can contain elements of different types, including other lists, vectors, or functions.</a:t>
            </a:r>
          </a:p>
          <a:p>
            <a:pPr fontAlgn="base"/>
            <a:r>
              <a:rPr lang="en-US" b="1" dirty="0">
                <a:latin typeface="Arial Narrow" pitchFamily="34" charset="0"/>
              </a:rPr>
              <a:t>Data Frames (2D, Heterogeneous):</a:t>
            </a:r>
            <a:r>
              <a:rPr lang="en-US" dirty="0">
                <a:latin typeface="Arial Narrow" pitchFamily="34" charset="0"/>
              </a:rPr>
              <a:t> The most common data structure for tabular data. It is a list of vectors of equal length. Each column can contain a different type of data (numeric, character, etc.), but within a single column, the data type must be the same.</a:t>
            </a:r>
          </a:p>
          <a:p>
            <a:pPr fontAlgn="base"/>
            <a:r>
              <a:rPr lang="en-US" b="1" dirty="0">
                <a:latin typeface="Arial Narrow" pitchFamily="34" charset="0"/>
              </a:rPr>
              <a:t>Factors:</a:t>
            </a:r>
            <a:r>
              <a:rPr lang="en-US" dirty="0">
                <a:latin typeface="Arial Narrow" pitchFamily="34" charset="0"/>
              </a:rPr>
              <a:t> A data structure used to handle categorical data, storing both the data values and the unique levels (categories) they belong to.</a:t>
            </a:r>
          </a:p>
          <a:p>
            <a:endParaRPr lang="en-IN" dirty="0"/>
          </a:p>
        </p:txBody>
      </p:sp>
    </p:spTree>
    <p:extLst>
      <p:ext uri="{BB962C8B-B14F-4D97-AF65-F5344CB8AC3E}">
        <p14:creationId xmlns="" xmlns:p14="http://schemas.microsoft.com/office/powerpoint/2010/main" val="19060172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F6B9AAB-E3CE-F9BC-3690-8A3EF4DCDF10}"/>
              </a:ext>
            </a:extLst>
          </p:cNvPr>
          <p:cNvSpPr>
            <a:spLocks noGrp="1"/>
          </p:cNvSpPr>
          <p:nvPr>
            <p:ph type="title"/>
          </p:nvPr>
        </p:nvSpPr>
        <p:spPr/>
        <p:txBody>
          <a:bodyPr>
            <a:normAutofit fontScale="90000"/>
          </a:bodyPr>
          <a:lstStyle/>
          <a:p>
            <a:r>
              <a:rPr lang="en-US" b="1" dirty="0"/>
              <a:t>1.3 Help Functions in R</a:t>
            </a:r>
            <a:r>
              <a:rPr lang="en-US" b="0" dirty="0">
                <a:effectLst/>
              </a:rPr>
              <a:t/>
            </a:r>
            <a:br>
              <a:rPr lang="en-US" b="0" dirty="0">
                <a:effectLst/>
              </a:rPr>
            </a:br>
            <a:r>
              <a:rPr lang="en-US" dirty="0"/>
              <a:t/>
            </a:r>
            <a:br>
              <a:rPr lang="en-US" dirty="0"/>
            </a:br>
            <a:endParaRPr lang="en-IN" dirty="0"/>
          </a:p>
        </p:txBody>
      </p:sp>
      <p:sp>
        <p:nvSpPr>
          <p:cNvPr id="3" name="Content Placeholder 2">
            <a:extLst>
              <a:ext uri="{FF2B5EF4-FFF2-40B4-BE49-F238E27FC236}">
                <a16:creationId xmlns="" xmlns:a16="http://schemas.microsoft.com/office/drawing/2014/main" id="{1B679936-07A1-5C25-6805-A249D0A6F58A}"/>
              </a:ext>
            </a:extLst>
          </p:cNvPr>
          <p:cNvSpPr>
            <a:spLocks noGrp="1"/>
          </p:cNvSpPr>
          <p:nvPr>
            <p:ph idx="1"/>
          </p:nvPr>
        </p:nvSpPr>
        <p:spPr>
          <a:xfrm>
            <a:off x="838200" y="883227"/>
            <a:ext cx="10515600" cy="5293736"/>
          </a:xfrm>
        </p:spPr>
        <p:txBody>
          <a:bodyPr>
            <a:normAutofit fontScale="92500" lnSpcReduction="20000"/>
          </a:bodyPr>
          <a:lstStyle/>
          <a:p>
            <a:pPr algn="just"/>
            <a:r>
              <a:rPr lang="en-US" dirty="0">
                <a:latin typeface="Arial Narrow" pitchFamily="34" charset="0"/>
              </a:rPr>
              <a:t>Navigating R's extensive documentation is a crucial skill for any programmer. R provides several built-in functions to access help files, documentation, and examples.</a:t>
            </a:r>
            <a:endParaRPr lang="en-US" b="0" dirty="0">
              <a:effectLst/>
              <a:latin typeface="Arial Narrow" pitchFamily="34" charset="0"/>
            </a:endParaRPr>
          </a:p>
          <a:p>
            <a:pPr algn="just" fontAlgn="base"/>
            <a:r>
              <a:rPr lang="en-US" dirty="0">
                <a:latin typeface="Arial Narrow" pitchFamily="34" charset="0"/>
              </a:rPr>
              <a:t>?</a:t>
            </a:r>
            <a:r>
              <a:rPr lang="en-US" dirty="0" err="1">
                <a:latin typeface="Arial Narrow" pitchFamily="34" charset="0"/>
              </a:rPr>
              <a:t>function_name</a:t>
            </a:r>
            <a:r>
              <a:rPr lang="en-US" dirty="0">
                <a:latin typeface="Arial Narrow" pitchFamily="34" charset="0"/>
              </a:rPr>
              <a:t> or help(</a:t>
            </a:r>
            <a:r>
              <a:rPr lang="en-US" dirty="0" err="1">
                <a:latin typeface="Arial Narrow" pitchFamily="34" charset="0"/>
              </a:rPr>
              <a:t>function_name</a:t>
            </a:r>
            <a:r>
              <a:rPr lang="en-US" dirty="0">
                <a:latin typeface="Arial Narrow" pitchFamily="34" charset="0"/>
              </a:rPr>
              <a:t>): Opens the official documentation page for a specific function. (e.g., ?mean or help(mean)).</a:t>
            </a:r>
          </a:p>
          <a:p>
            <a:pPr algn="just" fontAlgn="base"/>
            <a:r>
              <a:rPr lang="en-US" dirty="0">
                <a:latin typeface="Arial Narrow" pitchFamily="34" charset="0"/>
              </a:rPr>
              <a:t>??</a:t>
            </a:r>
            <a:r>
              <a:rPr lang="en-US" dirty="0" err="1">
                <a:latin typeface="Arial Narrow" pitchFamily="34" charset="0"/>
              </a:rPr>
              <a:t>search_term</a:t>
            </a:r>
            <a:r>
              <a:rPr lang="en-US" dirty="0">
                <a:latin typeface="Arial Narrow" pitchFamily="34" charset="0"/>
              </a:rPr>
              <a:t> or </a:t>
            </a:r>
            <a:r>
              <a:rPr lang="en-US" dirty="0" err="1">
                <a:latin typeface="Arial Narrow" pitchFamily="34" charset="0"/>
              </a:rPr>
              <a:t>help.search</a:t>
            </a:r>
            <a:r>
              <a:rPr lang="en-US" dirty="0">
                <a:latin typeface="Arial Narrow" pitchFamily="34" charset="0"/>
              </a:rPr>
              <a:t>("</a:t>
            </a:r>
            <a:r>
              <a:rPr lang="en-US" dirty="0" err="1">
                <a:latin typeface="Arial Narrow" pitchFamily="34" charset="0"/>
              </a:rPr>
              <a:t>search_term</a:t>
            </a:r>
            <a:r>
              <a:rPr lang="en-US" dirty="0">
                <a:latin typeface="Arial Narrow" pitchFamily="34" charset="0"/>
              </a:rPr>
              <a:t>"): Searches the documentation of all installed packages for a specific keyword if you don't know the exact function name. (e.g., ??regression).</a:t>
            </a:r>
          </a:p>
          <a:p>
            <a:pPr algn="just" fontAlgn="base"/>
            <a:r>
              <a:rPr lang="en-US" dirty="0">
                <a:latin typeface="Arial Narrow" pitchFamily="34" charset="0"/>
              </a:rPr>
              <a:t>example(</a:t>
            </a:r>
            <a:r>
              <a:rPr lang="en-US" dirty="0" err="1">
                <a:latin typeface="Arial Narrow" pitchFamily="34" charset="0"/>
              </a:rPr>
              <a:t>function_name</a:t>
            </a:r>
            <a:r>
              <a:rPr lang="en-US" dirty="0">
                <a:latin typeface="Arial Narrow" pitchFamily="34" charset="0"/>
              </a:rPr>
              <a:t>): Runs the examples listed at the bottom of the help documentation for a specific function. Extremely useful for seeing the code in action.</a:t>
            </a:r>
          </a:p>
          <a:p>
            <a:pPr algn="just" fontAlgn="base"/>
            <a:r>
              <a:rPr lang="en-US" dirty="0" err="1">
                <a:latin typeface="Arial Narrow" pitchFamily="34" charset="0"/>
              </a:rPr>
              <a:t>args</a:t>
            </a:r>
            <a:r>
              <a:rPr lang="en-US" dirty="0">
                <a:latin typeface="Arial Narrow" pitchFamily="34" charset="0"/>
              </a:rPr>
              <a:t>(</a:t>
            </a:r>
            <a:r>
              <a:rPr lang="en-US" dirty="0" err="1">
                <a:latin typeface="Arial Narrow" pitchFamily="34" charset="0"/>
              </a:rPr>
              <a:t>function_name</a:t>
            </a:r>
            <a:r>
              <a:rPr lang="en-US" dirty="0">
                <a:latin typeface="Arial Narrow" pitchFamily="34" charset="0"/>
              </a:rPr>
              <a:t>): Displays the arguments (parameters) a function takes and their default values without opening the full help page. (e.g., </a:t>
            </a:r>
            <a:r>
              <a:rPr lang="en-US" dirty="0" err="1">
                <a:latin typeface="Arial Narrow" pitchFamily="34" charset="0"/>
              </a:rPr>
              <a:t>args</a:t>
            </a:r>
            <a:r>
              <a:rPr lang="en-US" dirty="0">
                <a:latin typeface="Arial Narrow" pitchFamily="34" charset="0"/>
              </a:rPr>
              <a:t>(read.csv)).</a:t>
            </a:r>
          </a:p>
          <a:p>
            <a:pPr algn="just" fontAlgn="base"/>
            <a:r>
              <a:rPr lang="en-US" dirty="0" err="1">
                <a:latin typeface="Arial Narrow" pitchFamily="34" charset="0"/>
              </a:rPr>
              <a:t>RSiteSearch</a:t>
            </a:r>
            <a:r>
              <a:rPr lang="en-US" dirty="0">
                <a:latin typeface="Arial Narrow" pitchFamily="34" charset="0"/>
              </a:rPr>
              <a:t>("</a:t>
            </a:r>
            <a:r>
              <a:rPr lang="en-US" dirty="0" err="1">
                <a:latin typeface="Arial Narrow" pitchFamily="34" charset="0"/>
              </a:rPr>
              <a:t>search_term</a:t>
            </a:r>
            <a:r>
              <a:rPr lang="en-US" dirty="0">
                <a:latin typeface="Arial Narrow" pitchFamily="34" charset="0"/>
              </a:rPr>
              <a:t>"): Searches for the term in online R mailing lists, manuals, and CRAN packages. Opens the results in a web browser.</a:t>
            </a:r>
          </a:p>
          <a:p>
            <a:pPr algn="just" fontAlgn="base"/>
            <a:r>
              <a:rPr lang="en-US" dirty="0">
                <a:latin typeface="Arial Narrow" pitchFamily="34" charset="0"/>
              </a:rPr>
              <a:t>vignette(): Lists all available vignettes (detailed instructional documents/tutorials) for installed packages. Use vignette("</a:t>
            </a:r>
            <a:r>
              <a:rPr lang="en-US" dirty="0" err="1">
                <a:latin typeface="Arial Narrow" pitchFamily="34" charset="0"/>
              </a:rPr>
              <a:t>dplyr</a:t>
            </a:r>
            <a:r>
              <a:rPr lang="en-US" dirty="0">
                <a:latin typeface="Arial Narrow" pitchFamily="34" charset="0"/>
              </a:rPr>
              <a:t>") to read a specific one.</a:t>
            </a:r>
          </a:p>
          <a:p>
            <a:endParaRPr lang="en-IN" dirty="0"/>
          </a:p>
        </p:txBody>
      </p:sp>
    </p:spTree>
    <p:extLst>
      <p:ext uri="{BB962C8B-B14F-4D97-AF65-F5344CB8AC3E}">
        <p14:creationId xmlns="" xmlns:p14="http://schemas.microsoft.com/office/powerpoint/2010/main" val="24614283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srcRect/>
          <a:stretch>
            <a:fillRect/>
          </a:stretch>
        </p:blipFill>
        <p:spPr bwMode="auto">
          <a:xfrm>
            <a:off x="1751211" y="1240971"/>
            <a:ext cx="9741155" cy="4244749"/>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srcRect/>
          <a:stretch>
            <a:fillRect/>
          </a:stretch>
        </p:blipFill>
        <p:spPr bwMode="auto">
          <a:xfrm>
            <a:off x="1968500" y="1181100"/>
            <a:ext cx="8259763" cy="449580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8A00002-A97C-A045-FD2A-6E1DE31E2C2D}"/>
              </a:ext>
            </a:extLst>
          </p:cNvPr>
          <p:cNvSpPr>
            <a:spLocks noGrp="1"/>
          </p:cNvSpPr>
          <p:nvPr>
            <p:ph type="title"/>
          </p:nvPr>
        </p:nvSpPr>
        <p:spPr/>
        <p:txBody>
          <a:bodyPr/>
          <a:lstStyle/>
          <a:p>
            <a:r>
              <a:rPr lang="en-US" b="1" dirty="0">
                <a:latin typeface="Arial Narrow" pitchFamily="34" charset="0"/>
              </a:rPr>
              <a:t>1.4</a:t>
            </a:r>
            <a:r>
              <a:rPr lang="en-US" dirty="0">
                <a:latin typeface="Arial Narrow" pitchFamily="34" charset="0"/>
              </a:rPr>
              <a:t> </a:t>
            </a:r>
            <a:r>
              <a:rPr lang="en-IN" b="1" dirty="0">
                <a:latin typeface="Arial Narrow" pitchFamily="34" charset="0"/>
              </a:rPr>
              <a:t>Vectors</a:t>
            </a:r>
            <a:endParaRPr lang="en-IN" dirty="0">
              <a:latin typeface="Arial Narrow" pitchFamily="34" charset="0"/>
            </a:endParaRPr>
          </a:p>
        </p:txBody>
      </p:sp>
      <p:sp>
        <p:nvSpPr>
          <p:cNvPr id="3" name="Content Placeholder 2">
            <a:extLst>
              <a:ext uri="{FF2B5EF4-FFF2-40B4-BE49-F238E27FC236}">
                <a16:creationId xmlns="" xmlns:a16="http://schemas.microsoft.com/office/drawing/2014/main" id="{AF4900F1-F0E4-6C50-FF62-273D6A44BBCD}"/>
              </a:ext>
            </a:extLst>
          </p:cNvPr>
          <p:cNvSpPr>
            <a:spLocks noGrp="1"/>
          </p:cNvSpPr>
          <p:nvPr>
            <p:ph idx="1"/>
          </p:nvPr>
        </p:nvSpPr>
        <p:spPr>
          <a:xfrm>
            <a:off x="509016" y="1459864"/>
            <a:ext cx="10515600" cy="4831207"/>
          </a:xfrm>
        </p:spPr>
        <p:txBody>
          <a:bodyPr>
            <a:normAutofit fontScale="55000" lnSpcReduction="20000"/>
          </a:bodyPr>
          <a:lstStyle/>
          <a:p>
            <a:r>
              <a:rPr lang="en-US" sz="3300" dirty="0">
                <a:latin typeface="Arial Narrow" pitchFamily="34" charset="0"/>
              </a:rPr>
              <a:t>Vectors are the most basic and arguably the most important data structure in R. </a:t>
            </a:r>
          </a:p>
          <a:p>
            <a:r>
              <a:rPr lang="en-US" sz="3300" dirty="0">
                <a:latin typeface="Arial Narrow" pitchFamily="34" charset="0"/>
              </a:rPr>
              <a:t>A vector is a collection of elements of the </a:t>
            </a:r>
            <a:r>
              <a:rPr lang="en-US" sz="3300" b="1" dirty="0">
                <a:latin typeface="Arial Narrow" pitchFamily="34" charset="0"/>
              </a:rPr>
              <a:t>same basic data type</a:t>
            </a:r>
            <a:r>
              <a:rPr lang="en-US" sz="3300" dirty="0">
                <a:latin typeface="Arial Narrow" pitchFamily="34" charset="0"/>
              </a:rPr>
              <a:t> (Atomic Vectors). </a:t>
            </a:r>
          </a:p>
          <a:p>
            <a:r>
              <a:rPr lang="en-US" sz="3300" dirty="0">
                <a:latin typeface="Arial Narrow" pitchFamily="34" charset="0"/>
              </a:rPr>
              <a:t>The primary atomic vector types are:</a:t>
            </a:r>
            <a:endParaRPr lang="en-US" sz="3300" b="0" dirty="0">
              <a:effectLst/>
              <a:latin typeface="Arial Narrow" pitchFamily="34" charset="0"/>
            </a:endParaRPr>
          </a:p>
          <a:p>
            <a:pPr fontAlgn="base"/>
            <a:r>
              <a:rPr lang="en-US" sz="3300" b="1" dirty="0">
                <a:latin typeface="Arial Narrow" pitchFamily="34" charset="0"/>
              </a:rPr>
              <a:t>Logical:</a:t>
            </a:r>
            <a:r>
              <a:rPr lang="en-US" sz="3300" dirty="0">
                <a:latin typeface="Arial Narrow" pitchFamily="34" charset="0"/>
              </a:rPr>
              <a:t> TRUE, FALSE</a:t>
            </a:r>
          </a:p>
          <a:p>
            <a:pPr fontAlgn="base"/>
            <a:r>
              <a:rPr lang="en-US" sz="3300" b="1" dirty="0">
                <a:latin typeface="Arial Narrow" pitchFamily="34" charset="0"/>
              </a:rPr>
              <a:t>Integer:</a:t>
            </a:r>
            <a:r>
              <a:rPr lang="en-US" sz="3300" dirty="0">
                <a:latin typeface="Arial Narrow" pitchFamily="34" charset="0"/>
              </a:rPr>
              <a:t> Whole numbers denoted with an 'L' (e.g., 5L, 10L)</a:t>
            </a:r>
          </a:p>
          <a:p>
            <a:pPr fontAlgn="base"/>
            <a:r>
              <a:rPr lang="en-US" sz="3300" b="1" dirty="0">
                <a:latin typeface="Arial Narrow" pitchFamily="34" charset="0"/>
              </a:rPr>
              <a:t>Numeric (Double):</a:t>
            </a:r>
            <a:r>
              <a:rPr lang="en-US" sz="3300" dirty="0">
                <a:latin typeface="Arial Narrow" pitchFamily="34" charset="0"/>
              </a:rPr>
              <a:t> Real numbers with decimals (e.g., 3.14, 10.0)</a:t>
            </a:r>
          </a:p>
          <a:p>
            <a:pPr fontAlgn="base"/>
            <a:r>
              <a:rPr lang="en-US" sz="3300" b="1" dirty="0">
                <a:latin typeface="Arial Narrow" pitchFamily="34" charset="0"/>
              </a:rPr>
              <a:t>Complex:</a:t>
            </a:r>
            <a:r>
              <a:rPr lang="en-US" sz="3300" dirty="0">
                <a:latin typeface="Arial Narrow" pitchFamily="34" charset="0"/>
              </a:rPr>
              <a:t> Complex numbers (e.g., 3 + 2i)</a:t>
            </a:r>
          </a:p>
          <a:p>
            <a:pPr fontAlgn="base"/>
            <a:r>
              <a:rPr lang="en-US" sz="3300" b="1" dirty="0">
                <a:latin typeface="Arial Narrow" pitchFamily="34" charset="0"/>
              </a:rPr>
              <a:t>Character:</a:t>
            </a:r>
            <a:r>
              <a:rPr lang="en-US" sz="3300" dirty="0">
                <a:latin typeface="Arial Narrow" pitchFamily="34" charset="0"/>
              </a:rPr>
              <a:t> Strings (e.g., "Hello", "Data")</a:t>
            </a:r>
          </a:p>
          <a:p>
            <a:r>
              <a:rPr lang="en-US" sz="3300" dirty="0">
                <a:latin typeface="Arial Narrow" pitchFamily="34" charset="0"/>
              </a:rPr>
              <a:t>If you attempt to mix different data types in a single vector, R will automatically coerce (convert) them into the most flexible type. Hierarchy of coercion: Logical -&gt; Integer -&gt; Numeric -&gt; Complex -&gt; Character.</a:t>
            </a:r>
            <a:endParaRPr lang="en-US" sz="3300" b="0" dirty="0">
              <a:effectLst/>
              <a:latin typeface="Arial Narrow" pitchFamily="34" charset="0"/>
            </a:endParaRPr>
          </a:p>
          <a:p>
            <a:r>
              <a:rPr lang="en-US" sz="3300" dirty="0">
                <a:latin typeface="Arial Narrow" pitchFamily="34" charset="0"/>
              </a:rPr>
              <a:t>R</a:t>
            </a:r>
            <a:endParaRPr lang="en-US" sz="3300" b="0" dirty="0">
              <a:effectLst/>
              <a:latin typeface="Arial Narrow" pitchFamily="34" charset="0"/>
            </a:endParaRPr>
          </a:p>
          <a:p>
            <a:r>
              <a:rPr lang="en-US" sz="3300" dirty="0" err="1">
                <a:latin typeface="Arial Narrow" pitchFamily="34" charset="0"/>
              </a:rPr>
              <a:t>mixed_vec</a:t>
            </a:r>
            <a:r>
              <a:rPr lang="en-US" sz="3300" dirty="0">
                <a:latin typeface="Arial Narrow" pitchFamily="34" charset="0"/>
              </a:rPr>
              <a:t> &lt;- c(TRUE, 5, "Hello") </a:t>
            </a:r>
            <a:endParaRPr lang="en-US" sz="3300" b="0" dirty="0">
              <a:effectLst/>
              <a:latin typeface="Arial Narrow" pitchFamily="34" charset="0"/>
            </a:endParaRPr>
          </a:p>
          <a:p>
            <a:r>
              <a:rPr lang="en-US" sz="3300" dirty="0">
                <a:latin typeface="Arial Narrow" pitchFamily="34" charset="0"/>
              </a:rPr>
              <a:t># R coerces everything to character: "TRUE", "5", "Hello"</a:t>
            </a:r>
            <a:endParaRPr lang="en-US" sz="3300" b="0" dirty="0">
              <a:effectLst/>
              <a:latin typeface="Arial Narrow" pitchFamily="34" charset="0"/>
            </a:endParaRPr>
          </a:p>
          <a:p>
            <a:pPr>
              <a:buNone/>
            </a:pPr>
            <a:r>
              <a:rPr lang="en-US" dirty="0"/>
              <a:t/>
            </a:r>
            <a:br>
              <a:rPr lang="en-US" dirty="0"/>
            </a:br>
            <a:endParaRPr lang="en-IN" dirty="0"/>
          </a:p>
        </p:txBody>
      </p:sp>
    </p:spTree>
    <p:extLst>
      <p:ext uri="{BB962C8B-B14F-4D97-AF65-F5344CB8AC3E}">
        <p14:creationId xmlns="" xmlns:p14="http://schemas.microsoft.com/office/powerpoint/2010/main" val="2661173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3FC8723-237F-07E3-27C8-9E355F131EE1}"/>
              </a:ext>
            </a:extLst>
          </p:cNvPr>
          <p:cNvSpPr>
            <a:spLocks noGrp="1"/>
          </p:cNvSpPr>
          <p:nvPr>
            <p:ph type="title"/>
          </p:nvPr>
        </p:nvSpPr>
        <p:spPr/>
        <p:txBody>
          <a:bodyPr/>
          <a:lstStyle/>
          <a:p>
            <a:r>
              <a:rPr lang="en-US" dirty="0">
                <a:latin typeface="Arial Narrow" pitchFamily="34" charset="0"/>
              </a:rPr>
              <a:t>1.5 Scalars</a:t>
            </a:r>
            <a:endParaRPr lang="en-IN" dirty="0">
              <a:latin typeface="Arial Narrow" pitchFamily="34" charset="0"/>
            </a:endParaRPr>
          </a:p>
        </p:txBody>
      </p:sp>
      <p:sp>
        <p:nvSpPr>
          <p:cNvPr id="3" name="Content Placeholder 2">
            <a:extLst>
              <a:ext uri="{FF2B5EF4-FFF2-40B4-BE49-F238E27FC236}">
                <a16:creationId xmlns="" xmlns:a16="http://schemas.microsoft.com/office/drawing/2014/main" id="{723FE579-2300-3E7C-0522-6A9277710D74}"/>
              </a:ext>
            </a:extLst>
          </p:cNvPr>
          <p:cNvSpPr>
            <a:spLocks noGrp="1"/>
          </p:cNvSpPr>
          <p:nvPr>
            <p:ph idx="1"/>
          </p:nvPr>
        </p:nvSpPr>
        <p:spPr/>
        <p:txBody>
          <a:bodyPr>
            <a:normAutofit/>
          </a:bodyPr>
          <a:lstStyle/>
          <a:p>
            <a:r>
              <a:rPr lang="en-US" dirty="0">
                <a:latin typeface="Arial Narrow" pitchFamily="34" charset="0"/>
              </a:rPr>
              <a:t>In many programming languages, a "scalar" is a single data value (like the number 5 or the string "Hello"). </a:t>
            </a:r>
            <a:r>
              <a:rPr lang="en-US" b="1" dirty="0">
                <a:latin typeface="Arial Narrow" pitchFamily="34" charset="0"/>
              </a:rPr>
              <a:t>In R, there is no true scalar data type.</a:t>
            </a:r>
            <a:r>
              <a:rPr lang="en-US" dirty="0">
                <a:latin typeface="Arial Narrow" pitchFamily="34" charset="0"/>
              </a:rPr>
              <a:t> When you declare a single number in R, R treats it as a </a:t>
            </a:r>
            <a:r>
              <a:rPr lang="en-US" b="1" dirty="0">
                <a:latin typeface="Arial Narrow" pitchFamily="34" charset="0"/>
              </a:rPr>
              <a:t>vector of length 1</a:t>
            </a:r>
            <a:r>
              <a:rPr lang="en-US" dirty="0">
                <a:latin typeface="Arial Narrow" pitchFamily="34" charset="0"/>
              </a:rPr>
              <a:t>.</a:t>
            </a:r>
            <a:endParaRPr lang="en-US" b="0" dirty="0">
              <a:effectLst/>
              <a:latin typeface="Arial Narrow" pitchFamily="34" charset="0"/>
            </a:endParaRPr>
          </a:p>
          <a:p>
            <a:r>
              <a:rPr lang="en-US" dirty="0">
                <a:latin typeface="Arial Narrow" pitchFamily="34" charset="0"/>
              </a:rPr>
              <a:t>x &lt;- 5</a:t>
            </a:r>
            <a:endParaRPr lang="en-US" b="0" dirty="0">
              <a:effectLst/>
              <a:latin typeface="Arial Narrow" pitchFamily="34" charset="0"/>
            </a:endParaRPr>
          </a:p>
          <a:p>
            <a:r>
              <a:rPr lang="en-US" dirty="0">
                <a:latin typeface="Arial Narrow" pitchFamily="34" charset="0"/>
              </a:rPr>
              <a:t>length(x) # Returns 1</a:t>
            </a:r>
            <a:endParaRPr lang="en-US" b="0" dirty="0">
              <a:effectLst/>
              <a:latin typeface="Arial Narrow" pitchFamily="34" charset="0"/>
            </a:endParaRPr>
          </a:p>
          <a:p>
            <a:r>
              <a:rPr lang="en-US" dirty="0" err="1">
                <a:latin typeface="Arial Narrow" pitchFamily="34" charset="0"/>
              </a:rPr>
              <a:t>is.vector</a:t>
            </a:r>
            <a:r>
              <a:rPr lang="en-US" dirty="0">
                <a:latin typeface="Arial Narrow" pitchFamily="34" charset="0"/>
              </a:rPr>
              <a:t>(x) # Returns TRUE</a:t>
            </a:r>
            <a:endParaRPr lang="en-US" b="0" dirty="0">
              <a:effectLst/>
              <a:latin typeface="Arial Narrow" pitchFamily="34" charset="0"/>
            </a:endParaRPr>
          </a:p>
          <a:p>
            <a:pPr>
              <a:buNone/>
            </a:pPr>
            <a:r>
              <a:rPr lang="en-US" dirty="0"/>
              <a:t/>
            </a:r>
            <a:br>
              <a:rPr lang="en-US" dirty="0"/>
            </a:br>
            <a:endParaRPr lang="en-IN" dirty="0"/>
          </a:p>
        </p:txBody>
      </p:sp>
    </p:spTree>
    <p:extLst>
      <p:ext uri="{BB962C8B-B14F-4D97-AF65-F5344CB8AC3E}">
        <p14:creationId xmlns="" xmlns:p14="http://schemas.microsoft.com/office/powerpoint/2010/main" val="20896308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8E4A19F-9EC8-CD73-8E0A-E5FBB66C7251}"/>
              </a:ext>
            </a:extLst>
          </p:cNvPr>
          <p:cNvSpPr>
            <a:spLocks noGrp="1"/>
          </p:cNvSpPr>
          <p:nvPr>
            <p:ph type="title"/>
          </p:nvPr>
        </p:nvSpPr>
        <p:spPr/>
        <p:txBody>
          <a:bodyPr>
            <a:normAutofit fontScale="90000"/>
          </a:bodyPr>
          <a:lstStyle/>
          <a:p>
            <a:r>
              <a:rPr lang="en-US" dirty="0"/>
              <a:t>1.6 </a:t>
            </a:r>
            <a:r>
              <a:rPr lang="en-IN" b="1" dirty="0"/>
              <a:t>Declarations</a:t>
            </a:r>
            <a:r>
              <a:rPr lang="en-IN" b="0" dirty="0">
                <a:effectLst/>
              </a:rPr>
              <a:t/>
            </a:r>
            <a:br>
              <a:rPr lang="en-IN" b="0" dirty="0">
                <a:effectLst/>
              </a:rPr>
            </a:br>
            <a:r>
              <a:rPr lang="en-IN" dirty="0"/>
              <a:t/>
            </a:r>
            <a:br>
              <a:rPr lang="en-IN" dirty="0"/>
            </a:br>
            <a:endParaRPr lang="en-IN" dirty="0"/>
          </a:p>
        </p:txBody>
      </p:sp>
      <p:sp>
        <p:nvSpPr>
          <p:cNvPr id="3" name="Content Placeholder 2">
            <a:extLst>
              <a:ext uri="{FF2B5EF4-FFF2-40B4-BE49-F238E27FC236}">
                <a16:creationId xmlns="" xmlns:a16="http://schemas.microsoft.com/office/drawing/2014/main" id="{34FCB34F-4A1A-9648-C2E4-4D9B5B14D466}"/>
              </a:ext>
            </a:extLst>
          </p:cNvPr>
          <p:cNvSpPr>
            <a:spLocks noGrp="1"/>
          </p:cNvSpPr>
          <p:nvPr>
            <p:ph idx="1"/>
          </p:nvPr>
        </p:nvSpPr>
        <p:spPr>
          <a:xfrm>
            <a:off x="838200" y="862445"/>
            <a:ext cx="10515600" cy="5314518"/>
          </a:xfrm>
        </p:spPr>
        <p:txBody>
          <a:bodyPr>
            <a:normAutofit fontScale="25000" lnSpcReduction="20000"/>
          </a:bodyPr>
          <a:lstStyle/>
          <a:p>
            <a:r>
              <a:rPr lang="en-US" sz="6400" dirty="0">
                <a:latin typeface="Arial Narrow" pitchFamily="34" charset="0"/>
              </a:rPr>
              <a:t>You cannot simply "declare" an empty variable without assigning something to it in R. Vectors are typically declared and instantiated using several functions:</a:t>
            </a:r>
            <a:endParaRPr lang="en-US" sz="6400" b="0" dirty="0">
              <a:effectLst/>
              <a:latin typeface="Arial Narrow" pitchFamily="34" charset="0"/>
            </a:endParaRPr>
          </a:p>
          <a:p>
            <a:r>
              <a:rPr lang="en-US" sz="6400" b="1" dirty="0">
                <a:latin typeface="Arial Narrow" pitchFamily="34" charset="0"/>
              </a:rPr>
              <a:t>1. The c() function (Combine/Concatenate):</a:t>
            </a:r>
            <a:r>
              <a:rPr lang="en-US" sz="6400" dirty="0">
                <a:latin typeface="Arial Narrow" pitchFamily="34" charset="0"/>
              </a:rPr>
              <a:t> The most common way to create a vector.</a:t>
            </a:r>
            <a:endParaRPr lang="en-US" sz="6400" b="0" dirty="0">
              <a:effectLst/>
              <a:latin typeface="Arial Narrow" pitchFamily="34" charset="0"/>
            </a:endParaRPr>
          </a:p>
          <a:p>
            <a:r>
              <a:rPr lang="en-US" sz="6400" dirty="0" err="1">
                <a:latin typeface="Arial Narrow" pitchFamily="34" charset="0"/>
              </a:rPr>
              <a:t>my_numbers</a:t>
            </a:r>
            <a:r>
              <a:rPr lang="en-US" sz="6400" dirty="0">
                <a:latin typeface="Arial Narrow" pitchFamily="34" charset="0"/>
              </a:rPr>
              <a:t> &lt;- c(10, 20, 30, 40)</a:t>
            </a:r>
            <a:endParaRPr lang="en-US" sz="6400" b="0" dirty="0">
              <a:effectLst/>
              <a:latin typeface="Arial Narrow" pitchFamily="34" charset="0"/>
            </a:endParaRPr>
          </a:p>
          <a:p>
            <a:r>
              <a:rPr lang="en-US" sz="6400" dirty="0" err="1">
                <a:latin typeface="Arial Narrow" pitchFamily="34" charset="0"/>
              </a:rPr>
              <a:t>my_chars</a:t>
            </a:r>
            <a:r>
              <a:rPr lang="en-US" sz="6400" dirty="0">
                <a:latin typeface="Arial Narrow" pitchFamily="34" charset="0"/>
              </a:rPr>
              <a:t> &lt;- c("apple", "banana", "cherry")</a:t>
            </a:r>
            <a:endParaRPr lang="en-US" sz="6400" b="0" dirty="0">
              <a:effectLst/>
              <a:latin typeface="Arial Narrow" pitchFamily="34" charset="0"/>
            </a:endParaRPr>
          </a:p>
          <a:p>
            <a:r>
              <a:rPr lang="en-US" sz="6400" b="1" dirty="0">
                <a:latin typeface="Arial Narrow" pitchFamily="34" charset="0"/>
              </a:rPr>
              <a:t>2. The Colon Operator ::</a:t>
            </a:r>
            <a:r>
              <a:rPr lang="en-US" sz="6400" dirty="0">
                <a:latin typeface="Arial Narrow" pitchFamily="34" charset="0"/>
              </a:rPr>
              <a:t> Generates a sequence of consecutive numbers.</a:t>
            </a:r>
            <a:endParaRPr lang="en-US" sz="6400" b="0" dirty="0">
              <a:effectLst/>
              <a:latin typeface="Arial Narrow" pitchFamily="34" charset="0"/>
            </a:endParaRPr>
          </a:p>
          <a:p>
            <a:r>
              <a:rPr lang="en-US" sz="6400" dirty="0" err="1">
                <a:latin typeface="Arial Narrow" pitchFamily="34" charset="0"/>
              </a:rPr>
              <a:t>one_to_ten</a:t>
            </a:r>
            <a:r>
              <a:rPr lang="en-US" sz="6400" dirty="0">
                <a:latin typeface="Arial Narrow" pitchFamily="34" charset="0"/>
              </a:rPr>
              <a:t> &lt;- 1:10   # Output: 1 2 3 4 5 6 7 8 9 10</a:t>
            </a:r>
            <a:endParaRPr lang="en-US" sz="6400" b="0" dirty="0">
              <a:effectLst/>
              <a:latin typeface="Arial Narrow" pitchFamily="34" charset="0"/>
            </a:endParaRPr>
          </a:p>
          <a:p>
            <a:r>
              <a:rPr lang="en-US" sz="6400" dirty="0">
                <a:latin typeface="Arial Narrow" pitchFamily="34" charset="0"/>
              </a:rPr>
              <a:t>countdown &lt;- 5:-5    # Output: 5 4 3 2 1 0 -1 -2 -3 -4 -5</a:t>
            </a:r>
            <a:endParaRPr lang="en-US" sz="6400" b="0" dirty="0">
              <a:effectLst/>
              <a:latin typeface="Arial Narrow" pitchFamily="34" charset="0"/>
            </a:endParaRPr>
          </a:p>
          <a:p>
            <a:r>
              <a:rPr lang="en-US" sz="6400" b="1" dirty="0">
                <a:latin typeface="Arial Narrow" pitchFamily="34" charset="0"/>
              </a:rPr>
              <a:t>3. The seq() function:</a:t>
            </a:r>
            <a:r>
              <a:rPr lang="en-US" sz="6400" dirty="0">
                <a:latin typeface="Arial Narrow" pitchFamily="34" charset="0"/>
              </a:rPr>
              <a:t> Generates a sequence with a specified step (increment).</a:t>
            </a:r>
            <a:endParaRPr lang="en-US" sz="6400" b="0" dirty="0">
              <a:effectLst/>
              <a:latin typeface="Arial Narrow" pitchFamily="34" charset="0"/>
            </a:endParaRPr>
          </a:p>
          <a:p>
            <a:r>
              <a:rPr lang="en-US" sz="6400" dirty="0">
                <a:latin typeface="Arial Narrow" pitchFamily="34" charset="0"/>
              </a:rPr>
              <a:t># From 0 to 100, stepping by 20</a:t>
            </a:r>
            <a:endParaRPr lang="en-US" sz="6400" b="0" dirty="0">
              <a:effectLst/>
              <a:latin typeface="Arial Narrow" pitchFamily="34" charset="0"/>
            </a:endParaRPr>
          </a:p>
          <a:p>
            <a:r>
              <a:rPr lang="en-US" sz="6400" dirty="0" err="1">
                <a:latin typeface="Arial Narrow" pitchFamily="34" charset="0"/>
              </a:rPr>
              <a:t>by_twenties</a:t>
            </a:r>
            <a:r>
              <a:rPr lang="en-US" sz="6400" dirty="0">
                <a:latin typeface="Arial Narrow" pitchFamily="34" charset="0"/>
              </a:rPr>
              <a:t> &lt;- seq(from=0, to=100, by=20) # Output: 0 20 40 60 80 100</a:t>
            </a:r>
            <a:endParaRPr lang="en-US" sz="6400" b="0" dirty="0">
              <a:effectLst/>
              <a:latin typeface="Arial Narrow" pitchFamily="34" charset="0"/>
            </a:endParaRPr>
          </a:p>
          <a:p>
            <a:r>
              <a:rPr lang="en-US" sz="6400" dirty="0">
                <a:latin typeface="Arial Narrow" pitchFamily="34" charset="0"/>
              </a:rPr>
              <a:t># Generating a specific length of numbers</a:t>
            </a:r>
            <a:endParaRPr lang="en-US" sz="6400" b="0" dirty="0">
              <a:effectLst/>
              <a:latin typeface="Arial Narrow" pitchFamily="34" charset="0"/>
            </a:endParaRPr>
          </a:p>
          <a:p>
            <a:r>
              <a:rPr lang="en-US" sz="6400" dirty="0" err="1">
                <a:latin typeface="Arial Narrow" pitchFamily="34" charset="0"/>
              </a:rPr>
              <a:t>five_nums</a:t>
            </a:r>
            <a:r>
              <a:rPr lang="en-US" sz="6400" dirty="0">
                <a:latin typeface="Arial Narrow" pitchFamily="34" charset="0"/>
              </a:rPr>
              <a:t> &lt;- seq(from=1, to=10, </a:t>
            </a:r>
            <a:r>
              <a:rPr lang="en-US" sz="6400" dirty="0" err="1">
                <a:latin typeface="Arial Narrow" pitchFamily="34" charset="0"/>
              </a:rPr>
              <a:t>length.out</a:t>
            </a:r>
            <a:r>
              <a:rPr lang="en-US" sz="6400" dirty="0">
                <a:latin typeface="Arial Narrow" pitchFamily="34" charset="0"/>
              </a:rPr>
              <a:t>=5) # Output: 1.00 3.25 5.50 7.75 10.00</a:t>
            </a:r>
            <a:endParaRPr lang="en-US" sz="6400" b="0" dirty="0">
              <a:effectLst/>
              <a:latin typeface="Arial Narrow" pitchFamily="34" charset="0"/>
            </a:endParaRPr>
          </a:p>
          <a:p>
            <a:r>
              <a:rPr lang="en-US" sz="6400" b="1" dirty="0">
                <a:latin typeface="Arial Narrow" pitchFamily="34" charset="0"/>
              </a:rPr>
              <a:t>4. The rep() function:</a:t>
            </a:r>
            <a:r>
              <a:rPr lang="en-US" sz="6400" dirty="0">
                <a:latin typeface="Arial Narrow" pitchFamily="34" charset="0"/>
              </a:rPr>
              <a:t> Repeats a vector or element.</a:t>
            </a:r>
            <a:endParaRPr lang="en-US" sz="6400" b="0" dirty="0">
              <a:effectLst/>
              <a:latin typeface="Arial Narrow" pitchFamily="34" charset="0"/>
            </a:endParaRPr>
          </a:p>
          <a:p>
            <a:r>
              <a:rPr lang="en-US" sz="6400" dirty="0" err="1">
                <a:latin typeface="Arial Narrow" pitchFamily="34" charset="0"/>
              </a:rPr>
              <a:t>rep_thrice</a:t>
            </a:r>
            <a:r>
              <a:rPr lang="en-US" sz="6400" dirty="0">
                <a:latin typeface="Arial Narrow" pitchFamily="34" charset="0"/>
              </a:rPr>
              <a:t> &lt;- rep(c(1, 2), times=3)  # Output: 1 2 1 2 1 2</a:t>
            </a:r>
            <a:endParaRPr lang="en-US" sz="6400" b="0" dirty="0">
              <a:effectLst/>
              <a:latin typeface="Arial Narrow" pitchFamily="34" charset="0"/>
            </a:endParaRPr>
          </a:p>
          <a:p>
            <a:r>
              <a:rPr lang="en-US" sz="6400" dirty="0" err="1">
                <a:latin typeface="Arial Narrow" pitchFamily="34" charset="0"/>
              </a:rPr>
              <a:t>rep_each</a:t>
            </a:r>
            <a:r>
              <a:rPr lang="en-US" sz="6400" dirty="0">
                <a:latin typeface="Arial Narrow" pitchFamily="34" charset="0"/>
              </a:rPr>
              <a:t> &lt;- rep(c(1, 2), each=3)     # Output: 1 1 1 2 2 2</a:t>
            </a:r>
            <a:endParaRPr lang="en-US" sz="6400" b="0" dirty="0">
              <a:effectLst/>
              <a:latin typeface="Arial Narrow" pitchFamily="34" charset="0"/>
            </a:endParaRPr>
          </a:p>
          <a:p>
            <a:r>
              <a:rPr lang="en-US" sz="6400" b="1" dirty="0">
                <a:latin typeface="Arial Narrow" pitchFamily="34" charset="0"/>
              </a:rPr>
              <a:t>5. The vector() function:</a:t>
            </a:r>
            <a:r>
              <a:rPr lang="en-US" sz="6400" dirty="0">
                <a:latin typeface="Arial Narrow" pitchFamily="34" charset="0"/>
              </a:rPr>
              <a:t> Initializes an empty vector of a specific mode and length. Pre-allocate memory for performance.</a:t>
            </a:r>
          </a:p>
          <a:p>
            <a:r>
              <a:rPr lang="en-US" sz="6400" dirty="0" err="1">
                <a:latin typeface="Arial Narrow" pitchFamily="34" charset="0"/>
              </a:rPr>
              <a:t>empty_vec</a:t>
            </a:r>
            <a:r>
              <a:rPr lang="en-US" sz="6400" dirty="0">
                <a:latin typeface="Arial Narrow" pitchFamily="34" charset="0"/>
              </a:rPr>
              <a:t> &lt;- vector(mode="numeric", length=5) # Output: 0 0 0 0 0   this mode can be logical, character etc.</a:t>
            </a:r>
            <a:endParaRPr lang="en-US" sz="6400" b="0" dirty="0">
              <a:effectLst/>
              <a:latin typeface="Arial Narrow" pitchFamily="34" charset="0"/>
            </a:endParaRPr>
          </a:p>
          <a:p>
            <a:r>
              <a:rPr lang="en-US" sz="6400" b="1" dirty="0">
                <a:latin typeface="Arial Narrow" pitchFamily="34" charset="0"/>
              </a:rPr>
              <a:t>7. Recycling</a:t>
            </a:r>
            <a:endParaRPr lang="en-US" sz="6400" b="0" dirty="0">
              <a:effectLst/>
              <a:latin typeface="Arial Narrow" pitchFamily="34" charset="0"/>
            </a:endParaRPr>
          </a:p>
          <a:p>
            <a:r>
              <a:rPr lang="en-US" sz="6400" b="1" dirty="0">
                <a:latin typeface="Arial Narrow" pitchFamily="34" charset="0"/>
              </a:rPr>
              <a:t>Recycling</a:t>
            </a:r>
            <a:r>
              <a:rPr lang="en-US" sz="6400" dirty="0">
                <a:latin typeface="Arial Narrow" pitchFamily="34" charset="0"/>
              </a:rPr>
              <a:t> is a powerful, yet potentially dangerous, feature in R. When you perform operations on two vectors of </a:t>
            </a:r>
            <a:r>
              <a:rPr lang="en-US" sz="6400" b="1" dirty="0">
                <a:latin typeface="Arial Narrow" pitchFamily="34" charset="0"/>
              </a:rPr>
              <a:t>unequal lengths</a:t>
            </a:r>
            <a:r>
              <a:rPr lang="en-US" sz="6400" dirty="0">
                <a:latin typeface="Arial Narrow" pitchFamily="34" charset="0"/>
              </a:rPr>
              <a:t>, R automatically repeats (recycles) the elements of the shorter vector to match the length of the longer vector</a:t>
            </a:r>
            <a:r>
              <a:rPr lang="en-US" dirty="0">
                <a:latin typeface="Arial Narrow" pitchFamily="34" charset="0"/>
              </a:rPr>
              <a:t>.</a:t>
            </a:r>
            <a:endParaRPr lang="en-US" b="0" dirty="0">
              <a:effectLst/>
              <a:latin typeface="Arial Narrow" pitchFamily="34" charset="0"/>
            </a:endParaRPr>
          </a:p>
          <a:p>
            <a:r>
              <a:rPr lang="en-US" dirty="0"/>
              <a:t/>
            </a:r>
            <a:br>
              <a:rPr lang="en-US" dirty="0"/>
            </a:br>
            <a:endParaRPr lang="en-IN" dirty="0"/>
          </a:p>
        </p:txBody>
      </p:sp>
    </p:spTree>
    <p:extLst>
      <p:ext uri="{BB962C8B-B14F-4D97-AF65-F5344CB8AC3E}">
        <p14:creationId xmlns="" xmlns:p14="http://schemas.microsoft.com/office/powerpoint/2010/main" val="27189826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itchFamily="34" charset="0"/>
              </a:rPr>
              <a:t>1.7 Vector Recycling</a:t>
            </a:r>
          </a:p>
        </p:txBody>
      </p:sp>
      <p:sp>
        <p:nvSpPr>
          <p:cNvPr id="3" name="Content Placeholder 2"/>
          <p:cNvSpPr>
            <a:spLocks noGrp="1"/>
          </p:cNvSpPr>
          <p:nvPr>
            <p:ph idx="1"/>
          </p:nvPr>
        </p:nvSpPr>
        <p:spPr>
          <a:xfrm>
            <a:off x="838200" y="1825625"/>
            <a:ext cx="8287512" cy="4351338"/>
          </a:xfrm>
        </p:spPr>
        <p:txBody>
          <a:bodyPr>
            <a:normAutofit fontScale="92500" lnSpcReduction="20000"/>
          </a:bodyPr>
          <a:lstStyle/>
          <a:p>
            <a:pPr algn="just"/>
            <a:r>
              <a:rPr lang="en-US" dirty="0">
                <a:latin typeface="Arial Narrow" pitchFamily="34" charset="0"/>
              </a:rPr>
              <a:t>We can see vector recycling, when we perform some kind of operations like addition, subtraction. . . .etc on two vectors of unequal length. </a:t>
            </a:r>
          </a:p>
          <a:p>
            <a:pPr algn="just"/>
            <a:r>
              <a:rPr lang="en-US" dirty="0">
                <a:latin typeface="Arial Narrow" pitchFamily="34" charset="0"/>
              </a:rPr>
              <a:t>The vector with a small length will be repeated as long as the operation completes on the longer vector. </a:t>
            </a:r>
          </a:p>
          <a:p>
            <a:pPr algn="just"/>
            <a:r>
              <a:rPr lang="en-US" dirty="0">
                <a:latin typeface="Arial Narrow" pitchFamily="34" charset="0"/>
              </a:rPr>
              <a:t>If we perform an addition operation on a vector of equal length the first value of vector1 is added with the first value of vector 2 like that.</a:t>
            </a:r>
          </a:p>
          <a:p>
            <a:pPr algn="just"/>
            <a:r>
              <a:rPr lang="en-US" dirty="0">
                <a:latin typeface="Arial Narrow" pitchFamily="34" charset="0"/>
              </a:rPr>
              <a:t> The image demonstrated operation on unequal vectors and operation on equal vector.</a:t>
            </a:r>
          </a:p>
          <a:p>
            <a:pPr algn="just"/>
            <a:r>
              <a:rPr lang="en-US" dirty="0">
                <a:latin typeface="Arial Narrow" pitchFamily="34" charset="0"/>
              </a:rPr>
              <a:t>So, the repetition of small length vector as long as completion of operation on long length vector is known as </a:t>
            </a:r>
            <a:r>
              <a:rPr lang="en-US" b="1" dirty="0">
                <a:latin typeface="Arial Narrow" pitchFamily="34" charset="0"/>
              </a:rPr>
              <a:t>vector recycling</a:t>
            </a:r>
            <a:r>
              <a:rPr lang="en-US" dirty="0">
                <a:latin typeface="Arial Narrow" pitchFamily="34" charset="0"/>
              </a:rPr>
              <a:t>.</a:t>
            </a:r>
          </a:p>
          <a:p>
            <a:pPr algn="just"/>
            <a:r>
              <a:rPr lang="en-US" dirty="0">
                <a:latin typeface="Arial Narrow" pitchFamily="34" charset="0"/>
              </a:rPr>
              <a:t> This is the special property of vectors is available in R language.</a:t>
            </a:r>
          </a:p>
        </p:txBody>
      </p:sp>
      <p:pic>
        <p:nvPicPr>
          <p:cNvPr id="37890" name="Picture 2"/>
          <p:cNvPicPr>
            <a:picLocks noChangeAspect="1" noChangeArrowheads="1"/>
          </p:cNvPicPr>
          <p:nvPr/>
        </p:nvPicPr>
        <p:blipFill>
          <a:blip r:embed="rId2"/>
          <a:srcRect/>
          <a:stretch>
            <a:fillRect/>
          </a:stretch>
        </p:blipFill>
        <p:spPr bwMode="auto">
          <a:xfrm>
            <a:off x="9104410" y="704088"/>
            <a:ext cx="2957605" cy="2004060"/>
          </a:xfrm>
          <a:prstGeom prst="rect">
            <a:avLst/>
          </a:prstGeom>
          <a:noFill/>
          <a:ln w="9525">
            <a:noFill/>
            <a:miter lim="800000"/>
            <a:headEnd/>
            <a:tailEnd/>
          </a:ln>
          <a:effectLst/>
        </p:spPr>
      </p:pic>
      <p:pic>
        <p:nvPicPr>
          <p:cNvPr id="37891" name="Picture 3"/>
          <p:cNvPicPr>
            <a:picLocks noChangeAspect="1" noChangeArrowheads="1"/>
          </p:cNvPicPr>
          <p:nvPr/>
        </p:nvPicPr>
        <p:blipFill>
          <a:blip r:embed="rId3"/>
          <a:srcRect/>
          <a:stretch>
            <a:fillRect/>
          </a:stretch>
        </p:blipFill>
        <p:spPr bwMode="auto">
          <a:xfrm>
            <a:off x="9648825" y="5143500"/>
            <a:ext cx="2543175" cy="1714500"/>
          </a:xfrm>
          <a:prstGeom prst="rect">
            <a:avLst/>
          </a:prstGeom>
          <a:noFill/>
          <a:ln w="9525">
            <a:noFill/>
            <a:miter lim="800000"/>
            <a:headEnd/>
            <a:tailEnd/>
          </a:ln>
          <a:effectLst/>
        </p:spPr>
      </p:pic>
      <p:pic>
        <p:nvPicPr>
          <p:cNvPr id="37892" name="Picture 4"/>
          <p:cNvPicPr>
            <a:picLocks noChangeAspect="1" noChangeArrowheads="1"/>
          </p:cNvPicPr>
          <p:nvPr/>
        </p:nvPicPr>
        <p:blipFill>
          <a:blip r:embed="rId4"/>
          <a:srcRect/>
          <a:stretch>
            <a:fillRect/>
          </a:stretch>
        </p:blipFill>
        <p:spPr bwMode="auto">
          <a:xfrm>
            <a:off x="9401175" y="2969133"/>
            <a:ext cx="2790825" cy="1504950"/>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itchFamily="34" charset="0"/>
              </a:rPr>
              <a:t>1.8 Common Vector Operations</a:t>
            </a:r>
          </a:p>
        </p:txBody>
      </p:sp>
      <p:sp>
        <p:nvSpPr>
          <p:cNvPr id="3" name="Content Placeholder 2"/>
          <p:cNvSpPr>
            <a:spLocks noGrp="1"/>
          </p:cNvSpPr>
          <p:nvPr>
            <p:ph idx="1"/>
          </p:nvPr>
        </p:nvSpPr>
        <p:spPr/>
        <p:txBody>
          <a:bodyPr/>
          <a:lstStyle/>
          <a:p>
            <a:r>
              <a:rPr lang="en-US" dirty="0">
                <a:latin typeface="Arial Narrow" pitchFamily="34" charset="0"/>
              </a:rPr>
              <a:t>Vectors are the most basic data types in R. </a:t>
            </a:r>
          </a:p>
          <a:p>
            <a:r>
              <a:rPr lang="en-US" dirty="0">
                <a:latin typeface="Arial Narrow" pitchFamily="34" charset="0"/>
              </a:rPr>
              <a:t>Even a single object created is also stored in the form of a vector. </a:t>
            </a:r>
          </a:p>
          <a:p>
            <a:r>
              <a:rPr lang="en-US" dirty="0">
                <a:latin typeface="Arial Narrow" pitchFamily="34" charset="0"/>
              </a:rPr>
              <a:t>Vectors are nothing but arrays as defined in other languages. </a:t>
            </a:r>
          </a:p>
          <a:p>
            <a:r>
              <a:rPr lang="en-US" dirty="0">
                <a:latin typeface="Arial Narrow" pitchFamily="34" charset="0"/>
              </a:rPr>
              <a:t>Vectors contain a sequence of homogeneous types of data. </a:t>
            </a:r>
          </a:p>
          <a:p>
            <a:r>
              <a:rPr lang="en-US" dirty="0">
                <a:latin typeface="Arial Narrow" pitchFamily="34" charset="0"/>
              </a:rPr>
              <a:t>If mixed values are given then it auto converts the data according to the precedence. </a:t>
            </a:r>
          </a:p>
          <a:p>
            <a:r>
              <a:rPr lang="en-US" dirty="0">
                <a:latin typeface="Arial Narrow" pitchFamily="34" charset="0"/>
              </a:rPr>
              <a:t>There are various operations that can be performed on vectors in 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7472"/>
            <a:ext cx="10515600" cy="5829491"/>
          </a:xfrm>
        </p:spPr>
        <p:txBody>
          <a:bodyPr/>
          <a:lstStyle/>
          <a:p>
            <a:pPr fontAlgn="base"/>
            <a:r>
              <a:rPr lang="en-US" b="1" dirty="0">
                <a:latin typeface="Arial Narrow" pitchFamily="34" charset="0"/>
              </a:rPr>
              <a:t>Creating a vector</a:t>
            </a:r>
          </a:p>
          <a:p>
            <a:pPr fontAlgn="base"/>
            <a:r>
              <a:rPr lang="en-US" dirty="0">
                <a:latin typeface="Arial Narrow" pitchFamily="34" charset="0"/>
              </a:rPr>
              <a:t>Vectors can be created in many ways as shown in the following example. The most usual is the use of 'c' function to combine different elements together. </a:t>
            </a:r>
          </a:p>
          <a:p>
            <a:endParaRPr lang="en-US" dirty="0"/>
          </a:p>
        </p:txBody>
      </p:sp>
      <p:pic>
        <p:nvPicPr>
          <p:cNvPr id="38914" name="Picture 2"/>
          <p:cNvPicPr>
            <a:picLocks noChangeAspect="1" noChangeArrowheads="1"/>
          </p:cNvPicPr>
          <p:nvPr/>
        </p:nvPicPr>
        <p:blipFill>
          <a:blip r:embed="rId2"/>
          <a:srcRect/>
          <a:stretch>
            <a:fillRect/>
          </a:stretch>
        </p:blipFill>
        <p:spPr bwMode="auto">
          <a:xfrm>
            <a:off x="696024" y="1865948"/>
            <a:ext cx="4743450" cy="4314825"/>
          </a:xfrm>
          <a:prstGeom prst="rect">
            <a:avLst/>
          </a:prstGeom>
          <a:noFill/>
          <a:ln w="9525">
            <a:noFill/>
            <a:miter lim="800000"/>
            <a:headEnd/>
            <a:tailEnd/>
          </a:ln>
          <a:effectLst/>
        </p:spPr>
      </p:pic>
      <p:pic>
        <p:nvPicPr>
          <p:cNvPr id="38915" name="Picture 3"/>
          <p:cNvPicPr>
            <a:picLocks noChangeAspect="1" noChangeArrowheads="1"/>
          </p:cNvPicPr>
          <p:nvPr/>
        </p:nvPicPr>
        <p:blipFill>
          <a:blip r:embed="rId3"/>
          <a:srcRect/>
          <a:stretch>
            <a:fillRect/>
          </a:stretch>
        </p:blipFill>
        <p:spPr bwMode="auto">
          <a:xfrm>
            <a:off x="6020689" y="3193161"/>
            <a:ext cx="5286375" cy="1276350"/>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87552"/>
            <a:ext cx="10515600" cy="5189411"/>
          </a:xfrm>
        </p:spPr>
        <p:txBody>
          <a:bodyPr/>
          <a:lstStyle/>
          <a:p>
            <a:pPr fontAlgn="base"/>
            <a:r>
              <a:rPr lang="en-US" b="1" dirty="0">
                <a:latin typeface="Arial Narrow" pitchFamily="34" charset="0"/>
              </a:rPr>
              <a:t>Accessing vector elements</a:t>
            </a:r>
          </a:p>
          <a:p>
            <a:pPr fontAlgn="base"/>
            <a:r>
              <a:rPr lang="en-US" dirty="0">
                <a:latin typeface="Arial Narrow" pitchFamily="34" charset="0"/>
              </a:rPr>
              <a:t>Vector elements can be accessed in many ways. The most basic is using the '[]', subscript operator. Following are the ways of accessing Vector elements:</a:t>
            </a:r>
            <a:r>
              <a:rPr lang="en-US" dirty="0"/>
              <a:t/>
            </a:r>
            <a:br>
              <a:rPr lang="en-US" dirty="0"/>
            </a:br>
            <a:r>
              <a:rPr lang="en-US" dirty="0"/>
              <a:t> </a:t>
            </a:r>
          </a:p>
          <a:p>
            <a:endParaRPr lang="en-US" dirty="0"/>
          </a:p>
        </p:txBody>
      </p:sp>
      <p:pic>
        <p:nvPicPr>
          <p:cNvPr id="39938" name="Picture 2"/>
          <p:cNvPicPr>
            <a:picLocks noChangeAspect="1" noChangeArrowheads="1"/>
          </p:cNvPicPr>
          <p:nvPr/>
        </p:nvPicPr>
        <p:blipFill>
          <a:blip r:embed="rId2"/>
          <a:srcRect/>
          <a:stretch>
            <a:fillRect/>
          </a:stretch>
        </p:blipFill>
        <p:spPr bwMode="auto">
          <a:xfrm>
            <a:off x="3335599" y="2295144"/>
            <a:ext cx="4129842" cy="4434840"/>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66344"/>
            <a:ext cx="10515600" cy="5710619"/>
          </a:xfrm>
        </p:spPr>
        <p:txBody>
          <a:bodyPr/>
          <a:lstStyle/>
          <a:p>
            <a:pPr fontAlgn="base"/>
            <a:r>
              <a:rPr lang="en-US" b="1" dirty="0">
                <a:latin typeface="Arial Narrow" pitchFamily="34" charset="0"/>
              </a:rPr>
              <a:t>Modifying a vector</a:t>
            </a:r>
          </a:p>
          <a:p>
            <a:pPr fontAlgn="base"/>
            <a:r>
              <a:rPr lang="en-US" dirty="0">
                <a:latin typeface="Arial Narrow" pitchFamily="34" charset="0"/>
              </a:rPr>
              <a:t>Vectors can be modified using different indexing variations which are mentioned in the below code: </a:t>
            </a:r>
          </a:p>
          <a:p>
            <a:endParaRPr lang="en-US" dirty="0"/>
          </a:p>
        </p:txBody>
      </p:sp>
      <p:pic>
        <p:nvPicPr>
          <p:cNvPr id="40963" name="Picture 3"/>
          <p:cNvPicPr>
            <a:picLocks noChangeAspect="1" noChangeArrowheads="1"/>
          </p:cNvPicPr>
          <p:nvPr/>
        </p:nvPicPr>
        <p:blipFill>
          <a:blip r:embed="rId2"/>
          <a:srcRect/>
          <a:stretch>
            <a:fillRect/>
          </a:stretch>
        </p:blipFill>
        <p:spPr bwMode="auto">
          <a:xfrm>
            <a:off x="5962493" y="1517904"/>
            <a:ext cx="5139783" cy="5020056"/>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2064"/>
            <a:ext cx="10515600" cy="5664899"/>
          </a:xfrm>
        </p:spPr>
        <p:txBody>
          <a:bodyPr/>
          <a:lstStyle/>
          <a:p>
            <a:pPr fontAlgn="base"/>
            <a:r>
              <a:rPr lang="en-US" b="1" dirty="0"/>
              <a:t>Deleting a vector</a:t>
            </a:r>
          </a:p>
          <a:p>
            <a:pPr fontAlgn="base"/>
            <a:r>
              <a:rPr lang="en-US" dirty="0"/>
              <a:t>Vectors can be deleted by reassigning them as NULL. To delete a vector we use the NULL operator.</a:t>
            </a:r>
          </a:p>
          <a:p>
            <a:endParaRPr lang="en-US" dirty="0"/>
          </a:p>
        </p:txBody>
      </p:sp>
      <p:pic>
        <p:nvPicPr>
          <p:cNvPr id="41986" name="Picture 2"/>
          <p:cNvPicPr>
            <a:picLocks noChangeAspect="1" noChangeArrowheads="1"/>
          </p:cNvPicPr>
          <p:nvPr/>
        </p:nvPicPr>
        <p:blipFill>
          <a:blip r:embed="rId2"/>
          <a:srcRect/>
          <a:stretch>
            <a:fillRect/>
          </a:stretch>
        </p:blipFill>
        <p:spPr bwMode="auto">
          <a:xfrm>
            <a:off x="4589462" y="2152650"/>
            <a:ext cx="3380971" cy="2867406"/>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1040" y="365760"/>
            <a:ext cx="10515600" cy="5152835"/>
          </a:xfrm>
        </p:spPr>
        <p:txBody>
          <a:bodyPr/>
          <a:lstStyle/>
          <a:p>
            <a:pPr fontAlgn="base"/>
            <a:r>
              <a:rPr lang="en-US" b="1" dirty="0">
                <a:latin typeface="Arial Narrow" pitchFamily="34" charset="0"/>
              </a:rPr>
              <a:t>Arithmetic operations</a:t>
            </a:r>
          </a:p>
          <a:p>
            <a:pPr fontAlgn="base"/>
            <a:r>
              <a:rPr lang="en-US" dirty="0">
                <a:latin typeface="Arial Narrow" pitchFamily="34" charset="0"/>
              </a:rPr>
              <a:t>We can perform arithmetic operations between 2 vectors. These operations are performed element-wise and hence the length of both the vectors should be the same. </a:t>
            </a:r>
          </a:p>
          <a:p>
            <a:endParaRPr lang="en-US" dirty="0"/>
          </a:p>
        </p:txBody>
      </p:sp>
      <p:pic>
        <p:nvPicPr>
          <p:cNvPr id="43010" name="Picture 2"/>
          <p:cNvPicPr>
            <a:picLocks noChangeAspect="1" noChangeArrowheads="1"/>
          </p:cNvPicPr>
          <p:nvPr/>
        </p:nvPicPr>
        <p:blipFill>
          <a:blip r:embed="rId2"/>
          <a:srcRect/>
          <a:stretch>
            <a:fillRect/>
          </a:stretch>
        </p:blipFill>
        <p:spPr bwMode="auto">
          <a:xfrm>
            <a:off x="4489703" y="1671849"/>
            <a:ext cx="6073077" cy="4799500"/>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1208"/>
            <a:ext cx="10515600" cy="5655755"/>
          </a:xfrm>
        </p:spPr>
        <p:txBody>
          <a:bodyPr/>
          <a:lstStyle/>
          <a:p>
            <a:pPr fontAlgn="base"/>
            <a:r>
              <a:rPr lang="en-US" b="1" dirty="0">
                <a:latin typeface="Arial Narrow" pitchFamily="34" charset="0"/>
              </a:rPr>
              <a:t>Sorting of Vectors</a:t>
            </a:r>
          </a:p>
          <a:p>
            <a:pPr fontAlgn="base"/>
            <a:r>
              <a:rPr lang="en-US" dirty="0">
                <a:latin typeface="Arial Narrow" pitchFamily="34" charset="0"/>
              </a:rPr>
              <a:t>For sorting we use the </a:t>
            </a:r>
            <a:r>
              <a:rPr lang="en-US" b="1" dirty="0">
                <a:latin typeface="Arial Narrow" pitchFamily="34" charset="0"/>
              </a:rPr>
              <a:t>sort()</a:t>
            </a:r>
            <a:r>
              <a:rPr lang="en-US" dirty="0">
                <a:latin typeface="Arial Narrow" pitchFamily="34" charset="0"/>
              </a:rPr>
              <a:t> function which sorts the vector in ascending order by default. </a:t>
            </a:r>
          </a:p>
        </p:txBody>
      </p:sp>
      <p:pic>
        <p:nvPicPr>
          <p:cNvPr id="44034" name="Picture 2"/>
          <p:cNvPicPr>
            <a:picLocks noChangeAspect="1" noChangeArrowheads="1"/>
          </p:cNvPicPr>
          <p:nvPr/>
        </p:nvPicPr>
        <p:blipFill>
          <a:blip r:embed="rId2"/>
          <a:srcRect/>
          <a:stretch>
            <a:fillRect/>
          </a:stretch>
        </p:blipFill>
        <p:spPr bwMode="auto">
          <a:xfrm>
            <a:off x="3688525" y="1871472"/>
            <a:ext cx="6145212" cy="4724400"/>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itchFamily="34" charset="0"/>
              </a:rPr>
              <a:t>Using all and any</a:t>
            </a:r>
          </a:p>
        </p:txBody>
      </p:sp>
      <p:sp>
        <p:nvSpPr>
          <p:cNvPr id="3" name="Content Placeholder 2"/>
          <p:cNvSpPr>
            <a:spLocks noGrp="1"/>
          </p:cNvSpPr>
          <p:nvPr>
            <p:ph idx="1"/>
          </p:nvPr>
        </p:nvSpPr>
        <p:spPr/>
        <p:txBody>
          <a:bodyPr/>
          <a:lstStyle/>
          <a:p>
            <a:r>
              <a:rPr lang="en-US" dirty="0">
                <a:latin typeface="Arial Narrow" pitchFamily="34" charset="0"/>
              </a:rPr>
              <a:t>The </a:t>
            </a:r>
            <a:r>
              <a:rPr lang="en-US" b="1" dirty="0">
                <a:latin typeface="Arial Narrow" pitchFamily="34" charset="0"/>
              </a:rPr>
              <a:t>all()</a:t>
            </a:r>
            <a:r>
              <a:rPr lang="en-US" dirty="0">
                <a:latin typeface="Arial Narrow" pitchFamily="34" charset="0"/>
              </a:rPr>
              <a:t> and </a:t>
            </a:r>
            <a:r>
              <a:rPr lang="en-US" b="1" dirty="0">
                <a:latin typeface="Arial Narrow" pitchFamily="34" charset="0"/>
              </a:rPr>
              <a:t>any()</a:t>
            </a:r>
            <a:r>
              <a:rPr lang="en-US" dirty="0">
                <a:latin typeface="Arial Narrow" pitchFamily="34" charset="0"/>
              </a:rPr>
              <a:t> functions in R can be used to check if all or any values in a vector evaluate to TRUE for some expression.</a:t>
            </a:r>
          </a:p>
          <a:p>
            <a:r>
              <a:rPr lang="en-US" dirty="0">
                <a:latin typeface="Arial Narrow" pitchFamily="34" charset="0"/>
              </a:rPr>
              <a:t>We can use the following </a:t>
            </a:r>
            <a:r>
              <a:rPr lang="en-US" b="1" dirty="0">
                <a:latin typeface="Arial Narrow" pitchFamily="34" charset="0"/>
              </a:rPr>
              <a:t>all()</a:t>
            </a:r>
            <a:r>
              <a:rPr lang="en-US" dirty="0">
                <a:latin typeface="Arial Narrow" pitchFamily="34" charset="0"/>
              </a:rPr>
              <a:t> and </a:t>
            </a:r>
            <a:r>
              <a:rPr lang="en-US" b="1" dirty="0">
                <a:latin typeface="Arial Narrow" pitchFamily="34" charset="0"/>
              </a:rPr>
              <a:t>any()</a:t>
            </a:r>
            <a:r>
              <a:rPr lang="en-US" dirty="0">
                <a:latin typeface="Arial Narrow" pitchFamily="34" charset="0"/>
              </a:rPr>
              <a:t> functions to check if all or any values in a vector are less than 10:</a:t>
            </a:r>
          </a:p>
        </p:txBody>
      </p:sp>
      <p:pic>
        <p:nvPicPr>
          <p:cNvPr id="45059" name="Picture 3"/>
          <p:cNvPicPr>
            <a:picLocks noChangeAspect="1" noChangeArrowheads="1"/>
          </p:cNvPicPr>
          <p:nvPr/>
        </p:nvPicPr>
        <p:blipFill>
          <a:blip r:embed="rId2"/>
          <a:srcRect/>
          <a:stretch>
            <a:fillRect/>
          </a:stretch>
        </p:blipFill>
        <p:spPr bwMode="auto">
          <a:xfrm>
            <a:off x="0" y="3529584"/>
            <a:ext cx="3759835" cy="3154680"/>
          </a:xfrm>
          <a:prstGeom prst="rect">
            <a:avLst/>
          </a:prstGeom>
          <a:noFill/>
          <a:ln w="9525">
            <a:noFill/>
            <a:miter lim="800000"/>
            <a:headEnd/>
            <a:tailEnd/>
          </a:ln>
          <a:effectLst/>
        </p:spPr>
      </p:pic>
      <p:sp>
        <p:nvSpPr>
          <p:cNvPr id="6" name="Rectangle 5"/>
          <p:cNvSpPr/>
          <p:nvPr/>
        </p:nvSpPr>
        <p:spPr>
          <a:xfrm>
            <a:off x="3980688" y="4657636"/>
            <a:ext cx="6096000" cy="1200329"/>
          </a:xfrm>
          <a:prstGeom prst="rect">
            <a:avLst/>
          </a:prstGeom>
        </p:spPr>
        <p:txBody>
          <a:bodyPr>
            <a:spAutoFit/>
          </a:bodyPr>
          <a:lstStyle/>
          <a:p>
            <a:pPr>
              <a:buFont typeface="Arial" pitchFamily="34" charset="0"/>
              <a:buChar char="•"/>
            </a:pPr>
            <a:r>
              <a:rPr lang="en-US" dirty="0"/>
              <a:t>The </a:t>
            </a:r>
            <a:r>
              <a:rPr lang="en-US" b="1" dirty="0"/>
              <a:t>all()</a:t>
            </a:r>
            <a:r>
              <a:rPr lang="en-US" dirty="0"/>
              <a:t> function evaluates to </a:t>
            </a:r>
            <a:r>
              <a:rPr lang="en-US" b="1" dirty="0"/>
              <a:t>FALSE</a:t>
            </a:r>
            <a:r>
              <a:rPr lang="en-US" dirty="0"/>
              <a:t> because not all values in the vector are less than 10.</a:t>
            </a:r>
          </a:p>
          <a:p>
            <a:pPr>
              <a:buFont typeface="Arial" pitchFamily="34" charset="0"/>
              <a:buChar char="•"/>
            </a:pPr>
            <a:r>
              <a:rPr lang="en-US" dirty="0"/>
              <a:t>The </a:t>
            </a:r>
            <a:r>
              <a:rPr lang="en-US" b="1" dirty="0"/>
              <a:t>any()</a:t>
            </a:r>
            <a:r>
              <a:rPr lang="en-US" dirty="0"/>
              <a:t> function evaluates to </a:t>
            </a:r>
            <a:r>
              <a:rPr lang="en-US" b="1" dirty="0"/>
              <a:t>TRUE</a:t>
            </a:r>
            <a:r>
              <a:rPr lang="en-US" dirty="0"/>
              <a:t> because at least one value in the vector is less than 10.</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latin typeface="Arial Narrow" pitchFamily="34" charset="0"/>
              </a:rPr>
              <a:t>Vectorized</a:t>
            </a:r>
            <a:r>
              <a:rPr lang="en-US" b="1" dirty="0">
                <a:latin typeface="Arial Narrow" pitchFamily="34" charset="0"/>
              </a:rPr>
              <a:t> operations</a:t>
            </a:r>
          </a:p>
        </p:txBody>
      </p:sp>
      <p:sp>
        <p:nvSpPr>
          <p:cNvPr id="3" name="Content Placeholder 2"/>
          <p:cNvSpPr>
            <a:spLocks noGrp="1"/>
          </p:cNvSpPr>
          <p:nvPr>
            <p:ph idx="1"/>
          </p:nvPr>
        </p:nvSpPr>
        <p:spPr/>
        <p:txBody>
          <a:bodyPr>
            <a:normAutofit fontScale="92500"/>
          </a:bodyPr>
          <a:lstStyle/>
          <a:p>
            <a:pPr algn="just"/>
            <a:r>
              <a:rPr lang="en-US" dirty="0">
                <a:latin typeface="Arial Narrow" pitchFamily="34" charset="0"/>
              </a:rPr>
              <a:t>Suppose we have a function f() that we wish to apply to all elements of a vector x. </a:t>
            </a:r>
          </a:p>
          <a:p>
            <a:pPr algn="just"/>
            <a:r>
              <a:rPr lang="en-US" dirty="0">
                <a:latin typeface="Arial Narrow" pitchFamily="34" charset="0"/>
              </a:rPr>
              <a:t>In many cases, we can accomplish this by simply calling f() on x itself. </a:t>
            </a:r>
          </a:p>
          <a:p>
            <a:pPr algn="just"/>
            <a:r>
              <a:rPr lang="en-US" dirty="0">
                <a:latin typeface="Arial Narrow" pitchFamily="34" charset="0"/>
              </a:rPr>
              <a:t>This can really simplify our code and, moreover, give us a dramatic performance increase of hundreds fold or more.</a:t>
            </a:r>
          </a:p>
          <a:p>
            <a:pPr algn="just"/>
            <a:r>
              <a:rPr lang="en-US" dirty="0">
                <a:latin typeface="Arial Narrow" pitchFamily="34" charset="0"/>
              </a:rPr>
              <a:t>One of the most effective ways to achieve speed in R code is to use operations that are </a:t>
            </a:r>
            <a:r>
              <a:rPr lang="en-US" i="1" dirty="0" err="1">
                <a:latin typeface="Arial Narrow" pitchFamily="34" charset="0"/>
              </a:rPr>
              <a:t>vectorized</a:t>
            </a:r>
            <a:r>
              <a:rPr lang="en-US" dirty="0">
                <a:latin typeface="Arial Narrow" pitchFamily="34" charset="0"/>
              </a:rPr>
              <a:t>, meaning that a function applied to a vector is actually applied individually to each element.</a:t>
            </a:r>
          </a:p>
          <a:p>
            <a:pPr algn="just"/>
            <a:r>
              <a:rPr lang="en-US" b="1" dirty="0" err="1">
                <a:latin typeface="Arial Narrow" pitchFamily="34" charset="0"/>
              </a:rPr>
              <a:t>Vectorized</a:t>
            </a:r>
            <a:r>
              <a:rPr lang="en-US" b="1" dirty="0">
                <a:latin typeface="Arial Narrow" pitchFamily="34" charset="0"/>
              </a:rPr>
              <a:t> Operations in R</a:t>
            </a:r>
            <a:r>
              <a:rPr lang="en-US" dirty="0">
                <a:latin typeface="Arial Narrow" pitchFamily="34" charset="0"/>
              </a:rPr>
              <a:t>—which allow you to perform operations on entire datasets at once, without the need for explicit loops. </a:t>
            </a:r>
            <a:r>
              <a:rPr lang="en-US" dirty="0" err="1">
                <a:latin typeface="Arial Narrow" pitchFamily="34" charset="0"/>
              </a:rPr>
              <a:t>Vectorization</a:t>
            </a:r>
            <a:r>
              <a:rPr lang="en-US" dirty="0">
                <a:latin typeface="Arial Narrow" pitchFamily="34" charset="0"/>
              </a:rPr>
              <a:t> is a powerful feature in R that makes your code run faster, cleaner, and more efficient.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Vector In, Vector Out</a:t>
            </a:r>
          </a:p>
          <a:p>
            <a:endParaRPr lang="en-US" dirty="0"/>
          </a:p>
        </p:txBody>
      </p:sp>
      <p:pic>
        <p:nvPicPr>
          <p:cNvPr id="46082" name="Picture 2"/>
          <p:cNvPicPr>
            <a:picLocks noChangeAspect="1" noChangeArrowheads="1"/>
          </p:cNvPicPr>
          <p:nvPr/>
        </p:nvPicPr>
        <p:blipFill>
          <a:blip r:embed="rId2"/>
          <a:srcRect/>
          <a:stretch>
            <a:fillRect/>
          </a:stretch>
        </p:blipFill>
        <p:spPr bwMode="auto">
          <a:xfrm>
            <a:off x="1244791" y="2475167"/>
            <a:ext cx="9459912" cy="3114675"/>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b="1" dirty="0"/>
              <a:t>Why </a:t>
            </a:r>
            <a:r>
              <a:rPr lang="en-US" b="1" dirty="0" err="1"/>
              <a:t>Vectorization</a:t>
            </a:r>
            <a:r>
              <a:rPr lang="en-US" b="1" dirty="0"/>
              <a:t> is Better Than Loops in R</a:t>
            </a:r>
          </a:p>
          <a:p>
            <a:r>
              <a:rPr lang="en-US" b="1" dirty="0"/>
              <a:t>1. Speed and Efficiency</a:t>
            </a:r>
          </a:p>
          <a:p>
            <a:r>
              <a:rPr lang="en-US" dirty="0"/>
              <a:t>R is designed to operate on entire vectors, matrices, and data frames at once. When you use </a:t>
            </a:r>
            <a:r>
              <a:rPr lang="en-US" dirty="0" err="1"/>
              <a:t>vectorized</a:t>
            </a:r>
            <a:r>
              <a:rPr lang="en-US" dirty="0"/>
              <a:t> operations, R processes the data in </a:t>
            </a:r>
            <a:r>
              <a:rPr lang="en-US" b="1" dirty="0"/>
              <a:t>native C</a:t>
            </a:r>
            <a:r>
              <a:rPr lang="en-US" dirty="0"/>
              <a:t> code, which is much faster than processing data element by element through loops.</a:t>
            </a:r>
          </a:p>
          <a:p>
            <a:r>
              <a:rPr lang="en-US" b="1" dirty="0"/>
              <a:t>2. Less Memory Usage</a:t>
            </a:r>
          </a:p>
          <a:p>
            <a:r>
              <a:rPr lang="en-US" dirty="0"/>
              <a:t>Loops create intermediate copies of objects at each iteration, which can consume a lot of memory, especially with large datasets. </a:t>
            </a:r>
            <a:r>
              <a:rPr lang="en-US" dirty="0" err="1"/>
              <a:t>Vectorized</a:t>
            </a:r>
            <a:r>
              <a:rPr lang="en-US" dirty="0"/>
              <a:t> operations avoid this by operating on entire objects without creating copies.</a:t>
            </a:r>
          </a:p>
          <a:p>
            <a:r>
              <a:rPr lang="en-US" b="1" dirty="0"/>
              <a:t>3. Cleaner, More Readable Code</a:t>
            </a:r>
          </a:p>
          <a:p>
            <a:r>
              <a:rPr lang="en-US" dirty="0"/>
              <a:t>Using </a:t>
            </a:r>
            <a:r>
              <a:rPr lang="en-US" dirty="0" err="1"/>
              <a:t>vectorized</a:t>
            </a:r>
            <a:r>
              <a:rPr lang="en-US" dirty="0"/>
              <a:t> operations makes your code more concise and easier to understand. It reduces the need for cumbersome for or while loops, leading to cleaner, more readable scripts.</a:t>
            </a:r>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25625"/>
            <a:ext cx="6230112" cy="4351338"/>
          </a:xfrm>
        </p:spPr>
        <p:txBody>
          <a:bodyPr/>
          <a:lstStyle/>
          <a:p>
            <a:pPr algn="just"/>
            <a:r>
              <a:rPr lang="en-US" b="1" dirty="0">
                <a:latin typeface="Arial Narrow" pitchFamily="34" charset="0"/>
              </a:rPr>
              <a:t>How to Avoid Loops with </a:t>
            </a:r>
            <a:r>
              <a:rPr lang="en-US" b="1" dirty="0" err="1">
                <a:latin typeface="Arial Narrow" pitchFamily="34" charset="0"/>
              </a:rPr>
              <a:t>Vectorized</a:t>
            </a:r>
            <a:r>
              <a:rPr lang="en-US" b="1" dirty="0">
                <a:latin typeface="Arial Narrow" pitchFamily="34" charset="0"/>
              </a:rPr>
              <a:t> Operations</a:t>
            </a:r>
          </a:p>
          <a:p>
            <a:pPr algn="just"/>
            <a:r>
              <a:rPr lang="en-US" b="1" dirty="0">
                <a:latin typeface="Arial Narrow" pitchFamily="34" charset="0"/>
              </a:rPr>
              <a:t>1. Basic Arithmetic Operations</a:t>
            </a:r>
          </a:p>
          <a:p>
            <a:pPr algn="just"/>
            <a:r>
              <a:rPr lang="en-US" dirty="0">
                <a:latin typeface="Arial Narrow" pitchFamily="34" charset="0"/>
              </a:rPr>
              <a:t>Instead of using a loop to perform an operation on each element of a vector, you can directly apply the operation to the entire vector.</a:t>
            </a:r>
          </a:p>
          <a:p>
            <a:endParaRPr lang="en-US" dirty="0"/>
          </a:p>
        </p:txBody>
      </p:sp>
      <p:pic>
        <p:nvPicPr>
          <p:cNvPr id="47106" name="Picture 2"/>
          <p:cNvPicPr>
            <a:picLocks noChangeAspect="1" noChangeArrowheads="1"/>
          </p:cNvPicPr>
          <p:nvPr/>
        </p:nvPicPr>
        <p:blipFill>
          <a:blip r:embed="rId2"/>
          <a:srcRect/>
          <a:stretch>
            <a:fillRect/>
          </a:stretch>
        </p:blipFill>
        <p:spPr bwMode="auto">
          <a:xfrm>
            <a:off x="7839075" y="0"/>
            <a:ext cx="4352925" cy="6840537"/>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9328" y="582041"/>
            <a:ext cx="5059680" cy="4351338"/>
          </a:xfrm>
        </p:spPr>
        <p:txBody>
          <a:bodyPr/>
          <a:lstStyle/>
          <a:p>
            <a:pPr algn="just"/>
            <a:r>
              <a:rPr lang="en-US" b="1" dirty="0"/>
              <a:t>Using apply() Functions for Matrices and Data Frames</a:t>
            </a:r>
          </a:p>
          <a:p>
            <a:pPr algn="just"/>
            <a:r>
              <a:rPr lang="en-US" dirty="0"/>
              <a:t>If you’re working with a matrix or data frame, the apply() function can help you avoid loops. It applies a function to the rows or columns of a matrix or data frame, providing a concise, efficient way to perform operations.</a:t>
            </a:r>
          </a:p>
          <a:p>
            <a:endParaRPr lang="en-US" dirty="0"/>
          </a:p>
        </p:txBody>
      </p:sp>
      <p:pic>
        <p:nvPicPr>
          <p:cNvPr id="48130" name="Picture 2"/>
          <p:cNvPicPr>
            <a:picLocks noChangeAspect="1" noChangeArrowheads="1"/>
          </p:cNvPicPr>
          <p:nvPr/>
        </p:nvPicPr>
        <p:blipFill>
          <a:blip r:embed="rId2"/>
          <a:srcRect/>
          <a:stretch>
            <a:fillRect/>
          </a:stretch>
        </p:blipFill>
        <p:spPr bwMode="auto">
          <a:xfrm>
            <a:off x="7115302" y="-128016"/>
            <a:ext cx="4505325" cy="6821487"/>
          </a:xfrm>
          <a:prstGeom prst="rect">
            <a:avLst/>
          </a:prstGeom>
          <a:noFill/>
          <a:ln w="9525">
            <a:noFill/>
            <a:miter lim="800000"/>
            <a:headEnd/>
            <a:tailEnd/>
          </a:ln>
          <a:effectLst/>
        </p:spPr>
      </p:pic>
      <p:pic>
        <p:nvPicPr>
          <p:cNvPr id="4098" name="Picture 2"/>
          <p:cNvPicPr>
            <a:picLocks noChangeAspect="1" noChangeArrowheads="1"/>
          </p:cNvPicPr>
          <p:nvPr/>
        </p:nvPicPr>
        <p:blipFill>
          <a:blip r:embed="rId3"/>
          <a:srcRect/>
          <a:stretch>
            <a:fillRect/>
          </a:stretch>
        </p:blipFill>
        <p:spPr bwMode="auto">
          <a:xfrm>
            <a:off x="2532888" y="4886973"/>
            <a:ext cx="3921379" cy="1971027"/>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1026" name="Picture 2"/>
          <p:cNvPicPr>
            <a:picLocks noChangeAspect="1" noChangeArrowheads="1"/>
          </p:cNvPicPr>
          <p:nvPr/>
        </p:nvPicPr>
        <p:blipFill>
          <a:blip r:embed="rId2"/>
          <a:srcRect/>
          <a:stretch>
            <a:fillRect/>
          </a:stretch>
        </p:blipFill>
        <p:spPr bwMode="auto">
          <a:xfrm>
            <a:off x="2225112" y="1577340"/>
            <a:ext cx="8258104" cy="3548063"/>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2480" y="1825625"/>
            <a:ext cx="5855208" cy="4351338"/>
          </a:xfrm>
        </p:spPr>
        <p:txBody>
          <a:bodyPr/>
          <a:lstStyle/>
          <a:p>
            <a:r>
              <a:rPr lang="en-US" b="1" dirty="0"/>
              <a:t>Using </a:t>
            </a:r>
            <a:r>
              <a:rPr lang="en-US" b="1" dirty="0" err="1"/>
              <a:t>dplyr</a:t>
            </a:r>
            <a:r>
              <a:rPr lang="en-US" b="1" dirty="0"/>
              <a:t> for Data Wrangling</a:t>
            </a:r>
          </a:p>
          <a:p>
            <a:pPr algn="just"/>
            <a:r>
              <a:rPr lang="en-US" dirty="0"/>
              <a:t>For data manipulation tasks such as filtering, mutating, and summarizing data, </a:t>
            </a:r>
            <a:r>
              <a:rPr lang="en-US" dirty="0" err="1"/>
              <a:t>dplyr</a:t>
            </a:r>
            <a:r>
              <a:rPr lang="en-US" dirty="0"/>
              <a:t> provides a set of highly optimized functions that can replace loops.</a:t>
            </a:r>
          </a:p>
          <a:p>
            <a:endParaRPr lang="en-US" dirty="0"/>
          </a:p>
        </p:txBody>
      </p:sp>
      <p:pic>
        <p:nvPicPr>
          <p:cNvPr id="49154" name="Picture 2"/>
          <p:cNvPicPr>
            <a:picLocks noChangeAspect="1" noChangeArrowheads="1"/>
          </p:cNvPicPr>
          <p:nvPr/>
        </p:nvPicPr>
        <p:blipFill>
          <a:blip r:embed="rId2"/>
          <a:srcRect/>
          <a:stretch>
            <a:fillRect/>
          </a:stretch>
        </p:blipFill>
        <p:spPr bwMode="auto">
          <a:xfrm>
            <a:off x="6533682" y="292608"/>
            <a:ext cx="5658318" cy="5769864"/>
          </a:xfrm>
          <a:prstGeom prst="rect">
            <a:avLst/>
          </a:prstGeom>
          <a:noFill/>
          <a:ln w="9525">
            <a:noFill/>
            <a:miter lim="800000"/>
            <a:headEnd/>
            <a:tailEnd/>
          </a:ln>
          <a:effectLst/>
        </p:spPr>
      </p:pic>
      <p:sp>
        <p:nvSpPr>
          <p:cNvPr id="49155" name="Rectangle 3"/>
          <p:cNvSpPr>
            <a:spLocks noChangeArrowheads="1"/>
          </p:cNvSpPr>
          <p:nvPr/>
        </p:nvSpPr>
        <p:spPr bwMode="auto">
          <a:xfrm>
            <a:off x="713232" y="5285232"/>
            <a:ext cx="5206801" cy="15696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Narrow" pitchFamily="34" charset="0"/>
                <a:cs typeface="Arial" pitchFamily="34" charset="0"/>
              </a:rPr>
              <a:t>The filter() function from </a:t>
            </a:r>
            <a:r>
              <a:rPr kumimoji="0" lang="en-US" sz="2400" b="1" i="0" u="none" strike="noStrike" cap="none" normalizeH="0" baseline="0" dirty="0" err="1">
                <a:ln>
                  <a:noFill/>
                </a:ln>
                <a:solidFill>
                  <a:schemeClr val="tx1"/>
                </a:solidFill>
                <a:effectLst/>
                <a:latin typeface="Arial Narrow" pitchFamily="34" charset="0"/>
                <a:cs typeface="Arial" pitchFamily="34" charset="0"/>
              </a:rPr>
              <a:t>dplyr</a:t>
            </a:r>
            <a:r>
              <a:rPr kumimoji="0" lang="en-US" sz="2400" b="1" i="0" u="none" strike="noStrike" cap="none" normalizeH="0" baseline="0" dirty="0">
                <a:ln>
                  <a:noFill/>
                </a:ln>
                <a:solidFill>
                  <a:schemeClr val="tx1"/>
                </a:solidFill>
                <a:effectLst/>
                <a:latin typeface="Arial Narrow" pitchFamily="34" charset="0"/>
                <a:cs typeface="Arial" pitchFamily="34" charset="0"/>
              </a:rPr>
              <a:t> performs the operation on the entire dataset at once, without the need for looping through rows.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a:srcRect/>
          <a:stretch>
            <a:fillRect/>
          </a:stretch>
        </p:blipFill>
        <p:spPr bwMode="auto">
          <a:xfrm>
            <a:off x="2459617" y="2011680"/>
            <a:ext cx="8207431" cy="2407920"/>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srcRect/>
          <a:stretch>
            <a:fillRect/>
          </a:stretch>
        </p:blipFill>
        <p:spPr bwMode="auto">
          <a:xfrm>
            <a:off x="1663486" y="1249680"/>
            <a:ext cx="8259116" cy="4061460"/>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srcRect/>
          <a:stretch>
            <a:fillRect/>
          </a:stretch>
        </p:blipFill>
        <p:spPr bwMode="auto">
          <a:xfrm>
            <a:off x="2026921" y="1079833"/>
            <a:ext cx="7729538" cy="4682792"/>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Filtering</a:t>
            </a:r>
          </a:p>
        </p:txBody>
      </p:sp>
      <p:sp>
        <p:nvSpPr>
          <p:cNvPr id="3" name="Content Placeholder 2"/>
          <p:cNvSpPr>
            <a:spLocks noGrp="1"/>
          </p:cNvSpPr>
          <p:nvPr>
            <p:ph idx="1"/>
          </p:nvPr>
        </p:nvSpPr>
        <p:spPr/>
        <p:txBody>
          <a:bodyPr>
            <a:normAutofit lnSpcReduction="10000"/>
          </a:bodyPr>
          <a:lstStyle/>
          <a:p>
            <a:r>
              <a:rPr lang="en-US" dirty="0"/>
              <a:t>Filtering is the act of choosing a subset of your current data that fits some criteria. </a:t>
            </a:r>
          </a:p>
          <a:p>
            <a:r>
              <a:rPr lang="en-US" dirty="0"/>
              <a:t>In R, this is the act of selecting/discarding certain rows from a </a:t>
            </a:r>
            <a:r>
              <a:rPr lang="en-US" dirty="0" err="1"/>
              <a:t>dataframe</a:t>
            </a:r>
            <a:r>
              <a:rPr lang="en-US" dirty="0"/>
              <a:t>.</a:t>
            </a:r>
          </a:p>
          <a:p>
            <a:r>
              <a:rPr lang="en-US" dirty="0"/>
              <a:t>The filter method in R is used to select specific rows from a data frame that meet certain conditions. </a:t>
            </a:r>
          </a:p>
          <a:p>
            <a:r>
              <a:rPr lang="en-US" dirty="0"/>
              <a:t>It helps us work with only the data we need, making analysis easier and faster. </a:t>
            </a:r>
          </a:p>
          <a:p>
            <a:r>
              <a:rPr lang="en-US" dirty="0"/>
              <a:t>We use it when we want to find rows that match some rules or values.</a:t>
            </a:r>
          </a:p>
        </p:txBody>
      </p:sp>
      <p:pic>
        <p:nvPicPr>
          <p:cNvPr id="62466" name="Picture 2"/>
          <p:cNvPicPr>
            <a:picLocks noChangeAspect="1" noChangeArrowheads="1"/>
          </p:cNvPicPr>
          <p:nvPr/>
        </p:nvPicPr>
        <p:blipFill>
          <a:blip r:embed="rId2"/>
          <a:srcRect/>
          <a:stretch>
            <a:fillRect/>
          </a:stretch>
        </p:blipFill>
        <p:spPr bwMode="auto">
          <a:xfrm>
            <a:off x="4064826" y="5423535"/>
            <a:ext cx="4552950" cy="1314450"/>
          </a:xfrm>
          <a:prstGeom prst="rect">
            <a:avLst/>
          </a:prstGeom>
          <a:noFill/>
          <a:ln w="9525">
            <a:noFill/>
            <a:miter lim="800000"/>
            <a:headEnd/>
            <a:tailEnd/>
          </a:ln>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3608" y="481457"/>
            <a:ext cx="10515600" cy="4351338"/>
          </a:xfrm>
        </p:spPr>
        <p:txBody>
          <a:bodyPr/>
          <a:lstStyle/>
          <a:p>
            <a:r>
              <a:rPr lang="en-US" b="1" dirty="0"/>
              <a:t>Implementation of filter Method</a:t>
            </a:r>
          </a:p>
          <a:p>
            <a:pPr>
              <a:buNone/>
            </a:pPr>
            <a:r>
              <a:rPr lang="en-US" b="1" dirty="0"/>
              <a:t>1. Install then load the </a:t>
            </a:r>
            <a:r>
              <a:rPr lang="en-US" b="1" dirty="0" err="1"/>
              <a:t>dplyr</a:t>
            </a:r>
            <a:r>
              <a:rPr lang="en-US" b="1" dirty="0"/>
              <a:t> package</a:t>
            </a:r>
          </a:p>
          <a:p>
            <a:r>
              <a:rPr lang="en-US" dirty="0"/>
              <a:t>We first install and then load the </a:t>
            </a:r>
            <a:r>
              <a:rPr lang="en-US" dirty="0" err="1"/>
              <a:t>dplyr</a:t>
            </a:r>
            <a:r>
              <a:rPr lang="en-US" dirty="0"/>
              <a:t> package to use the filter method.</a:t>
            </a:r>
          </a:p>
          <a:p>
            <a:r>
              <a:rPr lang="en-US" b="1" dirty="0" err="1"/>
              <a:t>install.packages</a:t>
            </a:r>
            <a:r>
              <a:rPr lang="en-US" dirty="0"/>
              <a:t>: This function is used to install external R packages.</a:t>
            </a:r>
          </a:p>
          <a:p>
            <a:r>
              <a:rPr lang="en-US" b="1" dirty="0"/>
              <a:t>library</a:t>
            </a:r>
            <a:r>
              <a:rPr lang="en-US" dirty="0"/>
              <a:t>: This is used to load an installed package so we can use its functions.</a:t>
            </a:r>
          </a:p>
          <a:p>
            <a:r>
              <a:rPr lang="en-US" b="1" dirty="0" err="1"/>
              <a:t>dplyr</a:t>
            </a:r>
            <a:r>
              <a:rPr lang="en-US" dirty="0"/>
              <a:t>: A package in R that helps in data manipulation and filtering.</a:t>
            </a:r>
          </a:p>
          <a:p>
            <a:endParaRPr lang="en-US" dirty="0"/>
          </a:p>
        </p:txBody>
      </p:sp>
      <p:pic>
        <p:nvPicPr>
          <p:cNvPr id="63490" name="Picture 2"/>
          <p:cNvPicPr>
            <a:picLocks noChangeAspect="1" noChangeArrowheads="1"/>
          </p:cNvPicPr>
          <p:nvPr/>
        </p:nvPicPr>
        <p:blipFill>
          <a:blip r:embed="rId2"/>
          <a:srcRect/>
          <a:stretch>
            <a:fillRect/>
          </a:stretch>
        </p:blipFill>
        <p:spPr bwMode="auto">
          <a:xfrm>
            <a:off x="3694303" y="4629722"/>
            <a:ext cx="4512807" cy="1414462"/>
          </a:xfrm>
          <a:prstGeom prst="rect">
            <a:avLst/>
          </a:prstGeom>
          <a:noFill/>
          <a:ln w="9525">
            <a:noFill/>
            <a:miter lim="800000"/>
            <a:headEnd/>
            <a:tailEnd/>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2. </a:t>
            </a:r>
            <a:r>
              <a:rPr lang="en-US" b="1" dirty="0"/>
              <a:t>2. Creating a sample dataset</a:t>
            </a:r>
          </a:p>
          <a:p>
            <a:r>
              <a:rPr lang="en-US" dirty="0"/>
              <a:t>We create a simple data frame of employees using basic R functions.</a:t>
            </a:r>
          </a:p>
          <a:p>
            <a:r>
              <a:rPr lang="en-US" b="1" dirty="0" err="1"/>
              <a:t>data.frame</a:t>
            </a:r>
            <a:r>
              <a:rPr lang="en-US" dirty="0"/>
              <a:t>: Creates a table-like structure where we can store related data in columns.</a:t>
            </a:r>
          </a:p>
          <a:p>
            <a:r>
              <a:rPr lang="en-US" b="1" dirty="0"/>
              <a:t>c</a:t>
            </a:r>
            <a:r>
              <a:rPr lang="en-US" dirty="0"/>
              <a:t>: Combines multiple values into a single vector or list.</a:t>
            </a:r>
          </a:p>
          <a:p>
            <a:r>
              <a:rPr lang="en-US" b="1" dirty="0"/>
              <a:t>print</a:t>
            </a:r>
            <a:r>
              <a:rPr lang="en-US" dirty="0"/>
              <a:t>: Displays the data or output in the console.</a:t>
            </a:r>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4514" name="Picture 2"/>
          <p:cNvPicPr>
            <a:picLocks noChangeAspect="1" noChangeArrowheads="1"/>
          </p:cNvPicPr>
          <p:nvPr/>
        </p:nvPicPr>
        <p:blipFill>
          <a:blip r:embed="rId2"/>
          <a:srcRect/>
          <a:stretch>
            <a:fillRect/>
          </a:stretch>
        </p:blipFill>
        <p:spPr bwMode="auto">
          <a:xfrm>
            <a:off x="1592263" y="260350"/>
            <a:ext cx="9002712" cy="6335713"/>
          </a:xfrm>
          <a:prstGeom prst="rect">
            <a:avLst/>
          </a:prstGeom>
          <a:noFill/>
          <a:ln w="9525">
            <a:noFill/>
            <a:miter lim="800000"/>
            <a:headEnd/>
            <a:tailEnd/>
          </a:ln>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9912" y="1039241"/>
            <a:ext cx="10515600" cy="4351338"/>
          </a:xfrm>
        </p:spPr>
        <p:txBody>
          <a:bodyPr/>
          <a:lstStyle/>
          <a:p>
            <a:r>
              <a:rPr lang="en-US" b="1" dirty="0"/>
              <a:t>3. Filtering rows with one condition</a:t>
            </a:r>
          </a:p>
          <a:p>
            <a:r>
              <a:rPr lang="en-US" dirty="0"/>
              <a:t>We filter employees whose department is IT.</a:t>
            </a:r>
          </a:p>
          <a:p>
            <a:r>
              <a:rPr lang="en-US" b="1" dirty="0"/>
              <a:t>filter</a:t>
            </a:r>
            <a:r>
              <a:rPr lang="en-US" dirty="0"/>
              <a:t>: Selects only the rows that match the condition we give.</a:t>
            </a:r>
          </a:p>
          <a:p>
            <a:r>
              <a:rPr lang="en-US" b="1" dirty="0"/>
              <a:t>==</a:t>
            </a:r>
            <a:r>
              <a:rPr lang="en-US" dirty="0"/>
              <a:t>: Checks if two values are equal.</a:t>
            </a:r>
          </a:p>
          <a:p>
            <a:endParaRPr lang="en-US" dirty="0"/>
          </a:p>
        </p:txBody>
      </p:sp>
      <p:pic>
        <p:nvPicPr>
          <p:cNvPr id="65538" name="Picture 2"/>
          <p:cNvPicPr>
            <a:picLocks noChangeAspect="1" noChangeArrowheads="1"/>
          </p:cNvPicPr>
          <p:nvPr/>
        </p:nvPicPr>
        <p:blipFill>
          <a:blip r:embed="rId2"/>
          <a:srcRect/>
          <a:stretch>
            <a:fillRect/>
          </a:stretch>
        </p:blipFill>
        <p:spPr bwMode="auto">
          <a:xfrm>
            <a:off x="2520188" y="2994089"/>
            <a:ext cx="8097838" cy="3228975"/>
          </a:xfrm>
          <a:prstGeom prst="rect">
            <a:avLst/>
          </a:prstGeom>
          <a:noFill/>
          <a:ln w="9525">
            <a:noFill/>
            <a:miter lim="800000"/>
            <a:headEnd/>
            <a:tailEnd/>
          </a:ln>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92024"/>
            <a:ext cx="10515600" cy="5984939"/>
          </a:xfrm>
        </p:spPr>
        <p:txBody>
          <a:bodyPr/>
          <a:lstStyle/>
          <a:p>
            <a:r>
              <a:rPr lang="en-US" b="1" dirty="0"/>
              <a:t>4. Filtering rows with multiple conditions</a:t>
            </a:r>
          </a:p>
          <a:p>
            <a:r>
              <a:rPr lang="en-US" dirty="0"/>
              <a:t>We filter employees from Finance who have a salary more than 65000.</a:t>
            </a:r>
          </a:p>
          <a:p>
            <a:r>
              <a:rPr lang="en-US" b="1" dirty="0"/>
              <a:t>&amp;</a:t>
            </a:r>
            <a:r>
              <a:rPr lang="en-US" dirty="0"/>
              <a:t>: Means both conditions must be true.</a:t>
            </a:r>
          </a:p>
          <a:p>
            <a:r>
              <a:rPr lang="en-US" b="1" dirty="0"/>
              <a:t>&gt;</a:t>
            </a:r>
            <a:r>
              <a:rPr lang="en-US" dirty="0"/>
              <a:t>: Checks if a value is greater than the given number.</a:t>
            </a:r>
          </a:p>
          <a:p>
            <a:endParaRPr lang="en-US" dirty="0"/>
          </a:p>
        </p:txBody>
      </p:sp>
      <p:sp>
        <p:nvSpPr>
          <p:cNvPr id="4" name="Rectangle 3"/>
          <p:cNvSpPr/>
          <p:nvPr/>
        </p:nvSpPr>
        <p:spPr>
          <a:xfrm>
            <a:off x="826008" y="3360527"/>
            <a:ext cx="10823448" cy="707886"/>
          </a:xfrm>
          <a:prstGeom prst="rect">
            <a:avLst/>
          </a:prstGeom>
        </p:spPr>
        <p:txBody>
          <a:bodyPr wrap="square">
            <a:spAutoFit/>
          </a:bodyPr>
          <a:lstStyle/>
          <a:p>
            <a:r>
              <a:rPr lang="en-US" sz="2000" dirty="0" err="1">
                <a:latin typeface="Arial Narrow" pitchFamily="34" charset="0"/>
              </a:rPr>
              <a:t>high_paid_finance_employees</a:t>
            </a:r>
            <a:r>
              <a:rPr lang="en-US" sz="2000" dirty="0">
                <a:latin typeface="Arial Narrow" pitchFamily="34" charset="0"/>
              </a:rPr>
              <a:t> &lt;- filter(employees, Department == "Finance" &amp; Salary &gt; 65000)</a:t>
            </a:r>
          </a:p>
          <a:p>
            <a:r>
              <a:rPr lang="en-US" sz="2000" dirty="0">
                <a:latin typeface="Arial Narrow" pitchFamily="34" charset="0"/>
              </a:rPr>
              <a:t>print(</a:t>
            </a:r>
            <a:r>
              <a:rPr lang="en-US" sz="2000" dirty="0" err="1">
                <a:latin typeface="Arial Narrow" pitchFamily="34" charset="0"/>
              </a:rPr>
              <a:t>high_paid_finance_employees</a:t>
            </a:r>
            <a:r>
              <a:rPr lang="en-US" sz="2000" dirty="0">
                <a:latin typeface="Arial Narrow" pitchFamily="34" charset="0"/>
              </a:rPr>
              <a:t>)</a:t>
            </a:r>
          </a:p>
        </p:txBody>
      </p:sp>
      <p:pic>
        <p:nvPicPr>
          <p:cNvPr id="66562" name="Picture 2"/>
          <p:cNvPicPr>
            <a:picLocks noChangeAspect="1" noChangeArrowheads="1"/>
          </p:cNvPicPr>
          <p:nvPr/>
        </p:nvPicPr>
        <p:blipFill>
          <a:blip r:embed="rId2"/>
          <a:srcRect/>
          <a:stretch>
            <a:fillRect/>
          </a:stretch>
        </p:blipFill>
        <p:spPr bwMode="auto">
          <a:xfrm>
            <a:off x="4625023" y="4431602"/>
            <a:ext cx="7326312" cy="1762125"/>
          </a:xfrm>
          <a:prstGeom prst="rect">
            <a:avLst/>
          </a:prstGeom>
          <a:noFill/>
          <a:ln w="9525">
            <a:noFill/>
            <a:miter lim="800000"/>
            <a:headEnd/>
            <a:tailEnd/>
          </a:ln>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2168" y="609473"/>
            <a:ext cx="10515600" cy="4351338"/>
          </a:xfrm>
        </p:spPr>
        <p:txBody>
          <a:bodyPr/>
          <a:lstStyle/>
          <a:p>
            <a:r>
              <a:rPr lang="en-US" b="1" dirty="0">
                <a:latin typeface="Arial Narrow" pitchFamily="34" charset="0"/>
              </a:rPr>
              <a:t>5. Filtering with or and in</a:t>
            </a:r>
          </a:p>
          <a:p>
            <a:r>
              <a:rPr lang="en-US" dirty="0">
                <a:latin typeface="Arial Narrow" pitchFamily="34" charset="0"/>
              </a:rPr>
              <a:t>We filter employees who are in either HR or IT </a:t>
            </a:r>
            <a:r>
              <a:rPr lang="en-US" dirty="0" err="1">
                <a:latin typeface="Arial Narrow" pitchFamily="34" charset="0"/>
              </a:rPr>
              <a:t>andalso</a:t>
            </a:r>
            <a:r>
              <a:rPr lang="en-US" dirty="0">
                <a:latin typeface="Arial Narrow" pitchFamily="34" charset="0"/>
              </a:rPr>
              <a:t> use %in% for filtering multiple values.</a:t>
            </a:r>
          </a:p>
          <a:p>
            <a:r>
              <a:rPr lang="en-US" b="1" dirty="0">
                <a:latin typeface="Arial Narrow" pitchFamily="34" charset="0"/>
              </a:rPr>
              <a:t>|</a:t>
            </a:r>
            <a:r>
              <a:rPr lang="en-US" dirty="0">
                <a:latin typeface="Arial Narrow" pitchFamily="34" charset="0"/>
              </a:rPr>
              <a:t>: Means either one of the conditions must be true.</a:t>
            </a:r>
          </a:p>
          <a:p>
            <a:r>
              <a:rPr lang="en-US" b="1" dirty="0">
                <a:latin typeface="Arial Narrow" pitchFamily="34" charset="0"/>
              </a:rPr>
              <a:t>%in%</a:t>
            </a:r>
            <a:r>
              <a:rPr lang="en-US" dirty="0">
                <a:latin typeface="Arial Narrow" pitchFamily="34" charset="0"/>
              </a:rPr>
              <a:t>: Checks if a value exists in a list of values.</a:t>
            </a:r>
          </a:p>
          <a:p>
            <a:r>
              <a:rPr lang="en-US" b="1" dirty="0">
                <a:latin typeface="Arial Narrow" pitchFamily="34" charset="0"/>
              </a:rPr>
              <a:t>%&gt;%</a:t>
            </a:r>
            <a:r>
              <a:rPr lang="en-US" dirty="0">
                <a:latin typeface="Arial Narrow" pitchFamily="34" charset="0"/>
              </a:rPr>
              <a:t>: Passes the output of one function to the next function.</a:t>
            </a:r>
          </a:p>
          <a:p>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7586" name="Picture 2"/>
          <p:cNvPicPr>
            <a:picLocks noChangeAspect="1" noChangeArrowheads="1"/>
          </p:cNvPicPr>
          <p:nvPr/>
        </p:nvPicPr>
        <p:blipFill>
          <a:blip r:embed="rId2"/>
          <a:srcRect/>
          <a:stretch>
            <a:fillRect/>
          </a:stretch>
        </p:blipFill>
        <p:spPr bwMode="auto">
          <a:xfrm>
            <a:off x="1849438" y="341313"/>
            <a:ext cx="8488362" cy="6173787"/>
          </a:xfrm>
          <a:prstGeom prst="rect">
            <a:avLst/>
          </a:prstGeom>
          <a:noFill/>
          <a:ln w="9525">
            <a:noFill/>
            <a:miter lim="800000"/>
            <a:headEnd/>
            <a:tailEnd/>
          </a:ln>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3587496" cy="4351338"/>
          </a:xfrm>
        </p:spPr>
        <p:txBody>
          <a:bodyPr>
            <a:normAutofit fontScale="77500" lnSpcReduction="20000"/>
          </a:bodyPr>
          <a:lstStyle/>
          <a:p>
            <a:r>
              <a:rPr lang="en-US" b="1" dirty="0">
                <a:latin typeface="Arial Narrow" pitchFamily="34" charset="0"/>
              </a:rPr>
              <a:t>Using </a:t>
            </a:r>
            <a:r>
              <a:rPr lang="en-US" b="1" dirty="0" err="1">
                <a:latin typeface="Arial Narrow" pitchFamily="34" charset="0"/>
              </a:rPr>
              <a:t>purrr</a:t>
            </a:r>
            <a:r>
              <a:rPr lang="en-US" b="1" dirty="0">
                <a:latin typeface="Arial Narrow" pitchFamily="34" charset="0"/>
              </a:rPr>
              <a:t> for List Operations</a:t>
            </a:r>
          </a:p>
          <a:p>
            <a:pPr algn="just"/>
            <a:r>
              <a:rPr lang="en-US" dirty="0">
                <a:latin typeface="Arial Narrow" pitchFamily="34" charset="0"/>
              </a:rPr>
              <a:t>The </a:t>
            </a:r>
            <a:r>
              <a:rPr lang="en-US" dirty="0" err="1">
                <a:latin typeface="Arial Narrow" pitchFamily="34" charset="0"/>
              </a:rPr>
              <a:t>purrr</a:t>
            </a:r>
            <a:r>
              <a:rPr lang="en-US" dirty="0">
                <a:latin typeface="Arial Narrow" pitchFamily="34" charset="0"/>
              </a:rPr>
              <a:t> package is part of the </a:t>
            </a:r>
            <a:r>
              <a:rPr lang="en-US" b="1" dirty="0" err="1">
                <a:latin typeface="Arial Narrow" pitchFamily="34" charset="0"/>
              </a:rPr>
              <a:t>Tidyverse</a:t>
            </a:r>
            <a:r>
              <a:rPr lang="en-US" dirty="0">
                <a:latin typeface="Arial Narrow" pitchFamily="34" charset="0"/>
              </a:rPr>
              <a:t> and provides a set of functions for functional programming. It is particularly useful for applying functions over lists or vectors in a concise, efficient manner.</a:t>
            </a:r>
          </a:p>
          <a:p>
            <a:pPr algn="just"/>
            <a:r>
              <a:rPr lang="en-US" dirty="0" err="1">
                <a:latin typeface="Arial Narrow" pitchFamily="34" charset="0"/>
              </a:rPr>
              <a:t>purrr</a:t>
            </a:r>
            <a:r>
              <a:rPr lang="en-US" dirty="0">
                <a:latin typeface="Arial Narrow" pitchFamily="34" charset="0"/>
              </a:rPr>
              <a:t>::map() is designed for this kind of task, and it internally uses </a:t>
            </a:r>
            <a:r>
              <a:rPr lang="en-US" dirty="0" err="1">
                <a:latin typeface="Arial Narrow" pitchFamily="34" charset="0"/>
              </a:rPr>
              <a:t>Vectorized</a:t>
            </a:r>
            <a:r>
              <a:rPr lang="en-US" dirty="0">
                <a:latin typeface="Arial Narrow" pitchFamily="34" charset="0"/>
              </a:rPr>
              <a:t> Operations in R, making the code more efficient and concise.</a:t>
            </a:r>
          </a:p>
        </p:txBody>
      </p:sp>
      <p:pic>
        <p:nvPicPr>
          <p:cNvPr id="55298" name="Picture 2"/>
          <p:cNvPicPr>
            <a:picLocks noChangeAspect="1" noChangeArrowheads="1"/>
          </p:cNvPicPr>
          <p:nvPr/>
        </p:nvPicPr>
        <p:blipFill>
          <a:blip r:embed="rId2"/>
          <a:srcRect/>
          <a:stretch>
            <a:fillRect/>
          </a:stretch>
        </p:blipFill>
        <p:spPr bwMode="auto">
          <a:xfrm>
            <a:off x="7096125" y="-163512"/>
            <a:ext cx="5095875" cy="6726237"/>
          </a:xfrm>
          <a:prstGeom prst="rect">
            <a:avLst/>
          </a:prstGeom>
          <a:noFill/>
          <a:ln w="9525">
            <a:noFill/>
            <a:miter lim="800000"/>
            <a:headEnd/>
            <a:tailEnd/>
          </a:ln>
          <a:effec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a:srcRect/>
          <a:stretch>
            <a:fillRect/>
          </a:stretch>
        </p:blipFill>
        <p:spPr bwMode="auto">
          <a:xfrm>
            <a:off x="1950720" y="685064"/>
            <a:ext cx="7712393" cy="5106136"/>
          </a:xfrm>
          <a:prstGeom prst="rect">
            <a:avLst/>
          </a:prstGeom>
          <a:noFill/>
          <a:ln w="9525">
            <a:noFill/>
            <a:miter lim="800000"/>
            <a:headEnd/>
            <a:tailEnd/>
          </a:ln>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146" name="Picture 2"/>
          <p:cNvPicPr>
            <a:picLocks noChangeAspect="1" noChangeArrowheads="1"/>
          </p:cNvPicPr>
          <p:nvPr/>
        </p:nvPicPr>
        <p:blipFill>
          <a:blip r:embed="rId2"/>
          <a:srcRect/>
          <a:stretch>
            <a:fillRect/>
          </a:stretch>
        </p:blipFill>
        <p:spPr bwMode="auto">
          <a:xfrm>
            <a:off x="2164081" y="312287"/>
            <a:ext cx="7886700" cy="5596071"/>
          </a:xfrm>
          <a:prstGeom prst="rect">
            <a:avLst/>
          </a:prstGeom>
          <a:noFill/>
          <a:ln w="9525">
            <a:noFill/>
            <a:miter lim="800000"/>
            <a:headEnd/>
            <a:tailEnd/>
          </a:ln>
          <a:effec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6408" y="847217"/>
            <a:ext cx="6458712" cy="4351338"/>
          </a:xfrm>
        </p:spPr>
        <p:txBody>
          <a:bodyPr>
            <a:normAutofit lnSpcReduction="10000"/>
          </a:bodyPr>
          <a:lstStyle/>
          <a:p>
            <a:pPr algn="just"/>
            <a:r>
              <a:rPr lang="en-US" b="1" dirty="0" err="1">
                <a:latin typeface="Arial Narrow" pitchFamily="34" charset="0"/>
              </a:rPr>
              <a:t>Vectorized</a:t>
            </a:r>
            <a:r>
              <a:rPr lang="en-US" b="1" dirty="0">
                <a:latin typeface="Arial Narrow" pitchFamily="34" charset="0"/>
              </a:rPr>
              <a:t> String Operations with </a:t>
            </a:r>
            <a:r>
              <a:rPr lang="en-US" b="1" dirty="0" err="1">
                <a:latin typeface="Arial Narrow" pitchFamily="34" charset="0"/>
              </a:rPr>
              <a:t>stringr</a:t>
            </a:r>
            <a:endParaRPr lang="en-US" b="1" dirty="0">
              <a:latin typeface="Arial Narrow" pitchFamily="34" charset="0"/>
            </a:endParaRPr>
          </a:p>
          <a:p>
            <a:pPr algn="just"/>
            <a:r>
              <a:rPr lang="en-US" dirty="0">
                <a:latin typeface="Arial Narrow" pitchFamily="34" charset="0"/>
              </a:rPr>
              <a:t>Another common use case where you might think of using loops is when working with strings. </a:t>
            </a:r>
          </a:p>
          <a:p>
            <a:pPr algn="just"/>
            <a:r>
              <a:rPr lang="en-US" dirty="0">
                <a:latin typeface="Arial Narrow" pitchFamily="34" charset="0"/>
              </a:rPr>
              <a:t>The </a:t>
            </a:r>
            <a:r>
              <a:rPr lang="en-US" dirty="0" err="1">
                <a:latin typeface="Arial Narrow" pitchFamily="34" charset="0"/>
              </a:rPr>
              <a:t>stringr</a:t>
            </a:r>
            <a:r>
              <a:rPr lang="en-US" dirty="0">
                <a:latin typeface="Arial Narrow" pitchFamily="34" charset="0"/>
              </a:rPr>
              <a:t> package offers </a:t>
            </a:r>
            <a:r>
              <a:rPr lang="en-US" dirty="0" err="1">
                <a:latin typeface="Arial Narrow" pitchFamily="34" charset="0"/>
              </a:rPr>
              <a:t>vectorized</a:t>
            </a:r>
            <a:r>
              <a:rPr lang="en-US" dirty="0">
                <a:latin typeface="Arial Narrow" pitchFamily="34" charset="0"/>
              </a:rPr>
              <a:t> functions for string manipulation, making it easier to work with character data.</a:t>
            </a:r>
          </a:p>
          <a:p>
            <a:pPr algn="just"/>
            <a:r>
              <a:rPr lang="en-US" b="1" dirty="0">
                <a:latin typeface="Arial Narrow" pitchFamily="34" charset="0"/>
              </a:rPr>
              <a:t>Why this is better:</a:t>
            </a:r>
            <a:r>
              <a:rPr lang="en-US" dirty="0">
                <a:latin typeface="Arial Narrow" pitchFamily="34" charset="0"/>
              </a:rPr>
              <a:t> </a:t>
            </a:r>
            <a:r>
              <a:rPr lang="en-US" dirty="0" err="1">
                <a:latin typeface="Arial Narrow" pitchFamily="34" charset="0"/>
              </a:rPr>
              <a:t>stringr</a:t>
            </a:r>
            <a:r>
              <a:rPr lang="en-US" dirty="0">
                <a:latin typeface="Arial Narrow" pitchFamily="34" charset="0"/>
              </a:rPr>
              <a:t> handles the </a:t>
            </a:r>
            <a:r>
              <a:rPr lang="en-US" dirty="0" err="1">
                <a:latin typeface="Arial Narrow" pitchFamily="34" charset="0"/>
              </a:rPr>
              <a:t>Vectorized</a:t>
            </a:r>
            <a:r>
              <a:rPr lang="en-US" dirty="0">
                <a:latin typeface="Arial Narrow" pitchFamily="34" charset="0"/>
              </a:rPr>
              <a:t> Operations in R string operations internally, offering a simple and efficient way to manipulate strings.</a:t>
            </a:r>
          </a:p>
          <a:p>
            <a:endParaRPr lang="en-US" dirty="0"/>
          </a:p>
        </p:txBody>
      </p:sp>
      <p:pic>
        <p:nvPicPr>
          <p:cNvPr id="56322" name="Picture 2"/>
          <p:cNvPicPr>
            <a:picLocks noChangeAspect="1" noChangeArrowheads="1"/>
          </p:cNvPicPr>
          <p:nvPr/>
        </p:nvPicPr>
        <p:blipFill>
          <a:blip r:embed="rId2"/>
          <a:srcRect/>
          <a:stretch>
            <a:fillRect/>
          </a:stretch>
        </p:blipFill>
        <p:spPr bwMode="auto">
          <a:xfrm>
            <a:off x="6775704" y="1372934"/>
            <a:ext cx="5177346" cy="3819525"/>
          </a:xfrm>
          <a:prstGeom prst="rect">
            <a:avLst/>
          </a:prstGeom>
          <a:noFill/>
          <a:ln w="9525">
            <a:noFill/>
            <a:miter lim="800000"/>
            <a:headEnd/>
            <a:tailEnd/>
          </a:ln>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7346" name="Picture 2"/>
          <p:cNvPicPr>
            <a:picLocks noChangeAspect="1" noChangeArrowheads="1"/>
          </p:cNvPicPr>
          <p:nvPr/>
        </p:nvPicPr>
        <p:blipFill>
          <a:blip r:embed="rId2"/>
          <a:srcRect/>
          <a:stretch>
            <a:fillRect/>
          </a:stretch>
        </p:blipFill>
        <p:spPr bwMode="auto">
          <a:xfrm>
            <a:off x="3090673" y="0"/>
            <a:ext cx="7232904" cy="6858001"/>
          </a:xfrm>
          <a:prstGeom prst="rect">
            <a:avLst/>
          </a:prstGeom>
          <a:noFill/>
          <a:ln w="9525">
            <a:noFill/>
            <a:miter lim="800000"/>
            <a:headEnd/>
            <a:tailEnd/>
          </a:ln>
          <a:effec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nvPr>
        </p:nvGraphicFramePr>
        <p:xfrm>
          <a:off x="2032000" y="2355374"/>
          <a:ext cx="8128000" cy="3291840"/>
        </p:xfrm>
        <a:graphic>
          <a:graphicData uri="http://schemas.openxmlformats.org/drawingml/2006/table">
            <a:tbl>
              <a:tblPr/>
              <a:tblGrid>
                <a:gridCol w="4064000">
                  <a:extLst>
                    <a:ext uri="{9D8B030D-6E8A-4147-A177-3AD203B41FA5}">
                      <a16:colId xmlns="" xmlns:a16="http://schemas.microsoft.com/office/drawing/2014/main" val="20000"/>
                    </a:ext>
                  </a:extLst>
                </a:gridCol>
                <a:gridCol w="4064000">
                  <a:extLst>
                    <a:ext uri="{9D8B030D-6E8A-4147-A177-3AD203B41FA5}">
                      <a16:colId xmlns="" xmlns:a16="http://schemas.microsoft.com/office/drawing/2014/main" val="20001"/>
                    </a:ext>
                  </a:extLst>
                </a:gridCol>
              </a:tblGrid>
              <a:tr h="0">
                <a:tc>
                  <a:txBody>
                    <a:bodyPr/>
                    <a:lstStyle/>
                    <a:p>
                      <a:r>
                        <a:rPr lang="en-US" b="1" dirty="0"/>
                        <a:t>Function</a:t>
                      </a:r>
                    </a:p>
                  </a:txBody>
                  <a:tcPr anchor="ctr">
                    <a:lnL>
                      <a:noFill/>
                    </a:lnL>
                    <a:lnR>
                      <a:noFill/>
                    </a:lnR>
                    <a:lnT>
                      <a:noFill/>
                    </a:lnT>
                    <a:lnB>
                      <a:noFill/>
                    </a:lnB>
                  </a:tcPr>
                </a:tc>
                <a:tc>
                  <a:txBody>
                    <a:bodyPr/>
                    <a:lstStyle/>
                    <a:p>
                      <a:r>
                        <a:rPr lang="en-US" b="1" dirty="0"/>
                        <a:t>Purpose</a:t>
                      </a:r>
                    </a:p>
                  </a:txBody>
                  <a:tcPr anchor="ctr">
                    <a:lnL>
                      <a:noFill/>
                    </a:lnL>
                    <a:lnR>
                      <a:noFill/>
                    </a:lnR>
                    <a:lnT>
                      <a:noFill/>
                    </a:lnT>
                    <a:lnB>
                      <a:noFill/>
                    </a:lnB>
                  </a:tcPr>
                </a:tc>
                <a:extLst>
                  <a:ext uri="{0D108BD9-81ED-4DB2-BD59-A6C34878D82A}">
                    <a16:rowId xmlns="" xmlns:a16="http://schemas.microsoft.com/office/drawing/2014/main" val="10000"/>
                  </a:ext>
                </a:extLst>
              </a:tr>
              <a:tr h="0">
                <a:tc>
                  <a:txBody>
                    <a:bodyPr/>
                    <a:lstStyle/>
                    <a:p>
                      <a:r>
                        <a:rPr lang="en-US"/>
                        <a:t>str_to_upper()</a:t>
                      </a:r>
                    </a:p>
                  </a:txBody>
                  <a:tcPr anchor="ctr">
                    <a:lnL>
                      <a:noFill/>
                    </a:lnL>
                    <a:lnR>
                      <a:noFill/>
                    </a:lnR>
                    <a:lnT>
                      <a:noFill/>
                    </a:lnT>
                    <a:lnB>
                      <a:noFill/>
                    </a:lnB>
                  </a:tcPr>
                </a:tc>
                <a:tc>
                  <a:txBody>
                    <a:bodyPr/>
                    <a:lstStyle/>
                    <a:p>
                      <a:r>
                        <a:rPr lang="en-US"/>
                        <a:t>Convert text to uppercase</a:t>
                      </a:r>
                    </a:p>
                  </a:txBody>
                  <a:tcPr anchor="ctr">
                    <a:lnL>
                      <a:noFill/>
                    </a:lnL>
                    <a:lnR>
                      <a:noFill/>
                    </a:lnR>
                    <a:lnT>
                      <a:noFill/>
                    </a:lnT>
                    <a:lnB>
                      <a:noFill/>
                    </a:lnB>
                  </a:tcPr>
                </a:tc>
                <a:extLst>
                  <a:ext uri="{0D108BD9-81ED-4DB2-BD59-A6C34878D82A}">
                    <a16:rowId xmlns="" xmlns:a16="http://schemas.microsoft.com/office/drawing/2014/main" val="10001"/>
                  </a:ext>
                </a:extLst>
              </a:tr>
              <a:tr h="0">
                <a:tc>
                  <a:txBody>
                    <a:bodyPr/>
                    <a:lstStyle/>
                    <a:p>
                      <a:r>
                        <a:rPr lang="en-US"/>
                        <a:t>str_to_lower()</a:t>
                      </a:r>
                    </a:p>
                  </a:txBody>
                  <a:tcPr anchor="ctr">
                    <a:lnL>
                      <a:noFill/>
                    </a:lnL>
                    <a:lnR>
                      <a:noFill/>
                    </a:lnR>
                    <a:lnT>
                      <a:noFill/>
                    </a:lnT>
                    <a:lnB>
                      <a:noFill/>
                    </a:lnB>
                  </a:tcPr>
                </a:tc>
                <a:tc>
                  <a:txBody>
                    <a:bodyPr/>
                    <a:lstStyle/>
                    <a:p>
                      <a:r>
                        <a:rPr lang="en-US"/>
                        <a:t>Convert text to lowercase</a:t>
                      </a:r>
                    </a:p>
                  </a:txBody>
                  <a:tcPr anchor="ctr">
                    <a:lnL>
                      <a:noFill/>
                    </a:lnL>
                    <a:lnR>
                      <a:noFill/>
                    </a:lnR>
                    <a:lnT>
                      <a:noFill/>
                    </a:lnT>
                    <a:lnB>
                      <a:noFill/>
                    </a:lnB>
                  </a:tcPr>
                </a:tc>
                <a:extLst>
                  <a:ext uri="{0D108BD9-81ED-4DB2-BD59-A6C34878D82A}">
                    <a16:rowId xmlns="" xmlns:a16="http://schemas.microsoft.com/office/drawing/2014/main" val="10002"/>
                  </a:ext>
                </a:extLst>
              </a:tr>
              <a:tr h="0">
                <a:tc>
                  <a:txBody>
                    <a:bodyPr/>
                    <a:lstStyle/>
                    <a:p>
                      <a:r>
                        <a:rPr lang="en-US"/>
                        <a:t>str_length()</a:t>
                      </a:r>
                    </a:p>
                  </a:txBody>
                  <a:tcPr anchor="ctr">
                    <a:lnL>
                      <a:noFill/>
                    </a:lnL>
                    <a:lnR>
                      <a:noFill/>
                    </a:lnR>
                    <a:lnT>
                      <a:noFill/>
                    </a:lnT>
                    <a:lnB>
                      <a:noFill/>
                    </a:lnB>
                  </a:tcPr>
                </a:tc>
                <a:tc>
                  <a:txBody>
                    <a:bodyPr/>
                    <a:lstStyle/>
                    <a:p>
                      <a:r>
                        <a:rPr lang="en-US"/>
                        <a:t>Count characters</a:t>
                      </a:r>
                    </a:p>
                  </a:txBody>
                  <a:tcPr anchor="ctr">
                    <a:lnL>
                      <a:noFill/>
                    </a:lnL>
                    <a:lnR>
                      <a:noFill/>
                    </a:lnR>
                    <a:lnT>
                      <a:noFill/>
                    </a:lnT>
                    <a:lnB>
                      <a:noFill/>
                    </a:lnB>
                  </a:tcPr>
                </a:tc>
                <a:extLst>
                  <a:ext uri="{0D108BD9-81ED-4DB2-BD59-A6C34878D82A}">
                    <a16:rowId xmlns="" xmlns:a16="http://schemas.microsoft.com/office/drawing/2014/main" val="10003"/>
                  </a:ext>
                </a:extLst>
              </a:tr>
              <a:tr h="0">
                <a:tc>
                  <a:txBody>
                    <a:bodyPr/>
                    <a:lstStyle/>
                    <a:p>
                      <a:r>
                        <a:rPr lang="en-US"/>
                        <a:t>str_detect()</a:t>
                      </a:r>
                    </a:p>
                  </a:txBody>
                  <a:tcPr anchor="ctr">
                    <a:lnL>
                      <a:noFill/>
                    </a:lnL>
                    <a:lnR>
                      <a:noFill/>
                    </a:lnR>
                    <a:lnT>
                      <a:noFill/>
                    </a:lnT>
                    <a:lnB>
                      <a:noFill/>
                    </a:lnB>
                  </a:tcPr>
                </a:tc>
                <a:tc>
                  <a:txBody>
                    <a:bodyPr/>
                    <a:lstStyle/>
                    <a:p>
                      <a:r>
                        <a:rPr lang="en-US"/>
                        <a:t>Find a pattern</a:t>
                      </a:r>
                    </a:p>
                  </a:txBody>
                  <a:tcPr anchor="ctr">
                    <a:lnL>
                      <a:noFill/>
                    </a:lnL>
                    <a:lnR>
                      <a:noFill/>
                    </a:lnR>
                    <a:lnT>
                      <a:noFill/>
                    </a:lnT>
                    <a:lnB>
                      <a:noFill/>
                    </a:lnB>
                  </a:tcPr>
                </a:tc>
                <a:extLst>
                  <a:ext uri="{0D108BD9-81ED-4DB2-BD59-A6C34878D82A}">
                    <a16:rowId xmlns="" xmlns:a16="http://schemas.microsoft.com/office/drawing/2014/main" val="10004"/>
                  </a:ext>
                </a:extLst>
              </a:tr>
              <a:tr h="0">
                <a:tc>
                  <a:txBody>
                    <a:bodyPr/>
                    <a:lstStyle/>
                    <a:p>
                      <a:r>
                        <a:rPr lang="en-US"/>
                        <a:t>str_replace()</a:t>
                      </a:r>
                    </a:p>
                  </a:txBody>
                  <a:tcPr anchor="ctr">
                    <a:lnL>
                      <a:noFill/>
                    </a:lnL>
                    <a:lnR>
                      <a:noFill/>
                    </a:lnR>
                    <a:lnT>
                      <a:noFill/>
                    </a:lnT>
                    <a:lnB>
                      <a:noFill/>
                    </a:lnB>
                  </a:tcPr>
                </a:tc>
                <a:tc>
                  <a:txBody>
                    <a:bodyPr/>
                    <a:lstStyle/>
                    <a:p>
                      <a:r>
                        <a:rPr lang="en-US"/>
                        <a:t>Replace first occurrence</a:t>
                      </a:r>
                    </a:p>
                  </a:txBody>
                  <a:tcPr anchor="ctr">
                    <a:lnL>
                      <a:noFill/>
                    </a:lnL>
                    <a:lnR>
                      <a:noFill/>
                    </a:lnR>
                    <a:lnT>
                      <a:noFill/>
                    </a:lnT>
                    <a:lnB>
                      <a:noFill/>
                    </a:lnB>
                  </a:tcPr>
                </a:tc>
                <a:extLst>
                  <a:ext uri="{0D108BD9-81ED-4DB2-BD59-A6C34878D82A}">
                    <a16:rowId xmlns="" xmlns:a16="http://schemas.microsoft.com/office/drawing/2014/main" val="10005"/>
                  </a:ext>
                </a:extLst>
              </a:tr>
              <a:tr h="0">
                <a:tc>
                  <a:txBody>
                    <a:bodyPr/>
                    <a:lstStyle/>
                    <a:p>
                      <a:r>
                        <a:rPr lang="en-US"/>
                        <a:t>str_replace_all()</a:t>
                      </a:r>
                    </a:p>
                  </a:txBody>
                  <a:tcPr anchor="ctr">
                    <a:lnL>
                      <a:noFill/>
                    </a:lnL>
                    <a:lnR>
                      <a:noFill/>
                    </a:lnR>
                    <a:lnT>
                      <a:noFill/>
                    </a:lnT>
                    <a:lnB>
                      <a:noFill/>
                    </a:lnB>
                  </a:tcPr>
                </a:tc>
                <a:tc>
                  <a:txBody>
                    <a:bodyPr/>
                    <a:lstStyle/>
                    <a:p>
                      <a:r>
                        <a:rPr lang="en-US"/>
                        <a:t>Replace all occurrences</a:t>
                      </a:r>
                    </a:p>
                  </a:txBody>
                  <a:tcPr anchor="ctr">
                    <a:lnL>
                      <a:noFill/>
                    </a:lnL>
                    <a:lnR>
                      <a:noFill/>
                    </a:lnR>
                    <a:lnT>
                      <a:noFill/>
                    </a:lnT>
                    <a:lnB>
                      <a:noFill/>
                    </a:lnB>
                  </a:tcPr>
                </a:tc>
                <a:extLst>
                  <a:ext uri="{0D108BD9-81ED-4DB2-BD59-A6C34878D82A}">
                    <a16:rowId xmlns="" xmlns:a16="http://schemas.microsoft.com/office/drawing/2014/main" val="10006"/>
                  </a:ext>
                </a:extLst>
              </a:tr>
              <a:tr h="0">
                <a:tc>
                  <a:txBody>
                    <a:bodyPr/>
                    <a:lstStyle/>
                    <a:p>
                      <a:r>
                        <a:rPr lang="en-US"/>
                        <a:t>str_extract()</a:t>
                      </a:r>
                    </a:p>
                  </a:txBody>
                  <a:tcPr anchor="ctr">
                    <a:lnL>
                      <a:noFill/>
                    </a:lnL>
                    <a:lnR>
                      <a:noFill/>
                    </a:lnR>
                    <a:lnT>
                      <a:noFill/>
                    </a:lnT>
                    <a:lnB>
                      <a:noFill/>
                    </a:lnB>
                  </a:tcPr>
                </a:tc>
                <a:tc>
                  <a:txBody>
                    <a:bodyPr/>
                    <a:lstStyle/>
                    <a:p>
                      <a:r>
                        <a:rPr lang="en-US"/>
                        <a:t>Extract matching text</a:t>
                      </a:r>
                    </a:p>
                  </a:txBody>
                  <a:tcPr anchor="ctr">
                    <a:lnL>
                      <a:noFill/>
                    </a:lnL>
                    <a:lnR>
                      <a:noFill/>
                    </a:lnR>
                    <a:lnT>
                      <a:noFill/>
                    </a:lnT>
                    <a:lnB>
                      <a:noFill/>
                    </a:lnB>
                  </a:tcPr>
                </a:tc>
                <a:extLst>
                  <a:ext uri="{0D108BD9-81ED-4DB2-BD59-A6C34878D82A}">
                    <a16:rowId xmlns="" xmlns:a16="http://schemas.microsoft.com/office/drawing/2014/main" val="10007"/>
                  </a:ext>
                </a:extLst>
              </a:tr>
              <a:tr h="0">
                <a:tc>
                  <a:txBody>
                    <a:bodyPr/>
                    <a:lstStyle/>
                    <a:p>
                      <a:r>
                        <a:rPr lang="en-US"/>
                        <a:t>str_trim()</a:t>
                      </a:r>
                    </a:p>
                  </a:txBody>
                  <a:tcPr anchor="ctr">
                    <a:lnL>
                      <a:noFill/>
                    </a:lnL>
                    <a:lnR>
                      <a:noFill/>
                    </a:lnR>
                    <a:lnT>
                      <a:noFill/>
                    </a:lnT>
                    <a:lnB>
                      <a:noFill/>
                    </a:lnB>
                  </a:tcPr>
                </a:tc>
                <a:tc>
                  <a:txBody>
                    <a:bodyPr/>
                    <a:lstStyle/>
                    <a:p>
                      <a:r>
                        <a:rPr lang="en-US" dirty="0"/>
                        <a:t>Remove leading/trailing spaces</a:t>
                      </a:r>
                    </a:p>
                  </a:txBody>
                  <a:tcPr anchor="ctr">
                    <a:lnL>
                      <a:noFill/>
                    </a:lnL>
                    <a:lnR>
                      <a:noFill/>
                    </a:lnR>
                    <a:lnT>
                      <a:noFill/>
                    </a:lnT>
                    <a:lnB>
                      <a:noFill/>
                    </a:lnB>
                  </a:tcPr>
                </a:tc>
                <a:extLst>
                  <a:ext uri="{0D108BD9-81ED-4DB2-BD59-A6C34878D82A}">
                    <a16:rowId xmlns="" xmlns:a16="http://schemas.microsoft.com/office/drawing/2014/main" val="10008"/>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NA and NULL values </a:t>
            </a:r>
          </a:p>
        </p:txBody>
      </p:sp>
      <p:sp>
        <p:nvSpPr>
          <p:cNvPr id="3" name="Content Placeholder 2"/>
          <p:cNvSpPr>
            <a:spLocks noGrp="1"/>
          </p:cNvSpPr>
          <p:nvPr>
            <p:ph idx="1"/>
          </p:nvPr>
        </p:nvSpPr>
        <p:spPr>
          <a:xfrm>
            <a:off x="838200" y="1825625"/>
            <a:ext cx="5352288" cy="4351338"/>
          </a:xfrm>
        </p:spPr>
        <p:txBody>
          <a:bodyPr/>
          <a:lstStyle/>
          <a:p>
            <a:pPr algn="just"/>
            <a:r>
              <a:rPr lang="en-US" b="1" dirty="0">
                <a:latin typeface="Arial Narrow" pitchFamily="34" charset="0"/>
              </a:rPr>
              <a:t>What is NA?</a:t>
            </a:r>
          </a:p>
          <a:p>
            <a:pPr algn="just"/>
            <a:r>
              <a:rPr lang="en-US" dirty="0">
                <a:latin typeface="Arial Narrow" pitchFamily="34" charset="0"/>
              </a:rPr>
              <a:t>NA stands for "Not Available." It's like a placeholder for when data is missing or doesn't exist. </a:t>
            </a:r>
          </a:p>
          <a:p>
            <a:pPr algn="just"/>
            <a:r>
              <a:rPr lang="en-US" dirty="0">
                <a:latin typeface="Arial Narrow" pitchFamily="34" charset="0"/>
              </a:rPr>
              <a:t>For example, suppose we're creating a list of students' ages, and one student hasn't provided their age.</a:t>
            </a:r>
          </a:p>
          <a:p>
            <a:pPr algn="just"/>
            <a:r>
              <a:rPr lang="en-US" dirty="0">
                <a:latin typeface="Arial Narrow" pitchFamily="34" charset="0"/>
              </a:rPr>
              <a:t> In the dataset, that missing age would be marked as NA.</a:t>
            </a:r>
          </a:p>
          <a:p>
            <a:endParaRPr lang="en-US" dirty="0"/>
          </a:p>
        </p:txBody>
      </p:sp>
      <p:pic>
        <p:nvPicPr>
          <p:cNvPr id="59394" name="Picture 2"/>
          <p:cNvPicPr>
            <a:picLocks noChangeAspect="1" noChangeArrowheads="1"/>
          </p:cNvPicPr>
          <p:nvPr/>
        </p:nvPicPr>
        <p:blipFill>
          <a:blip r:embed="rId2"/>
          <a:srcRect/>
          <a:stretch>
            <a:fillRect/>
          </a:stretch>
        </p:blipFill>
        <p:spPr bwMode="auto">
          <a:xfrm>
            <a:off x="6104799" y="0"/>
            <a:ext cx="6087201" cy="6583680"/>
          </a:xfrm>
          <a:prstGeom prst="rect">
            <a:avLst/>
          </a:prstGeom>
          <a:noFill/>
          <a:ln w="9525">
            <a:noFill/>
            <a:miter lim="800000"/>
            <a:headEnd/>
            <a:tailEnd/>
          </a:ln>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264" y="1560449"/>
            <a:ext cx="4090416" cy="4351338"/>
          </a:xfrm>
        </p:spPr>
        <p:txBody>
          <a:bodyPr/>
          <a:lstStyle/>
          <a:p>
            <a:pPr algn="just"/>
            <a:r>
              <a:rPr lang="en-US" b="1" dirty="0">
                <a:latin typeface="Arial Narrow" pitchFamily="34" charset="0"/>
              </a:rPr>
              <a:t>What is </a:t>
            </a:r>
            <a:r>
              <a:rPr lang="en-US" b="1" dirty="0" err="1">
                <a:latin typeface="Arial Narrow" pitchFamily="34" charset="0"/>
              </a:rPr>
              <a:t>NaN</a:t>
            </a:r>
            <a:r>
              <a:rPr lang="en-US" b="1" dirty="0">
                <a:latin typeface="Arial Narrow" pitchFamily="34" charset="0"/>
              </a:rPr>
              <a:t> ?</a:t>
            </a:r>
          </a:p>
          <a:p>
            <a:pPr algn="just"/>
            <a:r>
              <a:rPr lang="en-US" dirty="0" err="1">
                <a:latin typeface="Arial Narrow" pitchFamily="34" charset="0"/>
              </a:rPr>
              <a:t>NaN</a:t>
            </a:r>
            <a:r>
              <a:rPr lang="en-US" dirty="0">
                <a:latin typeface="Arial Narrow" pitchFamily="34" charset="0"/>
              </a:rPr>
              <a:t> stands for "Not a Number." It's used to show when a math operation doesn't give a meaningful result. For example, if we try to divide zero by zero or take the square root of a negative number, we'll get </a:t>
            </a:r>
            <a:r>
              <a:rPr lang="en-US" dirty="0" err="1">
                <a:latin typeface="Arial Narrow" pitchFamily="34" charset="0"/>
              </a:rPr>
              <a:t>NaN</a:t>
            </a:r>
            <a:r>
              <a:rPr lang="en-US" dirty="0">
                <a:latin typeface="Arial Narrow" pitchFamily="34" charset="0"/>
              </a:rPr>
              <a:t>. </a:t>
            </a:r>
          </a:p>
          <a:p>
            <a:endParaRPr lang="en-US" dirty="0"/>
          </a:p>
        </p:txBody>
      </p:sp>
      <p:pic>
        <p:nvPicPr>
          <p:cNvPr id="60418" name="Picture 2"/>
          <p:cNvPicPr>
            <a:picLocks noChangeAspect="1" noChangeArrowheads="1"/>
          </p:cNvPicPr>
          <p:nvPr/>
        </p:nvPicPr>
        <p:blipFill>
          <a:blip r:embed="rId2"/>
          <a:srcRect/>
          <a:stretch>
            <a:fillRect/>
          </a:stretch>
        </p:blipFill>
        <p:spPr bwMode="auto">
          <a:xfrm>
            <a:off x="4691084" y="429768"/>
            <a:ext cx="7500916" cy="5731764"/>
          </a:xfrm>
          <a:prstGeom prst="rect">
            <a:avLst/>
          </a:prstGeom>
          <a:noFill/>
          <a:ln w="9525">
            <a:noFill/>
            <a:miter lim="800000"/>
            <a:headEnd/>
            <a:tailEnd/>
          </a:ln>
          <a:effec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4048"/>
            <a:ext cx="10515600" cy="5792915"/>
          </a:xfrm>
        </p:spPr>
        <p:txBody>
          <a:bodyPr/>
          <a:lstStyle/>
          <a:p>
            <a:r>
              <a:rPr lang="en-US" b="1" dirty="0"/>
              <a:t>Difference between NA and NAN</a:t>
            </a:r>
          </a:p>
          <a:p>
            <a:endParaRPr lang="en-US" dirty="0"/>
          </a:p>
        </p:txBody>
      </p:sp>
      <p:graphicFrame>
        <p:nvGraphicFramePr>
          <p:cNvPr id="4" name="Table 3"/>
          <p:cNvGraphicFramePr>
            <a:graphicFrameLocks noGrp="1"/>
          </p:cNvGraphicFramePr>
          <p:nvPr/>
        </p:nvGraphicFramePr>
        <p:xfrm>
          <a:off x="2032000" y="1600199"/>
          <a:ext cx="8127999" cy="3657600"/>
        </p:xfrm>
        <a:graphic>
          <a:graphicData uri="http://schemas.openxmlformats.org/drawingml/2006/table">
            <a:tbl>
              <a:tblPr/>
              <a:tblGrid>
                <a:gridCol w="2709333">
                  <a:extLst>
                    <a:ext uri="{9D8B030D-6E8A-4147-A177-3AD203B41FA5}">
                      <a16:colId xmlns="" xmlns:a16="http://schemas.microsoft.com/office/drawing/2014/main" val="20000"/>
                    </a:ext>
                  </a:extLst>
                </a:gridCol>
                <a:gridCol w="2709333">
                  <a:extLst>
                    <a:ext uri="{9D8B030D-6E8A-4147-A177-3AD203B41FA5}">
                      <a16:colId xmlns="" xmlns:a16="http://schemas.microsoft.com/office/drawing/2014/main" val="20001"/>
                    </a:ext>
                  </a:extLst>
                </a:gridCol>
                <a:gridCol w="2709333">
                  <a:extLst>
                    <a:ext uri="{9D8B030D-6E8A-4147-A177-3AD203B41FA5}">
                      <a16:colId xmlns="" xmlns:a16="http://schemas.microsoft.com/office/drawing/2014/main" val="20002"/>
                    </a:ext>
                  </a:extLst>
                </a:gridCol>
              </a:tblGrid>
              <a:tr h="0">
                <a:tc>
                  <a:txBody>
                    <a:bodyPr/>
                    <a:lstStyle/>
                    <a:p>
                      <a:r>
                        <a:rPr lang="en-US" b="1" dirty="0"/>
                        <a:t>Aspect</a:t>
                      </a:r>
                    </a:p>
                  </a:txBody>
                  <a:tcPr anchor="ctr">
                    <a:lnL>
                      <a:noFill/>
                    </a:lnL>
                    <a:lnR>
                      <a:noFill/>
                    </a:lnR>
                    <a:lnT>
                      <a:noFill/>
                    </a:lnT>
                    <a:lnB>
                      <a:noFill/>
                    </a:lnB>
                  </a:tcPr>
                </a:tc>
                <a:tc>
                  <a:txBody>
                    <a:bodyPr/>
                    <a:lstStyle/>
                    <a:p>
                      <a:r>
                        <a:rPr lang="en-US" b="1" dirty="0"/>
                        <a:t>NA</a:t>
                      </a:r>
                    </a:p>
                  </a:txBody>
                  <a:tcPr anchor="ctr">
                    <a:lnL>
                      <a:noFill/>
                    </a:lnL>
                    <a:lnR>
                      <a:noFill/>
                    </a:lnR>
                    <a:lnT>
                      <a:noFill/>
                    </a:lnT>
                    <a:lnB>
                      <a:noFill/>
                    </a:lnB>
                  </a:tcPr>
                </a:tc>
                <a:tc>
                  <a:txBody>
                    <a:bodyPr/>
                    <a:lstStyle/>
                    <a:p>
                      <a:r>
                        <a:rPr lang="en-US" b="1" dirty="0" err="1"/>
                        <a:t>NaN</a:t>
                      </a:r>
                      <a:endParaRPr lang="en-US" b="1" dirty="0"/>
                    </a:p>
                  </a:txBody>
                  <a:tcPr anchor="ctr">
                    <a:lnL>
                      <a:noFill/>
                    </a:lnL>
                    <a:lnR>
                      <a:noFill/>
                    </a:lnR>
                    <a:lnT>
                      <a:noFill/>
                    </a:lnT>
                    <a:lnB>
                      <a:noFill/>
                    </a:lnB>
                  </a:tcPr>
                </a:tc>
                <a:extLst>
                  <a:ext uri="{0D108BD9-81ED-4DB2-BD59-A6C34878D82A}">
                    <a16:rowId xmlns="" xmlns:a16="http://schemas.microsoft.com/office/drawing/2014/main" val="10000"/>
                  </a:ext>
                </a:extLst>
              </a:tr>
              <a:tr h="0">
                <a:tc>
                  <a:txBody>
                    <a:bodyPr/>
                    <a:lstStyle/>
                    <a:p>
                      <a:r>
                        <a:rPr lang="en-US" dirty="0"/>
                        <a:t>Definition</a:t>
                      </a:r>
                    </a:p>
                  </a:txBody>
                  <a:tcPr anchor="ctr">
                    <a:lnL>
                      <a:noFill/>
                    </a:lnL>
                    <a:lnR>
                      <a:noFill/>
                    </a:lnR>
                    <a:lnT>
                      <a:noFill/>
                    </a:lnT>
                    <a:lnB>
                      <a:noFill/>
                    </a:lnB>
                  </a:tcPr>
                </a:tc>
                <a:tc>
                  <a:txBody>
                    <a:bodyPr/>
                    <a:lstStyle/>
                    <a:p>
                      <a:r>
                        <a:rPr lang="en-US"/>
                        <a:t>Not Available</a:t>
                      </a:r>
                    </a:p>
                  </a:txBody>
                  <a:tcPr anchor="ctr">
                    <a:lnL>
                      <a:noFill/>
                    </a:lnL>
                    <a:lnR>
                      <a:noFill/>
                    </a:lnR>
                    <a:lnT>
                      <a:noFill/>
                    </a:lnT>
                    <a:lnB>
                      <a:noFill/>
                    </a:lnB>
                  </a:tcPr>
                </a:tc>
                <a:tc>
                  <a:txBody>
                    <a:bodyPr/>
                    <a:lstStyle/>
                    <a:p>
                      <a:r>
                        <a:rPr lang="en-US"/>
                        <a:t>Not a Number</a:t>
                      </a:r>
                    </a:p>
                  </a:txBody>
                  <a:tcPr anchor="ctr">
                    <a:lnL>
                      <a:noFill/>
                    </a:lnL>
                    <a:lnR>
                      <a:noFill/>
                    </a:lnR>
                    <a:lnT>
                      <a:noFill/>
                    </a:lnT>
                    <a:lnB>
                      <a:noFill/>
                    </a:lnB>
                  </a:tcPr>
                </a:tc>
                <a:extLst>
                  <a:ext uri="{0D108BD9-81ED-4DB2-BD59-A6C34878D82A}">
                    <a16:rowId xmlns="" xmlns:a16="http://schemas.microsoft.com/office/drawing/2014/main" val="10001"/>
                  </a:ext>
                </a:extLst>
              </a:tr>
              <a:tr h="0">
                <a:tc>
                  <a:txBody>
                    <a:bodyPr/>
                    <a:lstStyle/>
                    <a:p>
                      <a:r>
                        <a:rPr lang="en-US" dirty="0"/>
                        <a:t>Data Type</a:t>
                      </a:r>
                    </a:p>
                  </a:txBody>
                  <a:tcPr anchor="ctr">
                    <a:lnL>
                      <a:noFill/>
                    </a:lnL>
                    <a:lnR>
                      <a:noFill/>
                    </a:lnR>
                    <a:lnT>
                      <a:noFill/>
                    </a:lnT>
                    <a:lnB>
                      <a:noFill/>
                    </a:lnB>
                  </a:tcPr>
                </a:tc>
                <a:tc>
                  <a:txBody>
                    <a:bodyPr/>
                    <a:lstStyle/>
                    <a:p>
                      <a:r>
                        <a:rPr lang="en-US"/>
                        <a:t>Any data type</a:t>
                      </a:r>
                    </a:p>
                  </a:txBody>
                  <a:tcPr anchor="ctr">
                    <a:lnL>
                      <a:noFill/>
                    </a:lnL>
                    <a:lnR>
                      <a:noFill/>
                    </a:lnR>
                    <a:lnT>
                      <a:noFill/>
                    </a:lnT>
                    <a:lnB>
                      <a:noFill/>
                    </a:lnB>
                  </a:tcPr>
                </a:tc>
                <a:tc>
                  <a:txBody>
                    <a:bodyPr/>
                    <a:lstStyle/>
                    <a:p>
                      <a:r>
                        <a:rPr lang="en-US"/>
                        <a:t>Numeric</a:t>
                      </a:r>
                    </a:p>
                  </a:txBody>
                  <a:tcPr anchor="ctr">
                    <a:lnL>
                      <a:noFill/>
                    </a:lnL>
                    <a:lnR>
                      <a:noFill/>
                    </a:lnR>
                    <a:lnT>
                      <a:noFill/>
                    </a:lnT>
                    <a:lnB>
                      <a:noFill/>
                    </a:lnB>
                  </a:tcPr>
                </a:tc>
                <a:extLst>
                  <a:ext uri="{0D108BD9-81ED-4DB2-BD59-A6C34878D82A}">
                    <a16:rowId xmlns="" xmlns:a16="http://schemas.microsoft.com/office/drawing/2014/main" val="10002"/>
                  </a:ext>
                </a:extLst>
              </a:tr>
              <a:tr h="0">
                <a:tc>
                  <a:txBody>
                    <a:bodyPr/>
                    <a:lstStyle/>
                    <a:p>
                      <a:r>
                        <a:rPr lang="en-US" dirty="0"/>
                        <a:t>Meaning</a:t>
                      </a:r>
                    </a:p>
                  </a:txBody>
                  <a:tcPr anchor="ctr">
                    <a:lnL>
                      <a:noFill/>
                    </a:lnL>
                    <a:lnR>
                      <a:noFill/>
                    </a:lnR>
                    <a:lnT>
                      <a:noFill/>
                    </a:lnT>
                    <a:lnB>
                      <a:noFill/>
                    </a:lnB>
                  </a:tcPr>
                </a:tc>
                <a:tc>
                  <a:txBody>
                    <a:bodyPr/>
                    <a:lstStyle/>
                    <a:p>
                      <a:r>
                        <a:rPr lang="en-US"/>
                        <a:t>Indicates missing data</a:t>
                      </a:r>
                    </a:p>
                  </a:txBody>
                  <a:tcPr anchor="ctr">
                    <a:lnL>
                      <a:noFill/>
                    </a:lnL>
                    <a:lnR>
                      <a:noFill/>
                    </a:lnR>
                    <a:lnT>
                      <a:noFill/>
                    </a:lnT>
                    <a:lnB>
                      <a:noFill/>
                    </a:lnB>
                  </a:tcPr>
                </a:tc>
                <a:tc>
                  <a:txBody>
                    <a:bodyPr/>
                    <a:lstStyle/>
                    <a:p>
                      <a:r>
                        <a:rPr lang="en-US"/>
                        <a:t>Indicates an undefined numerical result</a:t>
                      </a:r>
                    </a:p>
                  </a:txBody>
                  <a:tcPr anchor="ctr">
                    <a:lnL>
                      <a:noFill/>
                    </a:lnL>
                    <a:lnR>
                      <a:noFill/>
                    </a:lnR>
                    <a:lnT>
                      <a:noFill/>
                    </a:lnT>
                    <a:lnB>
                      <a:noFill/>
                    </a:lnB>
                  </a:tcPr>
                </a:tc>
                <a:extLst>
                  <a:ext uri="{0D108BD9-81ED-4DB2-BD59-A6C34878D82A}">
                    <a16:rowId xmlns="" xmlns:a16="http://schemas.microsoft.com/office/drawing/2014/main" val="10003"/>
                  </a:ext>
                </a:extLst>
              </a:tr>
              <a:tr h="0">
                <a:tc>
                  <a:txBody>
                    <a:bodyPr/>
                    <a:lstStyle/>
                    <a:p>
                      <a:r>
                        <a:rPr lang="en-US" dirty="0"/>
                        <a:t>Usage</a:t>
                      </a:r>
                    </a:p>
                  </a:txBody>
                  <a:tcPr anchor="ctr">
                    <a:lnL>
                      <a:noFill/>
                    </a:lnL>
                    <a:lnR>
                      <a:noFill/>
                    </a:lnR>
                    <a:lnT>
                      <a:noFill/>
                    </a:lnT>
                    <a:lnB>
                      <a:noFill/>
                    </a:lnB>
                  </a:tcPr>
                </a:tc>
                <a:tc>
                  <a:txBody>
                    <a:bodyPr/>
                    <a:lstStyle/>
                    <a:p>
                      <a:r>
                        <a:rPr lang="en-US"/>
                        <a:t>Used for missing or unavailable data</a:t>
                      </a:r>
                    </a:p>
                  </a:txBody>
                  <a:tcPr anchor="ctr">
                    <a:lnL>
                      <a:noFill/>
                    </a:lnL>
                    <a:lnR>
                      <a:noFill/>
                    </a:lnR>
                    <a:lnT>
                      <a:noFill/>
                    </a:lnT>
                    <a:lnB>
                      <a:noFill/>
                    </a:lnB>
                  </a:tcPr>
                </a:tc>
                <a:tc>
                  <a:txBody>
                    <a:bodyPr/>
                    <a:lstStyle/>
                    <a:p>
                      <a:r>
                        <a:rPr lang="en-US"/>
                        <a:t>Used for invalid/undefined mathematical operations</a:t>
                      </a:r>
                    </a:p>
                  </a:txBody>
                  <a:tcPr anchor="ctr">
                    <a:lnL>
                      <a:noFill/>
                    </a:lnL>
                    <a:lnR>
                      <a:noFill/>
                    </a:lnR>
                    <a:lnT>
                      <a:noFill/>
                    </a:lnT>
                    <a:lnB>
                      <a:noFill/>
                    </a:lnB>
                  </a:tcPr>
                </a:tc>
                <a:extLst>
                  <a:ext uri="{0D108BD9-81ED-4DB2-BD59-A6C34878D82A}">
                    <a16:rowId xmlns="" xmlns:a16="http://schemas.microsoft.com/office/drawing/2014/main" val="10004"/>
                  </a:ext>
                </a:extLst>
              </a:tr>
              <a:tr h="0">
                <a:tc>
                  <a:txBody>
                    <a:bodyPr/>
                    <a:lstStyle/>
                    <a:p>
                      <a:r>
                        <a:rPr lang="en-US" dirty="0"/>
                        <a:t>Behavior in operations</a:t>
                      </a:r>
                    </a:p>
                  </a:txBody>
                  <a:tcPr anchor="ctr">
                    <a:lnL>
                      <a:noFill/>
                    </a:lnL>
                    <a:lnR>
                      <a:noFill/>
                    </a:lnR>
                    <a:lnT>
                      <a:noFill/>
                    </a:lnT>
                    <a:lnB>
                      <a:noFill/>
                    </a:lnB>
                  </a:tcPr>
                </a:tc>
                <a:tc>
                  <a:txBody>
                    <a:bodyPr/>
                    <a:lstStyle/>
                    <a:p>
                      <a:r>
                        <a:rPr lang="en-US"/>
                        <a:t>Spreads through computations involving NA values</a:t>
                      </a:r>
                    </a:p>
                  </a:txBody>
                  <a:tcPr anchor="ctr">
                    <a:lnL>
                      <a:noFill/>
                    </a:lnL>
                    <a:lnR>
                      <a:noFill/>
                    </a:lnR>
                    <a:lnT>
                      <a:noFill/>
                    </a:lnT>
                    <a:lnB>
                      <a:noFill/>
                    </a:lnB>
                  </a:tcPr>
                </a:tc>
                <a:tc>
                  <a:txBody>
                    <a:bodyPr/>
                    <a:lstStyle/>
                    <a:p>
                      <a:r>
                        <a:rPr lang="en-US"/>
                        <a:t>Spreads and contaminates numerical calculations</a:t>
                      </a:r>
                    </a:p>
                  </a:txBody>
                  <a:tcPr anchor="ctr">
                    <a:lnL>
                      <a:noFill/>
                    </a:lnL>
                    <a:lnR>
                      <a:noFill/>
                    </a:lnR>
                    <a:lnT>
                      <a:noFill/>
                    </a:lnT>
                    <a:lnB>
                      <a:noFill/>
                    </a:lnB>
                  </a:tcPr>
                </a:tc>
                <a:extLst>
                  <a:ext uri="{0D108BD9-81ED-4DB2-BD59-A6C34878D82A}">
                    <a16:rowId xmlns="" xmlns:a16="http://schemas.microsoft.com/office/drawing/2014/main" val="10005"/>
                  </a:ext>
                </a:extLst>
              </a:tr>
              <a:tr h="0">
                <a:tc>
                  <a:txBody>
                    <a:bodyPr/>
                    <a:lstStyle/>
                    <a:p>
                      <a:r>
                        <a:rPr lang="en-US" dirty="0"/>
                        <a:t>Example</a:t>
                      </a:r>
                    </a:p>
                  </a:txBody>
                  <a:tcPr anchor="ctr">
                    <a:lnL>
                      <a:noFill/>
                    </a:lnL>
                    <a:lnR>
                      <a:noFill/>
                    </a:lnR>
                    <a:lnT>
                      <a:noFill/>
                    </a:lnT>
                    <a:lnB>
                      <a:noFill/>
                    </a:lnB>
                  </a:tcPr>
                </a:tc>
                <a:tc>
                  <a:txBody>
                    <a:bodyPr/>
                    <a:lstStyle/>
                    <a:p>
                      <a:r>
                        <a:rPr lang="pl-PL"/>
                        <a:t>x &lt;- c(1, 2, NA, 4)</a:t>
                      </a:r>
                    </a:p>
                  </a:txBody>
                  <a:tcPr anchor="ctr">
                    <a:lnL>
                      <a:noFill/>
                    </a:lnL>
                    <a:lnR>
                      <a:noFill/>
                    </a:lnR>
                    <a:lnT>
                      <a:noFill/>
                    </a:lnT>
                    <a:lnB>
                      <a:noFill/>
                    </a:lnB>
                  </a:tcPr>
                </a:tc>
                <a:tc>
                  <a:txBody>
                    <a:bodyPr/>
                    <a:lstStyle/>
                    <a:p>
                      <a:r>
                        <a:rPr lang="en-US" dirty="0"/>
                        <a:t>0/0</a:t>
                      </a:r>
                    </a:p>
                  </a:txBody>
                  <a:tcPr anchor="ctr">
                    <a:lnL>
                      <a:noFill/>
                    </a:lnL>
                    <a:lnR>
                      <a:noFill/>
                    </a:lnR>
                    <a:lnT>
                      <a:noFill/>
                    </a:lnT>
                    <a:lnB>
                      <a:noFill/>
                    </a:lnB>
                  </a:tcPr>
                </a:tc>
                <a:extLst>
                  <a:ext uri="{0D108BD9-81ED-4DB2-BD59-A6C34878D82A}">
                    <a16:rowId xmlns="" xmlns:a16="http://schemas.microsoft.com/office/drawing/2014/main" val="10006"/>
                  </a:ext>
                </a:extLst>
              </a:tr>
            </a:tbl>
          </a:graphicData>
        </a:graphic>
      </p:graphicFrame>
      <p:pic>
        <p:nvPicPr>
          <p:cNvPr id="61441" name="Picture 1"/>
          <p:cNvPicPr>
            <a:picLocks noChangeAspect="1" noChangeArrowheads="1"/>
          </p:cNvPicPr>
          <p:nvPr/>
        </p:nvPicPr>
        <p:blipFill>
          <a:blip r:embed="rId2"/>
          <a:srcRect/>
          <a:stretch>
            <a:fillRect/>
          </a:stretch>
        </p:blipFill>
        <p:spPr bwMode="auto">
          <a:xfrm>
            <a:off x="9801352" y="572453"/>
            <a:ext cx="2085848" cy="1795843"/>
          </a:xfrm>
          <a:prstGeom prst="rect">
            <a:avLst/>
          </a:prstGeom>
          <a:noFill/>
          <a:ln w="9525">
            <a:noFill/>
            <a:miter lim="800000"/>
            <a:headEnd/>
            <a:tailEnd/>
          </a:ln>
          <a:effec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latin typeface="Arial Narrow" pitchFamily="34" charset="0"/>
              </a:rPr>
              <a:t>Vectorized</a:t>
            </a:r>
            <a:r>
              <a:rPr lang="en-US" b="1" dirty="0">
                <a:latin typeface="Arial Narrow" pitchFamily="34" charset="0"/>
              </a:rPr>
              <a:t> if-then else</a:t>
            </a:r>
          </a:p>
        </p:txBody>
      </p:sp>
      <p:sp>
        <p:nvSpPr>
          <p:cNvPr id="3" name="Content Placeholder 2"/>
          <p:cNvSpPr>
            <a:spLocks noGrp="1"/>
          </p:cNvSpPr>
          <p:nvPr>
            <p:ph idx="1"/>
          </p:nvPr>
        </p:nvSpPr>
        <p:spPr/>
        <p:txBody>
          <a:bodyPr/>
          <a:lstStyle/>
          <a:p>
            <a:pPr algn="just"/>
            <a:r>
              <a:rPr lang="en-US" dirty="0" err="1">
                <a:latin typeface="Arial Narrow" pitchFamily="34" charset="0"/>
              </a:rPr>
              <a:t>Vectorized</a:t>
            </a:r>
            <a:r>
              <a:rPr lang="en-US" dirty="0">
                <a:latin typeface="Arial Narrow" pitchFamily="34" charset="0"/>
              </a:rPr>
              <a:t> operations are a powerful feature that allows you to apply functions or operations over entire vectors at once, rather than looping through each element individually. </a:t>
            </a:r>
          </a:p>
          <a:p>
            <a:pPr algn="just"/>
            <a:r>
              <a:rPr lang="en-US" dirty="0">
                <a:latin typeface="Arial Narrow" pitchFamily="34" charset="0"/>
              </a:rPr>
              <a:t>The </a:t>
            </a:r>
            <a:r>
              <a:rPr lang="en-US" dirty="0" err="1">
                <a:latin typeface="Arial Narrow" pitchFamily="34" charset="0"/>
              </a:rPr>
              <a:t>ifelse</a:t>
            </a:r>
            <a:r>
              <a:rPr lang="en-US" dirty="0">
                <a:latin typeface="Arial Narrow" pitchFamily="34" charset="0"/>
              </a:rPr>
              <a:t>() function is a primary tool for creating </a:t>
            </a:r>
            <a:r>
              <a:rPr lang="en-US" dirty="0" err="1">
                <a:latin typeface="Arial Narrow" pitchFamily="34" charset="0"/>
              </a:rPr>
              <a:t>vectorized</a:t>
            </a:r>
            <a:r>
              <a:rPr lang="en-US" dirty="0">
                <a:latin typeface="Arial Narrow" pitchFamily="34" charset="0"/>
              </a:rPr>
              <a:t> if statements in R</a:t>
            </a:r>
          </a:p>
          <a:p>
            <a:pPr algn="just"/>
            <a:r>
              <a:rPr lang="en-US" dirty="0">
                <a:latin typeface="Arial Narrow" pitchFamily="34" charset="0"/>
              </a:rPr>
              <a:t>Used to create </a:t>
            </a:r>
            <a:r>
              <a:rPr lang="en-US" dirty="0" err="1">
                <a:latin typeface="Arial Narrow" pitchFamily="34" charset="0"/>
              </a:rPr>
              <a:t>vectorized</a:t>
            </a:r>
            <a:r>
              <a:rPr lang="en-US" dirty="0">
                <a:latin typeface="Arial Narrow" pitchFamily="34" charset="0"/>
              </a:rPr>
              <a:t> conditional statements. It applies a test condition across each element of a vector and returns one value for TRUE elements and another for FALSE elements. </a:t>
            </a:r>
          </a:p>
          <a:p>
            <a:pPr algn="just"/>
            <a:r>
              <a:rPr lang="en-US" dirty="0" err="1">
                <a:latin typeface="Arial Narrow" pitchFamily="34" charset="0"/>
              </a:rPr>
              <a:t>Vectorization</a:t>
            </a:r>
            <a:r>
              <a:rPr lang="en-US" dirty="0">
                <a:latin typeface="Arial Narrow" pitchFamily="34" charset="0"/>
              </a:rPr>
              <a:t> in R means that operations are applied element-wise across entire vectors or arrays without the need for explicit loops. This leads to more concise and efficient code.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8610" name="Picture 2"/>
          <p:cNvPicPr>
            <a:picLocks noChangeAspect="1" noChangeArrowheads="1"/>
          </p:cNvPicPr>
          <p:nvPr/>
        </p:nvPicPr>
        <p:blipFill>
          <a:blip r:embed="rId2"/>
          <a:srcRect/>
          <a:stretch>
            <a:fillRect/>
          </a:stretch>
        </p:blipFill>
        <p:spPr bwMode="auto">
          <a:xfrm>
            <a:off x="2911475" y="2190750"/>
            <a:ext cx="6364288" cy="2476500"/>
          </a:xfrm>
          <a:prstGeom prst="rect">
            <a:avLst/>
          </a:prstGeom>
          <a:noFill/>
          <a:ln w="9525">
            <a:noFill/>
            <a:miter lim="800000"/>
            <a:headEnd/>
            <a:tailEnd/>
          </a:ln>
          <a:effec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9634" name="Picture 2"/>
          <p:cNvPicPr>
            <a:picLocks noChangeAspect="1" noChangeArrowheads="1"/>
          </p:cNvPicPr>
          <p:nvPr/>
        </p:nvPicPr>
        <p:blipFill>
          <a:blip r:embed="rId2"/>
          <a:srcRect/>
          <a:stretch>
            <a:fillRect/>
          </a:stretch>
        </p:blipFill>
        <p:spPr bwMode="auto">
          <a:xfrm>
            <a:off x="1387475" y="1457325"/>
            <a:ext cx="9412288" cy="3943350"/>
          </a:xfrm>
          <a:prstGeom prst="rect">
            <a:avLst/>
          </a:prstGeom>
          <a:noFill/>
          <a:ln w="9525">
            <a:noFill/>
            <a:miter lim="800000"/>
            <a:headEnd/>
            <a:tailEnd/>
          </a:ln>
          <a:effec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0658" name="Picture 2"/>
          <p:cNvPicPr>
            <a:picLocks noChangeAspect="1" noChangeArrowheads="1"/>
          </p:cNvPicPr>
          <p:nvPr/>
        </p:nvPicPr>
        <p:blipFill>
          <a:blip r:embed="rId2"/>
          <a:srcRect/>
          <a:stretch>
            <a:fillRect/>
          </a:stretch>
        </p:blipFill>
        <p:spPr bwMode="auto">
          <a:xfrm>
            <a:off x="1516063" y="455613"/>
            <a:ext cx="9155112" cy="5945187"/>
          </a:xfrm>
          <a:prstGeom prst="rect">
            <a:avLst/>
          </a:prstGeom>
          <a:noFill/>
          <a:ln w="9525">
            <a:noFill/>
            <a:miter lim="800000"/>
            <a:headEnd/>
            <a:tailEnd/>
          </a:ln>
          <a:effec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3920" y="216281"/>
            <a:ext cx="10515600" cy="4351338"/>
          </a:xfrm>
        </p:spPr>
        <p:txBody>
          <a:bodyPr/>
          <a:lstStyle/>
          <a:p>
            <a:r>
              <a:rPr lang="en-US" b="1" dirty="0"/>
              <a:t>Handling NA Values with </a:t>
            </a:r>
            <a:r>
              <a:rPr lang="en-US" b="1" dirty="0" err="1"/>
              <a:t>ifelse</a:t>
            </a:r>
            <a:r>
              <a:rPr lang="en-US" b="1" dirty="0"/>
              <a:t>()</a:t>
            </a:r>
          </a:p>
          <a:p>
            <a:r>
              <a:rPr lang="en-US" dirty="0" err="1"/>
              <a:t>ifelse</a:t>
            </a:r>
            <a:r>
              <a:rPr lang="en-US" dirty="0"/>
              <a:t>() can also handle NA values in a </a:t>
            </a:r>
            <a:r>
              <a:rPr lang="en-US" dirty="0" err="1"/>
              <a:t>vectorized</a:t>
            </a:r>
            <a:r>
              <a:rPr lang="en-US" dirty="0"/>
              <a:t> manner.</a:t>
            </a:r>
          </a:p>
          <a:p>
            <a:endParaRPr lang="en-US" dirty="0"/>
          </a:p>
        </p:txBody>
      </p:sp>
      <p:pic>
        <p:nvPicPr>
          <p:cNvPr id="71682" name="Picture 2"/>
          <p:cNvPicPr>
            <a:picLocks noChangeAspect="1" noChangeArrowheads="1"/>
          </p:cNvPicPr>
          <p:nvPr/>
        </p:nvPicPr>
        <p:blipFill>
          <a:blip r:embed="rId2"/>
          <a:srcRect/>
          <a:stretch>
            <a:fillRect/>
          </a:stretch>
        </p:blipFill>
        <p:spPr bwMode="auto">
          <a:xfrm>
            <a:off x="1267079" y="1271397"/>
            <a:ext cx="9488488" cy="5467350"/>
          </a:xfrm>
          <a:prstGeom prst="rect">
            <a:avLst/>
          </a:prstGeom>
          <a:noFill/>
          <a:ln w="9525">
            <a:noFill/>
            <a:miter lim="800000"/>
            <a:headEnd/>
            <a:tailEnd/>
          </a:ln>
          <a:effec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latin typeface="Arial Narrow" pitchFamily="34" charset="0"/>
              </a:rPr>
              <a:t>The </a:t>
            </a:r>
            <a:r>
              <a:rPr lang="en-US" dirty="0" err="1">
                <a:latin typeface="Arial Narrow" pitchFamily="34" charset="0"/>
              </a:rPr>
              <a:t>ifelse</a:t>
            </a:r>
            <a:r>
              <a:rPr lang="en-US" dirty="0">
                <a:latin typeface="Arial Narrow" pitchFamily="34" charset="0"/>
              </a:rPr>
              <a:t>() function in R is a powerful tool for creating </a:t>
            </a:r>
            <a:r>
              <a:rPr lang="en-US" dirty="0" err="1">
                <a:latin typeface="Arial Narrow" pitchFamily="34" charset="0"/>
              </a:rPr>
              <a:t>vectorized</a:t>
            </a:r>
            <a:r>
              <a:rPr lang="en-US" dirty="0">
                <a:latin typeface="Arial Narrow" pitchFamily="34" charset="0"/>
              </a:rPr>
              <a:t> if statements, allowing you to apply conditional logic across entire vectors efficiently. It’s particularly useful for simple, element-wise checks and transformations. For more complex operations, alternative approaches like loops or </a:t>
            </a:r>
            <a:r>
              <a:rPr lang="en-US" dirty="0" err="1">
                <a:latin typeface="Arial Narrow" pitchFamily="34" charset="0"/>
              </a:rPr>
              <a:t>lapply</a:t>
            </a:r>
            <a:r>
              <a:rPr lang="en-US" dirty="0">
                <a:latin typeface="Arial Narrow" pitchFamily="34" charset="0"/>
              </a:rPr>
              <a:t>() might be more appropriate.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itchFamily="34" charset="0"/>
              </a:rPr>
              <a:t>Vector Equality </a:t>
            </a:r>
          </a:p>
        </p:txBody>
      </p:sp>
      <p:sp>
        <p:nvSpPr>
          <p:cNvPr id="3" name="Content Placeholder 2"/>
          <p:cNvSpPr>
            <a:spLocks noGrp="1"/>
          </p:cNvSpPr>
          <p:nvPr>
            <p:ph idx="1"/>
          </p:nvPr>
        </p:nvSpPr>
        <p:spPr>
          <a:xfrm>
            <a:off x="838200" y="1825625"/>
            <a:ext cx="3377184" cy="4351338"/>
          </a:xfrm>
        </p:spPr>
        <p:txBody>
          <a:bodyPr/>
          <a:lstStyle/>
          <a:p>
            <a:r>
              <a:rPr lang="en-US" b="1" dirty="0">
                <a:latin typeface="Arial Narrow" pitchFamily="34" charset="0"/>
              </a:rPr>
              <a:t>Method 1: Using variance</a:t>
            </a:r>
          </a:p>
          <a:p>
            <a:pPr algn="just"/>
            <a:r>
              <a:rPr lang="en-US" dirty="0">
                <a:latin typeface="Arial Narrow" pitchFamily="34" charset="0"/>
              </a:rPr>
              <a:t>We can say that all vector elements are equal if the variance is zero. We can find variance by using the </a:t>
            </a:r>
            <a:r>
              <a:rPr lang="en-US" dirty="0" err="1">
                <a:latin typeface="Arial Narrow" pitchFamily="34" charset="0"/>
              </a:rPr>
              <a:t>var</a:t>
            </a:r>
            <a:r>
              <a:rPr lang="en-US" dirty="0">
                <a:latin typeface="Arial Narrow" pitchFamily="34" charset="0"/>
              </a:rPr>
              <a:t>() function</a:t>
            </a:r>
          </a:p>
          <a:p>
            <a:endParaRPr lang="en-US" dirty="0"/>
          </a:p>
        </p:txBody>
      </p:sp>
      <p:pic>
        <p:nvPicPr>
          <p:cNvPr id="72706" name="Picture 2"/>
          <p:cNvPicPr>
            <a:picLocks noChangeAspect="1" noChangeArrowheads="1"/>
          </p:cNvPicPr>
          <p:nvPr/>
        </p:nvPicPr>
        <p:blipFill>
          <a:blip r:embed="rId2"/>
          <a:srcRect/>
          <a:stretch>
            <a:fillRect/>
          </a:stretch>
        </p:blipFill>
        <p:spPr bwMode="auto">
          <a:xfrm>
            <a:off x="5797295" y="1043793"/>
            <a:ext cx="6248337" cy="5073353"/>
          </a:xfrm>
          <a:prstGeom prst="rect">
            <a:avLst/>
          </a:prstGeom>
          <a:noFill/>
          <a:ln w="9525">
            <a:noFill/>
            <a:miter lim="800000"/>
            <a:headEnd/>
            <a:tailEnd/>
          </a:ln>
          <a:effec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5059680" cy="4351338"/>
          </a:xfrm>
        </p:spPr>
        <p:txBody>
          <a:bodyPr/>
          <a:lstStyle/>
          <a:p>
            <a:pPr algn="just"/>
            <a:r>
              <a:rPr lang="en-US" b="1" dirty="0">
                <a:latin typeface="Arial Narrow" pitchFamily="34" charset="0"/>
              </a:rPr>
              <a:t>Method 2: Using </a:t>
            </a:r>
            <a:r>
              <a:rPr lang="en-US" b="1" dirty="0">
                <a:latin typeface="Arial Narrow" pitchFamily="34" charset="0"/>
                <a:hlinkClick r:id="rId2"/>
              </a:rPr>
              <a:t>length()</a:t>
            </a:r>
            <a:r>
              <a:rPr lang="en-US" b="1" dirty="0">
                <a:latin typeface="Arial Narrow" pitchFamily="34" charset="0"/>
              </a:rPr>
              <a:t>  and unique()  function</a:t>
            </a:r>
          </a:p>
          <a:p>
            <a:pPr algn="just"/>
            <a:r>
              <a:rPr lang="en-US" dirty="0">
                <a:latin typeface="Arial Narrow" pitchFamily="34" charset="0"/>
              </a:rPr>
              <a:t>By using unique function if all the elements are the same then the length is 1 so by this way if the length is 1, we can say all elements in a vector are equal.</a:t>
            </a:r>
          </a:p>
          <a:p>
            <a:endParaRPr lang="en-US" dirty="0"/>
          </a:p>
        </p:txBody>
      </p:sp>
      <p:pic>
        <p:nvPicPr>
          <p:cNvPr id="73730" name="Picture 2"/>
          <p:cNvPicPr>
            <a:picLocks noChangeAspect="1" noChangeArrowheads="1"/>
          </p:cNvPicPr>
          <p:nvPr/>
        </p:nvPicPr>
        <p:blipFill>
          <a:blip r:embed="rId3"/>
          <a:srcRect/>
          <a:stretch>
            <a:fillRect/>
          </a:stretch>
        </p:blipFill>
        <p:spPr bwMode="auto">
          <a:xfrm>
            <a:off x="6153911" y="118872"/>
            <a:ext cx="5789041" cy="5817362"/>
          </a:xfrm>
          <a:prstGeom prst="rect">
            <a:avLst/>
          </a:prstGeom>
          <a:noFill/>
          <a:ln w="9525">
            <a:noFill/>
            <a:miter lim="800000"/>
            <a:headEnd/>
            <a:tailEnd/>
          </a:ln>
          <a:effec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itchFamily="34" charset="0"/>
              </a:rPr>
              <a:t>Vector Element names</a:t>
            </a:r>
            <a:r>
              <a:rPr lang="en-US" dirty="0"/>
              <a:t/>
            </a:r>
            <a:br>
              <a:rPr lang="en-US" dirty="0"/>
            </a:br>
            <a:endParaRPr lang="en-US" dirty="0"/>
          </a:p>
        </p:txBody>
      </p:sp>
      <p:sp>
        <p:nvSpPr>
          <p:cNvPr id="3" name="Content Placeholder 2"/>
          <p:cNvSpPr>
            <a:spLocks noGrp="1"/>
          </p:cNvSpPr>
          <p:nvPr>
            <p:ph idx="1"/>
          </p:nvPr>
        </p:nvSpPr>
        <p:spPr/>
        <p:txBody>
          <a:bodyPr/>
          <a:lstStyle/>
          <a:p>
            <a:pPr algn="just"/>
            <a:r>
              <a:rPr lang="en-US" dirty="0">
                <a:latin typeface="Arial Narrow" pitchFamily="34" charset="0"/>
              </a:rPr>
              <a:t>The elements of a vector can optionally be given names. For example, say we have a 50-element vector showing the population of each state in the United States. </a:t>
            </a:r>
          </a:p>
          <a:p>
            <a:pPr algn="just"/>
            <a:r>
              <a:rPr lang="en-US" dirty="0">
                <a:latin typeface="Arial Narrow" pitchFamily="34" charset="0"/>
              </a:rPr>
              <a:t>We could name each element according to its state name, such as "Montana" and "New Jersey". </a:t>
            </a:r>
          </a:p>
          <a:p>
            <a:pPr algn="just"/>
            <a:r>
              <a:rPr lang="en-US" dirty="0">
                <a:latin typeface="Arial Narrow" pitchFamily="34" charset="0"/>
              </a:rPr>
              <a:t>This in turn might lead to naming points in plots, and so on.</a:t>
            </a:r>
          </a:p>
          <a:p>
            <a:pPr algn="just"/>
            <a:r>
              <a:rPr lang="en-US" dirty="0">
                <a:latin typeface="Arial Narrow" pitchFamily="34" charset="0"/>
              </a:rPr>
              <a:t>We can assign or query vector element names via the names() function:</a:t>
            </a:r>
          </a:p>
          <a:p>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74754" name="Picture 2"/>
          <p:cNvPicPr>
            <a:picLocks noChangeAspect="1" noChangeArrowheads="1"/>
          </p:cNvPicPr>
          <p:nvPr/>
        </p:nvPicPr>
        <p:blipFill>
          <a:blip r:embed="rId2"/>
          <a:srcRect/>
          <a:stretch>
            <a:fillRect/>
          </a:stretch>
        </p:blipFill>
        <p:spPr bwMode="auto">
          <a:xfrm>
            <a:off x="3364992" y="246888"/>
            <a:ext cx="5647500" cy="6611112"/>
          </a:xfrm>
          <a:prstGeom prst="rect">
            <a:avLst/>
          </a:prstGeom>
          <a:noFill/>
          <a:ln w="9525">
            <a:noFill/>
            <a:miter lim="800000"/>
            <a:headEnd/>
            <a:tailEnd/>
          </a:ln>
          <a:effec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2"/>
          <p:cNvPicPr>
            <a:picLocks noChangeAspect="1" noChangeArrowheads="1"/>
          </p:cNvPicPr>
          <p:nvPr/>
        </p:nvPicPr>
        <p:blipFill>
          <a:blip r:embed="rId2"/>
          <a:srcRect/>
          <a:stretch>
            <a:fillRect/>
          </a:stretch>
        </p:blipFill>
        <p:spPr bwMode="auto">
          <a:xfrm>
            <a:off x="1706563" y="1838325"/>
            <a:ext cx="8774112" cy="318135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554</TotalTime>
  <Words>3795</Words>
  <Application>Microsoft Office PowerPoint</Application>
  <PresentationFormat>Custom</PresentationFormat>
  <Paragraphs>412</Paragraphs>
  <Slides>82</Slides>
  <Notes>1</Notes>
  <HiddenSlides>0</HiddenSlides>
  <MMClips>0</MMClips>
  <ScaleCrop>false</ScaleCrop>
  <HeadingPairs>
    <vt:vector size="4" baseType="variant">
      <vt:variant>
        <vt:lpstr>Theme</vt:lpstr>
      </vt:variant>
      <vt:variant>
        <vt:i4>1</vt:i4>
      </vt:variant>
      <vt:variant>
        <vt:lpstr>Slide Titles</vt:lpstr>
      </vt:variant>
      <vt:variant>
        <vt:i4>82</vt:i4>
      </vt:variant>
    </vt:vector>
  </HeadingPairs>
  <TitlesOfParts>
    <vt:vector size="83" baseType="lpstr">
      <vt:lpstr>Office Theme</vt:lpstr>
      <vt:lpstr>Slide 1</vt:lpstr>
      <vt:lpstr>Slide 2</vt:lpstr>
      <vt:lpstr>1.1 Introducing to R</vt:lpstr>
      <vt:lpstr>Slide 4</vt:lpstr>
      <vt:lpstr>Slide 5</vt:lpstr>
      <vt:lpstr>Slide 6</vt:lpstr>
      <vt:lpstr>Assignment Operator in R</vt:lpstr>
      <vt:lpstr>Basic Data Types </vt:lpstr>
      <vt:lpstr>Slide 9</vt:lpstr>
      <vt:lpstr>1.2 Data structures in R  </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Factors</vt:lpstr>
      <vt:lpstr>Slide 24</vt:lpstr>
      <vt:lpstr>Slide 25</vt:lpstr>
      <vt:lpstr>Slide 26</vt:lpstr>
      <vt:lpstr>Slide 27</vt:lpstr>
      <vt:lpstr>Slide 28</vt:lpstr>
      <vt:lpstr>Slide 29</vt:lpstr>
      <vt:lpstr>1.3 Help Functions in R  </vt:lpstr>
      <vt:lpstr>Slide 31</vt:lpstr>
      <vt:lpstr>Slide 32</vt:lpstr>
      <vt:lpstr>1.4 Vectors</vt:lpstr>
      <vt:lpstr>1.5 Scalars</vt:lpstr>
      <vt:lpstr>1.6 Declarations  </vt:lpstr>
      <vt:lpstr>1.7 Vector Recycling</vt:lpstr>
      <vt:lpstr>1.8 Common Vector Operations</vt:lpstr>
      <vt:lpstr>Slide 38</vt:lpstr>
      <vt:lpstr>Slide 39</vt:lpstr>
      <vt:lpstr>Slide 40</vt:lpstr>
      <vt:lpstr>Slide 41</vt:lpstr>
      <vt:lpstr>Slide 42</vt:lpstr>
      <vt:lpstr>Slide 43</vt:lpstr>
      <vt:lpstr>Using all and any</vt:lpstr>
      <vt:lpstr>Vectorized operations</vt:lpstr>
      <vt:lpstr>Slide 46</vt:lpstr>
      <vt:lpstr>Slide 47</vt:lpstr>
      <vt:lpstr>Slide 48</vt:lpstr>
      <vt:lpstr>Slide 49</vt:lpstr>
      <vt:lpstr>Slide 50</vt:lpstr>
      <vt:lpstr>Slide 51</vt:lpstr>
      <vt:lpstr>Slide 52</vt:lpstr>
      <vt:lpstr>Slide 53</vt:lpstr>
      <vt:lpstr>Slide 54</vt:lpstr>
      <vt:lpstr>Filtering</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NA and NULL values </vt:lpstr>
      <vt:lpstr>Slide 70</vt:lpstr>
      <vt:lpstr>Slide 71</vt:lpstr>
      <vt:lpstr>Vectorized if-then else</vt:lpstr>
      <vt:lpstr>Slide 73</vt:lpstr>
      <vt:lpstr>Slide 74</vt:lpstr>
      <vt:lpstr>Slide 75</vt:lpstr>
      <vt:lpstr>Slide 76</vt:lpstr>
      <vt:lpstr>Slide 77</vt:lpstr>
      <vt:lpstr>Vector Equality </vt:lpstr>
      <vt:lpstr>Slide 79</vt:lpstr>
      <vt:lpstr>Vector Element names </vt:lpstr>
      <vt:lpstr>Slide 81</vt:lpstr>
      <vt:lpstr>Slide 82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Pitchumani Angayarkanni</dc:creator>
  <cp:lastModifiedBy>HP</cp:lastModifiedBy>
  <cp:revision>46</cp:revision>
  <dcterms:created xsi:type="dcterms:W3CDTF">2026-06-15T04:42:10Z</dcterms:created>
  <dcterms:modified xsi:type="dcterms:W3CDTF">2026-07-22T14:35:10Z</dcterms:modified>
</cp:coreProperties>
</file>