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9"/>
  </p:notesMasterIdLst>
  <p:sldIdLst>
    <p:sldId id="256" r:id="rId2"/>
    <p:sldId id="257" r:id="rId3"/>
    <p:sldId id="323" r:id="rId4"/>
    <p:sldId id="324" r:id="rId5"/>
    <p:sldId id="325" r:id="rId6"/>
    <p:sldId id="258" r:id="rId7"/>
    <p:sldId id="259" r:id="rId8"/>
    <p:sldId id="260" r:id="rId9"/>
    <p:sldId id="261" r:id="rId10"/>
    <p:sldId id="262" r:id="rId11"/>
    <p:sldId id="263" r:id="rId12"/>
    <p:sldId id="326" r:id="rId13"/>
    <p:sldId id="327" r:id="rId14"/>
    <p:sldId id="328" r:id="rId15"/>
    <p:sldId id="329" r:id="rId16"/>
    <p:sldId id="330" r:id="rId17"/>
    <p:sldId id="331" r:id="rId18"/>
    <p:sldId id="264" r:id="rId19"/>
    <p:sldId id="265" r:id="rId20"/>
    <p:sldId id="266" r:id="rId21"/>
    <p:sldId id="267" r:id="rId22"/>
    <p:sldId id="332" r:id="rId23"/>
    <p:sldId id="333" r:id="rId24"/>
    <p:sldId id="334" r:id="rId25"/>
    <p:sldId id="268" r:id="rId26"/>
    <p:sldId id="269" r:id="rId27"/>
    <p:sldId id="270" r:id="rId28"/>
    <p:sldId id="271" r:id="rId29"/>
    <p:sldId id="272" r:id="rId30"/>
    <p:sldId id="273" r:id="rId31"/>
    <p:sldId id="274" r:id="rId32"/>
    <p:sldId id="275" r:id="rId33"/>
    <p:sldId id="335" r:id="rId34"/>
    <p:sldId id="337" r:id="rId35"/>
    <p:sldId id="276" r:id="rId36"/>
    <p:sldId id="336" r:id="rId37"/>
    <p:sldId id="277" r:id="rId38"/>
    <p:sldId id="338" r:id="rId39"/>
    <p:sldId id="278" r:id="rId40"/>
    <p:sldId id="339" r:id="rId41"/>
    <p:sldId id="279" r:id="rId42"/>
    <p:sldId id="280" r:id="rId43"/>
    <p:sldId id="281" r:id="rId44"/>
    <p:sldId id="282" r:id="rId45"/>
    <p:sldId id="285" r:id="rId46"/>
    <p:sldId id="340" r:id="rId47"/>
    <p:sldId id="286" r:id="rId48"/>
    <p:sldId id="287" r:id="rId49"/>
    <p:sldId id="341" r:id="rId50"/>
    <p:sldId id="288" r:id="rId51"/>
    <p:sldId id="345" r:id="rId52"/>
    <p:sldId id="344" r:id="rId53"/>
    <p:sldId id="346" r:id="rId54"/>
    <p:sldId id="289" r:id="rId55"/>
    <p:sldId id="290" r:id="rId56"/>
    <p:sldId id="342" r:id="rId57"/>
    <p:sldId id="343" r:id="rId58"/>
    <p:sldId id="292" r:id="rId59"/>
    <p:sldId id="294" r:id="rId60"/>
    <p:sldId id="295" r:id="rId61"/>
    <p:sldId id="296" r:id="rId62"/>
    <p:sldId id="347" r:id="rId63"/>
    <p:sldId id="297" r:id="rId64"/>
    <p:sldId id="298" r:id="rId65"/>
    <p:sldId id="299" r:id="rId66"/>
    <p:sldId id="353" r:id="rId67"/>
    <p:sldId id="348" r:id="rId68"/>
    <p:sldId id="349" r:id="rId69"/>
    <p:sldId id="350" r:id="rId70"/>
    <p:sldId id="356" r:id="rId71"/>
    <p:sldId id="357" r:id="rId72"/>
    <p:sldId id="358" r:id="rId73"/>
    <p:sldId id="359" r:id="rId74"/>
    <p:sldId id="360" r:id="rId75"/>
    <p:sldId id="361" r:id="rId76"/>
    <p:sldId id="300" r:id="rId77"/>
    <p:sldId id="301" r:id="rId78"/>
    <p:sldId id="302" r:id="rId79"/>
    <p:sldId id="362" r:id="rId80"/>
    <p:sldId id="303" r:id="rId81"/>
    <p:sldId id="304" r:id="rId82"/>
    <p:sldId id="305" r:id="rId83"/>
    <p:sldId id="306" r:id="rId84"/>
    <p:sldId id="307" r:id="rId85"/>
    <p:sldId id="352" r:id="rId86"/>
    <p:sldId id="308" r:id="rId87"/>
    <p:sldId id="354" r:id="rId88"/>
    <p:sldId id="351" r:id="rId89"/>
    <p:sldId id="309" r:id="rId90"/>
    <p:sldId id="310" r:id="rId91"/>
    <p:sldId id="355" r:id="rId92"/>
    <p:sldId id="311" r:id="rId93"/>
    <p:sldId id="318" r:id="rId94"/>
    <p:sldId id="319" r:id="rId95"/>
    <p:sldId id="320" r:id="rId96"/>
    <p:sldId id="321" r:id="rId97"/>
    <p:sldId id="322" r:id="rId9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7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7247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7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8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8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081E38"/>
          </a:solidFill>
          <a:ln/>
        </p:spPr>
      </p:sp>
      <p:sp>
        <p:nvSpPr>
          <p:cNvPr id="3" name="Shape 1"/>
          <p:cNvSpPr/>
          <p:nvPr/>
        </p:nvSpPr>
        <p:spPr>
          <a:xfrm>
            <a:off x="8321040" y="1097280"/>
            <a:ext cx="3291840" cy="3291840"/>
          </a:xfrm>
          <a:prstGeom prst="ellipse">
            <a:avLst/>
          </a:prstGeom>
          <a:ln w="12700">
            <a:solidFill>
              <a:srgbClr val="1C7293">
                <a:alpha val="60000"/>
              </a:srgbClr>
            </a:solidFill>
            <a:prstDash val="solid"/>
          </a:ln>
        </p:spPr>
      </p:sp>
      <p:sp>
        <p:nvSpPr>
          <p:cNvPr id="4" name="Shape 2"/>
          <p:cNvSpPr/>
          <p:nvPr/>
        </p:nvSpPr>
        <p:spPr>
          <a:xfrm>
            <a:off x="8366760" y="2148840"/>
            <a:ext cx="2834640" cy="2834640"/>
          </a:xfrm>
          <a:prstGeom prst="ellipse">
            <a:avLst/>
          </a:prstGeom>
          <a:ln w="12700">
            <a:solidFill>
              <a:srgbClr val="1C7293">
                <a:alpha val="60000"/>
              </a:srgbClr>
            </a:solidFill>
            <a:prstDash val="solid"/>
          </a:ln>
        </p:spPr>
      </p:sp>
      <p:sp>
        <p:nvSpPr>
          <p:cNvPr id="5" name="Shape 3"/>
          <p:cNvSpPr/>
          <p:nvPr/>
        </p:nvSpPr>
        <p:spPr>
          <a:xfrm>
            <a:off x="8412480" y="3200400"/>
            <a:ext cx="2377440" cy="2377440"/>
          </a:xfrm>
          <a:prstGeom prst="ellipse">
            <a:avLst/>
          </a:prstGeom>
          <a:ln w="12700">
            <a:solidFill>
              <a:srgbClr val="1C7293">
                <a:alpha val="60000"/>
              </a:srgbClr>
            </a:solidFill>
            <a:prstDash val="solid"/>
          </a:ln>
        </p:spPr>
      </p:sp>
      <p:sp>
        <p:nvSpPr>
          <p:cNvPr id="6" name="Shape 4"/>
          <p:cNvSpPr/>
          <p:nvPr/>
        </p:nvSpPr>
        <p:spPr>
          <a:xfrm>
            <a:off x="8458200" y="4251960"/>
            <a:ext cx="1920240" cy="1920240"/>
          </a:xfrm>
          <a:prstGeom prst="ellipse">
            <a:avLst/>
          </a:prstGeom>
          <a:ln w="12700">
            <a:solidFill>
              <a:srgbClr val="1C7293">
                <a:alpha val="60000"/>
              </a:srgbClr>
            </a:solidFill>
            <a:prstDash val="solid"/>
          </a:ln>
        </p:spPr>
      </p:sp>
      <p:sp>
        <p:nvSpPr>
          <p:cNvPr id="7" name="Shape 5"/>
          <p:cNvSpPr/>
          <p:nvPr/>
        </p:nvSpPr>
        <p:spPr>
          <a:xfrm>
            <a:off x="8503920" y="5303520"/>
            <a:ext cx="1463040" cy="1463040"/>
          </a:xfrm>
          <a:prstGeom prst="ellipse">
            <a:avLst/>
          </a:prstGeom>
          <a:ln w="12700">
            <a:solidFill>
              <a:srgbClr val="1C7293">
                <a:alpha val="60000"/>
              </a:srgbClr>
            </a:solidFill>
            <a:prstDash val="solid"/>
          </a:ln>
        </p:spPr>
      </p:sp>
      <p:sp>
        <p:nvSpPr>
          <p:cNvPr id="8" name="Shape 6"/>
          <p:cNvSpPr/>
          <p:nvPr/>
        </p:nvSpPr>
        <p:spPr>
          <a:xfrm>
            <a:off x="9006840" y="2834640"/>
            <a:ext cx="1371600" cy="1371600"/>
          </a:xfrm>
          <a:prstGeom prst="ellipse">
            <a:avLst/>
          </a:prstGeom>
          <a:solidFill>
            <a:srgbClr val="F2A93B"/>
          </a:solidFill>
          <a:ln/>
        </p:spPr>
      </p:sp>
      <p:pic>
        <p:nvPicPr>
          <p:cNvPr id="9" name="Image 0" descr="icons/book.png"/>
          <p:cNvPicPr>
            <a:picLocks noChangeAspect="1"/>
          </p:cNvPicPr>
          <p:nvPr/>
        </p:nvPicPr>
        <p:blipFill>
          <a:blip r:embed="rId3"/>
          <a:stretch>
            <a:fillRect/>
          </a:stretch>
        </p:blipFill>
        <p:spPr>
          <a:xfrm>
            <a:off x="9315450" y="3143250"/>
            <a:ext cx="754380" cy="754380"/>
          </a:xfrm>
          <a:prstGeom prst="rect">
            <a:avLst/>
          </a:prstGeom>
        </p:spPr>
      </p:pic>
      <p:sp>
        <p:nvSpPr>
          <p:cNvPr id="10" name="Text 7"/>
          <p:cNvSpPr/>
          <p:nvPr/>
        </p:nvSpPr>
        <p:spPr>
          <a:xfrm>
            <a:off x="640080" y="1143000"/>
            <a:ext cx="694944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R PROGRAMMING  |  COURSE CODE 35021P28</a:t>
            </a:r>
            <a:endParaRPr lang="en-US" sz="1300" dirty="0"/>
          </a:p>
        </p:txBody>
      </p:sp>
      <p:sp>
        <p:nvSpPr>
          <p:cNvPr id="11" name="Text 8"/>
          <p:cNvSpPr/>
          <p:nvPr/>
        </p:nvSpPr>
        <p:spPr>
          <a:xfrm>
            <a:off x="594360" y="1572768"/>
            <a:ext cx="7315200" cy="914400"/>
          </a:xfrm>
          <a:prstGeom prst="rect">
            <a:avLst/>
          </a:prstGeom>
          <a:noFill/>
          <a:ln/>
        </p:spPr>
        <p:txBody>
          <a:bodyPr wrap="square"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UNIT V</a:t>
            </a:r>
            <a:endParaRPr lang="en-US" sz="5200" dirty="0"/>
          </a:p>
        </p:txBody>
      </p:sp>
      <p:sp>
        <p:nvSpPr>
          <p:cNvPr id="12" name="Text 9"/>
          <p:cNvSpPr/>
          <p:nvPr/>
        </p:nvSpPr>
        <p:spPr>
          <a:xfrm>
            <a:off x="640080" y="2487168"/>
            <a:ext cx="6949440" cy="594360"/>
          </a:xfrm>
          <a:prstGeom prst="rect">
            <a:avLst/>
          </a:prstGeom>
          <a:noFill/>
          <a:ln/>
        </p:spPr>
        <p:txBody>
          <a:bodyPr wrap="square" rtlCol="0" anchor="ctr"/>
          <a:lstStyle/>
          <a:p>
            <a:pPr marL="0" indent="0">
              <a:buNone/>
            </a:pPr>
            <a:r>
              <a:rPr lang="en-US" sz="2400" i="1" dirty="0">
                <a:solidFill>
                  <a:srgbClr val="CADCFC"/>
                </a:solidFill>
                <a:latin typeface="Cambria" pitchFamily="34" charset="0"/>
                <a:ea typeface="Cambria" pitchFamily="34" charset="-122"/>
                <a:cs typeface="Cambria" pitchFamily="34" charset="-120"/>
              </a:rPr>
              <a:t>Interfacing R and Statistics</a:t>
            </a:r>
            <a:endParaRPr lang="en-US" sz="2400" dirty="0"/>
          </a:p>
        </p:txBody>
      </p:sp>
      <p:sp>
        <p:nvSpPr>
          <p:cNvPr id="14" name="Text 11"/>
          <p:cNvSpPr/>
          <p:nvPr/>
        </p:nvSpPr>
        <p:spPr>
          <a:xfrm>
            <a:off x="640080" y="3657600"/>
            <a:ext cx="6949440" cy="822960"/>
          </a:xfrm>
          <a:prstGeom prst="rect">
            <a:avLst/>
          </a:prstGeom>
          <a:noFill/>
          <a:ln/>
        </p:spPr>
        <p:txBody>
          <a:bodyPr wrap="square" rtlCol="0" anchor="ctr"/>
          <a:lstStyle/>
          <a:p>
            <a:pPr marL="0" indent="0">
              <a:lnSpc>
                <a:spcPct val="130000"/>
              </a:lnSpc>
              <a:buNone/>
            </a:pPr>
            <a:r>
              <a:rPr lang="en-US" sz="1250" dirty="0">
                <a:solidFill>
                  <a:srgbClr val="B9CBDA"/>
                </a:solidFill>
                <a:latin typeface="Calibri" pitchFamily="34" charset="0"/>
                <a:ea typeface="Calibri" pitchFamily="34" charset="-122"/>
                <a:cs typeface="Calibri" pitchFamily="34" charset="-120"/>
              </a:rPr>
              <a:t>Every Unit V function with its full syntax and argument reference, plus 21 complete, runnable R programs — one detailed slide per function, one or more slides per program.</a:t>
            </a:r>
            <a:endParaRPr lang="en-US" sz="1250" dirty="0"/>
          </a:p>
        </p:txBody>
      </p:sp>
      <p:sp>
        <p:nvSpPr>
          <p:cNvPr id="15" name="Shape 12"/>
          <p:cNvSpPr/>
          <p:nvPr/>
        </p:nvSpPr>
        <p:spPr>
          <a:xfrm>
            <a:off x="658368" y="4617720"/>
            <a:ext cx="2926080" cy="0"/>
          </a:xfrm>
          <a:prstGeom prst="line">
            <a:avLst/>
          </a:prstGeom>
          <a:noFill/>
          <a:ln w="19050">
            <a:solidFill>
              <a:srgbClr val="1C7293"/>
            </a:solidFill>
            <a:prstDash val="solid"/>
          </a:ln>
        </p:spPr>
      </p:sp>
      <p:sp>
        <p:nvSpPr>
          <p:cNvPr id="16" name="Text 13"/>
          <p:cNvSpPr/>
          <p:nvPr/>
        </p:nvSpPr>
        <p:spPr>
          <a:xfrm>
            <a:off x="640080" y="4800600"/>
            <a:ext cx="6949440" cy="45720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Course Outcome CO5 — Learn Big Data and apply R for statistical and interfacing tasks</a:t>
            </a:r>
            <a:endParaRPr lang="en-US" sz="1200" dirty="0"/>
          </a:p>
        </p:txBody>
      </p:sp>
      <p:sp>
        <p:nvSpPr>
          <p:cNvPr id="17" name="Text 14"/>
          <p:cNvSpPr/>
          <p:nvPr/>
        </p:nvSpPr>
        <p:spPr>
          <a:xfrm>
            <a:off x="640080" y="5349240"/>
            <a:ext cx="704088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11 sections   •   26 functions with syntax &amp; arguments   •   21 complete programs</a:t>
            </a:r>
            <a:endParaRPr lang="en-US" sz="1200" dirty="0"/>
          </a:p>
        </p:txBody>
      </p:sp>
      <p:sp>
        <p:nvSpPr>
          <p:cNvPr id="18" name="Text 15"/>
          <p:cNvSpPr/>
          <p:nvPr/>
        </p:nvSpPr>
        <p:spPr>
          <a:xfrm>
            <a:off x="640080" y="6172200"/>
            <a:ext cx="6949440" cy="320040"/>
          </a:xfrm>
          <a:prstGeom prst="rect">
            <a:avLst/>
          </a:prstGeom>
          <a:noFill/>
          <a:ln/>
        </p:spPr>
        <p:txBody>
          <a:bodyPr wrap="square" rtlCol="0" anchor="ctr"/>
          <a:lstStyle/>
          <a:p>
            <a:pPr marL="0" indent="0">
              <a:buNone/>
            </a:pPr>
            <a:r>
              <a:rPr lang="en-US" sz="1100" dirty="0">
                <a:solidFill>
                  <a:srgbClr val="8FA6B8"/>
                </a:solidFill>
                <a:latin typeface="Calibri" pitchFamily="34" charset="0"/>
                <a:ea typeface="Calibri" pitchFamily="34" charset="-122"/>
                <a:cs typeface="Calibri" pitchFamily="34" charset="-120"/>
              </a:rPr>
              <a:t>Department of Computer Science and Engineering</a:t>
            </a:r>
            <a:endParaRPr lang="en-US" sz="1100" dirty="0"/>
          </a:p>
        </p:txBody>
      </p:sp>
      <p:sp>
        <p:nvSpPr>
          <p:cNvPr id="19" name="Text 16"/>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6E859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1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Interfacing R to Other Languages</a:t>
            </a:r>
            <a:endParaRPr lang="en-US" sz="3800" dirty="0"/>
          </a:p>
        </p:txBody>
      </p:sp>
      <p:sp>
        <p:nvSpPr>
          <p:cNvPr id="7" name="Text 4"/>
          <p:cNvSpPr/>
          <p:nvPr/>
        </p:nvSpPr>
        <p:spPr>
          <a:xfrm>
            <a:off x="640080" y="3703320"/>
            <a:ext cx="7040880" cy="1737360"/>
          </a:xfrm>
          <a:prstGeom prst="rect">
            <a:avLst/>
          </a:prstGeom>
          <a:noFill/>
          <a:ln/>
        </p:spPr>
        <p:txBody>
          <a:bodyPr wrap="square" rtlCol="0" anchor="t"/>
          <a:lstStyle/>
          <a:p>
            <a:endParaRPr lang="en-US" sz="1350" dirty="0">
              <a:solidFill>
                <a:schemeClr val="bg1"/>
              </a:solidFill>
            </a:endParaRPr>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5 functions with syntax &amp; arguments   •   3 complete programs</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2</a:t>
            </a:r>
            <a:endParaRPr lang="en-US" sz="900" dirty="0"/>
          </a:p>
        </p:txBody>
      </p:sp>
      <p:sp>
        <p:nvSpPr>
          <p:cNvPr id="13" name="TextBox 12">
            <a:extLst>
              <a:ext uri="{FF2B5EF4-FFF2-40B4-BE49-F238E27FC236}">
                <a16:creationId xmlns:a16="http://schemas.microsoft.com/office/drawing/2014/main" id="{608C2E86-8BF2-57FA-1F73-6D510B3ED70A}"/>
              </a:ext>
            </a:extLst>
          </p:cNvPr>
          <p:cNvSpPr txBox="1"/>
          <p:nvPr/>
        </p:nvSpPr>
        <p:spPr>
          <a:xfrm>
            <a:off x="294261" y="3901797"/>
            <a:ext cx="6094378" cy="1200329"/>
          </a:xfrm>
          <a:prstGeom prst="rect">
            <a:avLst/>
          </a:prstGeom>
          <a:noFill/>
        </p:spPr>
        <p:txBody>
          <a:bodyPr wrap="square">
            <a:spAutoFit/>
          </a:bodyPr>
          <a:lstStyle/>
          <a:p>
            <a:r>
              <a:rPr lang="en-IN" sz="1800" b="1" i="0" u="none" strike="noStrike" baseline="0" dirty="0">
                <a:solidFill>
                  <a:srgbClr val="FFFF00"/>
                </a:solidFill>
                <a:latin typeface="Times New Roman" panose="02020603050405020304" pitchFamily="18" charset="0"/>
              </a:rPr>
              <a:t>INTERFACING </a:t>
            </a:r>
            <a:endParaRPr lang="en-IN" sz="1800" b="0" i="0" u="none" strike="noStrike" baseline="0" dirty="0">
              <a:solidFill>
                <a:srgbClr val="FFFF00"/>
              </a:solidFill>
              <a:latin typeface="Times New Roman" panose="02020603050405020304" pitchFamily="18" charset="0"/>
            </a:endParaRPr>
          </a:p>
          <a:p>
            <a:r>
              <a:rPr lang="en-US" sz="1800" b="0" i="0" u="none" strike="noStrike" baseline="0" dirty="0">
                <a:solidFill>
                  <a:schemeClr val="bg1"/>
                </a:solidFill>
                <a:latin typeface="Times New Roman" panose="02020603050405020304" pitchFamily="18" charset="0"/>
              </a:rPr>
              <a:t>Interfacing R to other languages – Parallel R – Basic Statistics – Linear Model – Generalized Linear models – Non-linear models – Time Series and Auto-correlation – Clustering </a:t>
            </a:r>
            <a:endParaRPr lang="en-IN"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EA3442-D45B-FDF8-AE4E-A07F6E161A3A}"/>
              </a:ext>
            </a:extLst>
          </p:cNvPr>
          <p:cNvSpPr txBox="1"/>
          <p:nvPr/>
        </p:nvSpPr>
        <p:spPr>
          <a:xfrm>
            <a:off x="283075" y="1582341"/>
            <a:ext cx="10611904" cy="4194931"/>
          </a:xfrm>
          <a:prstGeom prst="rect">
            <a:avLst/>
          </a:prstGeom>
          <a:noFill/>
        </p:spPr>
        <p:txBody>
          <a:bodyPr wrap="square">
            <a:spAutoFit/>
          </a:bodyPr>
          <a:lstStyle/>
          <a:p>
            <a:pPr>
              <a:lnSpc>
                <a:spcPct val="150000"/>
              </a:lnSpc>
              <a:buNone/>
            </a:pPr>
            <a:r>
              <a:rPr lang="en-US" dirty="0">
                <a:latin typeface="Arial Narrow" panose="020B0606020202030204" pitchFamily="34" charset="0"/>
              </a:rPr>
              <a:t>R is an interpreted, high-level programming language well suited for data analysis, visualization, and statistical modelling. However, it may be inefficient when executing large loops or computationally intensive numerical operations.</a:t>
            </a:r>
          </a:p>
          <a:p>
            <a:pPr>
              <a:lnSpc>
                <a:spcPct val="150000"/>
              </a:lnSpc>
              <a:buNone/>
            </a:pPr>
            <a:r>
              <a:rPr lang="en-US" dirty="0">
                <a:latin typeface="Arial Narrow" panose="020B0606020202030204" pitchFamily="34" charset="0"/>
              </a:rPr>
              <a:t>C and C++ are compiled languages that operate closer to the hardware and provide:</a:t>
            </a:r>
          </a:p>
          <a:p>
            <a:pPr>
              <a:lnSpc>
                <a:spcPct val="150000"/>
              </a:lnSpc>
              <a:buFont typeface="Arial" panose="020B0604020202020204" pitchFamily="34" charset="0"/>
              <a:buChar char="•"/>
            </a:pPr>
            <a:r>
              <a:rPr lang="en-US" dirty="0">
                <a:latin typeface="Arial Narrow" panose="020B0606020202030204" pitchFamily="34" charset="0"/>
              </a:rPr>
              <a:t>Faster execution </a:t>
            </a:r>
          </a:p>
          <a:p>
            <a:pPr>
              <a:lnSpc>
                <a:spcPct val="150000"/>
              </a:lnSpc>
              <a:buFont typeface="Arial" panose="020B0604020202020204" pitchFamily="34" charset="0"/>
              <a:buChar char="•"/>
            </a:pPr>
            <a:r>
              <a:rPr lang="en-US" dirty="0">
                <a:latin typeface="Arial Narrow" panose="020B0606020202030204" pitchFamily="34" charset="0"/>
              </a:rPr>
              <a:t>Low-level memory control </a:t>
            </a:r>
          </a:p>
          <a:p>
            <a:pPr>
              <a:lnSpc>
                <a:spcPct val="150000"/>
              </a:lnSpc>
              <a:buFont typeface="Arial" panose="020B0604020202020204" pitchFamily="34" charset="0"/>
              <a:buChar char="•"/>
            </a:pPr>
            <a:r>
              <a:rPr lang="en-US" dirty="0">
                <a:latin typeface="Arial Narrow" panose="020B0606020202030204" pitchFamily="34" charset="0"/>
              </a:rPr>
              <a:t>Access to powerful external libraries </a:t>
            </a:r>
          </a:p>
          <a:p>
            <a:pPr>
              <a:lnSpc>
                <a:spcPct val="150000"/>
              </a:lnSpc>
              <a:buNone/>
            </a:pPr>
            <a:r>
              <a:rPr lang="en-US" b="1" dirty="0">
                <a:latin typeface="Arial Narrow" panose="020B0606020202030204" pitchFamily="34" charset="0"/>
              </a:rPr>
              <a:t>Interfacing R with C/C++ enables us to:</a:t>
            </a:r>
          </a:p>
          <a:p>
            <a:pPr>
              <a:lnSpc>
                <a:spcPct val="150000"/>
              </a:lnSpc>
              <a:buFont typeface="Arial" panose="020B0604020202020204" pitchFamily="34" charset="0"/>
              <a:buChar char="•"/>
            </a:pPr>
            <a:r>
              <a:rPr lang="en-US" dirty="0">
                <a:latin typeface="Arial Narrow" panose="020B0606020202030204" pitchFamily="34" charset="0"/>
              </a:rPr>
              <a:t>Combine R’s convenience with the performance of C/C++ </a:t>
            </a:r>
          </a:p>
          <a:p>
            <a:pPr>
              <a:lnSpc>
                <a:spcPct val="150000"/>
              </a:lnSpc>
              <a:buFont typeface="Arial" panose="020B0604020202020204" pitchFamily="34" charset="0"/>
              <a:buChar char="•"/>
            </a:pPr>
            <a:r>
              <a:rPr lang="en-US" dirty="0">
                <a:latin typeface="Arial Narrow" panose="020B0606020202030204" pitchFamily="34" charset="0"/>
              </a:rPr>
              <a:t>Extend R using custom compiled code </a:t>
            </a:r>
          </a:p>
          <a:p>
            <a:pPr>
              <a:lnSpc>
                <a:spcPct val="150000"/>
              </a:lnSpc>
              <a:buFont typeface="Arial" panose="020B0604020202020204" pitchFamily="34" charset="0"/>
              <a:buChar char="•"/>
            </a:pPr>
            <a:r>
              <a:rPr lang="en-US" dirty="0">
                <a:latin typeface="Arial Narrow" panose="020B0606020202030204" pitchFamily="34" charset="0"/>
              </a:rPr>
              <a:t>Directly use existing C/C++ functions in R</a:t>
            </a:r>
          </a:p>
        </p:txBody>
      </p:sp>
      <p:sp>
        <p:nvSpPr>
          <p:cNvPr id="4" name="Text 3">
            <a:extLst>
              <a:ext uri="{FF2B5EF4-FFF2-40B4-BE49-F238E27FC236}">
                <a16:creationId xmlns:a16="http://schemas.microsoft.com/office/drawing/2014/main" id="{CD6B1C3D-6793-5B97-D49F-BE6494C5B322}"/>
              </a:ext>
            </a:extLst>
          </p:cNvPr>
          <p:cNvSpPr/>
          <p:nvPr/>
        </p:nvSpPr>
        <p:spPr>
          <a:xfrm>
            <a:off x="283075" y="321985"/>
            <a:ext cx="10096338" cy="1371600"/>
          </a:xfrm>
          <a:prstGeom prst="rect">
            <a:avLst/>
          </a:prstGeom>
          <a:noFill/>
          <a:ln/>
        </p:spPr>
        <p:txBody>
          <a:bodyPr wrap="square" rtlCol="0" anchor="t"/>
          <a:lstStyle/>
          <a:p>
            <a:pPr marL="0" indent="0">
              <a:buNone/>
            </a:pPr>
            <a:r>
              <a:rPr lang="en-US" sz="3800" b="1" dirty="0">
                <a:latin typeface="Cambria" pitchFamily="34" charset="0"/>
                <a:ea typeface="Cambria" pitchFamily="34" charset="-122"/>
                <a:cs typeface="Cambria" pitchFamily="34" charset="-120"/>
              </a:rPr>
              <a:t>Interfacing R to C &amp; C++</a:t>
            </a:r>
            <a:endParaRPr lang="en-US" sz="3800" dirty="0"/>
          </a:p>
        </p:txBody>
      </p:sp>
    </p:spTree>
    <p:extLst>
      <p:ext uri="{BB962C8B-B14F-4D97-AF65-F5344CB8AC3E}">
        <p14:creationId xmlns:p14="http://schemas.microsoft.com/office/powerpoint/2010/main" val="1135074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D697FF-6289-1116-8C30-0419B8A7AB8E}"/>
              </a:ext>
            </a:extLst>
          </p:cNvPr>
          <p:cNvSpPr txBox="1"/>
          <p:nvPr/>
        </p:nvSpPr>
        <p:spPr>
          <a:xfrm>
            <a:off x="187257" y="1338671"/>
            <a:ext cx="6094378" cy="3363934"/>
          </a:xfrm>
          <a:prstGeom prst="rect">
            <a:avLst/>
          </a:prstGeom>
          <a:noFill/>
        </p:spPr>
        <p:txBody>
          <a:bodyPr wrap="square">
            <a:spAutoFit/>
          </a:bodyPr>
          <a:lstStyle/>
          <a:p>
            <a:pPr>
              <a:lnSpc>
                <a:spcPct val="150000"/>
              </a:lnSpc>
              <a:buNone/>
            </a:pPr>
            <a:r>
              <a:rPr lang="en-US" b="1" dirty="0">
                <a:latin typeface="Arial Narrow" panose="020B0606020202030204" pitchFamily="34" charset="0"/>
              </a:rPr>
              <a:t>Need for Interfacing</a:t>
            </a:r>
          </a:p>
          <a:p>
            <a:pPr>
              <a:lnSpc>
                <a:spcPct val="150000"/>
              </a:lnSpc>
              <a:buNone/>
            </a:pPr>
            <a:r>
              <a:rPr lang="en-US" dirty="0">
                <a:latin typeface="Arial Narrow" panose="020B0606020202030204" pitchFamily="34" charset="0"/>
              </a:rPr>
              <a:t>R may have performance limitations when processing computationally intensive tasks. Integrating R with C/C++ provides:</a:t>
            </a:r>
          </a:p>
          <a:p>
            <a:pPr>
              <a:lnSpc>
                <a:spcPct val="150000"/>
              </a:lnSpc>
              <a:buFont typeface="Arial" panose="020B0604020202020204" pitchFamily="34" charset="0"/>
              <a:buChar char="•"/>
            </a:pPr>
            <a:r>
              <a:rPr lang="en-US" dirty="0">
                <a:latin typeface="Arial Narrow" panose="020B0606020202030204" pitchFamily="34" charset="0"/>
              </a:rPr>
              <a:t>Faster loop execution </a:t>
            </a:r>
          </a:p>
          <a:p>
            <a:pPr>
              <a:lnSpc>
                <a:spcPct val="150000"/>
              </a:lnSpc>
              <a:buFont typeface="Arial" panose="020B0604020202020204" pitchFamily="34" charset="0"/>
              <a:buChar char="•"/>
            </a:pPr>
            <a:r>
              <a:rPr lang="en-US" dirty="0">
                <a:latin typeface="Arial Narrow" panose="020B0606020202030204" pitchFamily="34" charset="0"/>
              </a:rPr>
              <a:t>Improved memory utilization </a:t>
            </a:r>
          </a:p>
          <a:p>
            <a:pPr>
              <a:lnSpc>
                <a:spcPct val="150000"/>
              </a:lnSpc>
              <a:buFont typeface="Arial" panose="020B0604020202020204" pitchFamily="34" charset="0"/>
              <a:buChar char="•"/>
            </a:pPr>
            <a:r>
              <a:rPr lang="en-US" dirty="0">
                <a:latin typeface="Arial Narrow" panose="020B0606020202030204" pitchFamily="34" charset="0"/>
              </a:rPr>
              <a:t>Reuse of existing C/C++ algorithms </a:t>
            </a:r>
          </a:p>
          <a:p>
            <a:pPr>
              <a:lnSpc>
                <a:spcPct val="150000"/>
              </a:lnSpc>
              <a:buFont typeface="Arial" panose="020B0604020202020204" pitchFamily="34" charset="0"/>
              <a:buChar char="•"/>
            </a:pPr>
            <a:r>
              <a:rPr lang="en-US" dirty="0">
                <a:latin typeface="Arial Narrow" panose="020B0606020202030204" pitchFamily="34" charset="0"/>
              </a:rPr>
              <a:t>Better handling of complex data operations </a:t>
            </a:r>
          </a:p>
          <a:p>
            <a:pPr>
              <a:lnSpc>
                <a:spcPct val="150000"/>
              </a:lnSpc>
              <a:buFont typeface="Arial" panose="020B0604020202020204" pitchFamily="34" charset="0"/>
              <a:buChar char="•"/>
            </a:pPr>
            <a:r>
              <a:rPr lang="en-US" dirty="0">
                <a:latin typeface="Arial Narrow" panose="020B0606020202030204" pitchFamily="34" charset="0"/>
              </a:rPr>
              <a:t>Efficient processing of large datasets</a:t>
            </a:r>
          </a:p>
        </p:txBody>
      </p:sp>
    </p:spTree>
    <p:extLst>
      <p:ext uri="{BB962C8B-B14F-4D97-AF65-F5344CB8AC3E}">
        <p14:creationId xmlns:p14="http://schemas.microsoft.com/office/powerpoint/2010/main" val="3470953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9C4AF5E-71F5-30B4-66F2-46223F027BBB}"/>
              </a:ext>
            </a:extLst>
          </p:cNvPr>
          <p:cNvGraphicFramePr>
            <a:graphicFrameLocks noGrp="1"/>
          </p:cNvGraphicFramePr>
          <p:nvPr>
            <p:extLst>
              <p:ext uri="{D42A27DB-BD31-4B8C-83A1-F6EECF244321}">
                <p14:modId xmlns:p14="http://schemas.microsoft.com/office/powerpoint/2010/main" val="2460519615"/>
              </p:ext>
            </p:extLst>
          </p:nvPr>
        </p:nvGraphicFramePr>
        <p:xfrm>
          <a:off x="624191" y="1122880"/>
          <a:ext cx="10515600" cy="3108960"/>
        </p:xfrm>
        <a:graphic>
          <a:graphicData uri="http://schemas.openxmlformats.org/drawingml/2006/table">
            <a:tbl>
              <a:tblPr/>
              <a:tblGrid>
                <a:gridCol w="2628900">
                  <a:extLst>
                    <a:ext uri="{9D8B030D-6E8A-4147-A177-3AD203B41FA5}">
                      <a16:colId xmlns:a16="http://schemas.microsoft.com/office/drawing/2014/main" val="1552927111"/>
                    </a:ext>
                  </a:extLst>
                </a:gridCol>
                <a:gridCol w="2628900">
                  <a:extLst>
                    <a:ext uri="{9D8B030D-6E8A-4147-A177-3AD203B41FA5}">
                      <a16:colId xmlns:a16="http://schemas.microsoft.com/office/drawing/2014/main" val="1325188838"/>
                    </a:ext>
                  </a:extLst>
                </a:gridCol>
                <a:gridCol w="2628900">
                  <a:extLst>
                    <a:ext uri="{9D8B030D-6E8A-4147-A177-3AD203B41FA5}">
                      <a16:colId xmlns:a16="http://schemas.microsoft.com/office/drawing/2014/main" val="422173659"/>
                    </a:ext>
                  </a:extLst>
                </a:gridCol>
                <a:gridCol w="2628900">
                  <a:extLst>
                    <a:ext uri="{9D8B030D-6E8A-4147-A177-3AD203B41FA5}">
                      <a16:colId xmlns:a16="http://schemas.microsoft.com/office/drawing/2014/main" val="2689460164"/>
                    </a:ext>
                  </a:extLst>
                </a:gridCol>
              </a:tblGrid>
              <a:tr h="0">
                <a:tc>
                  <a:txBody>
                    <a:bodyPr/>
                    <a:lstStyle/>
                    <a:p>
                      <a:pPr>
                        <a:buNone/>
                      </a:pPr>
                      <a:r>
                        <a:rPr lang="en-IN" b="1" dirty="0">
                          <a:latin typeface="Arial Narrow" panose="020B0606020202030204" pitchFamily="34" charset="0"/>
                        </a:rPr>
                        <a:t>Method</a:t>
                      </a:r>
                    </a:p>
                  </a:txBody>
                  <a:tcPr anchor="ctr">
                    <a:lnL>
                      <a:noFill/>
                    </a:lnL>
                    <a:lnR>
                      <a:noFill/>
                    </a:lnR>
                    <a:lnT>
                      <a:noFill/>
                    </a:lnT>
                    <a:lnB>
                      <a:noFill/>
                    </a:lnB>
                    <a:noFill/>
                  </a:tcPr>
                </a:tc>
                <a:tc>
                  <a:txBody>
                    <a:bodyPr/>
                    <a:lstStyle/>
                    <a:p>
                      <a:pPr>
                        <a:buNone/>
                      </a:pPr>
                      <a:r>
                        <a:rPr lang="en-IN" b="1" dirty="0">
                          <a:latin typeface="Arial Narrow" panose="020B0606020202030204" pitchFamily="34" charset="0"/>
                        </a:rPr>
                        <a:t>Description</a:t>
                      </a:r>
                    </a:p>
                  </a:txBody>
                  <a:tcPr anchor="ctr">
                    <a:lnL>
                      <a:noFill/>
                    </a:lnL>
                    <a:lnR>
                      <a:noFill/>
                    </a:lnR>
                    <a:lnT>
                      <a:noFill/>
                    </a:lnT>
                    <a:lnB>
                      <a:noFill/>
                    </a:lnB>
                    <a:noFill/>
                  </a:tcPr>
                </a:tc>
                <a:tc>
                  <a:txBody>
                    <a:bodyPr/>
                    <a:lstStyle/>
                    <a:p>
                      <a:pPr>
                        <a:buNone/>
                      </a:pPr>
                      <a:r>
                        <a:rPr lang="en-IN" b="1" dirty="0">
                          <a:latin typeface="Arial Narrow" panose="020B0606020202030204" pitchFamily="34" charset="0"/>
                        </a:rPr>
                        <a:t>Data Handling</a:t>
                      </a:r>
                    </a:p>
                  </a:txBody>
                  <a:tcPr anchor="ctr">
                    <a:lnL>
                      <a:noFill/>
                    </a:lnL>
                    <a:lnR>
                      <a:noFill/>
                    </a:lnR>
                    <a:lnT>
                      <a:noFill/>
                    </a:lnT>
                    <a:lnB>
                      <a:noFill/>
                    </a:lnB>
                    <a:noFill/>
                  </a:tcPr>
                </a:tc>
                <a:tc>
                  <a:txBody>
                    <a:bodyPr/>
                    <a:lstStyle/>
                    <a:p>
                      <a:pPr>
                        <a:buNone/>
                      </a:pPr>
                      <a:r>
                        <a:rPr lang="en-IN" b="1" dirty="0">
                          <a:latin typeface="Arial Narrow" panose="020B0606020202030204" pitchFamily="34" charset="0"/>
                        </a:rPr>
                        <a:t>Typical Use</a:t>
                      </a:r>
                    </a:p>
                  </a:txBody>
                  <a:tcPr anchor="ctr">
                    <a:lnL>
                      <a:noFill/>
                    </a:lnL>
                    <a:lnR>
                      <a:noFill/>
                    </a:lnR>
                    <a:lnT>
                      <a:noFill/>
                    </a:lnT>
                    <a:lnB>
                      <a:noFill/>
                    </a:lnB>
                    <a:noFill/>
                  </a:tcPr>
                </a:tc>
                <a:extLst>
                  <a:ext uri="{0D108BD9-81ED-4DB2-BD59-A6C34878D82A}">
                    <a16:rowId xmlns:a16="http://schemas.microsoft.com/office/drawing/2014/main" val="317862901"/>
                  </a:ext>
                </a:extLst>
              </a:tr>
              <a:tr h="0">
                <a:tc>
                  <a:txBody>
                    <a:bodyPr/>
                    <a:lstStyle/>
                    <a:p>
                      <a:pPr>
                        <a:buNone/>
                      </a:pPr>
                      <a:r>
                        <a:rPr lang="en-IN">
                          <a:latin typeface="Arial Narrow" panose="020B0606020202030204" pitchFamily="34" charset="0"/>
                        </a:rPr>
                        <a:t>.C()</a:t>
                      </a:r>
                    </a:p>
                  </a:txBody>
                  <a:tcPr anchor="ctr">
                    <a:lnL>
                      <a:noFill/>
                    </a:lnL>
                    <a:lnR>
                      <a:noFill/>
                    </a:lnR>
                    <a:lnT>
                      <a:noFill/>
                    </a:lnT>
                    <a:lnB>
                      <a:noFill/>
                    </a:lnB>
                    <a:noFill/>
                  </a:tcPr>
                </a:tc>
                <a:tc>
                  <a:txBody>
                    <a:bodyPr/>
                    <a:lstStyle/>
                    <a:p>
                      <a:pPr>
                        <a:buNone/>
                      </a:pPr>
                      <a:r>
                        <a:rPr lang="en-US" dirty="0">
                          <a:latin typeface="Arial Narrow" panose="020B0606020202030204" pitchFamily="34" charset="0"/>
                        </a:rPr>
                        <a:t>A simple interface used to pass basic data types to compiled C functions</a:t>
                      </a:r>
                    </a:p>
                  </a:txBody>
                  <a:tcPr anchor="ctr">
                    <a:lnL>
                      <a:noFill/>
                    </a:lnL>
                    <a:lnR>
                      <a:noFill/>
                    </a:lnR>
                    <a:lnT>
                      <a:noFill/>
                    </a:lnT>
                    <a:lnB>
                      <a:noFill/>
                    </a:lnB>
                    <a:noFill/>
                  </a:tcPr>
                </a:tc>
                <a:tc>
                  <a:txBody>
                    <a:bodyPr/>
                    <a:lstStyle/>
                    <a:p>
                      <a:pPr>
                        <a:buNone/>
                      </a:pPr>
                      <a:r>
                        <a:rPr lang="en-US">
                          <a:latin typeface="Arial Narrow" panose="020B0606020202030204" pitchFamily="34" charset="0"/>
                        </a:rPr>
                        <a:t>Passes vectors and other basic data by reference</a:t>
                      </a:r>
                    </a:p>
                  </a:txBody>
                  <a:tcPr anchor="ctr">
                    <a:lnL>
                      <a:noFill/>
                    </a:lnL>
                    <a:lnR>
                      <a:noFill/>
                    </a:lnR>
                    <a:lnT>
                      <a:noFill/>
                    </a:lnT>
                    <a:lnB>
                      <a:noFill/>
                    </a:lnB>
                    <a:noFill/>
                  </a:tcPr>
                </a:tc>
                <a:tc>
                  <a:txBody>
                    <a:bodyPr/>
                    <a:lstStyle/>
                    <a:p>
                      <a:pPr>
                        <a:buNone/>
                      </a:pPr>
                      <a:r>
                        <a:rPr lang="en-US">
                          <a:latin typeface="Arial Narrow" panose="020B0606020202030204" pitchFamily="34" charset="0"/>
                        </a:rPr>
                        <a:t>Small and simple numerical functions</a:t>
                      </a:r>
                    </a:p>
                  </a:txBody>
                  <a:tcPr anchor="ctr">
                    <a:lnL>
                      <a:noFill/>
                    </a:lnL>
                    <a:lnR>
                      <a:noFill/>
                    </a:lnR>
                    <a:lnT>
                      <a:noFill/>
                    </a:lnT>
                    <a:lnB>
                      <a:noFill/>
                    </a:lnB>
                    <a:noFill/>
                  </a:tcPr>
                </a:tc>
                <a:extLst>
                  <a:ext uri="{0D108BD9-81ED-4DB2-BD59-A6C34878D82A}">
                    <a16:rowId xmlns:a16="http://schemas.microsoft.com/office/drawing/2014/main" val="183833788"/>
                  </a:ext>
                </a:extLst>
              </a:tr>
              <a:tr h="0">
                <a:tc>
                  <a:txBody>
                    <a:bodyPr/>
                    <a:lstStyle/>
                    <a:p>
                      <a:pPr>
                        <a:buNone/>
                      </a:pPr>
                      <a:r>
                        <a:rPr lang="en-IN">
                          <a:latin typeface="Arial Narrow" panose="020B0606020202030204" pitchFamily="34" charset="0"/>
                        </a:rPr>
                        <a:t>.Call()</a:t>
                      </a:r>
                    </a:p>
                  </a:txBody>
                  <a:tcPr anchor="ctr">
                    <a:lnL>
                      <a:noFill/>
                    </a:lnL>
                    <a:lnR>
                      <a:noFill/>
                    </a:lnR>
                    <a:lnT>
                      <a:noFill/>
                    </a:lnT>
                    <a:lnB>
                      <a:noFill/>
                    </a:lnB>
                    <a:noFill/>
                  </a:tcPr>
                </a:tc>
                <a:tc>
                  <a:txBody>
                    <a:bodyPr/>
                    <a:lstStyle/>
                    <a:p>
                      <a:pPr>
                        <a:buNone/>
                      </a:pPr>
                      <a:r>
                        <a:rPr lang="en-US">
                          <a:latin typeface="Arial Narrow" panose="020B0606020202030204" pitchFamily="34" charset="0"/>
                        </a:rPr>
                        <a:t>Works directly with R’s internal object representation</a:t>
                      </a:r>
                    </a:p>
                  </a:txBody>
                  <a:tcPr anchor="ctr">
                    <a:lnL>
                      <a:noFill/>
                    </a:lnL>
                    <a:lnR>
                      <a:noFill/>
                    </a:lnR>
                    <a:lnT>
                      <a:noFill/>
                    </a:lnT>
                    <a:lnB>
                      <a:noFill/>
                    </a:lnB>
                    <a:noFill/>
                  </a:tcPr>
                </a:tc>
                <a:tc>
                  <a:txBody>
                    <a:bodyPr/>
                    <a:lstStyle/>
                    <a:p>
                      <a:pPr>
                        <a:buNone/>
                      </a:pPr>
                      <a:r>
                        <a:rPr lang="en-US" dirty="0">
                          <a:latin typeface="Arial Narrow" panose="020B0606020202030204" pitchFamily="34" charset="0"/>
                        </a:rPr>
                        <a:t>Provides complete access to R objects</a:t>
                      </a:r>
                    </a:p>
                  </a:txBody>
                  <a:tcPr anchor="ctr">
                    <a:lnL>
                      <a:noFill/>
                    </a:lnL>
                    <a:lnR>
                      <a:noFill/>
                    </a:lnR>
                    <a:lnT>
                      <a:noFill/>
                    </a:lnT>
                    <a:lnB>
                      <a:noFill/>
                    </a:lnB>
                    <a:noFill/>
                  </a:tcPr>
                </a:tc>
                <a:tc>
                  <a:txBody>
                    <a:bodyPr/>
                    <a:lstStyle/>
                    <a:p>
                      <a:pPr>
                        <a:buNone/>
                      </a:pPr>
                      <a:r>
                        <a:rPr lang="en-US">
                          <a:latin typeface="Arial Narrow" panose="020B0606020202030204" pitchFamily="34" charset="0"/>
                        </a:rPr>
                        <a:t>Developing efficient R packages and complex extensions</a:t>
                      </a:r>
                    </a:p>
                  </a:txBody>
                  <a:tcPr anchor="ctr">
                    <a:lnL>
                      <a:noFill/>
                    </a:lnL>
                    <a:lnR>
                      <a:noFill/>
                    </a:lnR>
                    <a:lnT>
                      <a:noFill/>
                    </a:lnT>
                    <a:lnB>
                      <a:noFill/>
                    </a:lnB>
                    <a:noFill/>
                  </a:tcPr>
                </a:tc>
                <a:extLst>
                  <a:ext uri="{0D108BD9-81ED-4DB2-BD59-A6C34878D82A}">
                    <a16:rowId xmlns:a16="http://schemas.microsoft.com/office/drawing/2014/main" val="1063788084"/>
                  </a:ext>
                </a:extLst>
              </a:tr>
              <a:tr h="0">
                <a:tc>
                  <a:txBody>
                    <a:bodyPr/>
                    <a:lstStyle/>
                    <a:p>
                      <a:pPr>
                        <a:buNone/>
                      </a:pPr>
                      <a:r>
                        <a:rPr lang="en-IN">
                          <a:latin typeface="Arial Narrow" panose="020B0606020202030204" pitchFamily="34" charset="0"/>
                        </a:rPr>
                        <a:t>Rcpp</a:t>
                      </a:r>
                    </a:p>
                  </a:txBody>
                  <a:tcPr anchor="ctr">
                    <a:lnL>
                      <a:noFill/>
                    </a:lnL>
                    <a:lnR>
                      <a:noFill/>
                    </a:lnR>
                    <a:lnT>
                      <a:noFill/>
                    </a:lnT>
                    <a:lnB>
                      <a:noFill/>
                    </a:lnB>
                    <a:noFill/>
                  </a:tcPr>
                </a:tc>
                <a:tc>
                  <a:txBody>
                    <a:bodyPr/>
                    <a:lstStyle/>
                    <a:p>
                      <a:pPr>
                        <a:buNone/>
                      </a:pPr>
                      <a:r>
                        <a:rPr lang="en-US">
                          <a:latin typeface="Arial Narrow" panose="020B0606020202030204" pitchFamily="34" charset="0"/>
                        </a:rPr>
                        <a:t>Provides a high-level interface between R and C++ with automatic conversions</a:t>
                      </a:r>
                    </a:p>
                  </a:txBody>
                  <a:tcPr anchor="ctr">
                    <a:lnL>
                      <a:noFill/>
                    </a:lnL>
                    <a:lnR>
                      <a:noFill/>
                    </a:lnR>
                    <a:lnT>
                      <a:noFill/>
                    </a:lnT>
                    <a:lnB>
                      <a:noFill/>
                    </a:lnB>
                    <a:noFill/>
                  </a:tcPr>
                </a:tc>
                <a:tc>
                  <a:txBody>
                    <a:bodyPr/>
                    <a:lstStyle/>
                    <a:p>
                      <a:pPr>
                        <a:buNone/>
                      </a:pPr>
                      <a:r>
                        <a:rPr lang="en-US" dirty="0">
                          <a:latin typeface="Arial Narrow" panose="020B0606020202030204" pitchFamily="34" charset="0"/>
                        </a:rPr>
                        <a:t>Automatically converts common R and C++ data types</a:t>
                      </a:r>
                    </a:p>
                  </a:txBody>
                  <a:tcPr anchor="ctr">
                    <a:lnL>
                      <a:noFill/>
                    </a:lnL>
                    <a:lnR>
                      <a:noFill/>
                    </a:lnR>
                    <a:lnT>
                      <a:noFill/>
                    </a:lnT>
                    <a:lnB>
                      <a:noFill/>
                    </a:lnB>
                    <a:noFill/>
                  </a:tcPr>
                </a:tc>
                <a:tc>
                  <a:txBody>
                    <a:bodyPr/>
                    <a:lstStyle/>
                    <a:p>
                      <a:pPr>
                        <a:buNone/>
                      </a:pPr>
                      <a:r>
                        <a:rPr lang="en-US" dirty="0">
                          <a:latin typeface="Arial Narrow" panose="020B0606020202030204" pitchFamily="34" charset="0"/>
                        </a:rPr>
                        <a:t>Modern and recommended approach for integrating R with C++</a:t>
                      </a:r>
                    </a:p>
                  </a:txBody>
                  <a:tcPr anchor="ctr">
                    <a:lnL>
                      <a:noFill/>
                    </a:lnL>
                    <a:lnR>
                      <a:noFill/>
                    </a:lnR>
                    <a:lnT>
                      <a:noFill/>
                    </a:lnT>
                    <a:lnB>
                      <a:noFill/>
                    </a:lnB>
                    <a:noFill/>
                  </a:tcPr>
                </a:tc>
                <a:extLst>
                  <a:ext uri="{0D108BD9-81ED-4DB2-BD59-A6C34878D82A}">
                    <a16:rowId xmlns:a16="http://schemas.microsoft.com/office/drawing/2014/main" val="2731166179"/>
                  </a:ext>
                </a:extLst>
              </a:tr>
            </a:tbl>
          </a:graphicData>
        </a:graphic>
      </p:graphicFrame>
      <p:sp>
        <p:nvSpPr>
          <p:cNvPr id="4" name="TextBox 3">
            <a:extLst>
              <a:ext uri="{FF2B5EF4-FFF2-40B4-BE49-F238E27FC236}">
                <a16:creationId xmlns:a16="http://schemas.microsoft.com/office/drawing/2014/main" id="{6BAB9106-4DCD-2EC0-861C-870D27CA8F83}"/>
              </a:ext>
            </a:extLst>
          </p:cNvPr>
          <p:cNvSpPr txBox="1"/>
          <p:nvPr/>
        </p:nvSpPr>
        <p:spPr>
          <a:xfrm>
            <a:off x="2834802" y="4944842"/>
            <a:ext cx="6094378" cy="1477328"/>
          </a:xfrm>
          <a:prstGeom prst="rect">
            <a:avLst/>
          </a:prstGeom>
          <a:noFill/>
        </p:spPr>
        <p:txBody>
          <a:bodyPr wrap="square">
            <a:spAutoFit/>
          </a:bodyPr>
          <a:lstStyle/>
          <a:p>
            <a:pPr>
              <a:buNone/>
            </a:pPr>
            <a:r>
              <a:rPr lang="en-US" b="1" dirty="0">
                <a:latin typeface="Arial Narrow" panose="020B0606020202030204" pitchFamily="34" charset="0"/>
              </a:rPr>
              <a:t>Simple comparison</a:t>
            </a:r>
          </a:p>
          <a:p>
            <a:pPr>
              <a:buFont typeface="Arial" panose="020B0604020202020204" pitchFamily="34" charset="0"/>
              <a:buChar char="•"/>
            </a:pPr>
            <a:r>
              <a:rPr lang="en-US" b="1" dirty="0">
                <a:latin typeface="Arial Narrow" panose="020B0606020202030204" pitchFamily="34" charset="0"/>
              </a:rPr>
              <a:t>.C()</a:t>
            </a:r>
            <a:r>
              <a:rPr lang="en-US" dirty="0">
                <a:latin typeface="Arial Narrow" panose="020B0606020202030204" pitchFamily="34" charset="0"/>
              </a:rPr>
              <a:t> — easiest for basic data and simple C functions </a:t>
            </a:r>
          </a:p>
          <a:p>
            <a:pPr>
              <a:buFont typeface="Arial" panose="020B0604020202020204" pitchFamily="34" charset="0"/>
              <a:buChar char="•"/>
            </a:pPr>
            <a:r>
              <a:rPr lang="en-US" b="1" dirty="0">
                <a:latin typeface="Arial Narrow" panose="020B0606020202030204" pitchFamily="34" charset="0"/>
              </a:rPr>
              <a:t>.Call()</a:t>
            </a:r>
            <a:r>
              <a:rPr lang="en-US" dirty="0">
                <a:latin typeface="Arial Narrow" panose="020B0606020202030204" pitchFamily="34" charset="0"/>
              </a:rPr>
              <a:t> — powerful but requires knowledge of R’s internal objects </a:t>
            </a:r>
          </a:p>
          <a:p>
            <a:pPr>
              <a:buFont typeface="Arial" panose="020B0604020202020204" pitchFamily="34" charset="0"/>
              <a:buChar char="•"/>
            </a:pPr>
            <a:r>
              <a:rPr lang="en-US" b="1" dirty="0" err="1">
                <a:latin typeface="Arial Narrow" panose="020B0606020202030204" pitchFamily="34" charset="0"/>
              </a:rPr>
              <a:t>Rcpp</a:t>
            </a:r>
            <a:r>
              <a:rPr lang="en-US" dirty="0">
                <a:latin typeface="Arial Narrow" panose="020B0606020202030204" pitchFamily="34" charset="0"/>
              </a:rPr>
              <a:t> — user-friendly, efficient, and recommended for modern R–C++ integration</a:t>
            </a:r>
          </a:p>
        </p:txBody>
      </p:sp>
      <p:sp>
        <p:nvSpPr>
          <p:cNvPr id="5" name="TextBox 4">
            <a:extLst>
              <a:ext uri="{FF2B5EF4-FFF2-40B4-BE49-F238E27FC236}">
                <a16:creationId xmlns:a16="http://schemas.microsoft.com/office/drawing/2014/main" id="{691D429B-9747-57C9-FBC5-3EC3A4708F7D}"/>
              </a:ext>
            </a:extLst>
          </p:cNvPr>
          <p:cNvSpPr txBox="1"/>
          <p:nvPr/>
        </p:nvSpPr>
        <p:spPr>
          <a:xfrm>
            <a:off x="1325394" y="158832"/>
            <a:ext cx="6094378" cy="369332"/>
          </a:xfrm>
          <a:prstGeom prst="rect">
            <a:avLst/>
          </a:prstGeom>
          <a:noFill/>
        </p:spPr>
        <p:txBody>
          <a:bodyPr wrap="square">
            <a:spAutoFit/>
          </a:bodyPr>
          <a:lstStyle/>
          <a:p>
            <a:r>
              <a:rPr lang="en-IN" b="1" dirty="0"/>
              <a:t>Methods of Interfacing</a:t>
            </a:r>
          </a:p>
        </p:txBody>
      </p:sp>
    </p:spTree>
    <p:extLst>
      <p:ext uri="{BB962C8B-B14F-4D97-AF65-F5344CB8AC3E}">
        <p14:creationId xmlns:p14="http://schemas.microsoft.com/office/powerpoint/2010/main" val="4275869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.C()</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lin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.C(.NAME, ..., NAOK = FALSE, DUP = TRUE, PACKAGE, ENCODING)</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706624"/>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5110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.NAME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Name of the compiled C function to invoke, as a character string (or native symbol).</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Arguments passed to the C function — typically coerced with as.double()/as.integer(). Results return via these arguments (call-by-reference).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NAOK</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If FALSE (default), NA/NaN/Inf in the arguments raises an error.</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DUP</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retained for compatibility — arguments are duplicated before being passed.</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PACKAGE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Character string naming the package the C symbol belongs to.</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.C() is the simplest, oldest interface to compiled C code — every argument is a pointer and results come back through the argument list. Easy for simple numeric kernels but more overhead than .Call().</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.Call() and dyn.load()</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lin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.Call(.NAME, ...) dyn.load(x, local = TRUE, now = TRUE)</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267712"/>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6692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.NAME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.Call(): compiled function registered as a .Call routine.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.Call(): R objects passed directly as SEXP pointers — no forced coercion/copy.</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dyn.load(): path to the shared library to load, e.g. "add.so" or "add.dll".</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548640" y="5138928"/>
            <a:ext cx="11064240" cy="777240"/>
          </a:xfrm>
          <a:prstGeom prst="rect">
            <a:avLst/>
          </a:prstGeom>
          <a:solidFill>
            <a:srgbClr val="EDF3F8"/>
          </a:solidFill>
          <a:ln/>
        </p:spPr>
      </p:sp>
      <p:sp>
        <p:nvSpPr>
          <p:cNvPr id="12" name="Text 8"/>
          <p:cNvSpPr/>
          <p:nvPr/>
        </p:nvSpPr>
        <p:spPr>
          <a:xfrm>
            <a:off x="731520" y="5138928"/>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.Call() works directly with R's internal SEXP representation, avoiding .C()'s copy overhead and handling complex objects. dyn.load() loads the compiled shared library (built with R CMD SHLIB) before .C()/.Call() can find it.</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 Interfacing R with C — Vector Addition via .C()</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Compile a C routine that adds two vectors element-wise, load it, and call it with .C().</a:t>
            </a:r>
            <a:endParaRPr lang="en-US" sz="1300" dirty="0"/>
          </a:p>
        </p:txBody>
      </p:sp>
      <p:sp>
        <p:nvSpPr>
          <p:cNvPr id="7" name="Shape 4"/>
          <p:cNvSpPr/>
          <p:nvPr/>
        </p:nvSpPr>
        <p:spPr>
          <a:xfrm>
            <a:off x="548640" y="2084832"/>
            <a:ext cx="11064240" cy="327837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84861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File: add.c  (compile: R CMD SHLIB add.c)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void addVec(double *x, double *y, int *n, double *out)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int i;</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for (i = 0; i &lt; *n; i++) out[i] = x[i] + y[i];</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 R script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dyn.load("add.so")            # "add.dll" on Windows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x &lt;- c(1.5, 2.5, 3.5, 4.5); y &lt;- c(10, 20, 30, 40)</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n &lt;- length(x)</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result &lt;- .C("addVec", as.double(x), as.double(y),</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as.integer(n), out = double(n))$out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print(result)                  # 11.5 22.5 33.5 44.5</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dyn.unload("add.so")</a:t>
            </a:r>
            <a:endParaRPr lang="en-US" sz="1250" dirty="0"/>
          </a:p>
        </p:txBody>
      </p:sp>
      <p:sp>
        <p:nvSpPr>
          <p:cNvPr id="12" name="Shape 9"/>
          <p:cNvSpPr/>
          <p:nvPr/>
        </p:nvSpPr>
        <p:spPr>
          <a:xfrm>
            <a:off x="548640" y="5472938"/>
            <a:ext cx="11064240" cy="640080"/>
          </a:xfrm>
          <a:prstGeom prst="rect">
            <a:avLst/>
          </a:prstGeom>
          <a:solidFill>
            <a:srgbClr val="EDF3F8"/>
          </a:solidFill>
          <a:ln/>
        </p:spPr>
      </p:sp>
      <p:sp>
        <p:nvSpPr>
          <p:cNvPr id="13" name="Text 10"/>
          <p:cNvSpPr/>
          <p:nvPr/>
        </p:nvSpPr>
        <p:spPr>
          <a:xfrm>
            <a:off x="731520" y="5472938"/>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R CMD SHLIB compiles add.c; dyn.load() exposes addVec() to R. .C() passes x, y, n and a pre-allocated out buffer; $out extracts the filled result. Big Data numeric kernels routinely see a 10-100x speed-up this way.</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cppFunction()</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lin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676656"/>
          </a:xfrm>
          <a:prstGeom prst="rect">
            <a:avLst/>
          </a:prstGeom>
          <a:solidFill>
            <a:srgbClr val="0D1B2A"/>
          </a:solidFill>
          <a:ln/>
        </p:spPr>
      </p:sp>
      <p:sp>
        <p:nvSpPr>
          <p:cNvPr id="8" name="Text 5"/>
          <p:cNvSpPr/>
          <p:nvPr/>
        </p:nvSpPr>
        <p:spPr>
          <a:xfrm>
            <a:off x="777240" y="1755648"/>
            <a:ext cx="10607040" cy="676656"/>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cppFunction(code, depends = character(), includes = character(), plugins = character(), rebuild</a:t>
            </a:r>
            <a:endParaRPr lang="en-US" sz="1300" dirty="0"/>
          </a:p>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 FALSE)</a:t>
            </a:r>
            <a:endParaRPr lang="en-US" sz="1300" dirty="0"/>
          </a:p>
        </p:txBody>
      </p:sp>
      <p:sp>
        <p:nvSpPr>
          <p:cNvPr id="9" name="Text 6"/>
          <p:cNvSpPr/>
          <p:nvPr/>
        </p:nvSpPr>
        <p:spPr>
          <a:xfrm>
            <a:off x="548640" y="2615184"/>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907792"/>
          <a:ext cx="11064240" cy="2532888"/>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221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code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Character string containing the complete C++ source to compile and expose to R.</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depends</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Names of other R packages this code depends on (e.g. "RcppArmadillo").</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includes</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Extra C++ lines (such as #include) inserted before the function definition.</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plugins</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Rcpp plugins to enable, e.g. "cpp11".</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rebuild</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force recompilation even if a cached version exists.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Rcpp is the modern, preferred R-C++ interface. cppFunction() compiles an inline C++ snippet into a callable R function; sourceCpp("file.cpp") does the same for // [[Rcpp::export]] functions in an external file. Rcpp auto-generates the .Call() glue and handles R ↔ C++ type conversion.</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2: Rcpp — Fast Vector Sum and Squared-Distance Kernel  (1/2)</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Define two small C++ functions with Rcpp and call them from R.</a:t>
            </a:r>
            <a:endParaRPr lang="en-US" sz="1300" dirty="0"/>
          </a:p>
        </p:txBody>
      </p:sp>
      <p:sp>
        <p:nvSpPr>
          <p:cNvPr id="7" name="Shape 4"/>
          <p:cNvSpPr/>
          <p:nvPr/>
        </p:nvSpPr>
        <p:spPr>
          <a:xfrm>
            <a:off x="548640" y="2084832"/>
            <a:ext cx="11064240" cy="2310003"/>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1880235"/>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library(Rcpp)</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cppFunction("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double sumC(NumericVector x)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double total = 0; int n = x.size();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for (int i = 0; i &lt; n; i++) total += x[i];</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return total;</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t>
            </a:r>
            <a:endParaRPr lang="en-US" sz="1250" dirty="0"/>
          </a:p>
          <a:p>
            <a:pPr marL="0" indent="0">
              <a:lnSpc>
                <a:spcPts val="1525"/>
              </a:lnSpc>
              <a:buNone/>
            </a:pPr>
            <a:endParaRPr lang="en-US" sz="1250" dirty="0"/>
          </a:p>
        </p:txBody>
      </p:sp>
      <p:sp>
        <p:nvSpPr>
          <p:cNvPr id="12"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3"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2: Rcpp — Fast Vector Sum and Squared-Distance Kernel  (2/2)</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Shape 3"/>
          <p:cNvSpPr/>
          <p:nvPr/>
        </p:nvSpPr>
        <p:spPr>
          <a:xfrm>
            <a:off x="548640" y="1554480"/>
            <a:ext cx="11064240" cy="2697353"/>
          </a:xfrm>
          <a:prstGeom prst="rect">
            <a:avLst/>
          </a:prstGeom>
          <a:solidFill>
            <a:srgbClr val="0D1B2A"/>
          </a:solidFill>
          <a:ln/>
        </p:spPr>
      </p:sp>
      <p:sp>
        <p:nvSpPr>
          <p:cNvPr id="7" name="Shape 4"/>
          <p:cNvSpPr/>
          <p:nvPr/>
        </p:nvSpPr>
        <p:spPr>
          <a:xfrm>
            <a:off x="749808" y="1719072"/>
            <a:ext cx="128016" cy="128016"/>
          </a:xfrm>
          <a:prstGeom prst="ellipse">
            <a:avLst/>
          </a:prstGeom>
          <a:solidFill>
            <a:srgbClr val="E06C75"/>
          </a:solidFill>
          <a:ln/>
        </p:spPr>
      </p:sp>
      <p:sp>
        <p:nvSpPr>
          <p:cNvPr id="8" name="Shape 5"/>
          <p:cNvSpPr/>
          <p:nvPr/>
        </p:nvSpPr>
        <p:spPr>
          <a:xfrm>
            <a:off x="950976" y="1719072"/>
            <a:ext cx="128016" cy="128016"/>
          </a:xfrm>
          <a:prstGeom prst="ellipse">
            <a:avLst/>
          </a:prstGeom>
          <a:solidFill>
            <a:srgbClr val="E5C07B"/>
          </a:solidFill>
          <a:ln/>
        </p:spPr>
      </p:sp>
      <p:sp>
        <p:nvSpPr>
          <p:cNvPr id="9" name="Shape 6"/>
          <p:cNvSpPr/>
          <p:nvPr/>
        </p:nvSpPr>
        <p:spPr>
          <a:xfrm>
            <a:off x="1152144" y="1719072"/>
            <a:ext cx="128016" cy="128016"/>
          </a:xfrm>
          <a:prstGeom prst="ellipse">
            <a:avLst/>
          </a:prstGeom>
          <a:solidFill>
            <a:srgbClr val="98C379"/>
          </a:solidFill>
          <a:ln/>
        </p:spPr>
      </p:sp>
      <p:sp>
        <p:nvSpPr>
          <p:cNvPr id="10" name="Text 7"/>
          <p:cNvSpPr/>
          <p:nvPr/>
        </p:nvSpPr>
        <p:spPr>
          <a:xfrm>
            <a:off x="868680" y="1938528"/>
            <a:ext cx="10515600" cy="2267585"/>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cppFunction("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NumericVector sqDiffC(NumericVector x, double center)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int n = x.size(); NumericVector out(n);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for (int i = 0; i &lt; n; i++) out[i] = pow(x[i]-center, 2);</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return out;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set.seed(1); v &lt;- runif(1e7)</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system.time(sumC(v))          # near-zero overhead vs. sum(v)</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head(sqDiffC(v, mean(v)))</a:t>
            </a:r>
            <a:endParaRPr lang="en-US" sz="1250" dirty="0"/>
          </a:p>
        </p:txBody>
      </p:sp>
      <p:sp>
        <p:nvSpPr>
          <p:cNvPr id="11" name="Shape 8"/>
          <p:cNvSpPr/>
          <p:nvPr/>
        </p:nvSpPr>
        <p:spPr>
          <a:xfrm>
            <a:off x="548640" y="4361561"/>
            <a:ext cx="11064240" cy="640080"/>
          </a:xfrm>
          <a:prstGeom prst="rect">
            <a:avLst/>
          </a:prstGeom>
          <a:solidFill>
            <a:srgbClr val="EDF3F8"/>
          </a:solidFill>
          <a:ln/>
        </p:spPr>
      </p:sp>
      <p:sp>
        <p:nvSpPr>
          <p:cNvPr id="12" name="Text 9"/>
          <p:cNvSpPr/>
          <p:nvPr/>
        </p:nvSpPr>
        <p:spPr>
          <a:xfrm>
            <a:off x="731520" y="4361561"/>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cppFunction() compiles each block into a shared library the first time it runs (cached afterwards). For loops that can't be vectorised in R, Rcpp routinely gives 20-100x speed-ups — the standard choice for performance-critical Big Data kernels.</a:t>
            </a:r>
            <a:endParaRPr lang="en-US" sz="1100" dirty="0"/>
          </a:p>
        </p:txBody>
      </p:sp>
      <p:sp>
        <p:nvSpPr>
          <p:cNvPr id="13" name="Text 10"/>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1"/>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FE5B29-B329-8C62-B0BB-5DF9F5E7EC75}"/>
              </a:ext>
            </a:extLst>
          </p:cNvPr>
          <p:cNvPicPr>
            <a:picLocks noChangeAspect="1"/>
          </p:cNvPicPr>
          <p:nvPr/>
        </p:nvPicPr>
        <p:blipFill>
          <a:blip r:embed="rId2"/>
          <a:stretch>
            <a:fillRect/>
          </a:stretch>
        </p:blipFill>
        <p:spPr>
          <a:xfrm>
            <a:off x="2933258" y="2142945"/>
            <a:ext cx="6325483" cy="2572109"/>
          </a:xfrm>
          <a:prstGeom prst="rect">
            <a:avLst/>
          </a:prstGeom>
        </p:spPr>
      </p:pic>
    </p:spTree>
    <p:extLst>
      <p:ext uri="{BB962C8B-B14F-4D97-AF65-F5344CB8AC3E}">
        <p14:creationId xmlns:p14="http://schemas.microsoft.com/office/powerpoint/2010/main" val="544727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18A014-1C49-E1DD-CA90-647658C19995}"/>
              </a:ext>
            </a:extLst>
          </p:cNvPr>
          <p:cNvSpPr txBox="1"/>
          <p:nvPr/>
        </p:nvSpPr>
        <p:spPr>
          <a:xfrm>
            <a:off x="839010" y="413585"/>
            <a:ext cx="6094378" cy="369332"/>
          </a:xfrm>
          <a:prstGeom prst="rect">
            <a:avLst/>
          </a:prstGeom>
          <a:noFill/>
        </p:spPr>
        <p:txBody>
          <a:bodyPr wrap="square">
            <a:spAutoFit/>
          </a:bodyPr>
          <a:lstStyle/>
          <a:p>
            <a:r>
              <a:rPr lang="en-IN" b="1" dirty="0"/>
              <a:t>Using R from Python</a:t>
            </a:r>
          </a:p>
        </p:txBody>
      </p:sp>
      <p:sp>
        <p:nvSpPr>
          <p:cNvPr id="5" name="TextBox 4">
            <a:extLst>
              <a:ext uri="{FF2B5EF4-FFF2-40B4-BE49-F238E27FC236}">
                <a16:creationId xmlns:a16="http://schemas.microsoft.com/office/drawing/2014/main" id="{F6EB0683-4BC0-91B4-73AC-A899B1F89692}"/>
              </a:ext>
            </a:extLst>
          </p:cNvPr>
          <p:cNvSpPr txBox="1"/>
          <p:nvPr/>
        </p:nvSpPr>
        <p:spPr>
          <a:xfrm>
            <a:off x="4399334" y="782917"/>
            <a:ext cx="7089032" cy="5078313"/>
          </a:xfrm>
          <a:prstGeom prst="rect">
            <a:avLst/>
          </a:prstGeom>
          <a:noFill/>
        </p:spPr>
        <p:txBody>
          <a:bodyPr wrap="square">
            <a:spAutoFit/>
          </a:bodyPr>
          <a:lstStyle/>
          <a:p>
            <a:pPr algn="just">
              <a:buNone/>
            </a:pPr>
            <a:r>
              <a:rPr lang="en-US" b="1" dirty="0"/>
              <a:t>Introduction</a:t>
            </a:r>
          </a:p>
          <a:p>
            <a:pPr algn="just">
              <a:buNone/>
            </a:pPr>
            <a:r>
              <a:rPr lang="en-US" dirty="0"/>
              <a:t>R and Python are two of the most widely used programming languages for data science, machine learning, and statistical computing.</a:t>
            </a:r>
          </a:p>
          <a:p>
            <a:pPr algn="just">
              <a:buFont typeface="Arial" panose="020B0604020202020204" pitchFamily="34" charset="0"/>
              <a:buChar char="•"/>
            </a:pPr>
            <a:r>
              <a:rPr lang="en-US" b="1" dirty="0"/>
              <a:t>R</a:t>
            </a:r>
            <a:r>
              <a:rPr lang="en-US" dirty="0"/>
              <a:t> is particularly effective for </a:t>
            </a:r>
            <a:r>
              <a:rPr lang="en-US" b="1" dirty="0"/>
              <a:t>statistical analysis, data visualization using packages such as </a:t>
            </a:r>
            <a:r>
              <a:rPr lang="en-US" b="1" dirty="0">
                <a:latin typeface="Courier New" panose="02070309020205020404" pitchFamily="49" charset="0"/>
              </a:rPr>
              <a:t>ggplot2</a:t>
            </a:r>
            <a:r>
              <a:rPr lang="en-US" b="1" dirty="0"/>
              <a:t>, and statistical modelling</a:t>
            </a:r>
            <a:r>
              <a:rPr lang="en-US" dirty="0"/>
              <a:t>. </a:t>
            </a:r>
          </a:p>
          <a:p>
            <a:pPr algn="just">
              <a:buFont typeface="Arial" panose="020B0604020202020204" pitchFamily="34" charset="0"/>
              <a:buChar char="•"/>
            </a:pPr>
            <a:r>
              <a:rPr lang="en-US" b="1" dirty="0"/>
              <a:t>Python</a:t>
            </a:r>
            <a:r>
              <a:rPr lang="en-US" dirty="0"/>
              <a:t> is widely used for </a:t>
            </a:r>
            <a:r>
              <a:rPr lang="en-US" b="1" dirty="0"/>
              <a:t>general-purpose programming, artificial intelligence, and machine learning using libraries such as NumPy, pandas, and scikit-learn. </a:t>
            </a:r>
          </a:p>
          <a:p>
            <a:pPr algn="just">
              <a:buNone/>
            </a:pPr>
            <a:r>
              <a:rPr lang="en-US" dirty="0"/>
              <a:t>Combining the capabilities of both languages is useful in many projects. For example:</a:t>
            </a:r>
          </a:p>
          <a:p>
            <a:pPr algn="just">
              <a:buFont typeface="Arial" panose="020B0604020202020204" pitchFamily="34" charset="0"/>
              <a:buChar char="•"/>
            </a:pPr>
            <a:r>
              <a:rPr lang="en-US" dirty="0"/>
              <a:t>Using R statistical models within a Python application </a:t>
            </a:r>
          </a:p>
          <a:p>
            <a:pPr algn="just">
              <a:buFont typeface="Arial" panose="020B0604020202020204" pitchFamily="34" charset="0"/>
              <a:buChar char="•"/>
            </a:pPr>
            <a:r>
              <a:rPr lang="en-US" dirty="0"/>
              <a:t>Applying Python machine-learning tools to data generated or processed in R </a:t>
            </a:r>
          </a:p>
          <a:p>
            <a:pPr algn="just">
              <a:buFont typeface="Arial" panose="020B0604020202020204" pitchFamily="34" charset="0"/>
              <a:buChar char="•"/>
            </a:pPr>
            <a:r>
              <a:rPr lang="en-US" dirty="0"/>
              <a:t>Reusing existing R packages without rewriting them in Python </a:t>
            </a:r>
          </a:p>
          <a:p>
            <a:pPr algn="just">
              <a:buFont typeface="Arial" panose="020B0604020202020204" pitchFamily="34" charset="0"/>
              <a:buChar char="•"/>
            </a:pPr>
            <a:r>
              <a:rPr lang="en-US" dirty="0"/>
              <a:t>Integrating R-based analysis into Python workflows </a:t>
            </a:r>
          </a:p>
          <a:p>
            <a:pPr algn="just">
              <a:buNone/>
            </a:pPr>
            <a:r>
              <a:rPr lang="en-US" dirty="0"/>
              <a:t>This integration can be achieved through tools such as </a:t>
            </a:r>
            <a:r>
              <a:rPr lang="en-US" dirty="0">
                <a:latin typeface="Courier New" panose="02070309020205020404" pitchFamily="49" charset="0"/>
              </a:rPr>
              <a:t>rpy2</a:t>
            </a:r>
            <a:r>
              <a:rPr lang="en-US" dirty="0"/>
              <a:t>, file exchange, APIs, or subprocess execution. For the reverse direction—using Python from R—the </a:t>
            </a:r>
            <a:r>
              <a:rPr lang="en-US" dirty="0">
                <a:latin typeface="Courier New" panose="02070309020205020404" pitchFamily="49" charset="0"/>
              </a:rPr>
              <a:t>reticulate</a:t>
            </a:r>
            <a:r>
              <a:rPr lang="en-US" dirty="0"/>
              <a:t> package can be used.</a:t>
            </a:r>
          </a:p>
        </p:txBody>
      </p:sp>
    </p:spTree>
    <p:extLst>
      <p:ext uri="{BB962C8B-B14F-4D97-AF65-F5344CB8AC3E}">
        <p14:creationId xmlns:p14="http://schemas.microsoft.com/office/powerpoint/2010/main" val="1233832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8420DB-188A-C32E-A33E-EDE61F634408}"/>
              </a:ext>
            </a:extLst>
          </p:cNvPr>
          <p:cNvSpPr txBox="1"/>
          <p:nvPr/>
        </p:nvSpPr>
        <p:spPr>
          <a:xfrm>
            <a:off x="498543" y="257942"/>
            <a:ext cx="6094378" cy="369332"/>
          </a:xfrm>
          <a:prstGeom prst="rect">
            <a:avLst/>
          </a:prstGeom>
          <a:noFill/>
        </p:spPr>
        <p:txBody>
          <a:bodyPr wrap="square">
            <a:spAutoFit/>
          </a:bodyPr>
          <a:lstStyle/>
          <a:p>
            <a:r>
              <a:rPr lang="en-US" dirty="0"/>
              <a:t>Approaches to Combine R and Python</a:t>
            </a:r>
            <a:endParaRPr lang="en-IN" dirty="0"/>
          </a:p>
        </p:txBody>
      </p:sp>
      <p:graphicFrame>
        <p:nvGraphicFramePr>
          <p:cNvPr id="4" name="Table 3">
            <a:extLst>
              <a:ext uri="{FF2B5EF4-FFF2-40B4-BE49-F238E27FC236}">
                <a16:creationId xmlns:a16="http://schemas.microsoft.com/office/drawing/2014/main" id="{07EC8C68-B0E4-C296-87F9-6CDDBE954CDC}"/>
              </a:ext>
            </a:extLst>
          </p:cNvPr>
          <p:cNvGraphicFramePr>
            <a:graphicFrameLocks noGrp="1"/>
          </p:cNvGraphicFramePr>
          <p:nvPr/>
        </p:nvGraphicFramePr>
        <p:xfrm>
          <a:off x="883459" y="1809098"/>
          <a:ext cx="10425081" cy="4384392"/>
        </p:xfrm>
        <a:graphic>
          <a:graphicData uri="http://schemas.openxmlformats.org/drawingml/2006/table">
            <a:tbl>
              <a:tblPr/>
              <a:tblGrid>
                <a:gridCol w="3475027">
                  <a:extLst>
                    <a:ext uri="{9D8B030D-6E8A-4147-A177-3AD203B41FA5}">
                      <a16:colId xmlns:a16="http://schemas.microsoft.com/office/drawing/2014/main" val="2292370230"/>
                    </a:ext>
                  </a:extLst>
                </a:gridCol>
                <a:gridCol w="3475027">
                  <a:extLst>
                    <a:ext uri="{9D8B030D-6E8A-4147-A177-3AD203B41FA5}">
                      <a16:colId xmlns:a16="http://schemas.microsoft.com/office/drawing/2014/main" val="3840460080"/>
                    </a:ext>
                  </a:extLst>
                </a:gridCol>
                <a:gridCol w="3475027">
                  <a:extLst>
                    <a:ext uri="{9D8B030D-6E8A-4147-A177-3AD203B41FA5}">
                      <a16:colId xmlns:a16="http://schemas.microsoft.com/office/drawing/2014/main" val="3715075636"/>
                    </a:ext>
                  </a:extLst>
                </a:gridCol>
              </a:tblGrid>
              <a:tr h="362611">
                <a:tc>
                  <a:txBody>
                    <a:bodyPr/>
                    <a:lstStyle/>
                    <a:p>
                      <a:pPr>
                        <a:buNone/>
                      </a:pPr>
                      <a:r>
                        <a:rPr lang="en-IN" sz="1800"/>
                        <a:t>Direction/Approach</a:t>
                      </a:r>
                    </a:p>
                  </a:txBody>
                  <a:tcPr marL="90653" marR="90653" marT="45326" marB="45326" anchor="ctr">
                    <a:lnL>
                      <a:noFill/>
                    </a:lnL>
                    <a:lnR>
                      <a:noFill/>
                    </a:lnR>
                    <a:lnT>
                      <a:noFill/>
                    </a:lnT>
                    <a:lnB>
                      <a:noFill/>
                    </a:lnB>
                    <a:noFill/>
                  </a:tcPr>
                </a:tc>
                <a:tc>
                  <a:txBody>
                    <a:bodyPr/>
                    <a:lstStyle/>
                    <a:p>
                      <a:pPr>
                        <a:buNone/>
                      </a:pPr>
                      <a:r>
                        <a:rPr lang="en-IN" sz="1800"/>
                        <a:t>Interface or Tool</a:t>
                      </a:r>
                    </a:p>
                  </a:txBody>
                  <a:tcPr marL="90653" marR="90653" marT="45326" marB="45326" anchor="ctr">
                    <a:lnL>
                      <a:noFill/>
                    </a:lnL>
                    <a:lnR>
                      <a:noFill/>
                    </a:lnR>
                    <a:lnT>
                      <a:noFill/>
                    </a:lnT>
                    <a:lnB>
                      <a:noFill/>
                    </a:lnB>
                    <a:noFill/>
                  </a:tcPr>
                </a:tc>
                <a:tc>
                  <a:txBody>
                    <a:bodyPr/>
                    <a:lstStyle/>
                    <a:p>
                      <a:pPr>
                        <a:buNone/>
                      </a:pPr>
                      <a:r>
                        <a:rPr lang="en-IN" sz="1800"/>
                        <a:t>Description</a:t>
                      </a:r>
                    </a:p>
                  </a:txBody>
                  <a:tcPr marL="90653" marR="90653" marT="45326" marB="45326" anchor="ctr">
                    <a:lnL>
                      <a:noFill/>
                    </a:lnL>
                    <a:lnR>
                      <a:noFill/>
                    </a:lnR>
                    <a:lnT>
                      <a:noFill/>
                    </a:lnT>
                    <a:lnB>
                      <a:noFill/>
                    </a:lnB>
                    <a:noFill/>
                  </a:tcPr>
                </a:tc>
                <a:extLst>
                  <a:ext uri="{0D108BD9-81ED-4DB2-BD59-A6C34878D82A}">
                    <a16:rowId xmlns:a16="http://schemas.microsoft.com/office/drawing/2014/main" val="2180289143"/>
                  </a:ext>
                </a:extLst>
              </a:tr>
              <a:tr h="906529">
                <a:tc>
                  <a:txBody>
                    <a:bodyPr/>
                    <a:lstStyle/>
                    <a:p>
                      <a:pPr>
                        <a:buNone/>
                      </a:pPr>
                      <a:r>
                        <a:rPr lang="en-IN" sz="1800"/>
                        <a:t>R from Python</a:t>
                      </a:r>
                    </a:p>
                  </a:txBody>
                  <a:tcPr marL="90653" marR="90653" marT="45326" marB="45326" anchor="ctr">
                    <a:lnL>
                      <a:noFill/>
                    </a:lnL>
                    <a:lnR>
                      <a:noFill/>
                    </a:lnR>
                    <a:lnT>
                      <a:noFill/>
                    </a:lnT>
                    <a:lnB>
                      <a:noFill/>
                    </a:lnB>
                    <a:noFill/>
                  </a:tcPr>
                </a:tc>
                <a:tc>
                  <a:txBody>
                    <a:bodyPr/>
                    <a:lstStyle/>
                    <a:p>
                      <a:pPr>
                        <a:buNone/>
                      </a:pPr>
                      <a:r>
                        <a:rPr lang="en-IN" sz="1800">
                          <a:latin typeface="Courier New" panose="02070309020205020404" pitchFamily="49" charset="0"/>
                        </a:rPr>
                        <a:t>rpy2</a:t>
                      </a:r>
                      <a:endParaRPr lang="en-IN" sz="1800"/>
                    </a:p>
                  </a:txBody>
                  <a:tcPr marL="90653" marR="90653" marT="45326" marB="45326" anchor="ctr">
                    <a:lnL>
                      <a:noFill/>
                    </a:lnL>
                    <a:lnR>
                      <a:noFill/>
                    </a:lnR>
                    <a:lnT>
                      <a:noFill/>
                    </a:lnT>
                    <a:lnB>
                      <a:noFill/>
                    </a:lnB>
                    <a:noFill/>
                  </a:tcPr>
                </a:tc>
                <a:tc>
                  <a:txBody>
                    <a:bodyPr/>
                    <a:lstStyle/>
                    <a:p>
                      <a:pPr>
                        <a:buNone/>
                      </a:pPr>
                      <a:r>
                        <a:rPr lang="en-US" sz="1800"/>
                        <a:t>Allows Python to access R functions, packages, variables, and objects directly</a:t>
                      </a:r>
                    </a:p>
                  </a:txBody>
                  <a:tcPr marL="90653" marR="90653" marT="45326" marB="45326" anchor="ctr">
                    <a:lnL>
                      <a:noFill/>
                    </a:lnL>
                    <a:lnR>
                      <a:noFill/>
                    </a:lnR>
                    <a:lnT>
                      <a:noFill/>
                    </a:lnT>
                    <a:lnB>
                      <a:noFill/>
                    </a:lnB>
                    <a:noFill/>
                  </a:tcPr>
                </a:tc>
                <a:extLst>
                  <a:ext uri="{0D108BD9-81ED-4DB2-BD59-A6C34878D82A}">
                    <a16:rowId xmlns:a16="http://schemas.microsoft.com/office/drawing/2014/main" val="2070218623"/>
                  </a:ext>
                </a:extLst>
              </a:tr>
              <a:tr h="906529">
                <a:tc>
                  <a:txBody>
                    <a:bodyPr/>
                    <a:lstStyle/>
                    <a:p>
                      <a:pPr>
                        <a:buNone/>
                      </a:pPr>
                      <a:r>
                        <a:rPr lang="en-IN" sz="1800"/>
                        <a:t>Python from R</a:t>
                      </a:r>
                    </a:p>
                  </a:txBody>
                  <a:tcPr marL="90653" marR="90653" marT="45326" marB="45326" anchor="ctr">
                    <a:lnL>
                      <a:noFill/>
                    </a:lnL>
                    <a:lnR>
                      <a:noFill/>
                    </a:lnR>
                    <a:lnT>
                      <a:noFill/>
                    </a:lnT>
                    <a:lnB>
                      <a:noFill/>
                    </a:lnB>
                    <a:noFill/>
                  </a:tcPr>
                </a:tc>
                <a:tc>
                  <a:txBody>
                    <a:bodyPr/>
                    <a:lstStyle/>
                    <a:p>
                      <a:pPr>
                        <a:buNone/>
                      </a:pPr>
                      <a:r>
                        <a:rPr lang="en-IN" sz="1800">
                          <a:latin typeface="Courier New" panose="02070309020205020404" pitchFamily="49" charset="0"/>
                        </a:rPr>
                        <a:t>reticulate</a:t>
                      </a:r>
                      <a:endParaRPr lang="en-IN" sz="1800"/>
                    </a:p>
                  </a:txBody>
                  <a:tcPr marL="90653" marR="90653" marT="45326" marB="45326" anchor="ctr">
                    <a:lnL>
                      <a:noFill/>
                    </a:lnL>
                    <a:lnR>
                      <a:noFill/>
                    </a:lnR>
                    <a:lnT>
                      <a:noFill/>
                    </a:lnT>
                    <a:lnB>
                      <a:noFill/>
                    </a:lnB>
                    <a:noFill/>
                  </a:tcPr>
                </a:tc>
                <a:tc>
                  <a:txBody>
                    <a:bodyPr/>
                    <a:lstStyle/>
                    <a:p>
                      <a:pPr>
                        <a:buNone/>
                      </a:pPr>
                      <a:r>
                        <a:rPr lang="en-US" sz="1800"/>
                        <a:t>Allows R programs to execute Python code and use Python modules</a:t>
                      </a:r>
                    </a:p>
                  </a:txBody>
                  <a:tcPr marL="90653" marR="90653" marT="45326" marB="45326" anchor="ctr">
                    <a:lnL>
                      <a:noFill/>
                    </a:lnL>
                    <a:lnR>
                      <a:noFill/>
                    </a:lnR>
                    <a:lnT>
                      <a:noFill/>
                    </a:lnT>
                    <a:lnB>
                      <a:noFill/>
                    </a:lnB>
                    <a:noFill/>
                  </a:tcPr>
                </a:tc>
                <a:extLst>
                  <a:ext uri="{0D108BD9-81ED-4DB2-BD59-A6C34878D82A}">
                    <a16:rowId xmlns:a16="http://schemas.microsoft.com/office/drawing/2014/main" val="24909555"/>
                  </a:ext>
                </a:extLst>
              </a:tr>
              <a:tr h="634570">
                <a:tc>
                  <a:txBody>
                    <a:bodyPr/>
                    <a:lstStyle/>
                    <a:p>
                      <a:pPr>
                        <a:buNone/>
                      </a:pPr>
                      <a:r>
                        <a:rPr lang="en-IN" sz="1800"/>
                        <a:t>File exchange</a:t>
                      </a:r>
                    </a:p>
                  </a:txBody>
                  <a:tcPr marL="90653" marR="90653" marT="45326" marB="45326" anchor="ctr">
                    <a:lnL>
                      <a:noFill/>
                    </a:lnL>
                    <a:lnR>
                      <a:noFill/>
                    </a:lnR>
                    <a:lnT>
                      <a:noFill/>
                    </a:lnT>
                    <a:lnB>
                      <a:noFill/>
                    </a:lnB>
                    <a:noFill/>
                  </a:tcPr>
                </a:tc>
                <a:tc>
                  <a:txBody>
                    <a:bodyPr/>
                    <a:lstStyle/>
                    <a:p>
                      <a:pPr>
                        <a:buNone/>
                      </a:pPr>
                      <a:r>
                        <a:rPr lang="en-US" sz="1800"/>
                        <a:t>CSV, XLSX, RDS, Feather or Parquet</a:t>
                      </a:r>
                    </a:p>
                  </a:txBody>
                  <a:tcPr marL="90653" marR="90653" marT="45326" marB="45326" anchor="ctr">
                    <a:lnL>
                      <a:noFill/>
                    </a:lnL>
                    <a:lnR>
                      <a:noFill/>
                    </a:lnR>
                    <a:lnT>
                      <a:noFill/>
                    </a:lnT>
                    <a:lnB>
                      <a:noFill/>
                    </a:lnB>
                    <a:noFill/>
                  </a:tcPr>
                </a:tc>
                <a:tc>
                  <a:txBody>
                    <a:bodyPr/>
                    <a:lstStyle/>
                    <a:p>
                      <a:pPr>
                        <a:buNone/>
                      </a:pPr>
                      <a:r>
                        <a:rPr lang="en-US" sz="1800"/>
                        <a:t>Transfers data between R and Python through files</a:t>
                      </a:r>
                    </a:p>
                  </a:txBody>
                  <a:tcPr marL="90653" marR="90653" marT="45326" marB="45326" anchor="ctr">
                    <a:lnL>
                      <a:noFill/>
                    </a:lnL>
                    <a:lnR>
                      <a:noFill/>
                    </a:lnR>
                    <a:lnT>
                      <a:noFill/>
                    </a:lnT>
                    <a:lnB>
                      <a:noFill/>
                    </a:lnB>
                    <a:noFill/>
                  </a:tcPr>
                </a:tc>
                <a:extLst>
                  <a:ext uri="{0D108BD9-81ED-4DB2-BD59-A6C34878D82A}">
                    <a16:rowId xmlns:a16="http://schemas.microsoft.com/office/drawing/2014/main" val="1819121418"/>
                  </a:ext>
                </a:extLst>
              </a:tr>
              <a:tr h="634570">
                <a:tc>
                  <a:txBody>
                    <a:bodyPr/>
                    <a:lstStyle/>
                    <a:p>
                      <a:pPr>
                        <a:buNone/>
                      </a:pPr>
                      <a:r>
                        <a:rPr lang="en-IN" sz="1800"/>
                        <a:t>Subprocess</a:t>
                      </a:r>
                    </a:p>
                  </a:txBody>
                  <a:tcPr marL="90653" marR="90653" marT="45326" marB="45326" anchor="ctr">
                    <a:lnL>
                      <a:noFill/>
                    </a:lnL>
                    <a:lnR>
                      <a:noFill/>
                    </a:lnR>
                    <a:lnT>
                      <a:noFill/>
                    </a:lnT>
                    <a:lnB>
                      <a:noFill/>
                    </a:lnB>
                    <a:noFill/>
                  </a:tcPr>
                </a:tc>
                <a:tc>
                  <a:txBody>
                    <a:bodyPr/>
                    <a:lstStyle/>
                    <a:p>
                      <a:pPr>
                        <a:buNone/>
                      </a:pPr>
                      <a:r>
                        <a:rPr lang="en-IN" sz="1800"/>
                        <a:t>Python </a:t>
                      </a:r>
                      <a:r>
                        <a:rPr lang="en-IN" sz="1800">
                          <a:latin typeface="Courier New" panose="02070309020205020404" pitchFamily="49" charset="0"/>
                        </a:rPr>
                        <a:t>subprocess</a:t>
                      </a:r>
                      <a:r>
                        <a:rPr lang="en-IN" sz="1800"/>
                        <a:t> module</a:t>
                      </a:r>
                    </a:p>
                  </a:txBody>
                  <a:tcPr marL="90653" marR="90653" marT="45326" marB="45326" anchor="ctr">
                    <a:lnL>
                      <a:noFill/>
                    </a:lnL>
                    <a:lnR>
                      <a:noFill/>
                    </a:lnR>
                    <a:lnT>
                      <a:noFill/>
                    </a:lnT>
                    <a:lnB>
                      <a:noFill/>
                    </a:lnB>
                    <a:noFill/>
                  </a:tcPr>
                </a:tc>
                <a:tc>
                  <a:txBody>
                    <a:bodyPr/>
                    <a:lstStyle/>
                    <a:p>
                      <a:pPr>
                        <a:buNone/>
                      </a:pPr>
                      <a:r>
                        <a:rPr lang="en-US" sz="1800"/>
                        <a:t>Executes an R script externally from Python</a:t>
                      </a:r>
                    </a:p>
                  </a:txBody>
                  <a:tcPr marL="90653" marR="90653" marT="45326" marB="45326" anchor="ctr">
                    <a:lnL>
                      <a:noFill/>
                    </a:lnL>
                    <a:lnR>
                      <a:noFill/>
                    </a:lnR>
                    <a:lnT>
                      <a:noFill/>
                    </a:lnT>
                    <a:lnB>
                      <a:noFill/>
                    </a:lnB>
                    <a:noFill/>
                  </a:tcPr>
                </a:tc>
                <a:extLst>
                  <a:ext uri="{0D108BD9-81ED-4DB2-BD59-A6C34878D82A}">
                    <a16:rowId xmlns:a16="http://schemas.microsoft.com/office/drawing/2014/main" val="2849776150"/>
                  </a:ext>
                </a:extLst>
              </a:tr>
              <a:tr h="906529">
                <a:tc>
                  <a:txBody>
                    <a:bodyPr/>
                    <a:lstStyle/>
                    <a:p>
                      <a:pPr>
                        <a:buNone/>
                      </a:pPr>
                      <a:r>
                        <a:rPr lang="en-IN" sz="1800"/>
                        <a:t>API integration</a:t>
                      </a:r>
                    </a:p>
                  </a:txBody>
                  <a:tcPr marL="90653" marR="90653" marT="45326" marB="45326" anchor="ctr">
                    <a:lnL>
                      <a:noFill/>
                    </a:lnL>
                    <a:lnR>
                      <a:noFill/>
                    </a:lnR>
                    <a:lnT>
                      <a:noFill/>
                    </a:lnT>
                    <a:lnB>
                      <a:noFill/>
                    </a:lnB>
                    <a:noFill/>
                  </a:tcPr>
                </a:tc>
                <a:tc>
                  <a:txBody>
                    <a:bodyPr/>
                    <a:lstStyle/>
                    <a:p>
                      <a:pPr>
                        <a:buNone/>
                      </a:pPr>
                      <a:r>
                        <a:rPr lang="en-US" sz="1800"/>
                        <a:t>REST API using Plumber or Flask/FastAPI</a:t>
                      </a:r>
                    </a:p>
                  </a:txBody>
                  <a:tcPr marL="90653" marR="90653" marT="45326" marB="45326" anchor="ctr">
                    <a:lnL>
                      <a:noFill/>
                    </a:lnL>
                    <a:lnR>
                      <a:noFill/>
                    </a:lnR>
                    <a:lnT>
                      <a:noFill/>
                    </a:lnT>
                    <a:lnB>
                      <a:noFill/>
                    </a:lnB>
                    <a:noFill/>
                  </a:tcPr>
                </a:tc>
                <a:tc>
                  <a:txBody>
                    <a:bodyPr/>
                    <a:lstStyle/>
                    <a:p>
                      <a:pPr>
                        <a:buNone/>
                      </a:pPr>
                      <a:r>
                        <a:rPr lang="en-US" sz="1800" dirty="0"/>
                        <a:t>Enables R and Python applications to communicate through web services</a:t>
                      </a:r>
                    </a:p>
                  </a:txBody>
                  <a:tcPr marL="90653" marR="90653" marT="45326" marB="45326" anchor="ctr">
                    <a:lnL>
                      <a:noFill/>
                    </a:lnL>
                    <a:lnR>
                      <a:noFill/>
                    </a:lnR>
                    <a:lnT>
                      <a:noFill/>
                    </a:lnT>
                    <a:lnB>
                      <a:noFill/>
                    </a:lnB>
                    <a:noFill/>
                  </a:tcPr>
                </a:tc>
                <a:extLst>
                  <a:ext uri="{0D108BD9-81ED-4DB2-BD59-A6C34878D82A}">
                    <a16:rowId xmlns:a16="http://schemas.microsoft.com/office/drawing/2014/main" val="1972405241"/>
                  </a:ext>
                </a:extLst>
              </a:tr>
            </a:tbl>
          </a:graphicData>
        </a:graphic>
      </p:graphicFrame>
    </p:spTree>
    <p:extLst>
      <p:ext uri="{BB962C8B-B14F-4D97-AF65-F5344CB8AC3E}">
        <p14:creationId xmlns:p14="http://schemas.microsoft.com/office/powerpoint/2010/main" val="1638038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6A1FC-219A-219B-1049-649451AEB4A8}"/>
              </a:ext>
            </a:extLst>
          </p:cNvPr>
          <p:cNvSpPr txBox="1"/>
          <p:nvPr/>
        </p:nvSpPr>
        <p:spPr>
          <a:xfrm>
            <a:off x="673640" y="197744"/>
            <a:ext cx="4589024" cy="1754326"/>
          </a:xfrm>
          <a:prstGeom prst="rect">
            <a:avLst/>
          </a:prstGeom>
          <a:noFill/>
        </p:spPr>
        <p:txBody>
          <a:bodyPr wrap="square">
            <a:spAutoFit/>
          </a:bodyPr>
          <a:lstStyle/>
          <a:p>
            <a:pPr algn="just">
              <a:buNone/>
            </a:pPr>
            <a:r>
              <a:rPr lang="en-US" b="1" dirty="0">
                <a:latin typeface="Arial Narrow" panose="020B0606020202030204" pitchFamily="34" charset="0"/>
              </a:rPr>
              <a:t>The rpy2 Interface</a:t>
            </a:r>
          </a:p>
          <a:p>
            <a:pPr algn="just">
              <a:buNone/>
            </a:pPr>
            <a:r>
              <a:rPr lang="en-US" dirty="0">
                <a:latin typeface="Arial Narrow" panose="020B0606020202030204" pitchFamily="34" charset="0"/>
              </a:rPr>
              <a:t>rpy2 provides an interface for running R code and accessing R objects directly from Python.</a:t>
            </a:r>
          </a:p>
          <a:p>
            <a:pPr algn="just">
              <a:buNone/>
            </a:pPr>
            <a:r>
              <a:rPr lang="en-US" b="1" dirty="0">
                <a:latin typeface="Arial Narrow" panose="020B0606020202030204" pitchFamily="34" charset="0"/>
              </a:rPr>
              <a:t>Prerequisite</a:t>
            </a:r>
          </a:p>
          <a:p>
            <a:pPr algn="just">
              <a:buNone/>
            </a:pPr>
            <a:r>
              <a:rPr lang="en-US" dirty="0">
                <a:latin typeface="Arial Narrow" panose="020B0606020202030204" pitchFamily="34" charset="0"/>
              </a:rPr>
              <a:t>R must be installed and accessible on the system before installing rpy2.</a:t>
            </a:r>
          </a:p>
        </p:txBody>
      </p:sp>
      <p:pic>
        <p:nvPicPr>
          <p:cNvPr id="5" name="Picture 4">
            <a:extLst>
              <a:ext uri="{FF2B5EF4-FFF2-40B4-BE49-F238E27FC236}">
                <a16:creationId xmlns:a16="http://schemas.microsoft.com/office/drawing/2014/main" id="{EE456E41-C8FE-E66A-1A53-6D5B4F14CFB2}"/>
              </a:ext>
            </a:extLst>
          </p:cNvPr>
          <p:cNvPicPr>
            <a:picLocks noChangeAspect="1"/>
          </p:cNvPicPr>
          <p:nvPr/>
        </p:nvPicPr>
        <p:blipFill>
          <a:blip r:embed="rId2"/>
          <a:stretch>
            <a:fillRect/>
          </a:stretch>
        </p:blipFill>
        <p:spPr>
          <a:xfrm>
            <a:off x="5754137" y="0"/>
            <a:ext cx="6267401" cy="6858000"/>
          </a:xfrm>
          <a:prstGeom prst="rect">
            <a:avLst/>
          </a:prstGeom>
        </p:spPr>
      </p:pic>
      <p:pic>
        <p:nvPicPr>
          <p:cNvPr id="7" name="Picture 6">
            <a:extLst>
              <a:ext uri="{FF2B5EF4-FFF2-40B4-BE49-F238E27FC236}">
                <a16:creationId xmlns:a16="http://schemas.microsoft.com/office/drawing/2014/main" id="{35133CEF-1392-6830-3085-55391536EC3D}"/>
              </a:ext>
            </a:extLst>
          </p:cNvPr>
          <p:cNvPicPr>
            <a:picLocks noChangeAspect="1"/>
          </p:cNvPicPr>
          <p:nvPr/>
        </p:nvPicPr>
        <p:blipFill>
          <a:blip r:embed="rId3"/>
          <a:stretch>
            <a:fillRect/>
          </a:stretch>
        </p:blipFill>
        <p:spPr>
          <a:xfrm>
            <a:off x="4470031" y="6076841"/>
            <a:ext cx="1038370" cy="781159"/>
          </a:xfrm>
          <a:prstGeom prst="rect">
            <a:avLst/>
          </a:prstGeom>
        </p:spPr>
      </p:pic>
      <p:pic>
        <p:nvPicPr>
          <p:cNvPr id="9" name="Picture 8">
            <a:extLst>
              <a:ext uri="{FF2B5EF4-FFF2-40B4-BE49-F238E27FC236}">
                <a16:creationId xmlns:a16="http://schemas.microsoft.com/office/drawing/2014/main" id="{FBE334F5-9ABE-BB5D-16BC-96252D0E3A01}"/>
              </a:ext>
            </a:extLst>
          </p:cNvPr>
          <p:cNvPicPr>
            <a:picLocks noChangeAspect="1"/>
          </p:cNvPicPr>
          <p:nvPr/>
        </p:nvPicPr>
        <p:blipFill>
          <a:blip r:embed="rId4"/>
          <a:stretch>
            <a:fillRect/>
          </a:stretch>
        </p:blipFill>
        <p:spPr>
          <a:xfrm>
            <a:off x="374609" y="2491599"/>
            <a:ext cx="4458322" cy="2886478"/>
          </a:xfrm>
          <a:prstGeom prst="rect">
            <a:avLst/>
          </a:prstGeom>
        </p:spPr>
      </p:pic>
    </p:spTree>
    <p:extLst>
      <p:ext uri="{BB962C8B-B14F-4D97-AF65-F5344CB8AC3E}">
        <p14:creationId xmlns:p14="http://schemas.microsoft.com/office/powerpoint/2010/main" val="387789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414B96-E6D3-4296-B516-B05A66D3039E}"/>
              </a:ext>
            </a:extLst>
          </p:cNvPr>
          <p:cNvPicPr>
            <a:picLocks noChangeAspect="1"/>
          </p:cNvPicPr>
          <p:nvPr/>
        </p:nvPicPr>
        <p:blipFill>
          <a:blip r:embed="rId2"/>
          <a:stretch>
            <a:fillRect/>
          </a:stretch>
        </p:blipFill>
        <p:spPr>
          <a:xfrm>
            <a:off x="927966" y="1305101"/>
            <a:ext cx="5058481" cy="4753638"/>
          </a:xfrm>
          <a:prstGeom prst="rect">
            <a:avLst/>
          </a:prstGeom>
        </p:spPr>
      </p:pic>
      <p:pic>
        <p:nvPicPr>
          <p:cNvPr id="5" name="Picture 4">
            <a:extLst>
              <a:ext uri="{FF2B5EF4-FFF2-40B4-BE49-F238E27FC236}">
                <a16:creationId xmlns:a16="http://schemas.microsoft.com/office/drawing/2014/main" id="{B160765C-AE84-DD1F-D15F-7EB2B5FD117E}"/>
              </a:ext>
            </a:extLst>
          </p:cNvPr>
          <p:cNvPicPr>
            <a:picLocks noChangeAspect="1"/>
          </p:cNvPicPr>
          <p:nvPr/>
        </p:nvPicPr>
        <p:blipFill>
          <a:blip r:embed="rId3"/>
          <a:stretch>
            <a:fillRect/>
          </a:stretch>
        </p:blipFill>
        <p:spPr>
          <a:xfrm>
            <a:off x="818413" y="190520"/>
            <a:ext cx="2638793" cy="1114581"/>
          </a:xfrm>
          <a:prstGeom prst="rect">
            <a:avLst/>
          </a:prstGeom>
        </p:spPr>
      </p:pic>
      <p:pic>
        <p:nvPicPr>
          <p:cNvPr id="7" name="Picture 6">
            <a:extLst>
              <a:ext uri="{FF2B5EF4-FFF2-40B4-BE49-F238E27FC236}">
                <a16:creationId xmlns:a16="http://schemas.microsoft.com/office/drawing/2014/main" id="{4A713AA7-67B6-464A-D465-9520346F914F}"/>
              </a:ext>
            </a:extLst>
          </p:cNvPr>
          <p:cNvPicPr>
            <a:picLocks noChangeAspect="1"/>
          </p:cNvPicPr>
          <p:nvPr/>
        </p:nvPicPr>
        <p:blipFill>
          <a:blip r:embed="rId4"/>
          <a:stretch>
            <a:fillRect/>
          </a:stretch>
        </p:blipFill>
        <p:spPr>
          <a:xfrm>
            <a:off x="6971571" y="109732"/>
            <a:ext cx="5220429" cy="3019846"/>
          </a:xfrm>
          <a:prstGeom prst="rect">
            <a:avLst/>
          </a:prstGeom>
        </p:spPr>
      </p:pic>
    </p:spTree>
    <p:extLst>
      <p:ext uri="{BB962C8B-B14F-4D97-AF65-F5344CB8AC3E}">
        <p14:creationId xmlns:p14="http://schemas.microsoft.com/office/powerpoint/2010/main" val="4245819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656AD6-31E7-AB1C-B6FA-ED973EAC2E04}"/>
              </a:ext>
            </a:extLst>
          </p:cNvPr>
          <p:cNvPicPr>
            <a:picLocks noChangeAspect="1"/>
          </p:cNvPicPr>
          <p:nvPr/>
        </p:nvPicPr>
        <p:blipFill>
          <a:blip r:embed="rId2"/>
          <a:stretch>
            <a:fillRect/>
          </a:stretch>
        </p:blipFill>
        <p:spPr>
          <a:xfrm>
            <a:off x="301953" y="494890"/>
            <a:ext cx="4486901" cy="5868219"/>
          </a:xfrm>
          <a:prstGeom prst="rect">
            <a:avLst/>
          </a:prstGeom>
        </p:spPr>
      </p:pic>
      <p:pic>
        <p:nvPicPr>
          <p:cNvPr id="3" name="Picture 2">
            <a:extLst>
              <a:ext uri="{FF2B5EF4-FFF2-40B4-BE49-F238E27FC236}">
                <a16:creationId xmlns:a16="http://schemas.microsoft.com/office/drawing/2014/main" id="{23B0EBED-3D44-44EF-D2EB-5A6780E62DB6}"/>
              </a:ext>
            </a:extLst>
          </p:cNvPr>
          <p:cNvPicPr>
            <a:picLocks noChangeAspect="1"/>
          </p:cNvPicPr>
          <p:nvPr/>
        </p:nvPicPr>
        <p:blipFill>
          <a:blip r:embed="rId3"/>
          <a:stretch>
            <a:fillRect/>
          </a:stretch>
        </p:blipFill>
        <p:spPr>
          <a:xfrm>
            <a:off x="6494227" y="81660"/>
            <a:ext cx="4735517" cy="3045456"/>
          </a:xfrm>
          <a:prstGeom prst="rect">
            <a:avLst/>
          </a:prstGeom>
        </p:spPr>
      </p:pic>
      <p:pic>
        <p:nvPicPr>
          <p:cNvPr id="5" name="Picture 4">
            <a:extLst>
              <a:ext uri="{FF2B5EF4-FFF2-40B4-BE49-F238E27FC236}">
                <a16:creationId xmlns:a16="http://schemas.microsoft.com/office/drawing/2014/main" id="{B92F85C0-ABBF-A641-FE27-286EA8950B69}"/>
              </a:ext>
            </a:extLst>
          </p:cNvPr>
          <p:cNvPicPr>
            <a:picLocks noChangeAspect="1"/>
          </p:cNvPicPr>
          <p:nvPr/>
        </p:nvPicPr>
        <p:blipFill>
          <a:blip r:embed="rId4"/>
          <a:stretch>
            <a:fillRect/>
          </a:stretch>
        </p:blipFill>
        <p:spPr>
          <a:xfrm>
            <a:off x="6640142" y="3537617"/>
            <a:ext cx="5318394" cy="3238723"/>
          </a:xfrm>
          <a:prstGeom prst="rect">
            <a:avLst/>
          </a:prstGeom>
        </p:spPr>
      </p:pic>
    </p:spTree>
    <p:extLst>
      <p:ext uri="{BB962C8B-B14F-4D97-AF65-F5344CB8AC3E}">
        <p14:creationId xmlns:p14="http://schemas.microsoft.com/office/powerpoint/2010/main" val="225620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import()</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lin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import(module, as = NULL, convert = TRUE, delay_load = FALSE)</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706625"/>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41325">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module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Name of the Python module to import, e.g. "numpy".</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as</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Optional local alias, e.g. np &lt;- import("numpy", as = "np").</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convert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whether returned Python objects auto-convert to R equivalents.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delay_load</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defer loading until first used.</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reticulate embeds a Python interpreter inside R, so Python modules/functions/objects can be used directly from R, and R data can be passed to Python and back.</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source_python() / r_to_py() / py_to_r()</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lin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source_python(file, envir = parent.frame()) r_to_py(x) py_to_r(x)</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267712"/>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6692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file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Path to a .py script; its top-level functions/variables become R objects after sourcing.</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envir</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R environment the sourced objects are assigned into.</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R object / Python object to convert to the other language's representation.</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7"/>
          <p:cNvSpPr/>
          <p:nvPr/>
        </p:nvSpPr>
        <p:spPr>
          <a:xfrm>
            <a:off x="548640" y="5138928"/>
            <a:ext cx="11064240" cy="777240"/>
          </a:xfrm>
          <a:prstGeom prst="rect">
            <a:avLst/>
          </a:prstGeom>
          <a:solidFill>
            <a:srgbClr val="EDF3F8"/>
          </a:solidFill>
          <a:ln/>
        </p:spPr>
      </p:sp>
      <p:sp>
        <p:nvSpPr>
          <p:cNvPr id="12" name="Text 8"/>
          <p:cNvSpPr/>
          <p:nvPr/>
        </p:nvSpPr>
        <p:spPr>
          <a:xfrm>
            <a:off x="731520" y="5138928"/>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source_python() is the most direct route to reuse an existing Python script as if it were native R. r_to_py()/py_to_r() explicitly convert a single object between representations.</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INTERFACING R TO OTHER LANGUAGES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3: reticulate — Calling a Python Function and NumPy from R</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Source a Python model function into R and drive NumPy interactively.</a:t>
            </a:r>
            <a:endParaRPr lang="en-US" sz="1300" dirty="0"/>
          </a:p>
        </p:txBody>
      </p:sp>
      <p:sp>
        <p:nvSpPr>
          <p:cNvPr id="7" name="Shape 4"/>
          <p:cNvSpPr/>
          <p:nvPr/>
        </p:nvSpPr>
        <p:spPr>
          <a:xfrm>
            <a:off x="548640" y="2084832"/>
            <a:ext cx="11064240" cy="366572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323596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 model.py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def predict_price(area_sqft):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return 2500 + 120 * area_sqft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 R script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library(reticulate)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source_python("model.py")</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predict_price(1200)              # 146500</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np &lt;- import("numpy")</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arr &lt;- np$array(c(4, 9, 16, 25))</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np$sqrt(arr)                     # 2 3 4 5</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pd &lt;- import("pandas")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py_df   &lt;- r_to_py(mtcars)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back_df &lt;- py_to_r(py_df)</a:t>
            </a:r>
            <a:endParaRPr lang="en-US" sz="1250" dirty="0"/>
          </a:p>
        </p:txBody>
      </p:sp>
      <p:sp>
        <p:nvSpPr>
          <p:cNvPr id="12" name="Shape 9"/>
          <p:cNvSpPr/>
          <p:nvPr/>
        </p:nvSpPr>
        <p:spPr>
          <a:xfrm>
            <a:off x="548640" y="5860288"/>
            <a:ext cx="11064240" cy="476504"/>
          </a:xfrm>
          <a:prstGeom prst="rect">
            <a:avLst/>
          </a:prstGeom>
          <a:solidFill>
            <a:srgbClr val="EDF3F8"/>
          </a:solidFill>
          <a:ln/>
        </p:spPr>
      </p:sp>
      <p:sp>
        <p:nvSpPr>
          <p:cNvPr id="13" name="Text 10"/>
          <p:cNvSpPr/>
          <p:nvPr/>
        </p:nvSpPr>
        <p:spPr>
          <a:xfrm>
            <a:off x="731520" y="5860288"/>
            <a:ext cx="10698480" cy="476504"/>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source_python() makes predict_price() callable exactly like an R function; import() gives handle-style module access (np$sqrt() mirrors Python's np.sqrt()); r_to_py()/py_to_r() round-trip a full data frame between R and Python.</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microchip.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2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Parallel R</a:t>
            </a:r>
            <a:endParaRPr lang="en-US" sz="3800" dirty="0"/>
          </a:p>
        </p:txBody>
      </p:sp>
      <p:sp>
        <p:nvSpPr>
          <p:cNvPr id="7" name="Text 4"/>
          <p:cNvSpPr/>
          <p:nvPr/>
        </p:nvSpPr>
        <p:spPr>
          <a:xfrm>
            <a:off x="640080" y="3703320"/>
            <a:ext cx="7040880" cy="1737360"/>
          </a:xfrm>
          <a:prstGeom prst="rect">
            <a:avLst/>
          </a:prstGeom>
          <a:noFill/>
          <a:ln/>
        </p:spPr>
        <p:txBody>
          <a:bodyPr wrap="square" rtlCol="0" anchor="t"/>
          <a:lstStyle/>
          <a:p>
            <a:pPr marL="0" indent="0">
              <a:lnSpc>
                <a:spcPct val="135000"/>
              </a:lnSpc>
              <a:buNone/>
            </a:pPr>
            <a:r>
              <a:rPr lang="en-US" sz="1350" dirty="0">
                <a:solidFill>
                  <a:srgbClr val="CADCFC"/>
                </a:solidFill>
                <a:latin typeface="Calibri" pitchFamily="34" charset="0"/>
                <a:ea typeface="Calibri" pitchFamily="34" charset="-122"/>
                <a:cs typeface="Calibri" pitchFamily="34" charset="-120"/>
              </a:rPr>
              <a:t>By default R executes on a single core. Parallel R spreads independent computations across CPU cores or machines, cutting wall-clock time roughly in proportion to the number of workers used. The parallel package offers forking (mclapply, Unix/macOS only) and socket clusters (makeCluster + parLapply, cross-platform).</a:t>
            </a:r>
            <a:endParaRPr lang="en-US" sz="1350" dirty="0"/>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4 functions with syntax &amp; arguments   •   2 complete programs</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EA5AD0-3A71-7C23-0521-EA901C452D26}"/>
              </a:ext>
            </a:extLst>
          </p:cNvPr>
          <p:cNvPicPr>
            <a:picLocks noChangeAspect="1"/>
          </p:cNvPicPr>
          <p:nvPr/>
        </p:nvPicPr>
        <p:blipFill>
          <a:blip r:embed="rId2"/>
          <a:stretch>
            <a:fillRect/>
          </a:stretch>
        </p:blipFill>
        <p:spPr>
          <a:xfrm>
            <a:off x="1470898" y="1028698"/>
            <a:ext cx="8783276" cy="4372585"/>
          </a:xfrm>
          <a:prstGeom prst="rect">
            <a:avLst/>
          </a:prstGeom>
        </p:spPr>
      </p:pic>
    </p:spTree>
    <p:extLst>
      <p:ext uri="{BB962C8B-B14F-4D97-AF65-F5344CB8AC3E}">
        <p14:creationId xmlns:p14="http://schemas.microsoft.com/office/powerpoint/2010/main" val="3734337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DEF30E-3026-960D-94AA-54AF6471D11C}"/>
              </a:ext>
            </a:extLst>
          </p:cNvPr>
          <p:cNvPicPr>
            <a:picLocks noChangeAspect="1"/>
          </p:cNvPicPr>
          <p:nvPr/>
        </p:nvPicPr>
        <p:blipFill>
          <a:blip r:embed="rId2"/>
          <a:stretch>
            <a:fillRect/>
          </a:stretch>
        </p:blipFill>
        <p:spPr>
          <a:xfrm>
            <a:off x="2314047" y="1852392"/>
            <a:ext cx="7563906" cy="3153215"/>
          </a:xfrm>
          <a:prstGeom prst="rect">
            <a:avLst/>
          </a:prstGeom>
        </p:spPr>
      </p:pic>
    </p:spTree>
    <p:extLst>
      <p:ext uri="{BB962C8B-B14F-4D97-AF65-F5344CB8AC3E}">
        <p14:creationId xmlns:p14="http://schemas.microsoft.com/office/powerpoint/2010/main" val="2226450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005077-5E53-8267-8EA9-D4738FE8BAAE}"/>
              </a:ext>
            </a:extLst>
          </p:cNvPr>
          <p:cNvPicPr>
            <a:picLocks noChangeAspect="1"/>
          </p:cNvPicPr>
          <p:nvPr/>
        </p:nvPicPr>
        <p:blipFill>
          <a:blip r:embed="rId2"/>
          <a:stretch>
            <a:fillRect/>
          </a:stretch>
        </p:blipFill>
        <p:spPr>
          <a:xfrm>
            <a:off x="195500" y="80416"/>
            <a:ext cx="8221222" cy="3467584"/>
          </a:xfrm>
          <a:prstGeom prst="rect">
            <a:avLst/>
          </a:prstGeom>
        </p:spPr>
      </p:pic>
      <p:pic>
        <p:nvPicPr>
          <p:cNvPr id="5" name="Picture 4">
            <a:extLst>
              <a:ext uri="{FF2B5EF4-FFF2-40B4-BE49-F238E27FC236}">
                <a16:creationId xmlns:a16="http://schemas.microsoft.com/office/drawing/2014/main" id="{E7014D2A-CC68-B3F5-2A6E-C9E8AE0B6B59}"/>
              </a:ext>
            </a:extLst>
          </p:cNvPr>
          <p:cNvPicPr>
            <a:picLocks noChangeAspect="1"/>
          </p:cNvPicPr>
          <p:nvPr/>
        </p:nvPicPr>
        <p:blipFill>
          <a:blip r:embed="rId3"/>
          <a:stretch>
            <a:fillRect/>
          </a:stretch>
        </p:blipFill>
        <p:spPr>
          <a:xfrm>
            <a:off x="573931" y="3440815"/>
            <a:ext cx="8025319" cy="3417185"/>
          </a:xfrm>
          <a:prstGeom prst="rect">
            <a:avLst/>
          </a:prstGeom>
        </p:spPr>
      </p:pic>
    </p:spTree>
    <p:extLst>
      <p:ext uri="{BB962C8B-B14F-4D97-AF65-F5344CB8AC3E}">
        <p14:creationId xmlns:p14="http://schemas.microsoft.com/office/powerpoint/2010/main" val="2731331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PARALLEL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detectCores()</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microchip.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detectCores(all.tests = FALSE, logical = TRUE)</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1700784"/>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6692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all.tests</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run extra heuristics on unusual platforms to determine core count.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logical</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TRUE (default) counts logical/hyperthreaded cores; FALSE counts physical cores only.</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bl>
          </a:graphicData>
        </a:graphic>
      </p:graphicFrame>
      <p:sp>
        <p:nvSpPr>
          <p:cNvPr id="11" name="Shape 7"/>
          <p:cNvSpPr/>
          <p:nvPr/>
        </p:nvSpPr>
        <p:spPr>
          <a:xfrm>
            <a:off x="548640" y="4572000"/>
            <a:ext cx="11064240" cy="777240"/>
          </a:xfrm>
          <a:prstGeom prst="rect">
            <a:avLst/>
          </a:prstGeom>
          <a:solidFill>
            <a:srgbClr val="EDF3F8"/>
          </a:solidFill>
          <a:ln/>
        </p:spPr>
      </p:sp>
      <p:sp>
        <p:nvSpPr>
          <p:cNvPr id="12" name="Text 8"/>
          <p:cNvSpPr/>
          <p:nvPr/>
        </p:nvSpPr>
        <p:spPr>
          <a:xfrm>
            <a:off x="731520" y="457200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Returns the number of CPU cores available — normally used to decide worker count (commonly detectCores() - 1).</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0"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PARALLEL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makeCluster() / stopCluster()</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microchip.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makeCluster(spec, type = getClusterOption("type"), ...) stopCluster(cl)</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267712"/>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6692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spec</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Integer number of local worker processes, or a character vector of remote machine names.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type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"PSOCK" (socket cluster, cross-platform, default) or "FORK" (Unix-only, shared memory).</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cl</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(stopCluster) The cluster object to shut down.</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548640" y="5138928"/>
            <a:ext cx="11064240" cy="777240"/>
          </a:xfrm>
          <a:prstGeom prst="rect">
            <a:avLst/>
          </a:prstGeom>
          <a:solidFill>
            <a:srgbClr val="EDF3F8"/>
          </a:solidFill>
          <a:ln/>
        </p:spPr>
      </p:sp>
      <p:sp>
        <p:nvSpPr>
          <p:cNvPr id="12" name="Text 8"/>
          <p:cNvSpPr/>
          <p:nvPr/>
        </p:nvSpPr>
        <p:spPr>
          <a:xfrm>
            <a:off x="731520" y="5138928"/>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makeCluster() starts worker R processes and returns a cluster object; stopCluster(cl) must always be called when done, to release resources.</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PARALLEL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parLapply() / parSapply()</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microchip.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parLapply(cl, X, fun, ...) / parSapply(cl, X, FUN, ..., simplify = TRUE)</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706625"/>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41325">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cl</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cluster object returned by makeCluster().</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vector or list; the function is applied once per element, in parallel.</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fun / FUN</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function applied to each element of X.</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simplify</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(parSapply) Logical; simplify the result to a vector/matrix when possible.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The parallel, cluster-based equivalents of lapply()/sapply(): the same function is applied to every element of X, distributed across the cluster's workers.</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PARALLEL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clusterExport() / mclapply()</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microchip.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clusterExport(cl, varlist, envir = .GlobalEnv) mclapply(X, FUN, ..., mc.cores = 2L)</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267712"/>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6692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varlist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clusterExport(): character vector of variable/function names to copy to every worker.</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envir</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clusterExport(): environment those objects are looked up in.</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mc.cores</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mclapply(): number of cores (child processes) to fork.</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548640" y="5138928"/>
            <a:ext cx="11064240" cy="777240"/>
          </a:xfrm>
          <a:prstGeom prst="rect">
            <a:avLst/>
          </a:prstGeom>
          <a:solidFill>
            <a:srgbClr val="EDF3F8"/>
          </a:solidFill>
          <a:ln/>
        </p:spPr>
      </p:sp>
      <p:sp>
        <p:nvSpPr>
          <p:cNvPr id="12" name="Text 8"/>
          <p:cNvSpPr/>
          <p:nvPr/>
        </p:nvSpPr>
        <p:spPr>
          <a:xfrm>
            <a:off x="731520" y="5138928"/>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clusterExport() copies objects socket workers need (they start with an empty environment). mclapply() forks the current process instead — workers automatically share memory via copy-on-write, so no export is needed — but it only works on Unix/Linux/macOS.</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PARALLEL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4: parLapply() — Parallel Squaring Across a Socket Cluster</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Start a cluster, export what workers need, run in parallel, and clean up.</a:t>
            </a:r>
            <a:endParaRPr lang="en-US" sz="1300" dirty="0"/>
          </a:p>
        </p:txBody>
      </p:sp>
      <p:sp>
        <p:nvSpPr>
          <p:cNvPr id="7" name="Shape 4"/>
          <p:cNvSpPr/>
          <p:nvPr/>
        </p:nvSpPr>
        <p:spPr>
          <a:xfrm>
            <a:off x="548640" y="2084832"/>
            <a:ext cx="11064240" cy="327837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84861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library(parallel)</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no_cores &lt;- detectCores() - 1</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cl &lt;- makeCluster(no_cores)         # cross-platform socket cluster</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square &lt;- function(x) x ^ 2</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clusterExport(cl, varlist = c("square"))</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result &lt;- parLapply(cl, 1:20, square)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print(unlist(result))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big_result &lt;- parSapply(cl, 1:1e6, square)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cat('Length:', length(big_result), '\n')</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stopCluster(cl)                     # always release workers</a:t>
            </a:r>
            <a:endParaRPr lang="en-US" sz="1250" dirty="0"/>
          </a:p>
        </p:txBody>
      </p:sp>
      <p:sp>
        <p:nvSpPr>
          <p:cNvPr id="12" name="Shape 9"/>
          <p:cNvSpPr/>
          <p:nvPr/>
        </p:nvSpPr>
        <p:spPr>
          <a:xfrm>
            <a:off x="548640" y="5472938"/>
            <a:ext cx="11064240" cy="640080"/>
          </a:xfrm>
          <a:prstGeom prst="rect">
            <a:avLst/>
          </a:prstGeom>
          <a:solidFill>
            <a:srgbClr val="EDF3F8"/>
          </a:solidFill>
          <a:ln/>
        </p:spPr>
      </p:sp>
      <p:sp>
        <p:nvSpPr>
          <p:cNvPr id="13" name="Text 10"/>
          <p:cNvSpPr/>
          <p:nvPr/>
        </p:nvSpPr>
        <p:spPr>
          <a:xfrm>
            <a:off x="731520" y="5472938"/>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parLapply() returns a list; parSapply() simplifies to a vector/matrix. Forgetting clusterExport() is the most common bug — workers are separate processes and can't see square() otherwise.</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PARALLEL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5: Benchmark — mclapply() (Forking) vs. Socket Cluster  (1/2)</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Estimate π via Monte Carlo sampling, comparing sequential, forked, and socket-cluster execution.</a:t>
            </a:r>
            <a:endParaRPr lang="en-US" sz="1300" dirty="0"/>
          </a:p>
        </p:txBody>
      </p:sp>
      <p:sp>
        <p:nvSpPr>
          <p:cNvPr id="7" name="Shape 4"/>
          <p:cNvSpPr/>
          <p:nvPr/>
        </p:nvSpPr>
        <p:spPr>
          <a:xfrm>
            <a:off x="548640" y="2084832"/>
            <a:ext cx="11064240" cy="1922653"/>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1492885"/>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library(parallel)</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mc_pi &lt;- function(n)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x &lt;- runif(n); y &lt;- runif(n)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4 * sum(x^2 + y^2 &lt;= 1) / 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n &lt;- 5e6; reps &lt;- 8</a:t>
            </a:r>
            <a:endParaRPr lang="en-US" sz="1250" dirty="0"/>
          </a:p>
          <a:p>
            <a:pPr marL="0" indent="0">
              <a:lnSpc>
                <a:spcPts val="1525"/>
              </a:lnSpc>
              <a:buNone/>
            </a:pPr>
            <a:endParaRPr lang="en-US" sz="1250" dirty="0"/>
          </a:p>
        </p:txBody>
      </p:sp>
      <p:sp>
        <p:nvSpPr>
          <p:cNvPr id="12"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3"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PARALLEL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5: Benchmark — mclapply() (Forking) vs. Socket Cluster  (2/2)</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Shape 3"/>
          <p:cNvSpPr/>
          <p:nvPr/>
        </p:nvSpPr>
        <p:spPr>
          <a:xfrm>
            <a:off x="548640" y="1554480"/>
            <a:ext cx="11064240" cy="2503678"/>
          </a:xfrm>
          <a:prstGeom prst="rect">
            <a:avLst/>
          </a:prstGeom>
          <a:solidFill>
            <a:srgbClr val="0D1B2A"/>
          </a:solidFill>
          <a:ln/>
        </p:spPr>
      </p:sp>
      <p:sp>
        <p:nvSpPr>
          <p:cNvPr id="7" name="Shape 4"/>
          <p:cNvSpPr/>
          <p:nvPr/>
        </p:nvSpPr>
        <p:spPr>
          <a:xfrm>
            <a:off x="749808" y="1719072"/>
            <a:ext cx="128016" cy="128016"/>
          </a:xfrm>
          <a:prstGeom prst="ellipse">
            <a:avLst/>
          </a:prstGeom>
          <a:solidFill>
            <a:srgbClr val="E06C75"/>
          </a:solidFill>
          <a:ln/>
        </p:spPr>
      </p:sp>
      <p:sp>
        <p:nvSpPr>
          <p:cNvPr id="8" name="Shape 5"/>
          <p:cNvSpPr/>
          <p:nvPr/>
        </p:nvSpPr>
        <p:spPr>
          <a:xfrm>
            <a:off x="950976" y="1719072"/>
            <a:ext cx="128016" cy="128016"/>
          </a:xfrm>
          <a:prstGeom prst="ellipse">
            <a:avLst/>
          </a:prstGeom>
          <a:solidFill>
            <a:srgbClr val="E5C07B"/>
          </a:solidFill>
          <a:ln/>
        </p:spPr>
      </p:sp>
      <p:sp>
        <p:nvSpPr>
          <p:cNvPr id="9" name="Shape 6"/>
          <p:cNvSpPr/>
          <p:nvPr/>
        </p:nvSpPr>
        <p:spPr>
          <a:xfrm>
            <a:off x="1152144" y="1719072"/>
            <a:ext cx="128016" cy="128016"/>
          </a:xfrm>
          <a:prstGeom prst="ellipse">
            <a:avLst/>
          </a:prstGeom>
          <a:solidFill>
            <a:srgbClr val="98C379"/>
          </a:solidFill>
          <a:ln/>
        </p:spPr>
      </p:sp>
      <p:sp>
        <p:nvSpPr>
          <p:cNvPr id="10" name="Text 7"/>
          <p:cNvSpPr/>
          <p:nvPr/>
        </p:nvSpPr>
        <p:spPr>
          <a:xfrm>
            <a:off x="868680" y="1938528"/>
            <a:ext cx="10515600" cy="207391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t_seq  &lt;- system.time(sapply(1:reps, function(i) mc_pi(n)))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t_fork &lt;- system.time(mclapply(1:reps, function(i) mc_pi(n),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mc.cores = detectCores() - 1))</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cl &lt;- makeCluster(detectCores() - 1)</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clusterExport(cl, varlist = c("mc_pi"))</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t_sock &lt;- system.time(parSapply(cl, 1:reps, function(i) mc_pi(n)))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stopCluster(cl)</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cat('Seq:', t_seq[3], ' Fork:', t_fork[3], ' Sock:', t_sock[3], '\n')</a:t>
            </a:r>
            <a:endParaRPr lang="en-US" sz="1250" dirty="0"/>
          </a:p>
        </p:txBody>
      </p:sp>
      <p:sp>
        <p:nvSpPr>
          <p:cNvPr id="11" name="Shape 8"/>
          <p:cNvSpPr/>
          <p:nvPr/>
        </p:nvSpPr>
        <p:spPr>
          <a:xfrm>
            <a:off x="548640" y="4167886"/>
            <a:ext cx="11064240" cy="640080"/>
          </a:xfrm>
          <a:prstGeom prst="rect">
            <a:avLst/>
          </a:prstGeom>
          <a:solidFill>
            <a:srgbClr val="EDF3F8"/>
          </a:solidFill>
          <a:ln/>
        </p:spPr>
      </p:sp>
      <p:sp>
        <p:nvSpPr>
          <p:cNvPr id="12" name="Text 9"/>
          <p:cNvSpPr/>
          <p:nvPr/>
        </p:nvSpPr>
        <p:spPr>
          <a:xfrm>
            <a:off x="731520" y="4167886"/>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mclapply() needs no clusterExport() (forked children inherit the parent's memory) and is fastest to launch on Linux/macOS, but is unavailable on Windows. Socket clusters work everywhere but need clusterExport() and have more overhead.</a:t>
            </a:r>
            <a:endParaRPr lang="en-US" sz="1100" dirty="0"/>
          </a:p>
        </p:txBody>
      </p:sp>
      <p:sp>
        <p:nvSpPr>
          <p:cNvPr id="13" name="Text 10"/>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1"/>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0">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chartbar.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3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Basic Statistics in R</a:t>
            </a:r>
            <a:endParaRPr lang="en-US" sz="3800" dirty="0"/>
          </a:p>
        </p:txBody>
      </p:sp>
      <p:sp>
        <p:nvSpPr>
          <p:cNvPr id="7" name="Text 4"/>
          <p:cNvSpPr/>
          <p:nvPr/>
        </p:nvSpPr>
        <p:spPr>
          <a:xfrm>
            <a:off x="640080" y="3703320"/>
            <a:ext cx="7040880" cy="1737360"/>
          </a:xfrm>
          <a:prstGeom prst="rect">
            <a:avLst/>
          </a:prstGeom>
          <a:noFill/>
          <a:ln/>
        </p:spPr>
        <p:txBody>
          <a:bodyPr wrap="square" rtlCol="0" anchor="t"/>
          <a:lstStyle/>
          <a:p>
            <a:pPr marL="0" indent="0">
              <a:lnSpc>
                <a:spcPct val="135000"/>
              </a:lnSpc>
              <a:buNone/>
            </a:pPr>
            <a:r>
              <a:rPr lang="en-US" sz="1350" dirty="0">
                <a:solidFill>
                  <a:srgbClr val="CADCFC"/>
                </a:solidFill>
                <a:latin typeface="Calibri" pitchFamily="34" charset="0"/>
                <a:ea typeface="Calibri" pitchFamily="34" charset="-122"/>
                <a:cs typeface="Calibri" pitchFamily="34" charset="-120"/>
              </a:rPr>
              <a:t>R ships with built-in functions for every core descriptive statistic, making it straightforward to profile a numeric variable before any modelling is attempted.</a:t>
            </a:r>
            <a:endParaRPr lang="en-US" sz="1350" dirty="0"/>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1 complete program</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32F151-1E49-F3F6-6563-BC4EA3ED76F5}"/>
              </a:ext>
            </a:extLst>
          </p:cNvPr>
          <p:cNvSpPr/>
          <p:nvPr/>
        </p:nvSpPr>
        <p:spPr>
          <a:xfrm>
            <a:off x="97277" y="0"/>
            <a:ext cx="11945566"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latin typeface="Arial Narrow" panose="020B0606020202030204" pitchFamily="34" charset="0"/>
              </a:rPr>
              <a:t>What is Statistics?</a:t>
            </a:r>
          </a:p>
          <a:p>
            <a:pPr algn="just"/>
            <a:r>
              <a:rPr lang="en-US" sz="4000" dirty="0"/>
              <a:t>Statistics helps us collect, organize, summarize, analyze, interpret, and present data so we can make informed decisions. </a:t>
            </a:r>
          </a:p>
          <a:p>
            <a:pPr algn="just"/>
            <a:r>
              <a:rPr lang="en-US" sz="4000" dirty="0"/>
              <a:t>In R, we can start with a small set of student marks:</a:t>
            </a:r>
            <a:endParaRPr lang="en-US" sz="4000" dirty="0">
              <a:latin typeface="Arial Narrow" panose="020B0606020202030204" pitchFamily="34" charset="0"/>
            </a:endParaRPr>
          </a:p>
          <a:p>
            <a:pPr algn="ctr"/>
            <a:endParaRPr lang="en-IN" sz="6000" dirty="0">
              <a:latin typeface="Arial Narrow" panose="020B0606020202030204" pitchFamily="34" charset="0"/>
            </a:endParaRPr>
          </a:p>
        </p:txBody>
      </p:sp>
      <p:pic>
        <p:nvPicPr>
          <p:cNvPr id="6" name="Picture 5">
            <a:extLst>
              <a:ext uri="{FF2B5EF4-FFF2-40B4-BE49-F238E27FC236}">
                <a16:creationId xmlns:a16="http://schemas.microsoft.com/office/drawing/2014/main" id="{9408633A-6850-E2AA-E82D-C6A1299858D2}"/>
              </a:ext>
            </a:extLst>
          </p:cNvPr>
          <p:cNvPicPr>
            <a:picLocks noChangeAspect="1"/>
          </p:cNvPicPr>
          <p:nvPr/>
        </p:nvPicPr>
        <p:blipFill>
          <a:blip r:embed="rId2"/>
          <a:stretch>
            <a:fillRect/>
          </a:stretch>
        </p:blipFill>
        <p:spPr>
          <a:xfrm>
            <a:off x="5314045" y="5367691"/>
            <a:ext cx="4248743" cy="733527"/>
          </a:xfrm>
          <a:prstGeom prst="rect">
            <a:avLst/>
          </a:prstGeom>
        </p:spPr>
      </p:pic>
    </p:spTree>
    <p:extLst>
      <p:ext uri="{BB962C8B-B14F-4D97-AF65-F5344CB8AC3E}">
        <p14:creationId xmlns:p14="http://schemas.microsoft.com/office/powerpoint/2010/main" val="2912836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CA9D6A-6507-836C-63D3-5C519CB2F0EF}"/>
              </a:ext>
            </a:extLst>
          </p:cNvPr>
          <p:cNvSpPr txBox="1"/>
          <p:nvPr/>
        </p:nvSpPr>
        <p:spPr>
          <a:xfrm>
            <a:off x="654185" y="433040"/>
            <a:ext cx="609437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Statistics helps to make decisions based on data.</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D871C0-8B53-2009-5005-806AF2B922CD}"/>
              </a:ext>
            </a:extLst>
          </p:cNvPr>
          <p:cNvPicPr>
            <a:picLocks noChangeAspect="1"/>
          </p:cNvPicPr>
          <p:nvPr/>
        </p:nvPicPr>
        <p:blipFill>
          <a:blip r:embed="rId2"/>
          <a:srcRect t="11899"/>
          <a:stretch>
            <a:fillRect/>
          </a:stretch>
        </p:blipFill>
        <p:spPr>
          <a:xfrm>
            <a:off x="413863" y="802372"/>
            <a:ext cx="8135485" cy="2467475"/>
          </a:xfrm>
          <a:prstGeom prst="rect">
            <a:avLst/>
          </a:prstGeom>
        </p:spPr>
      </p:pic>
      <p:pic>
        <p:nvPicPr>
          <p:cNvPr id="7" name="Picture 6">
            <a:extLst>
              <a:ext uri="{FF2B5EF4-FFF2-40B4-BE49-F238E27FC236}">
                <a16:creationId xmlns:a16="http://schemas.microsoft.com/office/drawing/2014/main" id="{2FA19DFC-2810-11B3-DF48-64AC4D3675F2}"/>
              </a:ext>
            </a:extLst>
          </p:cNvPr>
          <p:cNvPicPr>
            <a:picLocks noChangeAspect="1"/>
          </p:cNvPicPr>
          <p:nvPr/>
        </p:nvPicPr>
        <p:blipFill>
          <a:blip r:embed="rId3"/>
          <a:stretch>
            <a:fillRect/>
          </a:stretch>
        </p:blipFill>
        <p:spPr>
          <a:xfrm>
            <a:off x="550050" y="3127443"/>
            <a:ext cx="6792273" cy="3181794"/>
          </a:xfrm>
          <a:prstGeom prst="rect">
            <a:avLst/>
          </a:prstGeom>
        </p:spPr>
      </p:pic>
    </p:spTree>
    <p:extLst>
      <p:ext uri="{BB962C8B-B14F-4D97-AF65-F5344CB8AC3E}">
        <p14:creationId xmlns:p14="http://schemas.microsoft.com/office/powerpoint/2010/main" val="1079340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BASIC STATISTICS IN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Basic Statistics in R</a:t>
            </a:r>
            <a:endParaRPr lang="en-US" sz="30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hartbar.png"/>
          <p:cNvPicPr>
            <a:picLocks noChangeAspect="1"/>
          </p:cNvPicPr>
          <p:nvPr/>
        </p:nvPicPr>
        <p:blipFill>
          <a:blip r:embed="rId3"/>
          <a:stretch>
            <a:fillRect/>
          </a:stretch>
        </p:blipFill>
        <p:spPr>
          <a:xfrm>
            <a:off x="10756773" y="789813"/>
            <a:ext cx="477774" cy="477774"/>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267783553"/>
              </p:ext>
            </p:extLst>
          </p:nvPr>
        </p:nvGraphicFramePr>
        <p:xfrm>
          <a:off x="548640" y="1600200"/>
          <a:ext cx="11064240" cy="3968496"/>
        </p:xfrm>
        <a:graphic>
          <a:graphicData uri="http://schemas.openxmlformats.org/drawingml/2006/table">
            <a:tbl>
              <a:tblPr/>
              <a:tblGrid>
                <a:gridCol w="420624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566928">
                <a:tc>
                  <a:txBody>
                    <a:bodyPr/>
                    <a:lstStyle/>
                    <a:p>
                      <a:pPr marL="0" indent="0" algn="l">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Function</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Purpose</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mean(x, trim=0, na.rm=FALSE)</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Arithmetic mean of x; trim removes a fraction of extreme values from each end.</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median(x, na.rm=FALSE)</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The middle value of x when sorted (50th percentile).</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var(x, na.rm=FALSE) / sd(x, na.rm=FALSE)</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Sample variance / standard deviation of x.</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quantile(x, probs=seq(0,1,0.25))</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Sample quantiles at the given probabilities (default: min, Q1, median, Q3, max).</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summary(object)</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One-shot overview: min, Q1, median, mean, Q3, max.</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cor(x, y, method="pearson")</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Correlation coefficient; method: "pearson", "kendall" or "spearman".</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6"/>
                  </a:ext>
                </a:extLst>
              </a:tr>
            </a:tbl>
          </a:graphicData>
        </a:graphic>
      </p:graphicFrame>
      <p:sp>
        <p:nvSpPr>
          <p:cNvPr id="7" name="Shape 3"/>
          <p:cNvSpPr/>
          <p:nvPr/>
        </p:nvSpPr>
        <p:spPr>
          <a:xfrm>
            <a:off x="548640" y="5733288"/>
            <a:ext cx="11064240" cy="621792"/>
          </a:xfrm>
          <a:prstGeom prst="rect">
            <a:avLst/>
          </a:prstGeom>
          <a:solidFill>
            <a:srgbClr val="EDF3F8"/>
          </a:solidFill>
          <a:ln/>
        </p:spPr>
      </p:sp>
      <p:sp>
        <p:nvSpPr>
          <p:cNvPr id="8" name="Text 4"/>
          <p:cNvSpPr/>
          <p:nvPr/>
        </p:nvSpPr>
        <p:spPr>
          <a:xfrm>
            <a:off x="731520" y="5733288"/>
            <a:ext cx="10698480" cy="621792"/>
          </a:xfrm>
          <a:prstGeom prst="rect">
            <a:avLst/>
          </a:prstGeom>
          <a:noFill/>
          <a:ln/>
        </p:spPr>
        <p:txBody>
          <a:bodyPr wrap="square" rtlCol="0" anchor="ctr"/>
          <a:lstStyle/>
          <a:p>
            <a:pPr marL="0" indent="0">
              <a:lnSpc>
                <a:spcPct val="108000"/>
              </a:lnSpc>
              <a:buNone/>
            </a:pPr>
            <a:r>
              <a:rPr lang="en-US" sz="1600" i="1" dirty="0">
                <a:solidFill>
                  <a:srgbClr val="1C7293"/>
                </a:solidFill>
                <a:latin typeface="Times New Roman" panose="02020603050405020304" pitchFamily="18" charset="0"/>
                <a:ea typeface="Calibri" pitchFamily="34" charset="-122"/>
                <a:cs typeface="Times New Roman" panose="02020603050405020304" pitchFamily="18" charset="0"/>
              </a:rPr>
              <a:t>R has no built-in mode() for the statistical mode — mode() returns an object's storage type instead. The mode of a vector is computed via table(), as shown below.</a:t>
            </a:r>
            <a:endParaRPr lang="en-US" sz="1600" dirty="0">
              <a:latin typeface="Times New Roman" panose="02020603050405020304" pitchFamily="18" charset="0"/>
              <a:cs typeface="Times New Roman" panose="02020603050405020304" pitchFamily="18" charset="0"/>
            </a:endParaRPr>
          </a:p>
        </p:txBody>
      </p:sp>
      <p:sp>
        <p:nvSpPr>
          <p:cNvPr id="9" name="Text 5"/>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0" name="Text 6"/>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21</a:t>
            </a:r>
            <a:endParaRPr lang="en-US" sz="900" dirty="0"/>
          </a:p>
        </p:txBody>
      </p:sp>
      <p:sp>
        <p:nvSpPr>
          <p:cNvPr id="6" name="TextBox 5">
            <a:extLst>
              <a:ext uri="{FF2B5EF4-FFF2-40B4-BE49-F238E27FC236}">
                <a16:creationId xmlns:a16="http://schemas.microsoft.com/office/drawing/2014/main" id="{6648182A-2A2B-6065-4DD9-FEDFB73429EE}"/>
              </a:ext>
            </a:extLst>
          </p:cNvPr>
          <p:cNvSpPr txBox="1"/>
          <p:nvPr/>
        </p:nvSpPr>
        <p:spPr>
          <a:xfrm>
            <a:off x="4999531" y="700623"/>
            <a:ext cx="6094378" cy="553998"/>
          </a:xfrm>
          <a:prstGeom prst="rect">
            <a:avLst/>
          </a:prstGeom>
          <a:noFill/>
        </p:spPr>
        <p:txBody>
          <a:bodyPr wrap="square">
            <a:spAutoFit/>
          </a:bodyPr>
          <a:lstStyle/>
          <a:p>
            <a:r>
              <a:rPr lang="en-IN" sz="3000" b="1" dirty="0">
                <a:solidFill>
                  <a:srgbClr val="0B2A4A"/>
                </a:solidFill>
                <a:latin typeface="Cambria" pitchFamily="34" charset="0"/>
                <a:ea typeface="Cambria" pitchFamily="34" charset="-122"/>
              </a:rPr>
              <a:t>Measures of Central Tendency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FA7381-F1BF-CA8B-90B8-A17DBBFEA352}"/>
              </a:ext>
            </a:extLst>
          </p:cNvPr>
          <p:cNvPicPr>
            <a:picLocks noChangeAspect="1"/>
          </p:cNvPicPr>
          <p:nvPr/>
        </p:nvPicPr>
        <p:blipFill>
          <a:blip r:embed="rId2"/>
          <a:stretch>
            <a:fillRect/>
          </a:stretch>
        </p:blipFill>
        <p:spPr>
          <a:xfrm>
            <a:off x="118228" y="1109339"/>
            <a:ext cx="11955543" cy="4639322"/>
          </a:xfrm>
          <a:prstGeom prst="rect">
            <a:avLst/>
          </a:prstGeom>
        </p:spPr>
      </p:pic>
    </p:spTree>
    <p:extLst>
      <p:ext uri="{BB962C8B-B14F-4D97-AF65-F5344CB8AC3E}">
        <p14:creationId xmlns:p14="http://schemas.microsoft.com/office/powerpoint/2010/main" val="38040245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BASIC STATISTICS IN R</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6: Descriptive Statistics on a Numeric Vector</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Compute every core descriptive statistic on a sample dataset.</a:t>
            </a:r>
            <a:endParaRPr lang="en-US" sz="1300" dirty="0"/>
          </a:p>
        </p:txBody>
      </p:sp>
      <p:sp>
        <p:nvSpPr>
          <p:cNvPr id="7" name="Shape 4"/>
          <p:cNvSpPr/>
          <p:nvPr/>
        </p:nvSpPr>
        <p:spPr>
          <a:xfrm>
            <a:off x="548640" y="2084832"/>
            <a:ext cx="11064240" cy="327837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84861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scores &lt;- c(72,85,90,65,88,76,90,95,60,82,90,77)</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cat('Mean    :', mean(scores), '\n')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cat('Median  :', median(scores), '\n')</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mode_val &lt;- names(sort(table(scores), decreasing = TRUE))[1]</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cat('Mode    :', mode_val, '\n')</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cat('Variance:', var(scores), '\n')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cat('Std Dev :', sd(scores), '\n')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print(quantile(scores))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print(summary(scores))</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attendance &lt;- c(88,92,95,70,91,80,93,98,65,85,94,79)</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cat('Correlation:', cor(scores, attendance), '\n')</a:t>
            </a:r>
            <a:endParaRPr lang="en-US" sz="1250" dirty="0"/>
          </a:p>
        </p:txBody>
      </p:sp>
      <p:sp>
        <p:nvSpPr>
          <p:cNvPr id="12" name="Shape 9"/>
          <p:cNvSpPr/>
          <p:nvPr/>
        </p:nvSpPr>
        <p:spPr>
          <a:xfrm>
            <a:off x="548640" y="5472938"/>
            <a:ext cx="11064240" cy="640080"/>
          </a:xfrm>
          <a:prstGeom prst="rect">
            <a:avLst/>
          </a:prstGeom>
          <a:solidFill>
            <a:srgbClr val="EDF3F8"/>
          </a:solidFill>
          <a:ln/>
        </p:spPr>
      </p:sp>
      <p:sp>
        <p:nvSpPr>
          <p:cNvPr id="13" name="Text 10"/>
          <p:cNvSpPr/>
          <p:nvPr/>
        </p:nvSpPr>
        <p:spPr>
          <a:xfrm>
            <a:off x="731520" y="5472938"/>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summary() is the fastest single call to profile a variable; cor() close to +1/-1 indicates a strong linear relationship, near 0 indicates little linear association.</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F6F01C-77B4-9D44-E837-5FC56D882F5C}"/>
              </a:ext>
            </a:extLst>
          </p:cNvPr>
          <p:cNvSpPr txBox="1"/>
          <p:nvPr/>
        </p:nvSpPr>
        <p:spPr>
          <a:xfrm>
            <a:off x="634729" y="491406"/>
            <a:ext cx="6094378" cy="415498"/>
          </a:xfrm>
          <a:prstGeom prst="rect">
            <a:avLst/>
          </a:prstGeom>
          <a:noFill/>
        </p:spPr>
        <p:txBody>
          <a:bodyPr wrap="square">
            <a:spAutoFit/>
          </a:bodyPr>
          <a:lstStyle/>
          <a:p>
            <a:r>
              <a:rPr lang="en-IN" sz="2100" b="1" dirty="0">
                <a:solidFill>
                  <a:srgbClr val="0B2A4A"/>
                </a:solidFill>
                <a:latin typeface="Cambria" pitchFamily="34" charset="0"/>
                <a:ea typeface="Cambria" pitchFamily="34" charset="-122"/>
              </a:rPr>
              <a:t>Measures of Dispersion (Spread) </a:t>
            </a:r>
          </a:p>
        </p:txBody>
      </p:sp>
      <p:sp>
        <p:nvSpPr>
          <p:cNvPr id="5" name="TextBox 4">
            <a:extLst>
              <a:ext uri="{FF2B5EF4-FFF2-40B4-BE49-F238E27FC236}">
                <a16:creationId xmlns:a16="http://schemas.microsoft.com/office/drawing/2014/main" id="{B26B3C02-7459-3C02-78C1-E68B139A3E1E}"/>
              </a:ext>
            </a:extLst>
          </p:cNvPr>
          <p:cNvSpPr txBox="1"/>
          <p:nvPr/>
        </p:nvSpPr>
        <p:spPr>
          <a:xfrm>
            <a:off x="732006" y="1094521"/>
            <a:ext cx="6094378"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These measure how data values vary. </a:t>
            </a: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FAF2413-B3CF-795B-9E0A-ACBC09D51557}"/>
              </a:ext>
            </a:extLst>
          </p:cNvPr>
          <p:cNvPicPr>
            <a:picLocks noChangeAspect="1"/>
          </p:cNvPicPr>
          <p:nvPr/>
        </p:nvPicPr>
        <p:blipFill>
          <a:blip r:embed="rId2"/>
          <a:stretch>
            <a:fillRect/>
          </a:stretch>
        </p:blipFill>
        <p:spPr>
          <a:xfrm>
            <a:off x="423257" y="1943227"/>
            <a:ext cx="7220958" cy="2543530"/>
          </a:xfrm>
          <a:prstGeom prst="rect">
            <a:avLst/>
          </a:prstGeom>
        </p:spPr>
      </p:pic>
      <p:pic>
        <p:nvPicPr>
          <p:cNvPr id="9" name="Picture 8">
            <a:extLst>
              <a:ext uri="{FF2B5EF4-FFF2-40B4-BE49-F238E27FC236}">
                <a16:creationId xmlns:a16="http://schemas.microsoft.com/office/drawing/2014/main" id="{129D8FD1-FD2C-E880-F6C9-D915E51F9253}"/>
              </a:ext>
            </a:extLst>
          </p:cNvPr>
          <p:cNvPicPr>
            <a:picLocks noChangeAspect="1"/>
          </p:cNvPicPr>
          <p:nvPr/>
        </p:nvPicPr>
        <p:blipFill>
          <a:blip r:embed="rId3"/>
          <a:stretch>
            <a:fillRect/>
          </a:stretch>
        </p:blipFill>
        <p:spPr>
          <a:xfrm>
            <a:off x="7794821" y="223736"/>
            <a:ext cx="3973922" cy="6241816"/>
          </a:xfrm>
          <a:prstGeom prst="rect">
            <a:avLst/>
          </a:prstGeom>
        </p:spPr>
      </p:pic>
    </p:spTree>
    <p:extLst>
      <p:ext uri="{BB962C8B-B14F-4D97-AF65-F5344CB8AC3E}">
        <p14:creationId xmlns:p14="http://schemas.microsoft.com/office/powerpoint/2010/main" val="3596357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3">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balance.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4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Hypothesis Testing</a:t>
            </a:r>
            <a:endParaRPr lang="en-US" sz="3800" dirty="0"/>
          </a:p>
        </p:txBody>
      </p:sp>
      <p:sp>
        <p:nvSpPr>
          <p:cNvPr id="7" name="Text 4"/>
          <p:cNvSpPr/>
          <p:nvPr/>
        </p:nvSpPr>
        <p:spPr>
          <a:xfrm>
            <a:off x="640080" y="3703320"/>
            <a:ext cx="7040880" cy="1737360"/>
          </a:xfrm>
          <a:prstGeom prst="rect">
            <a:avLst/>
          </a:prstGeom>
          <a:noFill/>
          <a:ln/>
        </p:spPr>
        <p:txBody>
          <a:bodyPr wrap="square" rtlCol="0" anchor="t"/>
          <a:lstStyle/>
          <a:p>
            <a:pPr algn="just">
              <a:lnSpc>
                <a:spcPct val="135000"/>
              </a:lnSpc>
            </a:pPr>
            <a:r>
              <a:rPr lang="en-US" sz="2400" b="1" dirty="0">
                <a:solidFill>
                  <a:schemeClr val="bg1"/>
                </a:solidFill>
                <a:latin typeface="Arial Narrow" panose="020B0606020202030204" pitchFamily="34" charset="0"/>
              </a:rPr>
              <a:t>Hypothesis testing</a:t>
            </a:r>
            <a:r>
              <a:rPr lang="en-US" sz="2400" dirty="0">
                <a:solidFill>
                  <a:schemeClr val="bg1"/>
                </a:solidFill>
                <a:latin typeface="Arial Narrow" panose="020B0606020202030204" pitchFamily="34" charset="0"/>
              </a:rPr>
              <a:t> is a statistical method for deciding whether sample data provide enough evidence to question a claim about a population.</a:t>
            </a:r>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3 functions with syntax &amp; arguments   •   2 complete programs</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27941E-F59E-9693-464D-8E6F75BD5626}"/>
              </a:ext>
            </a:extLst>
          </p:cNvPr>
          <p:cNvPicPr>
            <a:picLocks noChangeAspect="1"/>
          </p:cNvPicPr>
          <p:nvPr/>
        </p:nvPicPr>
        <p:blipFill>
          <a:blip r:embed="rId2"/>
          <a:stretch>
            <a:fillRect/>
          </a:stretch>
        </p:blipFill>
        <p:spPr>
          <a:xfrm>
            <a:off x="904672" y="0"/>
            <a:ext cx="9774409" cy="6858000"/>
          </a:xfrm>
          <a:prstGeom prst="rect">
            <a:avLst/>
          </a:prstGeom>
        </p:spPr>
      </p:pic>
    </p:spTree>
    <p:extLst>
      <p:ext uri="{BB962C8B-B14F-4D97-AF65-F5344CB8AC3E}">
        <p14:creationId xmlns:p14="http://schemas.microsoft.com/office/powerpoint/2010/main" val="3019703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HYPOTHESIS TESTING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4.1  Core Concepts</a:t>
            </a:r>
            <a:endParaRPr lang="en-US" sz="30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balance.png"/>
          <p:cNvPicPr>
            <a:picLocks noChangeAspect="1"/>
          </p:cNvPicPr>
          <p:nvPr/>
        </p:nvPicPr>
        <p:blipFill>
          <a:blip r:embed="rId3"/>
          <a:stretch>
            <a:fillRect/>
          </a:stretch>
        </p:blipFill>
        <p:spPr>
          <a:xfrm>
            <a:off x="10756773" y="789813"/>
            <a:ext cx="477774" cy="477774"/>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999521707"/>
              </p:ext>
            </p:extLst>
          </p:nvPr>
        </p:nvGraphicFramePr>
        <p:xfrm>
          <a:off x="548640" y="1600200"/>
          <a:ext cx="11064240" cy="3980688"/>
        </p:xfrm>
        <a:graphic>
          <a:graphicData uri="http://schemas.openxmlformats.org/drawingml/2006/table">
            <a:tbl>
              <a:tblPr/>
              <a:tblGrid>
                <a:gridCol w="420624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566928">
                <a:tc>
                  <a:txBody>
                    <a:bodyPr/>
                    <a:lstStyle/>
                    <a:p>
                      <a:pPr marL="0" indent="0" algn="l">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Term</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Meaning</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Null hypothesis (H0)</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The default claim of “no effect / no difference” that the test tries to disprove.</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Alternative hypothesis (H1)</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The claim accepted if H0 is rejected.</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P-value</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Probability of data this extreme if H0 were true; small p-value = evidence against H0.</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Significance level (α)</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Threshold (commonly 0.05) below which the p-value leads to rejecting H0.</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Type I error</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Rejecting H0 when it is actually true (“false positive”); probability = α.</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Type II error</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600" dirty="0">
                          <a:solidFill>
                            <a:srgbClr val="16232F"/>
                          </a:solidFill>
                          <a:latin typeface="Times New Roman" panose="02020603050405020304" pitchFamily="18" charset="0"/>
                          <a:ea typeface="Calibri" pitchFamily="34" charset="-122"/>
                          <a:cs typeface="Times New Roman" panose="02020603050405020304" pitchFamily="18" charset="0"/>
                        </a:rPr>
                        <a:t>Failing to reject H0 when it is actually false (“false negative”); probability = β.</a:t>
                      </a:r>
                      <a:endParaRPr lang="en-US" sz="16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6"/>
                  </a:ext>
                </a:extLst>
              </a:tr>
            </a:tbl>
          </a:graphicData>
        </a:graphic>
      </p:graphicFrame>
      <p:sp>
        <p:nvSpPr>
          <p:cNvPr id="7" name="Text 3"/>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8" name="Text 4"/>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HYPOTHESIS TESTING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t.test()</a:t>
            </a:r>
            <a:endParaRPr lang="en-US" sz="26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balanc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676656"/>
          </a:xfrm>
          <a:prstGeom prst="rect">
            <a:avLst/>
          </a:prstGeom>
          <a:solidFill>
            <a:srgbClr val="0D1B2A"/>
          </a:solidFill>
          <a:ln/>
        </p:spPr>
      </p:sp>
      <p:sp>
        <p:nvSpPr>
          <p:cNvPr id="8" name="Text 5"/>
          <p:cNvSpPr/>
          <p:nvPr/>
        </p:nvSpPr>
        <p:spPr>
          <a:xfrm>
            <a:off x="777240" y="1755648"/>
            <a:ext cx="10607040" cy="676656"/>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t.test(x, y = NULL, alternative = c("two.sided","less","greater"), mu = 0, paired = FALSE,</a:t>
            </a:r>
            <a:endParaRPr lang="en-US" sz="1300" dirty="0"/>
          </a:p>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var.equal = FALSE, conf.level = 0.95)</a:t>
            </a:r>
            <a:endParaRPr lang="en-US" sz="1300" dirty="0"/>
          </a:p>
        </p:txBody>
      </p:sp>
      <p:sp>
        <p:nvSpPr>
          <p:cNvPr id="9" name="Text 6"/>
          <p:cNvSpPr/>
          <p:nvPr/>
        </p:nvSpPr>
        <p:spPr>
          <a:xfrm>
            <a:off x="548640" y="2615184"/>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907792"/>
          <a:ext cx="11064240" cy="2532888"/>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221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 y</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Numeric vectors. If y is omitted, a one-sample test against mu is performed.</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alternative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two-sided, or that the true mean is less/greater than mu.</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mu</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Hypothesised mean (one-sample) or mean difference (two-sample).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paired</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perform a paired t-test.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var.equal</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TRUE uses pooled-variance (Student's) test, else Welch's correction.</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Tests whether the mean of one sample differs from a fixed value, or whether the means of two samples differ.</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HYPOTHESIS TESTING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chisq.test() / cor.test()</a:t>
            </a:r>
            <a:endParaRPr lang="en-US" sz="26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balanc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676656"/>
          </a:xfrm>
          <a:prstGeom prst="rect">
            <a:avLst/>
          </a:prstGeom>
          <a:solidFill>
            <a:srgbClr val="0D1B2A"/>
          </a:solidFill>
          <a:ln/>
        </p:spPr>
      </p:sp>
      <p:sp>
        <p:nvSpPr>
          <p:cNvPr id="8" name="Text 5"/>
          <p:cNvSpPr/>
          <p:nvPr/>
        </p:nvSpPr>
        <p:spPr>
          <a:xfrm>
            <a:off x="777240" y="1755648"/>
            <a:ext cx="10607040" cy="676656"/>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chisq.test(x, y = NULL, correct = TRUE) cor.test(x, y, method =</a:t>
            </a:r>
            <a:endParaRPr lang="en-US" sz="1300" dirty="0"/>
          </a:p>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c("pearson","kendall","spearman"))</a:t>
            </a:r>
            <a:endParaRPr lang="en-US" sz="1300" dirty="0"/>
          </a:p>
        </p:txBody>
      </p:sp>
      <p:sp>
        <p:nvSpPr>
          <p:cNvPr id="9" name="Text 6"/>
          <p:cNvSpPr/>
          <p:nvPr/>
        </p:nvSpPr>
        <p:spPr>
          <a:xfrm>
            <a:off x="548640" y="2615184"/>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907792"/>
          <a:ext cx="11064240" cy="2532890"/>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0657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chisq.test(): a factor or contingency table of counts.  cor.test(): a numeric vector.</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y</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second factor (chisq.test) or numeric vector (cor.test) to compare against x.</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correct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apply Yates' continuity correction for 2×2 tables.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method</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correlation coefficient to compute and test.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chisq.test() tests independence/association between categorical variables (or goodness-of-fit). cor.test() tests whether the correlation between x and y is significantly different from zero.</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HYPOTHESIS TESTING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7: t-test, Chi-square Test and Correlation Test</a:t>
            </a:r>
            <a:endParaRPr lang="en-US" sz="21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Apply all three tests with interpretation of each result.</a:t>
            </a:r>
            <a:endParaRPr lang="en-US" sz="1300" dirty="0"/>
          </a:p>
        </p:txBody>
      </p:sp>
      <p:sp>
        <p:nvSpPr>
          <p:cNvPr id="7" name="Shape 4"/>
          <p:cNvSpPr/>
          <p:nvPr/>
        </p:nvSpPr>
        <p:spPr>
          <a:xfrm>
            <a:off x="548640" y="2084832"/>
            <a:ext cx="11064240" cy="3084703"/>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654935"/>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set.seed(42)</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class_A &lt;- rnorm(30, 72, 8); class_B &lt;- rnorm(30, 76, 9)</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t_result &lt;- t.test(class_A, class_B)</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print(t_result)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gender   &lt;- sample(c('M','F'), 200, replace = TRUE)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purchase &lt;- sample(c('Yes','No'), 200, replace = TRUE, prob = c(.4,.6))</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tbl &lt;- table(gender, purchase)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print(chisq.test(tbl))</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study_hours &lt;- c(2,4,6,8,3,5,7,9,1,6)</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exam_score  &lt;- c(55,63,72,85,58,68,78,90,50,74)</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print(cor.test(study_hours, exam_score, method = 'pearson'))</a:t>
            </a:r>
            <a:endParaRPr lang="en-US" sz="1250" dirty="0"/>
          </a:p>
        </p:txBody>
      </p:sp>
      <p:sp>
        <p:nvSpPr>
          <p:cNvPr id="12" name="Shape 9"/>
          <p:cNvSpPr/>
          <p:nvPr/>
        </p:nvSpPr>
        <p:spPr>
          <a:xfrm>
            <a:off x="548640" y="5279263"/>
            <a:ext cx="11064240" cy="457200"/>
          </a:xfrm>
          <a:prstGeom prst="rect">
            <a:avLst/>
          </a:prstGeom>
          <a:solidFill>
            <a:srgbClr val="EDF3F8"/>
          </a:solidFill>
          <a:ln/>
        </p:spPr>
      </p:sp>
      <p:sp>
        <p:nvSpPr>
          <p:cNvPr id="13" name="Text 10"/>
          <p:cNvSpPr/>
          <p:nvPr/>
        </p:nvSpPr>
        <p:spPr>
          <a:xfrm>
            <a:off x="731520" y="5279263"/>
            <a:ext cx="10698480" cy="45720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In every case: p-value &lt; α (commonly 0.05) means the result is statistically significant, so H0 is rejected.</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0">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chartline.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5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Linear Model — lm()</a:t>
            </a:r>
            <a:endParaRPr lang="en-US" sz="3800" dirty="0"/>
          </a:p>
        </p:txBody>
      </p:sp>
      <p:sp>
        <p:nvSpPr>
          <p:cNvPr id="7" name="Text 4"/>
          <p:cNvSpPr/>
          <p:nvPr/>
        </p:nvSpPr>
        <p:spPr>
          <a:xfrm>
            <a:off x="640080" y="3703320"/>
            <a:ext cx="7040880" cy="1737360"/>
          </a:xfrm>
          <a:prstGeom prst="rect">
            <a:avLst/>
          </a:prstGeom>
          <a:noFill/>
          <a:ln/>
        </p:spPr>
        <p:txBody>
          <a:bodyPr wrap="square" rtlCol="0" anchor="t"/>
          <a:lstStyle/>
          <a:p>
            <a:pPr marL="0" indent="0">
              <a:lnSpc>
                <a:spcPct val="135000"/>
              </a:lnSpc>
              <a:buNone/>
            </a:pPr>
            <a:r>
              <a:rPr lang="en-US" sz="1350" dirty="0">
                <a:solidFill>
                  <a:srgbClr val="CADCFC"/>
                </a:solidFill>
                <a:latin typeface="Calibri" pitchFamily="34" charset="0"/>
                <a:ea typeface="Calibri" pitchFamily="34" charset="-122"/>
                <a:cs typeface="Calibri" pitchFamily="34" charset="-120"/>
              </a:rPr>
              <a:t>Linear regression models a numeric response as a weighted sum of predictors plus random error: simple regression uses one predictor (y = β0 + β1x + ε), multiple regression uses several.</a:t>
            </a:r>
            <a:endParaRPr lang="en-US" sz="1350" dirty="0"/>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2 functions with syntax &amp; arguments   •   1 complete program</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3902104-CCC7-6D13-8DF3-99387E7A444B}"/>
                  </a:ext>
                </a:extLst>
              </p:cNvPr>
              <p:cNvSpPr txBox="1"/>
              <p:nvPr/>
            </p:nvSpPr>
            <p:spPr>
              <a:xfrm>
                <a:off x="420720" y="360321"/>
                <a:ext cx="11077373" cy="369332"/>
              </a:xfrm>
              <a:prstGeom prst="rect">
                <a:avLst/>
              </a:prstGeom>
              <a:noFill/>
            </p:spPr>
            <p:txBody>
              <a:bodyPr wrap="square">
                <a:spAutoFit/>
              </a:bodyPr>
              <a:lstStyle/>
              <a:p>
                <a:r>
                  <a:rPr lang="en-US" dirty="0"/>
                  <a:t>A </a:t>
                </a:r>
                <a:r>
                  <a:rPr lang="en-US" b="1" dirty="0"/>
                  <a:t>linear model</a:t>
                </a:r>
                <a:r>
                  <a:rPr lang="en-US" dirty="0"/>
                  <a:t> describes how a response variable </a:t>
                </a:r>
                <a14:m>
                  <m:oMath xmlns:m="http://schemas.openxmlformats.org/officeDocument/2006/math">
                    <m:r>
                      <a:rPr lang="en-US" i="1">
                        <a:latin typeface="Cambria Math" panose="02040503050406030204" pitchFamily="18" charset="0"/>
                      </a:rPr>
                      <m:t>𝑌</m:t>
                    </m:r>
                  </m:oMath>
                </a14:m>
                <a:r>
                  <a:rPr lang="en-US" dirty="0"/>
                  <a:t>changes with one or more predictor variables. </a:t>
                </a:r>
                <a:endParaRPr lang="en-IN" dirty="0"/>
              </a:p>
            </p:txBody>
          </p:sp>
        </mc:Choice>
        <mc:Fallback xmlns="">
          <p:sp>
            <p:nvSpPr>
              <p:cNvPr id="3" name="TextBox 2">
                <a:extLst>
                  <a:ext uri="{FF2B5EF4-FFF2-40B4-BE49-F238E27FC236}">
                    <a16:creationId xmlns:a16="http://schemas.microsoft.com/office/drawing/2014/main" id="{33902104-CCC7-6D13-8DF3-99387E7A444B}"/>
                  </a:ext>
                </a:extLst>
              </p:cNvPr>
              <p:cNvSpPr txBox="1">
                <a:spLocks noRot="1" noChangeAspect="1" noMove="1" noResize="1" noEditPoints="1" noAdjustHandles="1" noChangeArrowheads="1" noChangeShapeType="1" noTextEdit="1"/>
              </p:cNvSpPr>
              <p:nvPr/>
            </p:nvSpPr>
            <p:spPr>
              <a:xfrm>
                <a:off x="420720" y="360321"/>
                <a:ext cx="11077373" cy="369332"/>
              </a:xfrm>
              <a:prstGeom prst="rect">
                <a:avLst/>
              </a:prstGeom>
              <a:blipFill>
                <a:blip r:embed="rId2"/>
                <a:stretch>
                  <a:fillRect l="-440" t="-8197" b="-24590"/>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746D0FD3-7769-1C67-630D-A0513876EB98}"/>
              </a:ext>
            </a:extLst>
          </p:cNvPr>
          <p:cNvSpPr txBox="1"/>
          <p:nvPr/>
        </p:nvSpPr>
        <p:spPr>
          <a:xfrm>
            <a:off x="576363" y="1075066"/>
            <a:ext cx="6094378" cy="369332"/>
          </a:xfrm>
          <a:prstGeom prst="rect">
            <a:avLst/>
          </a:prstGeom>
          <a:noFill/>
        </p:spPr>
        <p:txBody>
          <a:bodyPr wrap="square">
            <a:spAutoFit/>
          </a:bodyPr>
          <a:lstStyle/>
          <a:p>
            <a:r>
              <a:rPr lang="en-IN" b="1" dirty="0"/>
              <a:t>Simple linear regression equation:</a:t>
            </a:r>
          </a:p>
        </p:txBody>
      </p:sp>
      <p:pic>
        <p:nvPicPr>
          <p:cNvPr id="7" name="Picture 6">
            <a:extLst>
              <a:ext uri="{FF2B5EF4-FFF2-40B4-BE49-F238E27FC236}">
                <a16:creationId xmlns:a16="http://schemas.microsoft.com/office/drawing/2014/main" id="{8E0490E0-FA4C-CCE1-B75D-04B828467A04}"/>
              </a:ext>
            </a:extLst>
          </p:cNvPr>
          <p:cNvPicPr>
            <a:picLocks noChangeAspect="1"/>
          </p:cNvPicPr>
          <p:nvPr/>
        </p:nvPicPr>
        <p:blipFill>
          <a:blip r:embed="rId3"/>
          <a:stretch>
            <a:fillRect/>
          </a:stretch>
        </p:blipFill>
        <p:spPr>
          <a:xfrm>
            <a:off x="514754" y="1577194"/>
            <a:ext cx="5924957" cy="1505160"/>
          </a:xfrm>
          <a:prstGeom prst="rect">
            <a:avLst/>
          </a:prstGeom>
        </p:spPr>
      </p:pic>
      <p:sp>
        <p:nvSpPr>
          <p:cNvPr id="9" name="TextBox 8">
            <a:extLst>
              <a:ext uri="{FF2B5EF4-FFF2-40B4-BE49-F238E27FC236}">
                <a16:creationId xmlns:a16="http://schemas.microsoft.com/office/drawing/2014/main" id="{85721994-28A5-3EB2-06C9-C17F3895E55E}"/>
              </a:ext>
            </a:extLst>
          </p:cNvPr>
          <p:cNvSpPr txBox="1"/>
          <p:nvPr/>
        </p:nvSpPr>
        <p:spPr>
          <a:xfrm>
            <a:off x="673640" y="3283564"/>
            <a:ext cx="4919764" cy="646331"/>
          </a:xfrm>
          <a:prstGeom prst="rect">
            <a:avLst/>
          </a:prstGeom>
          <a:noFill/>
        </p:spPr>
        <p:txBody>
          <a:bodyPr wrap="square">
            <a:spAutoFit/>
          </a:bodyPr>
          <a:lstStyle/>
          <a:p>
            <a:pPr>
              <a:buNone/>
            </a:pPr>
            <a:r>
              <a:rPr lang="en-US" b="1" dirty="0"/>
              <a:t>Simple linear regression</a:t>
            </a:r>
          </a:p>
          <a:p>
            <a:pPr>
              <a:buNone/>
            </a:pPr>
            <a:r>
              <a:rPr lang="en-US" dirty="0"/>
              <a:t>Simple linear regression uses </a:t>
            </a:r>
            <a:r>
              <a:rPr lang="en-US" b="1" dirty="0"/>
              <a:t>one predictor</a:t>
            </a:r>
            <a:r>
              <a:rPr lang="en-US" dirty="0"/>
              <a:t>. </a:t>
            </a:r>
          </a:p>
        </p:txBody>
      </p:sp>
      <p:pic>
        <p:nvPicPr>
          <p:cNvPr id="11" name="Picture 10">
            <a:extLst>
              <a:ext uri="{FF2B5EF4-FFF2-40B4-BE49-F238E27FC236}">
                <a16:creationId xmlns:a16="http://schemas.microsoft.com/office/drawing/2014/main" id="{E382EE5B-A84B-9D02-9D6D-D0AD85BCC9A0}"/>
              </a:ext>
            </a:extLst>
          </p:cNvPr>
          <p:cNvPicPr>
            <a:picLocks noChangeAspect="1"/>
          </p:cNvPicPr>
          <p:nvPr/>
        </p:nvPicPr>
        <p:blipFill>
          <a:blip r:embed="rId4"/>
          <a:stretch>
            <a:fillRect/>
          </a:stretch>
        </p:blipFill>
        <p:spPr>
          <a:xfrm>
            <a:off x="5566596" y="2733472"/>
            <a:ext cx="6110650" cy="3616250"/>
          </a:xfrm>
          <a:prstGeom prst="rect">
            <a:avLst/>
          </a:prstGeom>
        </p:spPr>
      </p:pic>
      <p:pic>
        <p:nvPicPr>
          <p:cNvPr id="13" name="Picture 12">
            <a:extLst>
              <a:ext uri="{FF2B5EF4-FFF2-40B4-BE49-F238E27FC236}">
                <a16:creationId xmlns:a16="http://schemas.microsoft.com/office/drawing/2014/main" id="{EEFEF763-80EF-BA7A-5789-0DC9EB796F2B}"/>
              </a:ext>
            </a:extLst>
          </p:cNvPr>
          <p:cNvPicPr>
            <a:picLocks noChangeAspect="1"/>
          </p:cNvPicPr>
          <p:nvPr/>
        </p:nvPicPr>
        <p:blipFill>
          <a:blip r:embed="rId5"/>
          <a:stretch>
            <a:fillRect/>
          </a:stretch>
        </p:blipFill>
        <p:spPr>
          <a:xfrm>
            <a:off x="576363" y="4082252"/>
            <a:ext cx="4748335" cy="2115112"/>
          </a:xfrm>
          <a:prstGeom prst="rect">
            <a:avLst/>
          </a:prstGeom>
        </p:spPr>
      </p:pic>
    </p:spTree>
    <p:extLst>
      <p:ext uri="{BB962C8B-B14F-4D97-AF65-F5344CB8AC3E}">
        <p14:creationId xmlns:p14="http://schemas.microsoft.com/office/powerpoint/2010/main" val="22448664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LINEAR MODEL — LM()</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lm()</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hartlin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lm(formula, data, subset, weights, na.action, method = "qr")</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64022272"/>
              </p:ext>
            </p:extLst>
          </p:nvPr>
        </p:nvGraphicFramePr>
        <p:xfrm>
          <a:off x="548640" y="2734056"/>
          <a:ext cx="11064240" cy="2706627"/>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386661">
                <a:tc>
                  <a:txBody>
                    <a:bodyPr/>
                    <a:lstStyle/>
                    <a:p>
                      <a:pPr marL="0" indent="0" algn="l">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Argument</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Description</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386661">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formula</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e.g. y ~ x1 + x2 (multiple regression) or y ~ . (all other columns as predictors).</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6661">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data</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The data frame containing the variables in formula.</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386661">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subset</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Optional vector specifying a subset of rows to fit on.</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6661">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weights</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Optional vector of weights for weighted least squares.</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386661">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na.action</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How missing values are handled (default: drop incomplete rows).</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6661">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method</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The fitting method; "qr" (QR decomposition) is the default.</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6"/>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Fits an ordinary least-squares linear model. The result supports summary() (coefficients, R², p-values), predict(), residuals() and plot() (diagnostics).</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LINEAR MODEL — LM()</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predict()</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hartlin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predict(object, newdata, interval = c("none","confidence","prediction"), level = 0.95)</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073353973"/>
              </p:ext>
            </p:extLst>
          </p:nvPr>
        </p:nvGraphicFramePr>
        <p:xfrm>
          <a:off x="548640" y="2734056"/>
          <a:ext cx="11064240" cy="2706625"/>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41325">
                <a:tc>
                  <a:txBody>
                    <a:bodyPr/>
                    <a:lstStyle/>
                    <a:p>
                      <a:pPr marL="0" indent="0" algn="l">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Argument</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Description</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41325">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object</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A fitted model, e.g. from lm() or glm().</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1325">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newdata</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A data frame of new predictor values.</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41325">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interval</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"confidence" (mean response) or "prediction" (a new observation).</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1325">
                <a:tc>
                  <a:txBody>
                    <a:bodyPr/>
                    <a:lstStyle/>
                    <a:p>
                      <a:pPr marL="0" indent="0" algn="l">
                        <a:buNone/>
                      </a:pPr>
                      <a:r>
                        <a:rPr lang="en-US" sz="1400" b="1" dirty="0">
                          <a:solidFill>
                            <a:srgbClr val="16232F"/>
                          </a:solidFill>
                          <a:latin typeface="Times New Roman" panose="02020603050405020304" pitchFamily="18" charset="0"/>
                          <a:ea typeface="Courier New" pitchFamily="34" charset="-122"/>
                          <a:cs typeface="Times New Roman" panose="02020603050405020304" pitchFamily="18" charset="0"/>
                        </a:rPr>
                        <a:t>level</a:t>
                      </a:r>
                      <a:endParaRPr lang="en-US" sz="1400" dirty="0">
                        <a:latin typeface="Times New Roman" panose="02020603050405020304" pitchFamily="18" charset="0"/>
                        <a:ea typeface="Courier New"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400" dirty="0">
                          <a:solidFill>
                            <a:srgbClr val="16232F"/>
                          </a:solidFill>
                          <a:latin typeface="Times New Roman" panose="02020603050405020304" pitchFamily="18" charset="0"/>
                          <a:ea typeface="Calibri" pitchFamily="34" charset="-122"/>
                          <a:cs typeface="Times New Roman" panose="02020603050405020304" pitchFamily="18" charset="0"/>
                        </a:rPr>
                        <a:t>Confidence level for the interval.</a:t>
                      </a:r>
                      <a:endParaRPr lang="en-US" sz="14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Generates fitted/predicted values for new data, optionally with an interval expressing prediction uncertainty.</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627B05-C43C-904C-C6F5-739941C35008}"/>
              </a:ext>
            </a:extLst>
          </p:cNvPr>
          <p:cNvSpPr txBox="1"/>
          <p:nvPr/>
        </p:nvSpPr>
        <p:spPr>
          <a:xfrm>
            <a:off x="537453" y="364946"/>
            <a:ext cx="6094378" cy="369332"/>
          </a:xfrm>
          <a:prstGeom prst="rect">
            <a:avLst/>
          </a:prstGeom>
          <a:noFill/>
        </p:spPr>
        <p:txBody>
          <a:bodyPr wrap="square">
            <a:spAutoFit/>
          </a:bodyPr>
          <a:lstStyle/>
          <a:p>
            <a:r>
              <a:rPr lang="en-IN" b="1" dirty="0"/>
              <a:t>Multiple linear regression</a:t>
            </a:r>
          </a:p>
        </p:txBody>
      </p:sp>
      <p:sp>
        <p:nvSpPr>
          <p:cNvPr id="5" name="TextBox 4">
            <a:extLst>
              <a:ext uri="{FF2B5EF4-FFF2-40B4-BE49-F238E27FC236}">
                <a16:creationId xmlns:a16="http://schemas.microsoft.com/office/drawing/2014/main" id="{95926D25-F43A-5923-522A-3AA276808C04}"/>
              </a:ext>
            </a:extLst>
          </p:cNvPr>
          <p:cNvSpPr txBox="1"/>
          <p:nvPr/>
        </p:nvSpPr>
        <p:spPr>
          <a:xfrm>
            <a:off x="362355" y="907384"/>
            <a:ext cx="6094378" cy="646331"/>
          </a:xfrm>
          <a:prstGeom prst="rect">
            <a:avLst/>
          </a:prstGeom>
          <a:noFill/>
        </p:spPr>
        <p:txBody>
          <a:bodyPr wrap="square">
            <a:spAutoFit/>
          </a:bodyPr>
          <a:lstStyle/>
          <a:p>
            <a:r>
              <a:rPr lang="en-US" dirty="0"/>
              <a:t>Multiple linear regression uses </a:t>
            </a:r>
            <a:r>
              <a:rPr lang="en-US" b="1" dirty="0"/>
              <a:t>more than one predictor</a:t>
            </a:r>
            <a:r>
              <a:rPr lang="en-US" dirty="0"/>
              <a:t>. The uses R’s built-in </a:t>
            </a:r>
            <a:r>
              <a:rPr lang="en-US" dirty="0" err="1">
                <a:latin typeface="Courier New" panose="02070309020205020404" pitchFamily="49" charset="0"/>
              </a:rPr>
              <a:t>mtcars</a:t>
            </a:r>
            <a:r>
              <a:rPr lang="en-US" dirty="0"/>
              <a:t> dataset:</a:t>
            </a:r>
            <a:endParaRPr lang="en-IN" dirty="0"/>
          </a:p>
        </p:txBody>
      </p:sp>
      <p:pic>
        <p:nvPicPr>
          <p:cNvPr id="7" name="Picture 6">
            <a:extLst>
              <a:ext uri="{FF2B5EF4-FFF2-40B4-BE49-F238E27FC236}">
                <a16:creationId xmlns:a16="http://schemas.microsoft.com/office/drawing/2014/main" id="{8A3DA043-B15B-E870-BFC0-2AE7CB2AF81E}"/>
              </a:ext>
            </a:extLst>
          </p:cNvPr>
          <p:cNvPicPr>
            <a:picLocks noChangeAspect="1"/>
          </p:cNvPicPr>
          <p:nvPr/>
        </p:nvPicPr>
        <p:blipFill>
          <a:blip r:embed="rId2"/>
          <a:stretch>
            <a:fillRect/>
          </a:stretch>
        </p:blipFill>
        <p:spPr>
          <a:xfrm>
            <a:off x="204559" y="1655757"/>
            <a:ext cx="9078592" cy="2495898"/>
          </a:xfrm>
          <a:prstGeom prst="rect">
            <a:avLst/>
          </a:prstGeom>
        </p:spPr>
      </p:pic>
      <p:sp>
        <p:nvSpPr>
          <p:cNvPr id="9" name="TextBox 8">
            <a:extLst>
              <a:ext uri="{FF2B5EF4-FFF2-40B4-BE49-F238E27FC236}">
                <a16:creationId xmlns:a16="http://schemas.microsoft.com/office/drawing/2014/main" id="{52962B11-CF75-99F1-E040-02A9D51B24BA}"/>
              </a:ext>
            </a:extLst>
          </p:cNvPr>
          <p:cNvSpPr txBox="1"/>
          <p:nvPr/>
        </p:nvSpPr>
        <p:spPr>
          <a:xfrm>
            <a:off x="537453" y="4268448"/>
            <a:ext cx="6094378" cy="369332"/>
          </a:xfrm>
          <a:prstGeom prst="rect">
            <a:avLst/>
          </a:prstGeom>
          <a:noFill/>
        </p:spPr>
        <p:txBody>
          <a:bodyPr wrap="square">
            <a:spAutoFit/>
          </a:bodyPr>
          <a:lstStyle/>
          <a:p>
            <a:r>
              <a:rPr lang="en-IN" b="1" dirty="0"/>
              <a:t>Diagnostic plots</a:t>
            </a:r>
          </a:p>
        </p:txBody>
      </p:sp>
      <p:sp>
        <p:nvSpPr>
          <p:cNvPr id="11" name="TextBox 10">
            <a:extLst>
              <a:ext uri="{FF2B5EF4-FFF2-40B4-BE49-F238E27FC236}">
                <a16:creationId xmlns:a16="http://schemas.microsoft.com/office/drawing/2014/main" id="{693D1462-E34A-22F4-E5E4-17722A103CC8}"/>
              </a:ext>
            </a:extLst>
          </p:cNvPr>
          <p:cNvSpPr txBox="1"/>
          <p:nvPr/>
        </p:nvSpPr>
        <p:spPr>
          <a:xfrm>
            <a:off x="362355" y="4927697"/>
            <a:ext cx="6094378" cy="1477328"/>
          </a:xfrm>
          <a:prstGeom prst="rect">
            <a:avLst/>
          </a:prstGeom>
          <a:noFill/>
        </p:spPr>
        <p:txBody>
          <a:bodyPr wrap="square">
            <a:spAutoFit/>
          </a:bodyPr>
          <a:lstStyle/>
          <a:p>
            <a:pPr algn="just"/>
            <a:r>
              <a:rPr lang="en-US" dirty="0"/>
              <a:t>R produces diagnostic plots that help examine whether a linear model is appropriate. In particular, inspect whether residuals show a pattern, whether their spread changes across fitted values, and whether a few observations have unusually strong influence.</a:t>
            </a:r>
            <a:endParaRPr lang="en-IN" dirty="0"/>
          </a:p>
        </p:txBody>
      </p:sp>
      <p:pic>
        <p:nvPicPr>
          <p:cNvPr id="13" name="Picture 12">
            <a:extLst>
              <a:ext uri="{FF2B5EF4-FFF2-40B4-BE49-F238E27FC236}">
                <a16:creationId xmlns:a16="http://schemas.microsoft.com/office/drawing/2014/main" id="{440A4ED1-1767-889A-8727-ECFEC4F936C5}"/>
              </a:ext>
            </a:extLst>
          </p:cNvPr>
          <p:cNvPicPr>
            <a:picLocks noChangeAspect="1"/>
          </p:cNvPicPr>
          <p:nvPr/>
        </p:nvPicPr>
        <p:blipFill>
          <a:blip r:embed="rId3"/>
          <a:stretch>
            <a:fillRect/>
          </a:stretch>
        </p:blipFill>
        <p:spPr>
          <a:xfrm>
            <a:off x="3922729" y="6181631"/>
            <a:ext cx="2534004" cy="676369"/>
          </a:xfrm>
          <a:prstGeom prst="rect">
            <a:avLst/>
          </a:prstGeom>
        </p:spPr>
      </p:pic>
      <p:pic>
        <p:nvPicPr>
          <p:cNvPr id="15" name="Picture 14">
            <a:extLst>
              <a:ext uri="{FF2B5EF4-FFF2-40B4-BE49-F238E27FC236}">
                <a16:creationId xmlns:a16="http://schemas.microsoft.com/office/drawing/2014/main" id="{A70562CD-EF15-EDD7-B259-2AF23C2BB2DC}"/>
              </a:ext>
            </a:extLst>
          </p:cNvPr>
          <p:cNvPicPr>
            <a:picLocks noChangeAspect="1"/>
          </p:cNvPicPr>
          <p:nvPr/>
        </p:nvPicPr>
        <p:blipFill>
          <a:blip r:embed="rId4"/>
          <a:stretch>
            <a:fillRect/>
          </a:stretch>
        </p:blipFill>
        <p:spPr>
          <a:xfrm>
            <a:off x="6747243" y="3894429"/>
            <a:ext cx="5444757" cy="2708200"/>
          </a:xfrm>
          <a:prstGeom prst="rect">
            <a:avLst/>
          </a:prstGeom>
        </p:spPr>
      </p:pic>
    </p:spTree>
    <p:extLst>
      <p:ext uri="{BB962C8B-B14F-4D97-AF65-F5344CB8AC3E}">
        <p14:creationId xmlns:p14="http://schemas.microsoft.com/office/powerpoint/2010/main" val="10758073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LINEAR MODEL — LM()</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9: Multiple Linear Regression — Full Workflow</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Fit, interpret, diagnose, and predict with lm() on the built-in mtcars dataset.</a:t>
            </a:r>
            <a:endParaRPr lang="en-US" sz="1300" dirty="0"/>
          </a:p>
        </p:txBody>
      </p:sp>
      <p:sp>
        <p:nvSpPr>
          <p:cNvPr id="7" name="Shape 4"/>
          <p:cNvSpPr/>
          <p:nvPr/>
        </p:nvSpPr>
        <p:spPr>
          <a:xfrm>
            <a:off x="548640" y="2084832"/>
            <a:ext cx="11064240" cy="289102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46126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data(mtcars)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model &lt;- lm(mpg ~ wt + hp + cyl, data = mtcars)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print(summary(model))</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par(mfrow = c(2,2)); plot(model)     # 4-panel diagnostics</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new_car &lt;- data.frame(wt = 3.0, hp = 120, cyl = 6)</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print(predict(model, newdata = new_car, interval = 'confidence'))</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RMSE &lt;- sqrt(mean(residuals(model)^2))</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R2   &lt;- summary(model)$r.squared</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cat('RMSE:', RMSE, ' R-squared:', R2, '\n')</a:t>
            </a:r>
            <a:endParaRPr lang="en-US" sz="1250" dirty="0"/>
          </a:p>
        </p:txBody>
      </p:sp>
      <p:sp>
        <p:nvSpPr>
          <p:cNvPr id="12" name="Shape 9"/>
          <p:cNvSpPr/>
          <p:nvPr/>
        </p:nvSpPr>
        <p:spPr>
          <a:xfrm>
            <a:off x="548640" y="5085588"/>
            <a:ext cx="11064240" cy="640080"/>
          </a:xfrm>
          <a:prstGeom prst="rect">
            <a:avLst/>
          </a:prstGeom>
          <a:solidFill>
            <a:srgbClr val="EDF3F8"/>
          </a:solidFill>
          <a:ln/>
        </p:spPr>
      </p:sp>
      <p:sp>
        <p:nvSpPr>
          <p:cNvPr id="13" name="Text 10"/>
          <p:cNvSpPr/>
          <p:nvPr/>
        </p:nvSpPr>
        <p:spPr>
          <a:xfrm>
            <a:off x="731520" y="5085588"/>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Each coefficient's Estimate is the expected change in mpg per unit change in that predictor (others fixed); Pr(&gt;|t|) &lt; 0.05 marks a significant predictor; Multiple R-squared is the variance explained. plot(model) checks linearity, normality, variance, and influence.</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7A7AFF-E5E5-50AD-E735-2EB2DB902704}"/>
              </a:ext>
            </a:extLst>
          </p:cNvPr>
          <p:cNvPicPr>
            <a:picLocks noChangeAspect="1"/>
          </p:cNvPicPr>
          <p:nvPr/>
        </p:nvPicPr>
        <p:blipFill>
          <a:blip r:embed="rId2"/>
          <a:stretch>
            <a:fillRect/>
          </a:stretch>
        </p:blipFill>
        <p:spPr>
          <a:xfrm>
            <a:off x="739303" y="1004549"/>
            <a:ext cx="10110336" cy="4848902"/>
          </a:xfrm>
          <a:prstGeom prst="rect">
            <a:avLst/>
          </a:prstGeom>
        </p:spPr>
      </p:pic>
    </p:spTree>
    <p:extLst>
      <p:ext uri="{BB962C8B-B14F-4D97-AF65-F5344CB8AC3E}">
        <p14:creationId xmlns:p14="http://schemas.microsoft.com/office/powerpoint/2010/main" val="1474404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5FF28E-C58C-BDD8-7D81-B00AD95A787B}"/>
              </a:ext>
            </a:extLst>
          </p:cNvPr>
          <p:cNvPicPr>
            <a:picLocks noChangeAspect="1"/>
          </p:cNvPicPr>
          <p:nvPr/>
        </p:nvPicPr>
        <p:blipFill>
          <a:blip r:embed="rId2"/>
          <a:stretch>
            <a:fillRect/>
          </a:stretch>
        </p:blipFill>
        <p:spPr>
          <a:xfrm>
            <a:off x="778213" y="180521"/>
            <a:ext cx="7923238" cy="6496957"/>
          </a:xfrm>
          <a:prstGeom prst="rect">
            <a:avLst/>
          </a:prstGeom>
        </p:spPr>
      </p:pic>
    </p:spTree>
    <p:extLst>
      <p:ext uri="{BB962C8B-B14F-4D97-AF65-F5344CB8AC3E}">
        <p14:creationId xmlns:p14="http://schemas.microsoft.com/office/powerpoint/2010/main" val="31235829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47BBF5-ECFF-8B96-7ADA-3B6410DD4D0C}"/>
              </a:ext>
            </a:extLst>
          </p:cNvPr>
          <p:cNvPicPr>
            <a:picLocks noChangeAspect="1"/>
          </p:cNvPicPr>
          <p:nvPr/>
        </p:nvPicPr>
        <p:blipFill>
          <a:blip r:embed="rId2"/>
          <a:stretch>
            <a:fillRect/>
          </a:stretch>
        </p:blipFill>
        <p:spPr>
          <a:xfrm>
            <a:off x="778261" y="1092742"/>
            <a:ext cx="10329261" cy="4672515"/>
          </a:xfrm>
          <a:prstGeom prst="rect">
            <a:avLst/>
          </a:prstGeom>
        </p:spPr>
      </p:pic>
    </p:spTree>
    <p:extLst>
      <p:ext uri="{BB962C8B-B14F-4D97-AF65-F5344CB8AC3E}">
        <p14:creationId xmlns:p14="http://schemas.microsoft.com/office/powerpoint/2010/main" val="32321412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4">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sitemap.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6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Generalized Linear Models (GLM)</a:t>
            </a:r>
            <a:endParaRPr lang="en-US" sz="3800" dirty="0"/>
          </a:p>
        </p:txBody>
      </p:sp>
      <p:sp>
        <p:nvSpPr>
          <p:cNvPr id="7" name="Text 4"/>
          <p:cNvSpPr/>
          <p:nvPr/>
        </p:nvSpPr>
        <p:spPr>
          <a:xfrm>
            <a:off x="640080" y="3703320"/>
            <a:ext cx="7040880" cy="1737360"/>
          </a:xfrm>
          <a:prstGeom prst="rect">
            <a:avLst/>
          </a:prstGeom>
          <a:noFill/>
          <a:ln/>
        </p:spPr>
        <p:txBody>
          <a:bodyPr wrap="square" rtlCol="0" anchor="t"/>
          <a:lstStyle/>
          <a:p>
            <a:pPr marL="0" indent="0">
              <a:lnSpc>
                <a:spcPct val="135000"/>
              </a:lnSpc>
              <a:buNone/>
            </a:pPr>
            <a:r>
              <a:rPr lang="en-US" dirty="0">
                <a:solidFill>
                  <a:srgbClr val="CADCFC"/>
                </a:solidFill>
                <a:latin typeface="Times New Roman" panose="02020603050405020304" pitchFamily="18" charset="0"/>
                <a:ea typeface="Calibri" pitchFamily="34" charset="-122"/>
                <a:cs typeface="Times New Roman" panose="02020603050405020304" pitchFamily="18" charset="0"/>
              </a:rPr>
              <a:t>GLMs extend linear regression to response variables that are not normally distributed (binary outcomes, counts, …) by relating the mean of the response to the predictors through a link function.</a:t>
            </a: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1 function with syntax &amp; arguments   •   2 complete programs</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GENERALIZED LINEAR MODELS (GLM)</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glm()</a:t>
            </a:r>
            <a:endParaRPr lang="en-US" sz="26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sitemap.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glm(formula, family = gaussian, data, weights, subset, na.action)</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706624"/>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5110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formula</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model formula, e.g. y ~ x1 + x2.</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family</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binomial() for logistic regression, poisson() for count data, gaussian() (the lm() case), etc.</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data</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data frame containing the variables in formula.</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weights</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Optional prior weights for the fit.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subset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Optional vector specifying a subset of rows.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family = binomial(link="logit") fits logistic regression (predict(type="response") gives probabilities). family = poisson(link="log") fits Poisson regression for count outcomes.</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C619EB-B28E-F776-F61C-9E0F4CD4FEA4}"/>
              </a:ext>
            </a:extLst>
          </p:cNvPr>
          <p:cNvSpPr txBox="1"/>
          <p:nvPr/>
        </p:nvSpPr>
        <p:spPr>
          <a:xfrm>
            <a:off x="819555" y="576644"/>
            <a:ext cx="9083202"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generalized linear model</a:t>
            </a:r>
            <a:r>
              <a:rPr lang="en-US" dirty="0">
                <a:latin typeface="Times New Roman" panose="02020603050405020304" pitchFamily="18" charset="0"/>
                <a:cs typeface="Times New Roman" panose="02020603050405020304" pitchFamily="18" charset="0"/>
              </a:rPr>
              <a:t> extends linear regression to response variables that do not suit an ordinary linear model.</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F5F5788-B91D-BA20-2157-B36CE86D7F0B}"/>
              </a:ext>
            </a:extLst>
          </p:cNvPr>
          <p:cNvPicPr>
            <a:picLocks noChangeAspect="1"/>
          </p:cNvPicPr>
          <p:nvPr/>
        </p:nvPicPr>
        <p:blipFill>
          <a:blip r:embed="rId2"/>
          <a:stretch>
            <a:fillRect/>
          </a:stretch>
        </p:blipFill>
        <p:spPr>
          <a:xfrm>
            <a:off x="1496860" y="1698287"/>
            <a:ext cx="8478433" cy="1457528"/>
          </a:xfrm>
          <a:prstGeom prst="rect">
            <a:avLst/>
          </a:prstGeom>
        </p:spPr>
      </p:pic>
      <p:sp>
        <p:nvSpPr>
          <p:cNvPr id="7" name="TextBox 6">
            <a:extLst>
              <a:ext uri="{FF2B5EF4-FFF2-40B4-BE49-F238E27FC236}">
                <a16:creationId xmlns:a16="http://schemas.microsoft.com/office/drawing/2014/main" id="{44DB771B-86F3-6828-91F6-39D233F3C721}"/>
              </a:ext>
            </a:extLst>
          </p:cNvPr>
          <p:cNvSpPr txBox="1"/>
          <p:nvPr/>
        </p:nvSpPr>
        <p:spPr>
          <a:xfrm>
            <a:off x="430449" y="3187337"/>
            <a:ext cx="10143517" cy="646331"/>
          </a:xfrm>
          <a:prstGeom prst="rect">
            <a:avLst/>
          </a:prstGeom>
          <a:noFill/>
        </p:spPr>
        <p:txBody>
          <a:bodyPr wrap="square">
            <a:spAutoFit/>
          </a:bodyPr>
          <a:lstStyle/>
          <a:p>
            <a:pPr>
              <a:buNone/>
            </a:pPr>
            <a:r>
              <a:rPr lang="en-US" b="1" dirty="0"/>
              <a:t>Logistic regression</a:t>
            </a:r>
          </a:p>
          <a:p>
            <a:pPr>
              <a:buNone/>
            </a:pPr>
            <a:r>
              <a:rPr lang="en-US" dirty="0"/>
              <a:t>The response </a:t>
            </a:r>
            <a:r>
              <a:rPr lang="en-US" dirty="0">
                <a:latin typeface="Courier New" panose="02070309020205020404" pitchFamily="49" charset="0"/>
              </a:rPr>
              <a:t>success</a:t>
            </a:r>
            <a:r>
              <a:rPr lang="en-US" dirty="0"/>
              <a:t> is either </a:t>
            </a:r>
            <a:r>
              <a:rPr lang="en-US" b="1" dirty="0"/>
              <a:t>1</a:t>
            </a:r>
            <a:r>
              <a:rPr lang="en-US" dirty="0"/>
              <a:t> or </a:t>
            </a:r>
            <a:r>
              <a:rPr lang="en-US" b="1" dirty="0"/>
              <a:t>0</a:t>
            </a:r>
            <a:r>
              <a:rPr lang="en-US" dirty="0"/>
              <a:t>. The model examines its relationship with </a:t>
            </a:r>
            <a:r>
              <a:rPr lang="en-US" dirty="0">
                <a:latin typeface="Courier New" panose="02070309020205020404" pitchFamily="49" charset="0"/>
              </a:rPr>
              <a:t>hours</a:t>
            </a:r>
            <a:endParaRPr lang="en-US" dirty="0"/>
          </a:p>
        </p:txBody>
      </p:sp>
      <p:pic>
        <p:nvPicPr>
          <p:cNvPr id="9" name="Picture 8">
            <a:extLst>
              <a:ext uri="{FF2B5EF4-FFF2-40B4-BE49-F238E27FC236}">
                <a16:creationId xmlns:a16="http://schemas.microsoft.com/office/drawing/2014/main" id="{F87F9032-B9F6-5780-DFDD-40DF10B16844}"/>
              </a:ext>
            </a:extLst>
          </p:cNvPr>
          <p:cNvPicPr>
            <a:picLocks noChangeAspect="1"/>
          </p:cNvPicPr>
          <p:nvPr/>
        </p:nvPicPr>
        <p:blipFill>
          <a:blip r:embed="rId3"/>
          <a:stretch>
            <a:fillRect/>
          </a:stretch>
        </p:blipFill>
        <p:spPr>
          <a:xfrm>
            <a:off x="7023369" y="3803530"/>
            <a:ext cx="5411077" cy="2771527"/>
          </a:xfrm>
          <a:prstGeom prst="rect">
            <a:avLst/>
          </a:prstGeom>
        </p:spPr>
      </p:pic>
      <p:pic>
        <p:nvPicPr>
          <p:cNvPr id="11" name="Picture 10">
            <a:extLst>
              <a:ext uri="{FF2B5EF4-FFF2-40B4-BE49-F238E27FC236}">
                <a16:creationId xmlns:a16="http://schemas.microsoft.com/office/drawing/2014/main" id="{DA912A81-9A16-E6F4-52E8-55A3819C38C8}"/>
              </a:ext>
            </a:extLst>
          </p:cNvPr>
          <p:cNvPicPr>
            <a:picLocks noChangeAspect="1"/>
          </p:cNvPicPr>
          <p:nvPr/>
        </p:nvPicPr>
        <p:blipFill>
          <a:blip r:embed="rId4"/>
          <a:stretch>
            <a:fillRect/>
          </a:stretch>
        </p:blipFill>
        <p:spPr>
          <a:xfrm>
            <a:off x="703465" y="4386502"/>
            <a:ext cx="4134427" cy="647790"/>
          </a:xfrm>
          <a:prstGeom prst="rect">
            <a:avLst/>
          </a:prstGeom>
        </p:spPr>
      </p:pic>
    </p:spTree>
    <p:extLst>
      <p:ext uri="{BB962C8B-B14F-4D97-AF65-F5344CB8AC3E}">
        <p14:creationId xmlns:p14="http://schemas.microsoft.com/office/powerpoint/2010/main" val="3313863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B846E9-6B94-4D4E-C181-7BAA3315C281}"/>
              </a:ext>
            </a:extLst>
          </p:cNvPr>
          <p:cNvSpPr txBox="1"/>
          <p:nvPr/>
        </p:nvSpPr>
        <p:spPr>
          <a:xfrm>
            <a:off x="196985" y="44947"/>
            <a:ext cx="6094378" cy="646331"/>
          </a:xfrm>
          <a:prstGeom prst="rect">
            <a:avLst/>
          </a:prstGeom>
          <a:noFill/>
        </p:spPr>
        <p:txBody>
          <a:bodyPr wrap="square">
            <a:spAutoFit/>
          </a:bodyPr>
          <a:lstStyle/>
          <a:p>
            <a:pPr>
              <a:buNone/>
            </a:pPr>
            <a:r>
              <a:rPr lang="en-US" b="1" dirty="0"/>
              <a:t>Poisson regression</a:t>
            </a:r>
          </a:p>
          <a:p>
            <a:pPr>
              <a:buNone/>
            </a:pPr>
            <a:r>
              <a:rPr lang="en-US" dirty="0"/>
              <a:t>The response </a:t>
            </a:r>
            <a:r>
              <a:rPr lang="en-US" dirty="0">
                <a:latin typeface="Courier New" panose="02070309020205020404" pitchFamily="49" charset="0"/>
              </a:rPr>
              <a:t>count</a:t>
            </a:r>
            <a:r>
              <a:rPr lang="en-US" dirty="0"/>
              <a:t> records a number of occurrences</a:t>
            </a:r>
          </a:p>
        </p:txBody>
      </p:sp>
      <p:pic>
        <p:nvPicPr>
          <p:cNvPr id="5" name="Picture 4">
            <a:extLst>
              <a:ext uri="{FF2B5EF4-FFF2-40B4-BE49-F238E27FC236}">
                <a16:creationId xmlns:a16="http://schemas.microsoft.com/office/drawing/2014/main" id="{67F8B732-D9DF-326A-DA10-2FCA8F115D73}"/>
              </a:ext>
            </a:extLst>
          </p:cNvPr>
          <p:cNvPicPr>
            <a:picLocks noChangeAspect="1"/>
          </p:cNvPicPr>
          <p:nvPr/>
        </p:nvPicPr>
        <p:blipFill>
          <a:blip r:embed="rId2"/>
          <a:stretch>
            <a:fillRect/>
          </a:stretch>
        </p:blipFill>
        <p:spPr>
          <a:xfrm>
            <a:off x="85413" y="691278"/>
            <a:ext cx="7340218" cy="3832084"/>
          </a:xfrm>
          <a:prstGeom prst="rect">
            <a:avLst/>
          </a:prstGeom>
        </p:spPr>
      </p:pic>
      <p:pic>
        <p:nvPicPr>
          <p:cNvPr id="7" name="Picture 6">
            <a:extLst>
              <a:ext uri="{FF2B5EF4-FFF2-40B4-BE49-F238E27FC236}">
                <a16:creationId xmlns:a16="http://schemas.microsoft.com/office/drawing/2014/main" id="{C2265CD2-D7C0-0CD5-26E4-732690B0197D}"/>
              </a:ext>
            </a:extLst>
          </p:cNvPr>
          <p:cNvPicPr>
            <a:picLocks noChangeAspect="1"/>
          </p:cNvPicPr>
          <p:nvPr/>
        </p:nvPicPr>
        <p:blipFill>
          <a:blip r:embed="rId3"/>
          <a:stretch>
            <a:fillRect/>
          </a:stretch>
        </p:blipFill>
        <p:spPr>
          <a:xfrm>
            <a:off x="4357991" y="4626689"/>
            <a:ext cx="6793471" cy="1961495"/>
          </a:xfrm>
          <a:prstGeom prst="rect">
            <a:avLst/>
          </a:prstGeom>
        </p:spPr>
      </p:pic>
      <p:sp>
        <p:nvSpPr>
          <p:cNvPr id="8" name="Rectangle 7">
            <a:extLst>
              <a:ext uri="{FF2B5EF4-FFF2-40B4-BE49-F238E27FC236}">
                <a16:creationId xmlns:a16="http://schemas.microsoft.com/office/drawing/2014/main" id="{926F9184-A8CD-E46A-75A2-7F313662C213}"/>
              </a:ext>
            </a:extLst>
          </p:cNvPr>
          <p:cNvSpPr/>
          <p:nvPr/>
        </p:nvSpPr>
        <p:spPr>
          <a:xfrm>
            <a:off x="6799634" y="4626689"/>
            <a:ext cx="1984443" cy="4122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5B7073C4-0CEB-7C6B-8C12-3C78FBFA7587}"/>
              </a:ext>
            </a:extLst>
          </p:cNvPr>
          <p:cNvPicPr>
            <a:picLocks noChangeAspect="1"/>
          </p:cNvPicPr>
          <p:nvPr/>
        </p:nvPicPr>
        <p:blipFill>
          <a:blip r:embed="rId4"/>
          <a:srcRect t="30605"/>
          <a:stretch>
            <a:fillRect/>
          </a:stretch>
        </p:blipFill>
        <p:spPr>
          <a:xfrm>
            <a:off x="7217923" y="269816"/>
            <a:ext cx="4232898" cy="3358601"/>
          </a:xfrm>
          <a:prstGeom prst="rect">
            <a:avLst/>
          </a:prstGeom>
        </p:spPr>
      </p:pic>
    </p:spTree>
    <p:extLst>
      <p:ext uri="{BB962C8B-B14F-4D97-AF65-F5344CB8AC3E}">
        <p14:creationId xmlns:p14="http://schemas.microsoft.com/office/powerpoint/2010/main" val="25522270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GENERALIZED LINEAR MODELS (GLM)</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10: Logistic Regression — Classification, Confusion Matrix, ROC  (2/2)</a:t>
            </a:r>
            <a:endParaRPr lang="en-US" sz="21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Shape 3"/>
          <p:cNvSpPr/>
          <p:nvPr/>
        </p:nvSpPr>
        <p:spPr>
          <a:xfrm>
            <a:off x="548640" y="1554480"/>
            <a:ext cx="11064240" cy="2697353"/>
          </a:xfrm>
          <a:prstGeom prst="rect">
            <a:avLst/>
          </a:prstGeom>
          <a:solidFill>
            <a:srgbClr val="0D1B2A"/>
          </a:solidFill>
          <a:ln/>
        </p:spPr>
      </p:sp>
      <p:sp>
        <p:nvSpPr>
          <p:cNvPr id="7" name="Shape 4"/>
          <p:cNvSpPr/>
          <p:nvPr/>
        </p:nvSpPr>
        <p:spPr>
          <a:xfrm>
            <a:off x="749808" y="1719072"/>
            <a:ext cx="128016" cy="128016"/>
          </a:xfrm>
          <a:prstGeom prst="ellipse">
            <a:avLst/>
          </a:prstGeom>
          <a:solidFill>
            <a:srgbClr val="E06C75"/>
          </a:solidFill>
          <a:ln/>
        </p:spPr>
      </p:sp>
      <p:sp>
        <p:nvSpPr>
          <p:cNvPr id="8" name="Shape 5"/>
          <p:cNvSpPr/>
          <p:nvPr/>
        </p:nvSpPr>
        <p:spPr>
          <a:xfrm>
            <a:off x="950976" y="1719072"/>
            <a:ext cx="128016" cy="128016"/>
          </a:xfrm>
          <a:prstGeom prst="ellipse">
            <a:avLst/>
          </a:prstGeom>
          <a:solidFill>
            <a:srgbClr val="E5C07B"/>
          </a:solidFill>
          <a:ln/>
        </p:spPr>
      </p:sp>
      <p:sp>
        <p:nvSpPr>
          <p:cNvPr id="9" name="Shape 6"/>
          <p:cNvSpPr/>
          <p:nvPr/>
        </p:nvSpPr>
        <p:spPr>
          <a:xfrm>
            <a:off x="1152144" y="1719072"/>
            <a:ext cx="128016" cy="128016"/>
          </a:xfrm>
          <a:prstGeom prst="ellipse">
            <a:avLst/>
          </a:prstGeom>
          <a:solidFill>
            <a:srgbClr val="98C379"/>
          </a:solidFill>
          <a:ln/>
        </p:spPr>
      </p:sp>
      <p:sp>
        <p:nvSpPr>
          <p:cNvPr id="10" name="Text 7"/>
          <p:cNvSpPr/>
          <p:nvPr/>
        </p:nvSpPr>
        <p:spPr>
          <a:xfrm>
            <a:off x="868680" y="1938528"/>
            <a:ext cx="10515600" cy="2267585"/>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model &lt;- glm(disease ~ age+bmi+glucose, data=train, family=binomial)</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prob &lt;- predict(model, newdata=test, type='response')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pred &lt;- ifelse(prob &gt; 0.5, 1, 0)</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confusion &lt;- table(Predicted=pred, Actual=test$disease)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print(confusion)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cat('Accuracy:', sum(diag(confusion))/sum(confusion), '\n')</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library(pROC)</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roc_obj &lt;- roc(test$disease, prob)</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cat('AUC:', auc(roc_obj), '\n')</a:t>
            </a:r>
            <a:endParaRPr lang="en-US" sz="1250" dirty="0"/>
          </a:p>
        </p:txBody>
      </p:sp>
      <p:sp>
        <p:nvSpPr>
          <p:cNvPr id="11" name="Shape 8"/>
          <p:cNvSpPr/>
          <p:nvPr/>
        </p:nvSpPr>
        <p:spPr>
          <a:xfrm>
            <a:off x="548640" y="4361561"/>
            <a:ext cx="11064240" cy="640080"/>
          </a:xfrm>
          <a:prstGeom prst="rect">
            <a:avLst/>
          </a:prstGeom>
          <a:solidFill>
            <a:srgbClr val="EDF3F8"/>
          </a:solidFill>
          <a:ln/>
        </p:spPr>
      </p:sp>
      <p:sp>
        <p:nvSpPr>
          <p:cNvPr id="12" name="Text 9"/>
          <p:cNvSpPr/>
          <p:nvPr/>
        </p:nvSpPr>
        <p:spPr>
          <a:xfrm>
            <a:off x="731520" y="4361561"/>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family = binomial gives log-odds coefficients (exp(coef()) = odds ratios). The confusion matrix's diagonal is correct predictions; AUC close to 1 indicates a strong classifier (0.5 = no better than chance).</a:t>
            </a:r>
            <a:endParaRPr lang="en-US" sz="1100" dirty="0"/>
          </a:p>
        </p:txBody>
      </p:sp>
      <p:sp>
        <p:nvSpPr>
          <p:cNvPr id="13" name="Text 10"/>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1"/>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9">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wave.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7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Non-linear Models — nls()</a:t>
            </a:r>
            <a:endParaRPr lang="en-US" sz="3800" dirty="0"/>
          </a:p>
        </p:txBody>
      </p:sp>
      <p:sp>
        <p:nvSpPr>
          <p:cNvPr id="7" name="Text 4"/>
          <p:cNvSpPr/>
          <p:nvPr/>
        </p:nvSpPr>
        <p:spPr>
          <a:xfrm>
            <a:off x="533401" y="3250109"/>
            <a:ext cx="7040880" cy="1737360"/>
          </a:xfrm>
          <a:prstGeom prst="rect">
            <a:avLst/>
          </a:prstGeom>
          <a:noFill/>
          <a:ln/>
        </p:spPr>
        <p:txBody>
          <a:bodyPr wrap="square" rtlCol="0" anchor="t"/>
          <a:lstStyle/>
          <a:p>
            <a:pPr marL="0" indent="0">
              <a:lnSpc>
                <a:spcPct val="135000"/>
              </a:lnSpc>
              <a:buNone/>
            </a:pPr>
            <a:r>
              <a:rPr lang="en-US" sz="1400" dirty="0">
                <a:solidFill>
                  <a:srgbClr val="CADCFC"/>
                </a:solidFill>
                <a:latin typeface="Arial Narrow" panose="020B0606020202030204" pitchFamily="34" charset="0"/>
                <a:ea typeface="Calibri" pitchFamily="34" charset="-122"/>
                <a:cs typeface="Calibri" pitchFamily="34" charset="-120"/>
              </a:rPr>
              <a:t>Some relationships cannot be expressed as a linear combination of parameters. nls() fits such models by non-linear least squares using the Gauss–Newton algorithm, which iteratively linearizes the model around current parameter estimates. Good starting values are essential for convergence.</a:t>
            </a:r>
            <a:endParaRPr lang="en-US" sz="1400" dirty="0">
              <a:latin typeface="Arial Narrow" panose="020B0606020202030204" pitchFamily="34" charset="0"/>
            </a:endParaRPr>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1 function with syntax &amp; arguments   •   1 complete program</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39</a:t>
            </a:r>
            <a:endParaRPr lang="en-US" sz="900" dirty="0"/>
          </a:p>
        </p:txBody>
      </p:sp>
      <p:pic>
        <p:nvPicPr>
          <p:cNvPr id="13" name="Picture 12">
            <a:extLst>
              <a:ext uri="{FF2B5EF4-FFF2-40B4-BE49-F238E27FC236}">
                <a16:creationId xmlns:a16="http://schemas.microsoft.com/office/drawing/2014/main" id="{1121A83B-4805-C090-7490-C6E772072F12}"/>
              </a:ext>
            </a:extLst>
          </p:cNvPr>
          <p:cNvPicPr>
            <a:picLocks noChangeAspect="1"/>
          </p:cNvPicPr>
          <p:nvPr/>
        </p:nvPicPr>
        <p:blipFill>
          <a:blip r:embed="rId4"/>
          <a:stretch>
            <a:fillRect/>
          </a:stretch>
        </p:blipFill>
        <p:spPr>
          <a:xfrm>
            <a:off x="1693535" y="4298119"/>
            <a:ext cx="4601217" cy="102884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NON-LINEAR MODELS — NLS()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nls()</a:t>
            </a:r>
            <a:endParaRPr lang="en-US" sz="2600" dirty="0"/>
          </a:p>
        </p:txBody>
      </p:sp>
      <p:sp>
        <p:nvSpPr>
          <p:cNvPr id="4" name="Shape 2"/>
          <p:cNvSpPr/>
          <p:nvPr/>
        </p:nvSpPr>
        <p:spPr>
          <a:xfrm>
            <a:off x="10561320" y="594360"/>
            <a:ext cx="868680" cy="868680"/>
          </a:xfrm>
          <a:prstGeom prst="ellipse">
            <a:avLst/>
          </a:prstGeom>
          <a:solidFill>
            <a:srgbClr val="F2A93B"/>
          </a:solidFill>
          <a:ln/>
        </p:spPr>
      </p:sp>
      <p:pic>
        <p:nvPicPr>
          <p:cNvPr id="5" name="Image 0" descr="icons/wav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nls(formula, data, start, control = nls.control(), algorithm = "default")</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706624"/>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5110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formula</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non-linear model formula, e.g. y ~ Asym/(1+exp((xmid-x)/scal)).</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data</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data frame containing the variables in formula.</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start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named list giving the starting value for every parameter — critical for convergence.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control</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An nls.control() object setting iteration limits, tolerance, etc.</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algorithm</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"default" (Gauss-Newton), "plinear" or "port".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Fits a model non-linear in its parameters. The model shape must be given explicitly, and optimisation needs reasonable initial values to converge to the right solution.</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NON-LINEAR MODELS — NLS()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12: Logistic Growth Curve with nls()</a:t>
            </a:r>
            <a:endParaRPr lang="en-US" sz="2100" dirty="0"/>
          </a:p>
        </p:txBody>
      </p:sp>
      <p:sp>
        <p:nvSpPr>
          <p:cNvPr id="4" name="Shape 2"/>
          <p:cNvSpPr/>
          <p:nvPr/>
        </p:nvSpPr>
        <p:spPr>
          <a:xfrm>
            <a:off x="10561320" y="594360"/>
            <a:ext cx="868680" cy="868680"/>
          </a:xfrm>
          <a:prstGeom prst="ellipse">
            <a:avLst/>
          </a:prstGeom>
          <a:solidFill>
            <a:srgbClr val="F2A93B"/>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Fit an S-shaped growth curve (population over time) and plot it.</a:t>
            </a:r>
            <a:endParaRPr lang="en-US" sz="1300" dirty="0"/>
          </a:p>
        </p:txBody>
      </p:sp>
      <p:sp>
        <p:nvSpPr>
          <p:cNvPr id="7" name="Shape 4"/>
          <p:cNvSpPr/>
          <p:nvPr/>
        </p:nvSpPr>
        <p:spPr>
          <a:xfrm>
            <a:off x="548640" y="2084832"/>
            <a:ext cx="11064240" cy="3472053"/>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3042285"/>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year &lt;- 2000:2020</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population &lt;- c(1000,1080,1170,1280,1400,1550,1720,1920,2150,</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2400,2680,2980,3300,3620,3930,4220,4480,4700,4880,5010,5100)</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growth_data &lt;- data.frame(year, population)</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growth_model &lt;- nls(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population ~ Asym / (1 + exp((xmid - year)/scal)),</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data = growth_data,</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start = list(Asym = 5200, xmid = 2010, scal = 3)</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print(summary(growth_model))</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plot(growth_data$year, growth_data$population)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lines(growth_data$year, predict(growth_model), col='blue', lwd=2)</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predict(growth_model, newdata = data.frame(year = 2025))</a:t>
            </a:r>
            <a:endParaRPr lang="en-US" sz="1250" dirty="0"/>
          </a:p>
        </p:txBody>
      </p:sp>
      <p:sp>
        <p:nvSpPr>
          <p:cNvPr id="12" name="Shape 9"/>
          <p:cNvSpPr/>
          <p:nvPr/>
        </p:nvSpPr>
        <p:spPr>
          <a:xfrm>
            <a:off x="548640" y="5666613"/>
            <a:ext cx="11064240" cy="640080"/>
          </a:xfrm>
          <a:prstGeom prst="rect">
            <a:avLst/>
          </a:prstGeom>
          <a:solidFill>
            <a:srgbClr val="EDF3F8"/>
          </a:solidFill>
          <a:ln/>
        </p:spPr>
      </p:sp>
      <p:sp>
        <p:nvSpPr>
          <p:cNvPr id="13" name="Text 10"/>
          <p:cNvSpPr/>
          <p:nvPr/>
        </p:nvSpPr>
        <p:spPr>
          <a:xfrm>
            <a:off x="731520" y="5666613"/>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Asym is the estimated upper asymptote (carrying capacity), xmid the year of fastest growth, scal the steepness. summary() reports each parameter's estimate, standard error and significance, like lm().</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83E91C-676C-70DE-B49C-F0A4735C84A4}"/>
              </a:ext>
            </a:extLst>
          </p:cNvPr>
          <p:cNvPicPr>
            <a:picLocks noChangeAspect="1"/>
          </p:cNvPicPr>
          <p:nvPr/>
        </p:nvPicPr>
        <p:blipFill>
          <a:blip r:embed="rId2"/>
          <a:stretch>
            <a:fillRect/>
          </a:stretch>
        </p:blipFill>
        <p:spPr>
          <a:xfrm>
            <a:off x="1634247" y="1452286"/>
            <a:ext cx="7438731" cy="3953427"/>
          </a:xfrm>
          <a:prstGeom prst="rect">
            <a:avLst/>
          </a:prstGeom>
        </p:spPr>
      </p:pic>
    </p:spTree>
    <p:extLst>
      <p:ext uri="{BB962C8B-B14F-4D97-AF65-F5344CB8AC3E}">
        <p14:creationId xmlns:p14="http://schemas.microsoft.com/office/powerpoint/2010/main" val="42589055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2">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clock.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8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Time Series and Autocorrelation</a:t>
            </a:r>
            <a:endParaRPr lang="en-US" sz="3800" dirty="0"/>
          </a:p>
        </p:txBody>
      </p:sp>
      <p:sp>
        <p:nvSpPr>
          <p:cNvPr id="7" name="Text 4"/>
          <p:cNvSpPr/>
          <p:nvPr/>
        </p:nvSpPr>
        <p:spPr>
          <a:xfrm>
            <a:off x="551169" y="3954781"/>
            <a:ext cx="7040880" cy="1737360"/>
          </a:xfrm>
          <a:prstGeom prst="rect">
            <a:avLst/>
          </a:prstGeom>
          <a:noFill/>
          <a:ln/>
        </p:spPr>
        <p:txBody>
          <a:bodyPr wrap="square" rtlCol="0" anchor="t"/>
          <a:lstStyle/>
          <a:p>
            <a:pPr marL="0" indent="0">
              <a:lnSpc>
                <a:spcPct val="135000"/>
              </a:lnSpc>
              <a:buNone/>
            </a:pPr>
            <a:r>
              <a:rPr lang="en-US" sz="1600" dirty="0">
                <a:solidFill>
                  <a:srgbClr val="CADCFC"/>
                </a:solidFill>
                <a:latin typeface="Arial Narrow" panose="020B0606020202030204" pitchFamily="34" charset="0"/>
                <a:ea typeface="Calibri" pitchFamily="34" charset="-122"/>
                <a:cs typeface="Calibri" pitchFamily="34" charset="-120"/>
              </a:rPr>
              <a:t>A time series is a sequence of observations indexed in time order. R's ts() class attaches time information to a numeric vector; from there, decomposition, autocorrelation analysis and ARIMA modelling support trend/seasonality detection and forecasting.</a:t>
            </a:r>
            <a:endParaRPr lang="en-US" sz="1600" dirty="0">
              <a:latin typeface="Arial Narrow" panose="020B0606020202030204" pitchFamily="34" charset="0"/>
            </a:endParaRPr>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4 functions with syntax &amp; arguments   •   4 complete programs</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TIME SERIES AND AUTOCORRELATION</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ts() / decompose()</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loc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ts(data, start, end, frequency, deltat) decompose(x, type = c("additive","multiplicative"))</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706624"/>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5110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data</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numeric vector (or matrix) of observed values, in time order.</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start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Time of the first observation, e.g. c(2020, 1) for January 2020.</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frequency</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Observations per unit of time — 12 monthly, 4 quarterly, 7 daily-weekly.</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decompose(): a ts object with frequency &gt; 1.</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451104">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type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decompose(): additive or multiplicative seasonal effects.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ts() wraps a plain vector with time metadata. decompose() splits a series into trend, seasonal and random components via moving averages — the standard first step before forecasting.</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0"/>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TIME SERIES AND AUTOCORRELATION</a:t>
            </a:r>
            <a:endParaRPr lang="en-US" sz="1200" dirty="0"/>
          </a:p>
        </p:txBody>
      </p:sp>
      <p:sp>
        <p:nvSpPr>
          <p:cNvPr id="3" name="Text 1"/>
          <p:cNvSpPr/>
          <p:nvPr/>
        </p:nvSpPr>
        <p:spPr>
          <a:xfrm>
            <a:off x="328145" y="230595"/>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13: Creating and Decomposing a Monthly Time Series</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44</a:t>
            </a:r>
            <a:endParaRPr lang="en-US" sz="900" dirty="0"/>
          </a:p>
        </p:txBody>
      </p:sp>
      <p:sp>
        <p:nvSpPr>
          <p:cNvPr id="17" name="TextBox 16">
            <a:extLst>
              <a:ext uri="{FF2B5EF4-FFF2-40B4-BE49-F238E27FC236}">
                <a16:creationId xmlns:a16="http://schemas.microsoft.com/office/drawing/2014/main" id="{491A5666-E8A4-07A9-5A83-BBADECE3BD89}"/>
              </a:ext>
            </a:extLst>
          </p:cNvPr>
          <p:cNvSpPr txBox="1"/>
          <p:nvPr/>
        </p:nvSpPr>
        <p:spPr>
          <a:xfrm>
            <a:off x="328145" y="775148"/>
            <a:ext cx="13407309" cy="6124754"/>
          </a:xfrm>
          <a:prstGeom prst="rect">
            <a:avLst/>
          </a:prstGeom>
          <a:noFill/>
        </p:spPr>
        <p:txBody>
          <a:bodyPr wrap="square">
            <a:spAutoFit/>
          </a:bodyPr>
          <a:lstStyle/>
          <a:p>
            <a:r>
              <a:rPr lang="en-IN" sz="1400" dirty="0"/>
              <a:t># 1. Load the built-in dataset</a:t>
            </a:r>
          </a:p>
          <a:p>
            <a:r>
              <a:rPr lang="en-IN" sz="1400" dirty="0"/>
              <a:t>data("</a:t>
            </a:r>
            <a:r>
              <a:rPr lang="en-IN" sz="1400" dirty="0" err="1"/>
              <a:t>AirPassengers</a:t>
            </a:r>
            <a:r>
              <a:rPr lang="en-IN" sz="1400" dirty="0"/>
              <a:t>")</a:t>
            </a:r>
          </a:p>
          <a:p>
            <a:r>
              <a:rPr lang="en-IN" sz="1400" dirty="0"/>
              <a:t># 2. Create a monthly time series</a:t>
            </a:r>
          </a:p>
          <a:p>
            <a:r>
              <a:rPr lang="en-IN" sz="1400" dirty="0" err="1"/>
              <a:t>monthly_ts</a:t>
            </a:r>
            <a:r>
              <a:rPr lang="en-IN" sz="1400" dirty="0"/>
              <a:t> &lt;- </a:t>
            </a:r>
            <a:r>
              <a:rPr lang="en-IN" sz="1400" dirty="0" err="1"/>
              <a:t>ts</a:t>
            </a:r>
            <a:r>
              <a:rPr lang="en-IN" sz="1400" dirty="0"/>
              <a:t>(</a:t>
            </a:r>
          </a:p>
          <a:p>
            <a:r>
              <a:rPr lang="en-IN" sz="1400" dirty="0"/>
              <a:t>  </a:t>
            </a:r>
            <a:r>
              <a:rPr lang="en-IN" sz="1400" dirty="0" err="1"/>
              <a:t>as.numeric</a:t>
            </a:r>
            <a:r>
              <a:rPr lang="en-IN" sz="1400" dirty="0"/>
              <a:t>(</a:t>
            </a:r>
            <a:r>
              <a:rPr lang="en-IN" sz="1400" dirty="0" err="1"/>
              <a:t>AirPassengers</a:t>
            </a:r>
            <a:r>
              <a:rPr lang="en-IN" sz="1400" dirty="0"/>
              <a:t>),</a:t>
            </a:r>
          </a:p>
          <a:p>
            <a:r>
              <a:rPr lang="en-IN" sz="1400" dirty="0"/>
              <a:t>  start = c(1949, 1),  # January 1949</a:t>
            </a:r>
          </a:p>
          <a:p>
            <a:r>
              <a:rPr lang="en-IN" sz="1400" dirty="0"/>
              <a:t>  frequency = 12      # 12 observations per year</a:t>
            </a:r>
          </a:p>
          <a:p>
            <a:r>
              <a:rPr lang="en-IN" sz="1400" dirty="0"/>
              <a:t>)</a:t>
            </a:r>
          </a:p>
          <a:p>
            <a:r>
              <a:rPr lang="en-IN" sz="1400" dirty="0"/>
              <a:t># 3. Display the time series</a:t>
            </a:r>
          </a:p>
          <a:p>
            <a:r>
              <a:rPr lang="en-IN" sz="1400" dirty="0"/>
              <a:t>print(</a:t>
            </a:r>
            <a:r>
              <a:rPr lang="en-IN" sz="1400" dirty="0" err="1"/>
              <a:t>monthly_ts</a:t>
            </a:r>
            <a:r>
              <a:rPr lang="en-IN" sz="1400" dirty="0"/>
              <a:t>)</a:t>
            </a:r>
          </a:p>
          <a:p>
            <a:endParaRPr lang="en-IN" sz="1400" dirty="0"/>
          </a:p>
          <a:p>
            <a:r>
              <a:rPr lang="en-IN" sz="1400" dirty="0"/>
              <a:t># 4. Plot the original data</a:t>
            </a:r>
          </a:p>
          <a:p>
            <a:r>
              <a:rPr lang="en-IN" sz="1400" dirty="0"/>
              <a:t>plot(</a:t>
            </a:r>
            <a:r>
              <a:rPr lang="en-IN" sz="1400" dirty="0" err="1"/>
              <a:t>monthly_ts</a:t>
            </a:r>
            <a:r>
              <a:rPr lang="en-IN" sz="1400" dirty="0"/>
              <a:t>,</a:t>
            </a:r>
          </a:p>
          <a:p>
            <a:r>
              <a:rPr lang="en-IN" sz="1400" dirty="0"/>
              <a:t>     main = "Monthly Airline Passengers",</a:t>
            </a:r>
          </a:p>
          <a:p>
            <a:r>
              <a:rPr lang="en-IN" sz="1400" dirty="0"/>
              <a:t>     </a:t>
            </a:r>
            <a:r>
              <a:rPr lang="en-IN" sz="1400" dirty="0" err="1"/>
              <a:t>xlab</a:t>
            </a:r>
            <a:r>
              <a:rPr lang="en-IN" sz="1400" dirty="0"/>
              <a:t> = "Year",</a:t>
            </a:r>
          </a:p>
          <a:p>
            <a:r>
              <a:rPr lang="en-IN" sz="1400" dirty="0"/>
              <a:t>     </a:t>
            </a:r>
            <a:r>
              <a:rPr lang="en-IN" sz="1400" dirty="0" err="1"/>
              <a:t>ylab</a:t>
            </a:r>
            <a:r>
              <a:rPr lang="en-IN" sz="1400" dirty="0"/>
              <a:t> = "Passengers (thousands)",</a:t>
            </a:r>
          </a:p>
          <a:p>
            <a:r>
              <a:rPr lang="en-IN" sz="1400" dirty="0"/>
              <a:t>     col = "blue",</a:t>
            </a:r>
          </a:p>
          <a:p>
            <a:r>
              <a:rPr lang="en-IN" sz="1400" dirty="0"/>
              <a:t>     </a:t>
            </a:r>
            <a:r>
              <a:rPr lang="en-IN" sz="1400" dirty="0" err="1"/>
              <a:t>lwd</a:t>
            </a:r>
            <a:r>
              <a:rPr lang="en-IN" sz="1400" dirty="0"/>
              <a:t> = 2)</a:t>
            </a:r>
          </a:p>
          <a:p>
            <a:r>
              <a:rPr lang="en-IN" sz="1400" dirty="0"/>
              <a:t># 5. Decompose the series</a:t>
            </a:r>
          </a:p>
          <a:p>
            <a:r>
              <a:rPr lang="en-IN" sz="1400" dirty="0"/>
              <a:t># Multiplicative model suits seasonal variation that grows with the level</a:t>
            </a:r>
          </a:p>
          <a:p>
            <a:r>
              <a:rPr lang="en-IN" sz="1400" dirty="0"/>
              <a:t>result &lt;- decompose(</a:t>
            </a:r>
            <a:r>
              <a:rPr lang="en-IN" sz="1400" dirty="0" err="1"/>
              <a:t>monthly_ts</a:t>
            </a:r>
            <a:r>
              <a:rPr lang="en-IN" sz="1400" dirty="0"/>
              <a:t>, type = "multiplicative")</a:t>
            </a:r>
          </a:p>
          <a:p>
            <a:r>
              <a:rPr lang="en-IN" sz="1400" dirty="0"/>
              <a:t># 6. Plot the components</a:t>
            </a:r>
          </a:p>
          <a:p>
            <a:r>
              <a:rPr lang="en-IN" sz="1400" dirty="0"/>
              <a:t>plot(result)</a:t>
            </a:r>
          </a:p>
          <a:p>
            <a:r>
              <a:rPr lang="en-IN" sz="1400" dirty="0"/>
              <a:t># 7. Display individual components</a:t>
            </a:r>
          </a:p>
          <a:p>
            <a:r>
              <a:rPr lang="en-IN" sz="1400" dirty="0"/>
              <a:t>print(</a:t>
            </a:r>
            <a:r>
              <a:rPr lang="en-IN" sz="1400" dirty="0" err="1"/>
              <a:t>result$trend</a:t>
            </a:r>
            <a:r>
              <a:rPr lang="en-IN" sz="1400" dirty="0"/>
              <a:t>)</a:t>
            </a:r>
          </a:p>
          <a:p>
            <a:r>
              <a:rPr lang="en-IN" sz="1400" dirty="0"/>
              <a:t>print(</a:t>
            </a:r>
            <a:r>
              <a:rPr lang="en-IN" sz="1400" dirty="0" err="1"/>
              <a:t>result$seasonal</a:t>
            </a:r>
            <a:r>
              <a:rPr lang="en-IN" sz="1400" dirty="0"/>
              <a:t>)</a:t>
            </a:r>
          </a:p>
          <a:p>
            <a:r>
              <a:rPr lang="en-IN" sz="1400" dirty="0">
                <a:solidFill>
                  <a:schemeClr val="bg1"/>
                </a:solidFill>
              </a:rPr>
              <a:t>print(</a:t>
            </a:r>
            <a:r>
              <a:rPr lang="en-IN" sz="1400" dirty="0" err="1">
                <a:solidFill>
                  <a:schemeClr val="bg1"/>
                </a:solidFill>
              </a:rPr>
              <a:t>result$random</a:t>
            </a:r>
            <a:r>
              <a:rPr lang="en-IN" sz="1400" dirty="0">
                <a:solidFill>
                  <a:schemeClr val="bg1"/>
                </a:solidFill>
              </a:rPr>
              <a:t>)</a:t>
            </a:r>
          </a:p>
        </p:txBody>
      </p:sp>
      <p:pic>
        <p:nvPicPr>
          <p:cNvPr id="21" name="Picture 20">
            <a:extLst>
              <a:ext uri="{FF2B5EF4-FFF2-40B4-BE49-F238E27FC236}">
                <a16:creationId xmlns:a16="http://schemas.microsoft.com/office/drawing/2014/main" id="{6EC85E69-EB82-E16A-6348-C0E3D391B4FD}"/>
              </a:ext>
            </a:extLst>
          </p:cNvPr>
          <p:cNvPicPr>
            <a:picLocks noChangeAspect="1"/>
          </p:cNvPicPr>
          <p:nvPr/>
        </p:nvPicPr>
        <p:blipFill>
          <a:blip r:embed="rId4"/>
          <a:stretch>
            <a:fillRect/>
          </a:stretch>
        </p:blipFill>
        <p:spPr>
          <a:xfrm>
            <a:off x="6379261" y="864593"/>
            <a:ext cx="4182059" cy="343900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954BE-8085-3CAA-B498-EAA8F41DAED2}"/>
              </a:ext>
            </a:extLst>
          </p:cNvPr>
          <p:cNvPicPr>
            <a:picLocks noChangeAspect="1"/>
          </p:cNvPicPr>
          <p:nvPr/>
        </p:nvPicPr>
        <p:blipFill>
          <a:blip r:embed="rId2"/>
          <a:stretch>
            <a:fillRect/>
          </a:stretch>
        </p:blipFill>
        <p:spPr>
          <a:xfrm>
            <a:off x="2723745" y="1221316"/>
            <a:ext cx="6105914" cy="4949598"/>
          </a:xfrm>
          <a:prstGeom prst="rect">
            <a:avLst/>
          </a:prstGeom>
        </p:spPr>
      </p:pic>
    </p:spTree>
    <p:extLst>
      <p:ext uri="{BB962C8B-B14F-4D97-AF65-F5344CB8AC3E}">
        <p14:creationId xmlns:p14="http://schemas.microsoft.com/office/powerpoint/2010/main" val="26898475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50E1A2-D691-0E32-43FE-15C53E684D01}"/>
              </a:ext>
            </a:extLst>
          </p:cNvPr>
          <p:cNvPicPr>
            <a:picLocks noChangeAspect="1"/>
          </p:cNvPicPr>
          <p:nvPr/>
        </p:nvPicPr>
        <p:blipFill>
          <a:blip r:embed="rId2"/>
          <a:stretch>
            <a:fillRect/>
          </a:stretch>
        </p:blipFill>
        <p:spPr>
          <a:xfrm>
            <a:off x="530606" y="149723"/>
            <a:ext cx="9554908" cy="4963218"/>
          </a:xfrm>
          <a:prstGeom prst="rect">
            <a:avLst/>
          </a:prstGeom>
        </p:spPr>
      </p:pic>
      <p:sp>
        <p:nvSpPr>
          <p:cNvPr id="5" name="TextBox 4">
            <a:extLst>
              <a:ext uri="{FF2B5EF4-FFF2-40B4-BE49-F238E27FC236}">
                <a16:creationId xmlns:a16="http://schemas.microsoft.com/office/drawing/2014/main" id="{56D02BEC-4291-CC1E-6186-D9D1F1FE59A6}"/>
              </a:ext>
            </a:extLst>
          </p:cNvPr>
          <p:cNvSpPr txBox="1"/>
          <p:nvPr/>
        </p:nvSpPr>
        <p:spPr>
          <a:xfrm>
            <a:off x="770915" y="5164769"/>
            <a:ext cx="11077374" cy="923330"/>
          </a:xfrm>
          <a:prstGeom prst="rect">
            <a:avLst/>
          </a:prstGeom>
          <a:noFill/>
        </p:spPr>
        <p:txBody>
          <a:bodyPr wrap="square">
            <a:spAutoFit/>
          </a:bodyPr>
          <a:lstStyle/>
          <a:p>
            <a:r>
              <a:rPr lang="en-US" dirty="0"/>
              <a:t>Interpretation: Passenger numbers increase over time, and seasonal fluctuations become larger as passenger totals grow. This makes multiplicative decomposition appropriate. NA values at the beginning and end of the trend and remainder are expected because the moving-average calculation requires </a:t>
            </a:r>
            <a:r>
              <a:rPr lang="en-US" dirty="0" err="1"/>
              <a:t>neighbouring</a:t>
            </a:r>
            <a:r>
              <a:rPr lang="en-US" dirty="0"/>
              <a:t> observations.</a:t>
            </a:r>
            <a:endParaRPr lang="en-IN" dirty="0"/>
          </a:p>
        </p:txBody>
      </p:sp>
    </p:spTree>
    <p:extLst>
      <p:ext uri="{BB962C8B-B14F-4D97-AF65-F5344CB8AC3E}">
        <p14:creationId xmlns:p14="http://schemas.microsoft.com/office/powerpoint/2010/main" val="32866813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3E205F-8587-0880-667D-56005C7CEFC1}"/>
              </a:ext>
            </a:extLst>
          </p:cNvPr>
          <p:cNvPicPr>
            <a:picLocks noChangeAspect="1"/>
          </p:cNvPicPr>
          <p:nvPr/>
        </p:nvPicPr>
        <p:blipFill>
          <a:blip r:embed="rId2"/>
          <a:stretch>
            <a:fillRect/>
          </a:stretch>
        </p:blipFill>
        <p:spPr>
          <a:xfrm>
            <a:off x="924129" y="66205"/>
            <a:ext cx="9549220" cy="6725589"/>
          </a:xfrm>
          <a:prstGeom prst="rect">
            <a:avLst/>
          </a:prstGeom>
        </p:spPr>
      </p:pic>
    </p:spTree>
    <p:extLst>
      <p:ext uri="{BB962C8B-B14F-4D97-AF65-F5344CB8AC3E}">
        <p14:creationId xmlns:p14="http://schemas.microsoft.com/office/powerpoint/2010/main" val="11240035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DC6BC8-DBC3-91CE-3AC9-1AE489651642}"/>
              </a:ext>
            </a:extLst>
          </p:cNvPr>
          <p:cNvPicPr>
            <a:picLocks noChangeAspect="1"/>
          </p:cNvPicPr>
          <p:nvPr/>
        </p:nvPicPr>
        <p:blipFill>
          <a:blip r:embed="rId2"/>
          <a:stretch>
            <a:fillRect/>
          </a:stretch>
        </p:blipFill>
        <p:spPr>
          <a:xfrm>
            <a:off x="564205" y="0"/>
            <a:ext cx="8418754" cy="6858000"/>
          </a:xfrm>
          <a:prstGeom prst="rect">
            <a:avLst/>
          </a:prstGeom>
        </p:spPr>
      </p:pic>
    </p:spTree>
    <p:extLst>
      <p:ext uri="{BB962C8B-B14F-4D97-AF65-F5344CB8AC3E}">
        <p14:creationId xmlns:p14="http://schemas.microsoft.com/office/powerpoint/2010/main" val="9517149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F036B1-4397-8D26-D548-FF676AACF409}"/>
              </a:ext>
            </a:extLst>
          </p:cNvPr>
          <p:cNvPicPr>
            <a:picLocks noChangeAspect="1"/>
          </p:cNvPicPr>
          <p:nvPr/>
        </p:nvPicPr>
        <p:blipFill>
          <a:blip r:embed="rId2"/>
          <a:stretch>
            <a:fillRect/>
          </a:stretch>
        </p:blipFill>
        <p:spPr>
          <a:xfrm>
            <a:off x="1070861" y="1747603"/>
            <a:ext cx="10050278" cy="3362794"/>
          </a:xfrm>
          <a:prstGeom prst="rect">
            <a:avLst/>
          </a:prstGeom>
        </p:spPr>
      </p:pic>
      <p:sp>
        <p:nvSpPr>
          <p:cNvPr id="4" name="Text 1">
            <a:extLst>
              <a:ext uri="{FF2B5EF4-FFF2-40B4-BE49-F238E27FC236}">
                <a16:creationId xmlns:a16="http://schemas.microsoft.com/office/drawing/2014/main" id="{26DAE10F-7678-10B5-3D4F-73CDC03E35F9}"/>
              </a:ext>
            </a:extLst>
          </p:cNvPr>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acf() / pacf() / adf.test()</a:t>
            </a:r>
            <a:endParaRPr lang="en-US" sz="2600" dirty="0"/>
          </a:p>
        </p:txBody>
      </p:sp>
    </p:spTree>
    <p:extLst>
      <p:ext uri="{BB962C8B-B14F-4D97-AF65-F5344CB8AC3E}">
        <p14:creationId xmlns:p14="http://schemas.microsoft.com/office/powerpoint/2010/main" val="20009016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BF70CF-6E25-7EA2-63B6-39B79B745AA4}"/>
              </a:ext>
            </a:extLst>
          </p:cNvPr>
          <p:cNvPicPr>
            <a:picLocks noChangeAspect="1"/>
          </p:cNvPicPr>
          <p:nvPr/>
        </p:nvPicPr>
        <p:blipFill>
          <a:blip r:embed="rId2"/>
          <a:stretch>
            <a:fillRect/>
          </a:stretch>
        </p:blipFill>
        <p:spPr>
          <a:xfrm>
            <a:off x="1069918" y="646639"/>
            <a:ext cx="9040487" cy="5039428"/>
          </a:xfrm>
          <a:prstGeom prst="rect">
            <a:avLst/>
          </a:prstGeom>
        </p:spPr>
      </p:pic>
    </p:spTree>
    <p:extLst>
      <p:ext uri="{BB962C8B-B14F-4D97-AF65-F5344CB8AC3E}">
        <p14:creationId xmlns:p14="http://schemas.microsoft.com/office/powerpoint/2010/main" val="41051933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15075-1537-9839-649D-444E668A63B0}"/>
              </a:ext>
            </a:extLst>
          </p:cNvPr>
          <p:cNvPicPr>
            <a:picLocks noChangeAspect="1"/>
          </p:cNvPicPr>
          <p:nvPr/>
        </p:nvPicPr>
        <p:blipFill>
          <a:blip r:embed="rId2"/>
          <a:stretch>
            <a:fillRect/>
          </a:stretch>
        </p:blipFill>
        <p:spPr>
          <a:xfrm>
            <a:off x="808887" y="1090286"/>
            <a:ext cx="10574226" cy="4677428"/>
          </a:xfrm>
          <a:prstGeom prst="rect">
            <a:avLst/>
          </a:prstGeom>
        </p:spPr>
      </p:pic>
    </p:spTree>
    <p:extLst>
      <p:ext uri="{BB962C8B-B14F-4D97-AF65-F5344CB8AC3E}">
        <p14:creationId xmlns:p14="http://schemas.microsoft.com/office/powerpoint/2010/main" val="29540603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4A1281-B881-EE9D-CA82-9D6A251C2685}"/>
              </a:ext>
            </a:extLst>
          </p:cNvPr>
          <p:cNvPicPr>
            <a:picLocks noChangeAspect="1"/>
          </p:cNvPicPr>
          <p:nvPr/>
        </p:nvPicPr>
        <p:blipFill>
          <a:blip r:embed="rId2"/>
          <a:stretch>
            <a:fillRect/>
          </a:stretch>
        </p:blipFill>
        <p:spPr>
          <a:xfrm>
            <a:off x="1456677" y="1557076"/>
            <a:ext cx="9278645" cy="3743847"/>
          </a:xfrm>
          <a:prstGeom prst="rect">
            <a:avLst/>
          </a:prstGeom>
        </p:spPr>
      </p:pic>
    </p:spTree>
    <p:extLst>
      <p:ext uri="{BB962C8B-B14F-4D97-AF65-F5344CB8AC3E}">
        <p14:creationId xmlns:p14="http://schemas.microsoft.com/office/powerpoint/2010/main" val="25630311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3FE98E-F187-F14A-5801-1AE9DDE8CF94}"/>
              </a:ext>
            </a:extLst>
          </p:cNvPr>
          <p:cNvPicPr>
            <a:picLocks noChangeAspect="1"/>
          </p:cNvPicPr>
          <p:nvPr/>
        </p:nvPicPr>
        <p:blipFill>
          <a:blip r:embed="rId2"/>
          <a:stretch>
            <a:fillRect/>
          </a:stretch>
        </p:blipFill>
        <p:spPr>
          <a:xfrm>
            <a:off x="799361" y="332943"/>
            <a:ext cx="10593278" cy="6192114"/>
          </a:xfrm>
          <a:prstGeom prst="rect">
            <a:avLst/>
          </a:prstGeom>
        </p:spPr>
      </p:pic>
    </p:spTree>
    <p:extLst>
      <p:ext uri="{BB962C8B-B14F-4D97-AF65-F5344CB8AC3E}">
        <p14:creationId xmlns:p14="http://schemas.microsoft.com/office/powerpoint/2010/main" val="11751365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00B1DD-FC1D-A6A8-D225-ADF6E60B4BDE}"/>
              </a:ext>
            </a:extLst>
          </p:cNvPr>
          <p:cNvPicPr>
            <a:picLocks noChangeAspect="1"/>
          </p:cNvPicPr>
          <p:nvPr/>
        </p:nvPicPr>
        <p:blipFill>
          <a:blip r:embed="rId2"/>
          <a:stretch>
            <a:fillRect/>
          </a:stretch>
        </p:blipFill>
        <p:spPr>
          <a:xfrm>
            <a:off x="613597" y="1766655"/>
            <a:ext cx="10964805" cy="3324689"/>
          </a:xfrm>
          <a:prstGeom prst="rect">
            <a:avLst/>
          </a:prstGeom>
        </p:spPr>
      </p:pic>
    </p:spTree>
    <p:extLst>
      <p:ext uri="{BB962C8B-B14F-4D97-AF65-F5344CB8AC3E}">
        <p14:creationId xmlns:p14="http://schemas.microsoft.com/office/powerpoint/2010/main" val="12546860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TIME SERIES AND AUTOCORRELATION</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acf() / pacf() / adf.test()</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loc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676656"/>
          </a:xfrm>
          <a:prstGeom prst="rect">
            <a:avLst/>
          </a:prstGeom>
          <a:solidFill>
            <a:srgbClr val="0D1B2A"/>
          </a:solidFill>
          <a:ln/>
        </p:spPr>
      </p:sp>
      <p:sp>
        <p:nvSpPr>
          <p:cNvPr id="8" name="Text 5"/>
          <p:cNvSpPr/>
          <p:nvPr/>
        </p:nvSpPr>
        <p:spPr>
          <a:xfrm>
            <a:off x="777240" y="1755648"/>
            <a:ext cx="10607040" cy="676656"/>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acf(x, lag.max=NULL, plot=TRUE) pacf(x, lag.max=NULL, plot=TRUE) adf.test(x,</a:t>
            </a:r>
            <a:endParaRPr lang="en-US" sz="1300" dirty="0"/>
          </a:p>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alternative="stationary") [pkg: tseries]</a:t>
            </a:r>
            <a:endParaRPr lang="en-US" sz="1300" dirty="0"/>
          </a:p>
        </p:txBody>
      </p:sp>
      <p:sp>
        <p:nvSpPr>
          <p:cNvPr id="9" name="Text 6"/>
          <p:cNvSpPr/>
          <p:nvPr/>
        </p:nvSpPr>
        <p:spPr>
          <a:xfrm>
            <a:off x="548640" y="2615184"/>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2907792"/>
          <a:ext cx="11064240" cy="2532890"/>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0657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univariate time series.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lag.max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maximum lag to compute/plot.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plot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draw the correlogram, or return numeric values if FALSE.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alternative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adf.test(): stationary (default) or explosive.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acf() measures correlation with the series' own past values (suggests MA(q) order); pacf() measures correlation after removing shorter-lag effects (suggests AR(p) order). adf.test()'s H0 is non-stationary — p &lt; 0.05 lets us reject H0 and treat the series as stationary.</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TIME SERIES AND AUTOCORRELATION</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14: Autocorrelation and Stationarity Check</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Compute ACF, PACF, and test stationarity on the sales series from Program 13.</a:t>
            </a:r>
            <a:endParaRPr lang="en-US" sz="1300" dirty="0"/>
          </a:p>
        </p:txBody>
      </p:sp>
      <p:sp>
        <p:nvSpPr>
          <p:cNvPr id="7" name="Shape 4"/>
          <p:cNvSpPr/>
          <p:nvPr/>
        </p:nvSpPr>
        <p:spPr>
          <a:xfrm>
            <a:off x="548640" y="2084832"/>
            <a:ext cx="11064240" cy="2697353"/>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267585"/>
          </a:xfrm>
          <a:prstGeom prst="rect">
            <a:avLst/>
          </a:prstGeom>
          <a:noFill/>
          <a:ln/>
        </p:spPr>
        <p:txBody>
          <a:bodyPr wrap="square" rtlCol="0" anchor="t"/>
          <a:lstStyle/>
          <a:p>
            <a:pPr marL="0" indent="0">
              <a:lnSpc>
                <a:spcPts val="1525"/>
              </a:lnSpc>
              <a:buNone/>
            </a:pPr>
            <a:r>
              <a:rPr lang="en-US" sz="1250" dirty="0" err="1">
                <a:solidFill>
                  <a:srgbClr val="E8EEF4"/>
                </a:solidFill>
                <a:latin typeface="Courier New" pitchFamily="34" charset="0"/>
                <a:ea typeface="Courier New" pitchFamily="34" charset="-122"/>
                <a:cs typeface="Courier New" pitchFamily="34" charset="-120"/>
              </a:rPr>
              <a:t>acf</a:t>
            </a:r>
            <a:r>
              <a:rPr lang="en-US" sz="1250" dirty="0">
                <a:solidFill>
                  <a:srgbClr val="E8EEF4"/>
                </a:solidFill>
                <a:latin typeface="Courier New" pitchFamily="34" charset="0"/>
                <a:ea typeface="Courier New" pitchFamily="34" charset="-122"/>
                <a:cs typeface="Courier New" pitchFamily="34" charset="-120"/>
              </a:rPr>
              <a:t>(</a:t>
            </a:r>
            <a:r>
              <a:rPr lang="en-US" sz="1250" dirty="0" err="1">
                <a:solidFill>
                  <a:srgbClr val="E8EEF4"/>
                </a:solidFill>
                <a:latin typeface="Courier New" pitchFamily="34" charset="0"/>
                <a:ea typeface="Courier New" pitchFamily="34" charset="-122"/>
                <a:cs typeface="Courier New" pitchFamily="34" charset="-120"/>
              </a:rPr>
              <a:t>ts_data</a:t>
            </a:r>
            <a:r>
              <a:rPr lang="en-US" sz="1250" dirty="0">
                <a:solidFill>
                  <a:srgbClr val="E8EEF4"/>
                </a:solidFill>
                <a:latin typeface="Courier New" pitchFamily="34" charset="0"/>
                <a:ea typeface="Courier New" pitchFamily="34" charset="-122"/>
                <a:cs typeface="Courier New" pitchFamily="34" charset="-120"/>
              </a:rPr>
              <a:t>, main = 'ACF of Sales')</a:t>
            </a:r>
            <a:endParaRPr lang="en-US" sz="1250" dirty="0"/>
          </a:p>
          <a:p>
            <a:pPr marL="0" indent="0">
              <a:lnSpc>
                <a:spcPts val="1525"/>
              </a:lnSpc>
              <a:buNone/>
            </a:pPr>
            <a:r>
              <a:rPr lang="en-US" sz="1250" dirty="0" err="1">
                <a:solidFill>
                  <a:srgbClr val="E8EEF4"/>
                </a:solidFill>
                <a:latin typeface="Courier New" pitchFamily="34" charset="0"/>
                <a:ea typeface="Courier New" pitchFamily="34" charset="-122"/>
                <a:cs typeface="Courier New" pitchFamily="34" charset="-120"/>
              </a:rPr>
              <a:t>pacf</a:t>
            </a:r>
            <a:r>
              <a:rPr lang="en-US" sz="1250" dirty="0">
                <a:solidFill>
                  <a:srgbClr val="E8EEF4"/>
                </a:solidFill>
                <a:latin typeface="Courier New" pitchFamily="34" charset="0"/>
                <a:ea typeface="Courier New" pitchFamily="34" charset="-122"/>
                <a:cs typeface="Courier New" pitchFamily="34" charset="-120"/>
              </a:rPr>
              <a:t>(</a:t>
            </a:r>
            <a:r>
              <a:rPr lang="en-US" sz="1250" dirty="0" err="1">
                <a:solidFill>
                  <a:srgbClr val="E8EEF4"/>
                </a:solidFill>
                <a:latin typeface="Courier New" pitchFamily="34" charset="0"/>
                <a:ea typeface="Courier New" pitchFamily="34" charset="-122"/>
                <a:cs typeface="Courier New" pitchFamily="34" charset="-120"/>
              </a:rPr>
              <a:t>ts_data</a:t>
            </a:r>
            <a:r>
              <a:rPr lang="en-US" sz="1250" dirty="0">
                <a:solidFill>
                  <a:srgbClr val="E8EEF4"/>
                </a:solidFill>
                <a:latin typeface="Courier New" pitchFamily="34" charset="0"/>
                <a:ea typeface="Courier New" pitchFamily="34" charset="-122"/>
                <a:cs typeface="Courier New" pitchFamily="34" charset="-120"/>
              </a:rPr>
              <a:t>, main = 'PACF of Sales')</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library(tseries)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adf_result &lt;- </a:t>
            </a:r>
            <a:r>
              <a:rPr lang="en-US" sz="1250" dirty="0" err="1">
                <a:solidFill>
                  <a:srgbClr val="E8EEF4"/>
                </a:solidFill>
                <a:latin typeface="Courier New" pitchFamily="34" charset="0"/>
                <a:ea typeface="Courier New" pitchFamily="34" charset="-122"/>
                <a:cs typeface="Courier New" pitchFamily="34" charset="-120"/>
              </a:rPr>
              <a:t>adf.test</a:t>
            </a:r>
            <a:r>
              <a:rPr lang="en-US" sz="1250" dirty="0">
                <a:solidFill>
                  <a:srgbClr val="E8EEF4"/>
                </a:solidFill>
                <a:latin typeface="Courier New" pitchFamily="34" charset="0"/>
                <a:ea typeface="Courier New" pitchFamily="34" charset="-122"/>
                <a:cs typeface="Courier New" pitchFamily="34" charset="-120"/>
              </a:rPr>
              <a:t>(</a:t>
            </a:r>
            <a:r>
              <a:rPr lang="en-US" sz="1250" dirty="0" err="1">
                <a:solidFill>
                  <a:srgbClr val="E8EEF4"/>
                </a:solidFill>
                <a:latin typeface="Courier New" pitchFamily="34" charset="0"/>
                <a:ea typeface="Courier New" pitchFamily="34" charset="-122"/>
                <a:cs typeface="Courier New" pitchFamily="34" charset="-120"/>
              </a:rPr>
              <a:t>ts_data</a:t>
            </a:r>
            <a:r>
              <a:rPr lang="en-US" sz="1250" dirty="0">
                <a:solidFill>
                  <a:srgbClr val="E8EEF4"/>
                </a:solidFill>
                <a:latin typeface="Courier New" pitchFamily="34" charset="0"/>
                <a:ea typeface="Courier New" pitchFamily="34" charset="-122"/>
                <a:cs typeface="Courier New" pitchFamily="34" charset="-120"/>
              </a:rPr>
              <a: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print(adf_result)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if (adf_result$p.value &gt; 0.05) {</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sales_diff &lt;- diff(</a:t>
            </a:r>
            <a:r>
              <a:rPr lang="en-US" sz="1250" dirty="0" err="1">
                <a:solidFill>
                  <a:srgbClr val="E8EEF4"/>
                </a:solidFill>
                <a:latin typeface="Courier New" pitchFamily="34" charset="0"/>
                <a:ea typeface="Courier New" pitchFamily="34" charset="-122"/>
                <a:cs typeface="Courier New" pitchFamily="34" charset="-120"/>
              </a:rPr>
              <a:t>ts_data</a:t>
            </a:r>
            <a:r>
              <a:rPr lang="en-US" sz="1250" dirty="0">
                <a:solidFill>
                  <a:srgbClr val="E8EEF4"/>
                </a:solidFill>
                <a:latin typeface="Courier New" pitchFamily="34" charset="0"/>
                <a:ea typeface="Courier New" pitchFamily="34" charset="-122"/>
                <a:cs typeface="Courier New" pitchFamily="34" charset="-120"/>
              </a:rPr>
              <a: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print(adf.test(sales_diff))</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else cat('Series is stationary\n')</a:t>
            </a:r>
            <a:endParaRPr lang="en-US" sz="1250" dirty="0"/>
          </a:p>
        </p:txBody>
      </p:sp>
      <p:sp>
        <p:nvSpPr>
          <p:cNvPr id="12" name="Shape 9"/>
          <p:cNvSpPr/>
          <p:nvPr/>
        </p:nvSpPr>
        <p:spPr>
          <a:xfrm>
            <a:off x="548640" y="4891913"/>
            <a:ext cx="11064240" cy="640080"/>
          </a:xfrm>
          <a:prstGeom prst="rect">
            <a:avLst/>
          </a:prstGeom>
          <a:solidFill>
            <a:srgbClr val="EDF3F8"/>
          </a:solidFill>
          <a:ln/>
        </p:spPr>
      </p:sp>
      <p:sp>
        <p:nvSpPr>
          <p:cNvPr id="13" name="Text 10"/>
          <p:cNvSpPr/>
          <p:nvPr/>
        </p:nvSpPr>
        <p:spPr>
          <a:xfrm>
            <a:off x="731520" y="4891913"/>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If the p-value is above 0.05, diff() removes the trend by first-differencing; the series is re-tested until stationary. The number of differences applied becomes ARIMA's "d" parameter.</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46</a:t>
            </a:r>
            <a:endParaRPr lang="en-US" sz="900" dirty="0"/>
          </a:p>
        </p:txBody>
      </p:sp>
      <p:pic>
        <p:nvPicPr>
          <p:cNvPr id="19" name="Picture 18">
            <a:extLst>
              <a:ext uri="{FF2B5EF4-FFF2-40B4-BE49-F238E27FC236}">
                <a16:creationId xmlns:a16="http://schemas.microsoft.com/office/drawing/2014/main" id="{70565C43-4C6C-BB39-4029-A025D65837D8}"/>
              </a:ext>
            </a:extLst>
          </p:cNvPr>
          <p:cNvPicPr>
            <a:picLocks noChangeAspect="1"/>
          </p:cNvPicPr>
          <p:nvPr/>
        </p:nvPicPr>
        <p:blipFill>
          <a:blip r:embed="rId4"/>
          <a:stretch>
            <a:fillRect/>
          </a:stretch>
        </p:blipFill>
        <p:spPr>
          <a:xfrm>
            <a:off x="7274055" y="2084832"/>
            <a:ext cx="4430265" cy="2761489"/>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TIME SERIES AND AUTOCORRELATION</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auto.arima() / forecast() / accuracy()</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loc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676656"/>
          </a:xfrm>
          <a:prstGeom prst="rect">
            <a:avLst/>
          </a:prstGeom>
          <a:solidFill>
            <a:srgbClr val="0D1B2A"/>
          </a:solidFill>
          <a:ln/>
        </p:spPr>
      </p:sp>
      <p:sp>
        <p:nvSpPr>
          <p:cNvPr id="8" name="Text 5"/>
          <p:cNvSpPr/>
          <p:nvPr/>
        </p:nvSpPr>
        <p:spPr>
          <a:xfrm>
            <a:off x="777240" y="1755648"/>
            <a:ext cx="10607040" cy="676656"/>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auto.arima(y, seasonal=TRUE, ic=c("aicc","aic","bic")) forecast(object, h=10) accuracy(f, x)</a:t>
            </a:r>
            <a:endParaRPr lang="en-US" sz="1300" dirty="0"/>
          </a:p>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[pkg: forecast]</a:t>
            </a:r>
            <a:endParaRPr lang="en-US" sz="1300" dirty="0"/>
          </a:p>
        </p:txBody>
      </p:sp>
      <p:sp>
        <p:nvSpPr>
          <p:cNvPr id="9" name="Text 6"/>
          <p:cNvSpPr/>
          <p:nvPr/>
        </p:nvSpPr>
        <p:spPr>
          <a:xfrm>
            <a:off x="548640" y="2615184"/>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2907792"/>
          <a:ext cx="11064240" cy="2532888"/>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221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y / object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time series / fitted model to forecast from.</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seasonal</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whether to consider seasonal (SARIMA) terms.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ic</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Information criterion used to choose between candidate models.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h</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forecast(): the horizon — how many future periods to predict.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42214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f, 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accuracy(): the forecast object, and actual values to compare against.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auto.arima() searches ARIMA(p,d,q) combinations and returns the model with lowest information criterion. forecast() produces point forecasts with prediction intervals; accuracy() reports RMSE/MAE/MAPE against actual data.</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DB0AE9-555D-077D-20DA-C058F99AD017}"/>
              </a:ext>
            </a:extLst>
          </p:cNvPr>
          <p:cNvPicPr>
            <a:picLocks noChangeAspect="1"/>
          </p:cNvPicPr>
          <p:nvPr/>
        </p:nvPicPr>
        <p:blipFill>
          <a:blip r:embed="rId2"/>
          <a:stretch>
            <a:fillRect/>
          </a:stretch>
        </p:blipFill>
        <p:spPr>
          <a:xfrm>
            <a:off x="708860" y="1595181"/>
            <a:ext cx="10774279" cy="3667637"/>
          </a:xfrm>
          <a:prstGeom prst="rect">
            <a:avLst/>
          </a:prstGeom>
        </p:spPr>
      </p:pic>
    </p:spTree>
    <p:extLst>
      <p:ext uri="{BB962C8B-B14F-4D97-AF65-F5344CB8AC3E}">
        <p14:creationId xmlns:p14="http://schemas.microsoft.com/office/powerpoint/2010/main" val="32310573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TIME SERIES AND AUTOCORRELATION</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15: Complete ARIMA Forecasting Workflow</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Stationarity check, differencing, ACF/PACF, model fit, residual check, and forecasting — end to end.</a:t>
            </a:r>
            <a:endParaRPr lang="en-US" sz="1300" dirty="0"/>
          </a:p>
        </p:txBody>
      </p:sp>
      <p:sp>
        <p:nvSpPr>
          <p:cNvPr id="7" name="Shape 4"/>
          <p:cNvSpPr/>
          <p:nvPr/>
        </p:nvSpPr>
        <p:spPr>
          <a:xfrm>
            <a:off x="548640" y="2084832"/>
            <a:ext cx="11064240" cy="2697353"/>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267585"/>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library(forecast); library(tseries)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print(adf.test(sales_ts))                # 1. Stationarity check</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sales_diff &lt;- diff(sales_ts)              # 2. Differencing</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acf(sales_diff); pacf(sales_diff)         # 3. ACF / PACF</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fit &lt;- auto.arima(sales_ts, seasonal = TRUE)   # 4. Fit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print(fit)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checkresiduals(fit)                       # 5. Residual diagnostics</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fc &lt;- forecast(fit, h = 12)                # 6. Forecast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plot(fc); print(fc)</a:t>
            </a:r>
            <a:endParaRPr lang="en-US" sz="1250" dirty="0"/>
          </a:p>
        </p:txBody>
      </p:sp>
      <p:sp>
        <p:nvSpPr>
          <p:cNvPr id="12" name="Shape 9"/>
          <p:cNvSpPr/>
          <p:nvPr/>
        </p:nvSpPr>
        <p:spPr>
          <a:xfrm>
            <a:off x="548640" y="4891913"/>
            <a:ext cx="11064240" cy="640080"/>
          </a:xfrm>
          <a:prstGeom prst="rect">
            <a:avLst/>
          </a:prstGeom>
          <a:solidFill>
            <a:srgbClr val="EDF3F8"/>
          </a:solidFill>
          <a:ln/>
        </p:spPr>
      </p:sp>
      <p:sp>
        <p:nvSpPr>
          <p:cNvPr id="13" name="Text 10"/>
          <p:cNvSpPr/>
          <p:nvPr/>
        </p:nvSpPr>
        <p:spPr>
          <a:xfrm>
            <a:off x="731520" y="4891913"/>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auto.arima() determines d (and D for seasonal) automatically, so steps 1-2 are shown for understanding. checkresiduals() plots the residual ACF and runs a Ljung-Box test — a non-significant result (p &gt; 0.05) confirms residuals are white noise.</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TIME SERIES AND AUTOCORRELATION</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ets()</a:t>
            </a:r>
            <a:endParaRPr lang="en-US" sz="26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lock.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ets(y, model = "ZZZ", damped = NULL) [pkg: forecast]</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267712"/>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6692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y</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The time series to model.</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model</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3-letter code for (Error, Trend, Seasonal): A/M/N/Z per component; Z = auto-select (default).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6692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damped</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Logical; use a damped trend (NULL lets the function decide).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548640" y="5138928"/>
            <a:ext cx="11064240" cy="777240"/>
          </a:xfrm>
          <a:prstGeom prst="rect">
            <a:avLst/>
          </a:prstGeom>
          <a:solidFill>
            <a:srgbClr val="EDF3F8"/>
          </a:solidFill>
          <a:ln/>
        </p:spPr>
      </p:sp>
      <p:sp>
        <p:nvSpPr>
          <p:cNvPr id="12" name="Text 8"/>
          <p:cNvSpPr/>
          <p:nvPr/>
        </p:nvSpPr>
        <p:spPr>
          <a:xfrm>
            <a:off x="731520" y="5138928"/>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Fits an Exponential Smoothing State-Space model, automatically choosing error/trend/seasonal components by AICc — an ARIMA alternative that's often simpler to tune and very competitive for business series.</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TIME SERIES AND AUTOCORRELATION</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16: Comparing ETS and ARIMA Forecast Accuracy</a:t>
            </a:r>
            <a:endParaRPr lang="en-US" sz="2100" dirty="0"/>
          </a:p>
        </p:txBody>
      </p:sp>
      <p:sp>
        <p:nvSpPr>
          <p:cNvPr id="4" name="Shape 2"/>
          <p:cNvSpPr/>
          <p:nvPr/>
        </p:nvSpPr>
        <p:spPr>
          <a:xfrm>
            <a:off x="10561320" y="594360"/>
            <a:ext cx="868680" cy="868680"/>
          </a:xfrm>
          <a:prstGeom prst="ellipse">
            <a:avLst/>
          </a:prstGeom>
          <a:solidFill>
            <a:srgbClr val="065A82"/>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Fit both model families on the same training data and compare accuracy on a held-out test window.</a:t>
            </a:r>
            <a:endParaRPr lang="en-US" sz="1300" dirty="0"/>
          </a:p>
        </p:txBody>
      </p:sp>
      <p:sp>
        <p:nvSpPr>
          <p:cNvPr id="7" name="Shape 4"/>
          <p:cNvSpPr/>
          <p:nvPr/>
        </p:nvSpPr>
        <p:spPr>
          <a:xfrm>
            <a:off x="548640" y="2084832"/>
            <a:ext cx="11064240" cy="289102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46126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library(forecast)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train &lt;- window(sales_ts, end = c(2023,6))</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test  &lt;- window(sales_ts, start = c(2023,7))</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fit_arima &lt;- auto.arima(train)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fc_arima  &lt;- forecast(fit_arima, h = length(test))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fit_ets &lt;- ets(train)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fc_ets  &lt;- forecast(fit_ets, h = length(test))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print(accuracy(fc_arima, test))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print(accuracy(fc_ets, test))</a:t>
            </a:r>
            <a:endParaRPr lang="en-US" sz="1250" dirty="0"/>
          </a:p>
        </p:txBody>
      </p:sp>
      <p:sp>
        <p:nvSpPr>
          <p:cNvPr id="12" name="Shape 9"/>
          <p:cNvSpPr/>
          <p:nvPr/>
        </p:nvSpPr>
        <p:spPr>
          <a:xfrm>
            <a:off x="548640" y="5085588"/>
            <a:ext cx="11064240" cy="640080"/>
          </a:xfrm>
          <a:prstGeom prst="rect">
            <a:avLst/>
          </a:prstGeom>
          <a:solidFill>
            <a:srgbClr val="EDF3F8"/>
          </a:solidFill>
          <a:ln/>
        </p:spPr>
      </p:sp>
      <p:sp>
        <p:nvSpPr>
          <p:cNvPr id="13" name="Text 10"/>
          <p:cNvSpPr/>
          <p:nvPr/>
        </p:nvSpPr>
        <p:spPr>
          <a:xfrm>
            <a:off x="731520" y="5085588"/>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accuracy() reports RMSE/MAE/MAPE for both fits; the model with lower MAPE/RMSE on the held-out test window (out-of-sample) is preferred over relying on in-sample fit alone.</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51">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objectgroup.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9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Clustering</a:t>
            </a:r>
            <a:endParaRPr lang="en-US" sz="3800" dirty="0"/>
          </a:p>
        </p:txBody>
      </p:sp>
      <p:sp>
        <p:nvSpPr>
          <p:cNvPr id="7" name="Text 4"/>
          <p:cNvSpPr/>
          <p:nvPr/>
        </p:nvSpPr>
        <p:spPr>
          <a:xfrm>
            <a:off x="640080" y="3703320"/>
            <a:ext cx="7040880" cy="1737360"/>
          </a:xfrm>
          <a:prstGeom prst="rect">
            <a:avLst/>
          </a:prstGeom>
          <a:noFill/>
          <a:ln/>
        </p:spPr>
        <p:txBody>
          <a:bodyPr wrap="square" rtlCol="0" anchor="t"/>
          <a:lstStyle/>
          <a:p>
            <a:pPr>
              <a:lnSpc>
                <a:spcPct val="135000"/>
              </a:lnSpc>
            </a:pPr>
            <a:r>
              <a:rPr lang="en-US" sz="1350" dirty="0">
                <a:solidFill>
                  <a:srgbClr val="CADCFC"/>
                </a:solidFill>
                <a:latin typeface="Calibri" pitchFamily="34" charset="0"/>
                <a:ea typeface="Calibri" pitchFamily="34" charset="-122"/>
                <a:cs typeface="Calibri" pitchFamily="34" charset="-120"/>
              </a:rPr>
              <a:t>Clustering groups unlabeled observations so points within a cluster are more similar to each other than to points in other clusters. R provides both partition-based (k-means) and hierarchical approaches. </a:t>
            </a:r>
          </a:p>
          <a:p>
            <a:pPr>
              <a:lnSpc>
                <a:spcPct val="135000"/>
              </a:lnSpc>
            </a:pPr>
            <a:r>
              <a:rPr lang="en-US" dirty="0">
                <a:solidFill>
                  <a:schemeClr val="bg1"/>
                </a:solidFill>
              </a:rPr>
              <a:t>Concept: Unsupervised learning method for grouping similar data points.</a:t>
            </a:r>
            <a:endParaRPr lang="en-US" sz="1350" dirty="0">
              <a:solidFill>
                <a:schemeClr val="bg1"/>
              </a:solidFill>
            </a:endParaRPr>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2 functions with syntax &amp; arguments   •   2 complete programs</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CLUSTERING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kmeans()</a:t>
            </a:r>
            <a:endParaRPr lang="en-US" sz="26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objectgroup.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676656"/>
          </a:xfrm>
          <a:prstGeom prst="rect">
            <a:avLst/>
          </a:prstGeom>
          <a:solidFill>
            <a:srgbClr val="0D1B2A"/>
          </a:solidFill>
          <a:ln/>
        </p:spPr>
      </p:sp>
      <p:sp>
        <p:nvSpPr>
          <p:cNvPr id="8" name="Text 5"/>
          <p:cNvSpPr/>
          <p:nvPr/>
        </p:nvSpPr>
        <p:spPr>
          <a:xfrm>
            <a:off x="777240" y="1755648"/>
            <a:ext cx="10607040" cy="676656"/>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kmeans(x, centers, iter.max = 10, nstart = 1, algorithm =</a:t>
            </a:r>
            <a:endParaRPr lang="en-US" sz="1300" dirty="0"/>
          </a:p>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c("Hartigan-Wong","Lloyd","Forgy","MacQueen"))</a:t>
            </a:r>
            <a:endParaRPr lang="en-US" sz="1300" dirty="0"/>
          </a:p>
        </p:txBody>
      </p:sp>
      <p:sp>
        <p:nvSpPr>
          <p:cNvPr id="9" name="Text 6"/>
          <p:cNvSpPr/>
          <p:nvPr/>
        </p:nvSpPr>
        <p:spPr>
          <a:xfrm>
            <a:off x="548640" y="2615184"/>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2907792"/>
          <a:ext cx="11064240" cy="2532890"/>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0657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numeric matrix/data frame of observations (typically scaled first).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centers</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Number of clusters k, or a matrix of initial centers.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iter.max</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Maximum iterations allowed for convergence.</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6578">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nstart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Number of random initial configurations to try, keeping the best (lowest WSS).</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Partitions data into k clusters by iteratively assigning points to the nearest centroid, minimising total within-cluster sum of squares. $cluster gives assignments, $centers the centroids, $tot.withinss the WSS used by the elbow method.</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AA0245-6433-671D-8085-BDA92ABA1981}"/>
              </a:ext>
            </a:extLst>
          </p:cNvPr>
          <p:cNvPicPr>
            <a:picLocks noChangeAspect="1"/>
          </p:cNvPicPr>
          <p:nvPr/>
        </p:nvPicPr>
        <p:blipFill>
          <a:blip r:embed="rId2"/>
          <a:stretch>
            <a:fillRect/>
          </a:stretch>
        </p:blipFill>
        <p:spPr>
          <a:xfrm>
            <a:off x="1008940" y="1776182"/>
            <a:ext cx="10174120" cy="3305636"/>
          </a:xfrm>
          <a:prstGeom prst="rect">
            <a:avLst/>
          </a:prstGeom>
        </p:spPr>
      </p:pic>
    </p:spTree>
    <p:extLst>
      <p:ext uri="{BB962C8B-B14F-4D97-AF65-F5344CB8AC3E}">
        <p14:creationId xmlns:p14="http://schemas.microsoft.com/office/powerpoint/2010/main" val="29897098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CLUSTERING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17: k-means Clustering with the Elbow Method</a:t>
            </a:r>
            <a:endParaRPr lang="en-US" sz="21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Scale data, choose k via the elbow method, fit k-means, and visualise clusters.</a:t>
            </a:r>
            <a:endParaRPr lang="en-US" sz="1300" dirty="0"/>
          </a:p>
        </p:txBody>
      </p:sp>
      <p:sp>
        <p:nvSpPr>
          <p:cNvPr id="7" name="Shape 4"/>
          <p:cNvSpPr/>
          <p:nvPr/>
        </p:nvSpPr>
        <p:spPr>
          <a:xfrm>
            <a:off x="548640" y="2084832"/>
            <a:ext cx="11064240" cy="327837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284861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set.seed(5)</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customer_data &lt;- data.frame(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income   = c(rnorm(50,30,5), rnorm(50,60,6), rnorm(50,90,7), rnorm(50,45,5)),</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spending = c(rnorm(50,20,5), rnorm(50,70,8), rnorm(50,30,6), rnorm(50,55,7))</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scaled_data &lt;- scale(customer_data)</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wss &lt;- sapply(1:10, function(k) kmeans(scaled_data,k,nstart=25)$tot.withinss)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plot(1:10, wss, type='b', xlab='k', ylab='WSS')     # elbow method</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km &lt;- kmeans(scaled_data, centers = 4, nstart = 25)</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print(table(km$cluster))</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plot(scaled_data, col = km$cluster, pch = 19)</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points(km$centers, col = 1:4, pch = 8, cex = 2)</a:t>
            </a:r>
            <a:endParaRPr lang="en-US" sz="1250" dirty="0"/>
          </a:p>
        </p:txBody>
      </p:sp>
      <p:sp>
        <p:nvSpPr>
          <p:cNvPr id="12" name="Shape 9"/>
          <p:cNvSpPr/>
          <p:nvPr/>
        </p:nvSpPr>
        <p:spPr>
          <a:xfrm>
            <a:off x="548640" y="5472938"/>
            <a:ext cx="11064240" cy="640080"/>
          </a:xfrm>
          <a:prstGeom prst="rect">
            <a:avLst/>
          </a:prstGeom>
          <a:solidFill>
            <a:srgbClr val="EDF3F8"/>
          </a:solidFill>
          <a:ln/>
        </p:spPr>
      </p:sp>
      <p:sp>
        <p:nvSpPr>
          <p:cNvPr id="13" name="Text 10"/>
          <p:cNvSpPr/>
          <p:nvPr/>
        </p:nvSpPr>
        <p:spPr>
          <a:xfrm>
            <a:off x="731520" y="5472938"/>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The elbow method plots WSS against k; the point where WSS stops decreasing sharply is the optimal k. nstart=25 re-runs from 25 random starts, avoiding a poor local optimum.</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53</a:t>
            </a:r>
            <a:endParaRPr lang="en-US" sz="900" dirty="0"/>
          </a:p>
        </p:txBody>
      </p:sp>
      <p:pic>
        <p:nvPicPr>
          <p:cNvPr id="17" name="Picture 16">
            <a:extLst>
              <a:ext uri="{FF2B5EF4-FFF2-40B4-BE49-F238E27FC236}">
                <a16:creationId xmlns:a16="http://schemas.microsoft.com/office/drawing/2014/main" id="{A37F48D6-6044-C9FF-7A83-39EA4D0B994B}"/>
              </a:ext>
            </a:extLst>
          </p:cNvPr>
          <p:cNvPicPr>
            <a:picLocks noChangeAspect="1"/>
          </p:cNvPicPr>
          <p:nvPr/>
        </p:nvPicPr>
        <p:blipFill>
          <a:blip r:embed="rId4"/>
          <a:stretch>
            <a:fillRect/>
          </a:stretch>
        </p:blipFill>
        <p:spPr>
          <a:xfrm>
            <a:off x="8929175" y="2592070"/>
            <a:ext cx="2305372" cy="2210108"/>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8E4889-5BAD-3F69-18D0-E04704877BA2}"/>
              </a:ext>
            </a:extLst>
          </p:cNvPr>
          <p:cNvPicPr>
            <a:picLocks noChangeAspect="1"/>
          </p:cNvPicPr>
          <p:nvPr/>
        </p:nvPicPr>
        <p:blipFill>
          <a:blip r:embed="rId2"/>
          <a:stretch>
            <a:fillRect/>
          </a:stretch>
        </p:blipFill>
        <p:spPr>
          <a:xfrm>
            <a:off x="43342" y="344065"/>
            <a:ext cx="3505689" cy="2181529"/>
          </a:xfrm>
          <a:prstGeom prst="rect">
            <a:avLst/>
          </a:prstGeom>
        </p:spPr>
      </p:pic>
      <p:pic>
        <p:nvPicPr>
          <p:cNvPr id="5" name="Picture 4">
            <a:extLst>
              <a:ext uri="{FF2B5EF4-FFF2-40B4-BE49-F238E27FC236}">
                <a16:creationId xmlns:a16="http://schemas.microsoft.com/office/drawing/2014/main" id="{207858B5-5580-21E1-8EBC-A2D7FD1ECA45}"/>
              </a:ext>
            </a:extLst>
          </p:cNvPr>
          <p:cNvPicPr>
            <a:picLocks noChangeAspect="1"/>
          </p:cNvPicPr>
          <p:nvPr/>
        </p:nvPicPr>
        <p:blipFill>
          <a:blip r:embed="rId3"/>
          <a:stretch>
            <a:fillRect/>
          </a:stretch>
        </p:blipFill>
        <p:spPr>
          <a:xfrm>
            <a:off x="6961574" y="446442"/>
            <a:ext cx="4124901" cy="3124636"/>
          </a:xfrm>
          <a:prstGeom prst="rect">
            <a:avLst/>
          </a:prstGeom>
        </p:spPr>
      </p:pic>
      <p:pic>
        <p:nvPicPr>
          <p:cNvPr id="7" name="Picture 6">
            <a:extLst>
              <a:ext uri="{FF2B5EF4-FFF2-40B4-BE49-F238E27FC236}">
                <a16:creationId xmlns:a16="http://schemas.microsoft.com/office/drawing/2014/main" id="{202714CD-E511-B20C-D166-63E1C2DFF6D0}"/>
              </a:ext>
            </a:extLst>
          </p:cNvPr>
          <p:cNvPicPr>
            <a:picLocks noChangeAspect="1"/>
          </p:cNvPicPr>
          <p:nvPr/>
        </p:nvPicPr>
        <p:blipFill>
          <a:blip r:embed="rId4"/>
          <a:stretch>
            <a:fillRect/>
          </a:stretch>
        </p:blipFill>
        <p:spPr>
          <a:xfrm>
            <a:off x="2813162" y="2568917"/>
            <a:ext cx="3570727" cy="3945018"/>
          </a:xfrm>
          <a:prstGeom prst="rect">
            <a:avLst/>
          </a:prstGeom>
        </p:spPr>
      </p:pic>
    </p:spTree>
    <p:extLst>
      <p:ext uri="{BB962C8B-B14F-4D97-AF65-F5344CB8AC3E}">
        <p14:creationId xmlns:p14="http://schemas.microsoft.com/office/powerpoint/2010/main" val="19302947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D98572-EF33-7605-5364-F981C57B08CB}"/>
              </a:ext>
            </a:extLst>
          </p:cNvPr>
          <p:cNvPicPr>
            <a:picLocks noChangeAspect="1"/>
          </p:cNvPicPr>
          <p:nvPr/>
        </p:nvPicPr>
        <p:blipFill>
          <a:blip r:embed="rId2"/>
          <a:stretch>
            <a:fillRect/>
          </a:stretch>
        </p:blipFill>
        <p:spPr>
          <a:xfrm>
            <a:off x="2042809" y="353377"/>
            <a:ext cx="8132323" cy="6183610"/>
          </a:xfrm>
          <a:prstGeom prst="rect">
            <a:avLst/>
          </a:prstGeom>
        </p:spPr>
      </p:pic>
    </p:spTree>
    <p:extLst>
      <p:ext uri="{BB962C8B-B14F-4D97-AF65-F5344CB8AC3E}">
        <p14:creationId xmlns:p14="http://schemas.microsoft.com/office/powerpoint/2010/main" val="40695745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CLUSTERING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600" b="1" dirty="0">
                <a:solidFill>
                  <a:srgbClr val="0B2A4A"/>
                </a:solidFill>
                <a:latin typeface="Cambria" pitchFamily="34" charset="0"/>
                <a:ea typeface="Cambria" pitchFamily="34" charset="-122"/>
                <a:cs typeface="Cambria" pitchFamily="34" charset="-120"/>
              </a:rPr>
              <a:t>dist() / hclust() / cutree()</a:t>
            </a:r>
            <a:endParaRPr lang="en-US" sz="26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objectgroup.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48132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SYNTAX</a:t>
            </a:r>
            <a:endParaRPr lang="en-US" sz="1150" dirty="0"/>
          </a:p>
        </p:txBody>
      </p:sp>
      <p:sp>
        <p:nvSpPr>
          <p:cNvPr id="7" name="Shape 4"/>
          <p:cNvSpPr/>
          <p:nvPr/>
        </p:nvSpPr>
        <p:spPr>
          <a:xfrm>
            <a:off x="548640" y="1755648"/>
            <a:ext cx="11064240" cy="502920"/>
          </a:xfrm>
          <a:prstGeom prst="rect">
            <a:avLst/>
          </a:prstGeom>
          <a:solidFill>
            <a:srgbClr val="0D1B2A"/>
          </a:solidFill>
          <a:ln/>
        </p:spPr>
      </p:sp>
      <p:sp>
        <p:nvSpPr>
          <p:cNvPr id="8" name="Text 5"/>
          <p:cNvSpPr/>
          <p:nvPr/>
        </p:nvSpPr>
        <p:spPr>
          <a:xfrm>
            <a:off x="777240" y="1755648"/>
            <a:ext cx="10607040" cy="502920"/>
          </a:xfrm>
          <a:prstGeom prst="rect">
            <a:avLst/>
          </a:prstGeom>
          <a:noFill/>
          <a:ln/>
        </p:spPr>
        <p:txBody>
          <a:bodyPr wrap="square" rtlCol="0" anchor="ctr"/>
          <a:lstStyle/>
          <a:p>
            <a:pPr marL="0" indent="0">
              <a:lnSpc>
                <a:spcPct val="125000"/>
              </a:lnSpc>
              <a:buNone/>
            </a:pPr>
            <a:r>
              <a:rPr lang="en-US" sz="1300" dirty="0">
                <a:solidFill>
                  <a:srgbClr val="E8EEF4"/>
                </a:solidFill>
                <a:latin typeface="Courier New" pitchFamily="34" charset="0"/>
                <a:ea typeface="Courier New" pitchFamily="34" charset="-122"/>
                <a:cs typeface="Courier New" pitchFamily="34" charset="-120"/>
              </a:rPr>
              <a:t>dist(x, method = "euclidean") hclust(d, method = "complete") cutree(tree, k = NULL, h = NULL)</a:t>
            </a:r>
            <a:endParaRPr lang="en-US" sz="1300" dirty="0"/>
          </a:p>
        </p:txBody>
      </p:sp>
      <p:sp>
        <p:nvSpPr>
          <p:cNvPr id="9" name="Text 6"/>
          <p:cNvSpPr/>
          <p:nvPr/>
        </p:nvSpPr>
        <p:spPr>
          <a:xfrm>
            <a:off x="548640" y="2441448"/>
            <a:ext cx="2743200" cy="256032"/>
          </a:xfrm>
          <a:prstGeom prst="rect">
            <a:avLst/>
          </a:prstGeom>
          <a:noFill/>
          <a:ln/>
        </p:spPr>
        <p:txBody>
          <a:bodyPr wrap="square" rtlCol="0" anchor="ctr"/>
          <a:lstStyle/>
          <a:p>
            <a:pPr marL="0" indent="0">
              <a:buNone/>
            </a:pPr>
            <a:r>
              <a:rPr lang="en-US" sz="1150" b="1" kern="0" spc="100" dirty="0">
                <a:solidFill>
                  <a:srgbClr val="1C7293"/>
                </a:solidFill>
                <a:latin typeface="Calibri" pitchFamily="34" charset="0"/>
                <a:ea typeface="Calibri" pitchFamily="34" charset="-122"/>
                <a:cs typeface="Calibri" pitchFamily="34" charset="-120"/>
              </a:rPr>
              <a:t>ARGUMENTS</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2734056"/>
          <a:ext cx="11064240" cy="2706625"/>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41325">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Argument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x / method (dist)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Data to measure; distance metric ("euclidean", "manhattan", ...).</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d / method (hclust)</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A distance matrix; linkage criterion ("complete", "average", "ward.D2", ...).</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tree</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cutree(): a fitted hclust object.</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1325">
                <a:tc>
                  <a:txBody>
                    <a:bodyPr/>
                    <a:lstStyle/>
                    <a:p>
                      <a:pPr marL="0" indent="0" algn="l">
                        <a:buNone/>
                      </a:pPr>
                      <a:r>
                        <a:rPr lang="en-US" sz="1150" b="1" dirty="0">
                          <a:solidFill>
                            <a:srgbClr val="16232F"/>
                          </a:solidFill>
                          <a:latin typeface="Courier New" pitchFamily="34" charset="0"/>
                          <a:ea typeface="Courier New" pitchFamily="34" charset="-122"/>
                          <a:cs typeface="Courier New" pitchFamily="34" charset="-120"/>
                        </a:rPr>
                        <a:t>k / h</a:t>
                      </a:r>
                      <a:endParaRPr lang="en-US" sz="1150" dirty="0">
                        <a:latin typeface="Courier New" charset="0"/>
                        <a:ea typeface="Courier New" charset="0"/>
                        <a:cs typeface="Courier New"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150" dirty="0">
                          <a:solidFill>
                            <a:srgbClr val="16232F"/>
                          </a:solidFill>
                          <a:latin typeface="Calibri" pitchFamily="34" charset="0"/>
                          <a:ea typeface="Calibri" pitchFamily="34" charset="-122"/>
                          <a:cs typeface="Calibri" pitchFamily="34" charset="-120"/>
                        </a:rPr>
                        <a:t>cutree(): desired number of clusters, or the height to cut at instead.</a:t>
                      </a:r>
                      <a:endParaRPr lang="en-US" sz="11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bl>
          </a:graphicData>
        </a:graphic>
      </p:graphicFrame>
      <p:sp>
        <p:nvSpPr>
          <p:cNvPr id="11" name="Shape 7"/>
          <p:cNvSpPr/>
          <p:nvPr/>
        </p:nvSpPr>
        <p:spPr>
          <a:xfrm>
            <a:off x="548640" y="5577840"/>
            <a:ext cx="11064240" cy="777240"/>
          </a:xfrm>
          <a:prstGeom prst="rect">
            <a:avLst/>
          </a:prstGeom>
          <a:solidFill>
            <a:srgbClr val="EDF3F8"/>
          </a:solidFill>
          <a:ln/>
        </p:spPr>
      </p:sp>
      <p:sp>
        <p:nvSpPr>
          <p:cNvPr id="12" name="Text 8"/>
          <p:cNvSpPr/>
          <p:nvPr/>
        </p:nvSpPr>
        <p:spPr>
          <a:xfrm>
            <a:off x="731520" y="5577840"/>
            <a:ext cx="10698480" cy="777240"/>
          </a:xfrm>
          <a:prstGeom prst="rect">
            <a:avLst/>
          </a:prstGeom>
          <a:noFill/>
          <a:ln/>
        </p:spPr>
        <p:txBody>
          <a:bodyPr wrap="square" rtlCol="0" anchor="ctr"/>
          <a:lstStyle/>
          <a:p>
            <a:pPr marL="0" indent="0">
              <a:lnSpc>
                <a:spcPct val="110000"/>
              </a:lnSpc>
              <a:buNone/>
            </a:pPr>
            <a:r>
              <a:rPr lang="en-US" sz="1150" b="1" dirty="0">
                <a:solidFill>
                  <a:srgbClr val="1C7293"/>
                </a:solidFill>
                <a:latin typeface="Calibri" pitchFamily="34" charset="0"/>
                <a:ea typeface="Calibri" pitchFamily="34" charset="-122"/>
                <a:cs typeface="Calibri" pitchFamily="34" charset="-120"/>
              </a:rPr>
              <a:t>Description:  </a:t>
            </a:r>
            <a:r>
              <a:rPr lang="en-US" sz="1150" dirty="0">
                <a:solidFill>
                  <a:srgbClr val="16232F"/>
                </a:solidFill>
                <a:latin typeface="Calibri" pitchFamily="34" charset="0"/>
                <a:ea typeface="Calibri" pitchFamily="34" charset="-122"/>
                <a:cs typeface="Calibri" pitchFamily="34" charset="-120"/>
              </a:rPr>
              <a:t>dist() computes pairwise distances; hclust() builds a dendrogram by successively merging the closest clusters; cutree() cuts the dendrogram into flat cluster labels.</a:t>
            </a:r>
            <a:endParaRPr lang="en-US" sz="1150" dirty="0"/>
          </a:p>
        </p:txBody>
      </p:sp>
      <p:sp>
        <p:nvSpPr>
          <p:cNvPr id="13" name="Text 9"/>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4" name="Text 10"/>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CLUSTERING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18: Hierarchical Clustering with Dendrogram Visualisation</a:t>
            </a:r>
            <a:endParaRPr lang="en-US" sz="21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Build and cut a dendrogram on the same customer data used for k-means.</a:t>
            </a:r>
            <a:endParaRPr lang="en-US" sz="1300" dirty="0"/>
          </a:p>
        </p:txBody>
      </p:sp>
      <p:sp>
        <p:nvSpPr>
          <p:cNvPr id="7" name="Shape 4"/>
          <p:cNvSpPr/>
          <p:nvPr/>
        </p:nvSpPr>
        <p:spPr>
          <a:xfrm>
            <a:off x="548640" y="2084832"/>
            <a:ext cx="11064240" cy="2310003"/>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1880235"/>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 &lt;- dist(scaled_data, method = 'euclidean')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hc &lt;- hclust(d, method = 'ward.D2')</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plot(hc, labels = FALSE, main = 'Customer Dendrogram')</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clusters &lt;- cutree(hc, k = 4)</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rect.hclust(hc, k = 4, border = 'red')</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print(table(clusters))</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print(table(kmeans = km$cluster, hierarchical = clusters))</a:t>
            </a:r>
            <a:endParaRPr lang="en-US" sz="1250" dirty="0"/>
          </a:p>
        </p:txBody>
      </p:sp>
      <p:sp>
        <p:nvSpPr>
          <p:cNvPr id="12" name="Shape 9"/>
          <p:cNvSpPr/>
          <p:nvPr/>
        </p:nvSpPr>
        <p:spPr>
          <a:xfrm>
            <a:off x="548640" y="4504563"/>
            <a:ext cx="11064240" cy="640080"/>
          </a:xfrm>
          <a:prstGeom prst="rect">
            <a:avLst/>
          </a:prstGeom>
          <a:solidFill>
            <a:srgbClr val="EDF3F8"/>
          </a:solidFill>
          <a:ln/>
        </p:spPr>
      </p:sp>
      <p:sp>
        <p:nvSpPr>
          <p:cNvPr id="13" name="Text 10"/>
          <p:cNvSpPr/>
          <p:nvPr/>
        </p:nvSpPr>
        <p:spPr>
          <a:xfrm>
            <a:off x="731520" y="4504563"/>
            <a:ext cx="10698480" cy="640080"/>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Linkage methods (complete, average, ward.D2, single) change how inter-cluster distance is measured; ward.D2 tends to produce compact, evenly sized clusters. The final table shows how closely the two methods agree.</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694178-0A5F-F4EE-6F34-30FED6974226}"/>
              </a:ext>
            </a:extLst>
          </p:cNvPr>
          <p:cNvPicPr>
            <a:picLocks noChangeAspect="1"/>
          </p:cNvPicPr>
          <p:nvPr/>
        </p:nvPicPr>
        <p:blipFill>
          <a:blip r:embed="rId2"/>
          <a:stretch>
            <a:fillRect/>
          </a:stretch>
        </p:blipFill>
        <p:spPr>
          <a:xfrm>
            <a:off x="849113" y="887415"/>
            <a:ext cx="3334215" cy="4810796"/>
          </a:xfrm>
          <a:prstGeom prst="rect">
            <a:avLst/>
          </a:prstGeom>
        </p:spPr>
      </p:pic>
      <p:pic>
        <p:nvPicPr>
          <p:cNvPr id="5" name="Picture 4">
            <a:extLst>
              <a:ext uri="{FF2B5EF4-FFF2-40B4-BE49-F238E27FC236}">
                <a16:creationId xmlns:a16="http://schemas.microsoft.com/office/drawing/2014/main" id="{9254E10C-A73D-C240-4E7E-6909DC9AB25F}"/>
              </a:ext>
            </a:extLst>
          </p:cNvPr>
          <p:cNvPicPr>
            <a:picLocks noChangeAspect="1"/>
          </p:cNvPicPr>
          <p:nvPr/>
        </p:nvPicPr>
        <p:blipFill>
          <a:blip r:embed="rId3"/>
          <a:srcRect t="4356"/>
          <a:stretch>
            <a:fillRect/>
          </a:stretch>
        </p:blipFill>
        <p:spPr>
          <a:xfrm>
            <a:off x="6591727" y="887414"/>
            <a:ext cx="4751160" cy="5416109"/>
          </a:xfrm>
          <a:prstGeom prst="rect">
            <a:avLst/>
          </a:prstGeom>
        </p:spPr>
      </p:pic>
    </p:spTree>
    <p:extLst>
      <p:ext uri="{BB962C8B-B14F-4D97-AF65-F5344CB8AC3E}">
        <p14:creationId xmlns:p14="http://schemas.microsoft.com/office/powerpoint/2010/main" val="24943044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CLUSTERING</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9.1  k-means vs. Hierarchical Clustering</a:t>
            </a:r>
            <a:endParaRPr lang="en-US" sz="30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objectgroup.png"/>
          <p:cNvPicPr>
            <a:picLocks noChangeAspect="1"/>
          </p:cNvPicPr>
          <p:nvPr/>
        </p:nvPicPr>
        <p:blipFill>
          <a:blip r:embed="rId3"/>
          <a:stretch>
            <a:fillRect/>
          </a:stretch>
        </p:blipFill>
        <p:spPr>
          <a:xfrm>
            <a:off x="10756773" y="789813"/>
            <a:ext cx="477774" cy="477774"/>
          </a:xfrm>
          <a:prstGeom prst="rect">
            <a:avLst/>
          </a:prstGeom>
        </p:spPr>
      </p:pic>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3401568"/>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6692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Aspect</a:t>
                      </a:r>
                      <a:endParaRPr lang="en-US" sz="12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k-means</a:t>
                      </a:r>
                      <a:endParaRPr lang="en-US" sz="12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Hierarchical (hclust)</a:t>
                      </a:r>
                      <a:endParaRPr lang="en-US" sz="12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Partition-based; assigns points to k centroids</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Builds a tree by successively merging clusters</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Pre-specify k?</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Yes -- via elbow / silhouette method</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No -- k chosen later by cutting the dendrogram</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566928">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Scalability</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Efficient on large datasets</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Expensive for very large n (distance matrix O(n²))</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Flat set of k clusters</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Dendrogram showing nested cluster structure</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566928">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Big, spherical clusters; Big Data segmentation</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6232F"/>
                          </a:solidFill>
                          <a:latin typeface="Calibri" pitchFamily="34" charset="0"/>
                          <a:ea typeface="Calibri" pitchFamily="34" charset="-122"/>
                          <a:cs typeface="Calibri" pitchFamily="34" charset="-120"/>
                        </a:rPr>
                        <a:t>Small/medium data; exploratory analysis</a:t>
                      </a:r>
                      <a:endParaRPr lang="en-US" sz="12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8" name="Text 4"/>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63">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81E38"/>
          </a:solidFill>
          <a:ln/>
        </p:spPr>
      </p:sp>
      <p:sp>
        <p:nvSpPr>
          <p:cNvPr id="3" name="Shape 1"/>
          <p:cNvSpPr/>
          <p:nvPr/>
        </p:nvSpPr>
        <p:spPr>
          <a:xfrm>
            <a:off x="9052560" y="2651760"/>
            <a:ext cx="1737360" cy="1737360"/>
          </a:xfrm>
          <a:prstGeom prst="ellipse">
            <a:avLst/>
          </a:prstGeom>
          <a:solidFill>
            <a:srgbClr val="F2A93B"/>
          </a:solidFill>
          <a:ln/>
        </p:spPr>
      </p:sp>
      <p:pic>
        <p:nvPicPr>
          <p:cNvPr id="4" name="Image 0" descr="icons/route.png"/>
          <p:cNvPicPr>
            <a:picLocks noChangeAspect="1"/>
          </p:cNvPicPr>
          <p:nvPr/>
        </p:nvPicPr>
        <p:blipFill>
          <a:blip r:embed="rId3"/>
          <a:stretch>
            <a:fillRect/>
          </a:stretch>
        </p:blipFill>
        <p:spPr>
          <a:xfrm>
            <a:off x="9443466" y="3042666"/>
            <a:ext cx="955548" cy="955548"/>
          </a:xfrm>
          <a:prstGeom prst="rect">
            <a:avLst/>
          </a:prstGeom>
        </p:spPr>
      </p:pic>
      <p:sp>
        <p:nvSpPr>
          <p:cNvPr id="5" name="Text 2"/>
          <p:cNvSpPr/>
          <p:nvPr/>
        </p:nvSpPr>
        <p:spPr>
          <a:xfrm>
            <a:off x="640080" y="2011680"/>
            <a:ext cx="7132320" cy="365760"/>
          </a:xfrm>
          <a:prstGeom prst="rect">
            <a:avLst/>
          </a:prstGeom>
          <a:noFill/>
          <a:ln/>
        </p:spPr>
        <p:txBody>
          <a:bodyPr wrap="square" rtlCol="0" anchor="ctr"/>
          <a:lstStyle/>
          <a:p>
            <a:pPr marL="0" indent="0">
              <a:buNone/>
            </a:pPr>
            <a:r>
              <a:rPr lang="en-US" sz="1300" b="1" kern="0" spc="200" dirty="0">
                <a:solidFill>
                  <a:srgbClr val="F2A93B"/>
                </a:solidFill>
                <a:latin typeface="Calibri" pitchFamily="34" charset="0"/>
                <a:ea typeface="Calibri" pitchFamily="34" charset="-122"/>
                <a:cs typeface="Calibri" pitchFamily="34" charset="-120"/>
              </a:rPr>
              <a:t>UNIT V  —  SECTION 11 OF 11</a:t>
            </a:r>
            <a:endParaRPr lang="en-US" sz="1300" dirty="0"/>
          </a:p>
        </p:txBody>
      </p:sp>
      <p:sp>
        <p:nvSpPr>
          <p:cNvPr id="6" name="Text 3"/>
          <p:cNvSpPr/>
          <p:nvPr/>
        </p:nvSpPr>
        <p:spPr>
          <a:xfrm>
            <a:off x="594360" y="2423160"/>
            <a:ext cx="7315200" cy="1371600"/>
          </a:xfrm>
          <a:prstGeom prst="rect">
            <a:avLst/>
          </a:prstGeom>
          <a:noFill/>
          <a:ln/>
        </p:spPr>
        <p:txBody>
          <a:bodyPr wrap="square"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Applied End-to-End Programs</a:t>
            </a:r>
            <a:endParaRPr lang="en-US" sz="3800" dirty="0"/>
          </a:p>
        </p:txBody>
      </p:sp>
      <p:sp>
        <p:nvSpPr>
          <p:cNvPr id="7" name="Text 4"/>
          <p:cNvSpPr/>
          <p:nvPr/>
        </p:nvSpPr>
        <p:spPr>
          <a:xfrm>
            <a:off x="640080" y="3703320"/>
            <a:ext cx="7040880" cy="1737360"/>
          </a:xfrm>
          <a:prstGeom prst="rect">
            <a:avLst/>
          </a:prstGeom>
          <a:noFill/>
          <a:ln/>
        </p:spPr>
        <p:txBody>
          <a:bodyPr wrap="square" rtlCol="0" anchor="t"/>
          <a:lstStyle/>
          <a:p>
            <a:pPr marL="0" indent="0">
              <a:lnSpc>
                <a:spcPct val="135000"/>
              </a:lnSpc>
              <a:buNone/>
            </a:pPr>
            <a:r>
              <a:rPr lang="en-US" sz="1350" dirty="0">
                <a:solidFill>
                  <a:srgbClr val="CADCFC"/>
                </a:solidFill>
                <a:latin typeface="Calibri" pitchFamily="34" charset="0"/>
                <a:ea typeface="Calibri" pitchFamily="34" charset="-122"/>
                <a:cs typeface="Calibri" pitchFamily="34" charset="-120"/>
              </a:rPr>
              <a:t>These two programs combine the techniques above into complete, exam-ready workflows: a general predictive-analytics pipeline, and a full statistical analysis report.</a:t>
            </a:r>
            <a:endParaRPr lang="en-US" sz="1350" dirty="0"/>
          </a:p>
        </p:txBody>
      </p:sp>
      <p:sp>
        <p:nvSpPr>
          <p:cNvPr id="8" name="Shape 5"/>
          <p:cNvSpPr/>
          <p:nvPr/>
        </p:nvSpPr>
        <p:spPr>
          <a:xfrm>
            <a:off x="658368" y="5623560"/>
            <a:ext cx="2926080" cy="0"/>
          </a:xfrm>
          <a:prstGeom prst="line">
            <a:avLst/>
          </a:prstGeom>
          <a:noFill/>
          <a:ln w="19050">
            <a:solidFill>
              <a:srgbClr val="1C7293"/>
            </a:solidFill>
            <a:prstDash val="solid"/>
          </a:ln>
        </p:spPr>
      </p:sp>
      <p:sp>
        <p:nvSpPr>
          <p:cNvPr id="9" name="Text 6"/>
          <p:cNvSpPr/>
          <p:nvPr/>
        </p:nvSpPr>
        <p:spPr>
          <a:xfrm>
            <a:off x="640080" y="5760720"/>
            <a:ext cx="7040880" cy="365760"/>
          </a:xfrm>
          <a:prstGeom prst="rect">
            <a:avLst/>
          </a:prstGeom>
          <a:noFill/>
          <a:ln/>
        </p:spPr>
        <p:txBody>
          <a:bodyPr wrap="square" rtlCol="0" anchor="ctr"/>
          <a:lstStyle/>
          <a:p>
            <a:pPr marL="0" indent="0">
              <a:buNone/>
            </a:pPr>
            <a:r>
              <a:rPr lang="en-US" sz="1200" i="1" dirty="0">
                <a:solidFill>
                  <a:srgbClr val="2EC4B6"/>
                </a:solidFill>
                <a:latin typeface="Calibri" pitchFamily="34" charset="0"/>
                <a:ea typeface="Calibri" pitchFamily="34" charset="-122"/>
                <a:cs typeface="Calibri" pitchFamily="34" charset="-120"/>
              </a:rPr>
              <a:t>2 complete programs</a:t>
            </a:r>
            <a:endParaRPr lang="en-US" sz="1200" dirty="0"/>
          </a:p>
        </p:txBody>
      </p:sp>
      <p:sp>
        <p:nvSpPr>
          <p:cNvPr id="10" name="Text 7"/>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9FB4C4"/>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1" name="Text 8"/>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APPLIED END-TO-END PROGRAMS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20: Predictive Analytics Pipeline in R</a:t>
            </a:r>
            <a:endParaRPr lang="en-US" sz="2100" dirty="0"/>
          </a:p>
        </p:txBody>
      </p:sp>
      <p:sp>
        <p:nvSpPr>
          <p:cNvPr id="4" name="Shape 2"/>
          <p:cNvSpPr/>
          <p:nvPr/>
        </p:nvSpPr>
        <p:spPr>
          <a:xfrm>
            <a:off x="10561320" y="594360"/>
            <a:ext cx="868680" cy="868680"/>
          </a:xfrm>
          <a:prstGeom prst="ellipse">
            <a:avLst/>
          </a:prstGeom>
          <a:solidFill>
            <a:srgbClr val="F2A93B"/>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A complete six-step pipeline: load, preprocess, fit, evaluate, predict, and visualise.</a:t>
            </a:r>
            <a:endParaRPr lang="en-US" sz="1300" dirty="0"/>
          </a:p>
        </p:txBody>
      </p:sp>
      <p:sp>
        <p:nvSpPr>
          <p:cNvPr id="7" name="Shape 4"/>
          <p:cNvSpPr/>
          <p:nvPr/>
        </p:nvSpPr>
        <p:spPr>
          <a:xfrm>
            <a:off x="548640" y="2084832"/>
            <a:ext cx="11064240" cy="366572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323596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data(mtcars); df &lt;- na.omit(mtcars)      # 1-2. Load &amp; preprocess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df$cyl &lt;- as.factor(df$cyl)</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set.seed(1)</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idx &lt;- sample(1:nrow(df), .75*nrow(df))</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train &lt;- df[idx,]; test &lt;- df[-idx,]</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model &lt;- lm(mpg ~ wt+hp+cyl, data=train)        # 3. Fit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pred_test &lt;- predict(model, newdata=test)        # 4. Evaluate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RMSE &lt;- sqrt(mean((test$mpg-pred_test)^2))</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R2 &lt;- 1 - sum((test$mpg-pred_test)^2)/sum((test$mpg-mean(test$mpg))^2)</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cat('Test RMSE:', RMSE, ' R2:', R2, '\n')</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new_car &lt;- data.frame(wt=3.2, hp=150, cyl=factor(6, levels=levels(df$cyl)))</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predict(model, newdata = new_car)                # 5. Predict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plot(model, which = 1)                           # 6. Visualise residuals</a:t>
            </a:r>
            <a:endParaRPr lang="en-US" sz="1250" dirty="0"/>
          </a:p>
        </p:txBody>
      </p:sp>
      <p:sp>
        <p:nvSpPr>
          <p:cNvPr id="12" name="Shape 9"/>
          <p:cNvSpPr/>
          <p:nvPr/>
        </p:nvSpPr>
        <p:spPr>
          <a:xfrm>
            <a:off x="548640" y="5860288"/>
            <a:ext cx="11064240" cy="476504"/>
          </a:xfrm>
          <a:prstGeom prst="rect">
            <a:avLst/>
          </a:prstGeom>
          <a:solidFill>
            <a:srgbClr val="EDF3F8"/>
          </a:solidFill>
          <a:ln/>
        </p:spPr>
      </p:sp>
      <p:sp>
        <p:nvSpPr>
          <p:cNvPr id="13" name="Text 10"/>
          <p:cNvSpPr/>
          <p:nvPr/>
        </p:nvSpPr>
        <p:spPr>
          <a:xfrm>
            <a:off x="731520" y="5860288"/>
            <a:ext cx="10698480" cy="476504"/>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This six-step design mirrors any supervised modelling task in R and generalises directly to glm() (classification), nls() (non-linear) or a clustering pipeline.</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APPLIED END-TO-END PROGRAMS</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2100" b="1" dirty="0">
                <a:solidFill>
                  <a:srgbClr val="0B2A4A"/>
                </a:solidFill>
                <a:latin typeface="Cambria" pitchFamily="34" charset="0"/>
                <a:ea typeface="Cambria" pitchFamily="34" charset="-122"/>
                <a:cs typeface="Cambria" pitchFamily="34" charset="-120"/>
              </a:rPr>
              <a:t>Program 21: Complete Statistical Analysis Report</a:t>
            </a:r>
            <a:endParaRPr lang="en-US" sz="2100" dirty="0"/>
          </a:p>
        </p:txBody>
      </p:sp>
      <p:sp>
        <p:nvSpPr>
          <p:cNvPr id="4" name="Shape 2"/>
          <p:cNvSpPr/>
          <p:nvPr/>
        </p:nvSpPr>
        <p:spPr>
          <a:xfrm>
            <a:off x="10561320" y="594360"/>
            <a:ext cx="868680" cy="868680"/>
          </a:xfrm>
          <a:prstGeom prst="ellipse">
            <a:avLst/>
          </a:prstGeom>
          <a:solidFill>
            <a:srgbClr val="F2A93B"/>
          </a:solidFill>
          <a:ln/>
        </p:spPr>
      </p:sp>
      <p:pic>
        <p:nvPicPr>
          <p:cNvPr id="5" name="Image 0" descr="icons/code.png"/>
          <p:cNvPicPr>
            <a:picLocks noChangeAspect="1"/>
          </p:cNvPicPr>
          <p:nvPr/>
        </p:nvPicPr>
        <p:blipFill>
          <a:blip r:embed="rId3"/>
          <a:stretch>
            <a:fillRect/>
          </a:stretch>
        </p:blipFill>
        <p:spPr>
          <a:xfrm>
            <a:off x="10756773" y="789813"/>
            <a:ext cx="477774" cy="477774"/>
          </a:xfrm>
          <a:prstGeom prst="rect">
            <a:avLst/>
          </a:prstGeom>
        </p:spPr>
      </p:pic>
      <p:sp>
        <p:nvSpPr>
          <p:cNvPr id="6" name="Text 3"/>
          <p:cNvSpPr/>
          <p:nvPr/>
        </p:nvSpPr>
        <p:spPr>
          <a:xfrm>
            <a:off x="548640" y="1554480"/>
            <a:ext cx="11064240" cy="457200"/>
          </a:xfrm>
          <a:prstGeom prst="rect">
            <a:avLst/>
          </a:prstGeom>
          <a:noFill/>
          <a:ln/>
        </p:spPr>
        <p:txBody>
          <a:bodyPr wrap="square" rtlCol="0" anchor="ctr"/>
          <a:lstStyle/>
          <a:p>
            <a:pPr marL="0" indent="0">
              <a:buNone/>
            </a:pPr>
            <a:r>
              <a:rPr lang="en-US" sz="1300" i="1" dirty="0">
                <a:solidFill>
                  <a:srgbClr val="16232F"/>
                </a:solidFill>
                <a:latin typeface="Calibri" pitchFamily="34" charset="0"/>
                <a:ea typeface="Calibri" pitchFamily="34" charset="-122"/>
                <a:cs typeface="Calibri" pitchFamily="34" charset="-120"/>
              </a:rPr>
              <a:t>Descriptive statistics, normality check, correlation matrix, regression, and prediction with visualisation.</a:t>
            </a:r>
            <a:endParaRPr lang="en-US" sz="1300" dirty="0"/>
          </a:p>
        </p:txBody>
      </p:sp>
      <p:sp>
        <p:nvSpPr>
          <p:cNvPr id="7" name="Shape 4"/>
          <p:cNvSpPr/>
          <p:nvPr/>
        </p:nvSpPr>
        <p:spPr>
          <a:xfrm>
            <a:off x="548640" y="2084832"/>
            <a:ext cx="11064240" cy="3665728"/>
          </a:xfrm>
          <a:prstGeom prst="rect">
            <a:avLst/>
          </a:prstGeom>
          <a:solidFill>
            <a:srgbClr val="0D1B2A"/>
          </a:solidFill>
          <a:ln/>
        </p:spPr>
      </p:sp>
      <p:sp>
        <p:nvSpPr>
          <p:cNvPr id="8" name="Shape 5"/>
          <p:cNvSpPr/>
          <p:nvPr/>
        </p:nvSpPr>
        <p:spPr>
          <a:xfrm>
            <a:off x="749808" y="2249424"/>
            <a:ext cx="128016" cy="128016"/>
          </a:xfrm>
          <a:prstGeom prst="ellipse">
            <a:avLst/>
          </a:prstGeom>
          <a:solidFill>
            <a:srgbClr val="E06C75"/>
          </a:solidFill>
          <a:ln/>
        </p:spPr>
      </p:sp>
      <p:sp>
        <p:nvSpPr>
          <p:cNvPr id="9" name="Shape 6"/>
          <p:cNvSpPr/>
          <p:nvPr/>
        </p:nvSpPr>
        <p:spPr>
          <a:xfrm>
            <a:off x="950976" y="2249424"/>
            <a:ext cx="128016" cy="128016"/>
          </a:xfrm>
          <a:prstGeom prst="ellipse">
            <a:avLst/>
          </a:prstGeom>
          <a:solidFill>
            <a:srgbClr val="E5C07B"/>
          </a:solidFill>
          <a:ln/>
        </p:spPr>
      </p:sp>
      <p:sp>
        <p:nvSpPr>
          <p:cNvPr id="10" name="Shape 7"/>
          <p:cNvSpPr/>
          <p:nvPr/>
        </p:nvSpPr>
        <p:spPr>
          <a:xfrm>
            <a:off x="1152144" y="2249424"/>
            <a:ext cx="128016" cy="128016"/>
          </a:xfrm>
          <a:prstGeom prst="ellipse">
            <a:avLst/>
          </a:prstGeom>
          <a:solidFill>
            <a:srgbClr val="98C379"/>
          </a:solidFill>
          <a:ln/>
        </p:spPr>
      </p:sp>
      <p:sp>
        <p:nvSpPr>
          <p:cNvPr id="11" name="Text 8"/>
          <p:cNvSpPr/>
          <p:nvPr/>
        </p:nvSpPr>
        <p:spPr>
          <a:xfrm>
            <a:off x="868680" y="2468880"/>
            <a:ext cx="10515600" cy="3235960"/>
          </a:xfrm>
          <a:prstGeom prst="rect">
            <a:avLst/>
          </a:prstGeom>
          <a:noFill/>
          <a:ln/>
        </p:spPr>
        <p:txBody>
          <a:bodyPr wrap="square" rtlCol="0" anchor="t"/>
          <a:lstStyle/>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data(mtcars); df &lt;- mtcars</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print(summary(df)); sapply(df, sd)             # (i) Descriptive stats</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shapiro_result &lt;- shapiro.test(df$mpg)          # (ii) Normality test</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print(shapiro_result)</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cor_matrix &lt;- cor(df)                           # (iii) Correlation matrix</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print(round(cor_matrix, 2))</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model &lt;- lm(mpg ~ wt+hp+disp, data=df)          # (iv) Regression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print(summary(model))</a:t>
            </a:r>
            <a:endParaRPr lang="en-US" sz="1250" dirty="0"/>
          </a:p>
          <a:p>
            <a:pPr marL="0" indent="0">
              <a:lnSpc>
                <a:spcPts val="1525"/>
              </a:lnSpc>
              <a:buNone/>
            </a:pP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df$predicted &lt;- predict(model)                  # (v) Prediction + visualisation</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plot(df$mpg, df$predicted, xlab='Actual mpg', ylab='Predicted mpg',</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     pch=19, col='steelblue')</a:t>
            </a:r>
            <a:endParaRPr lang="en-US" sz="1250" dirty="0"/>
          </a:p>
          <a:p>
            <a:pPr marL="0" indent="0">
              <a:lnSpc>
                <a:spcPts val="1525"/>
              </a:lnSpc>
              <a:buNone/>
            </a:pPr>
            <a:r>
              <a:rPr lang="en-US" sz="1250" dirty="0">
                <a:solidFill>
                  <a:srgbClr val="E8EEF4"/>
                </a:solidFill>
                <a:latin typeface="Courier New" pitchFamily="34" charset="0"/>
                <a:ea typeface="Courier New" pitchFamily="34" charset="-122"/>
                <a:cs typeface="Courier New" pitchFamily="34" charset="-120"/>
              </a:rPr>
              <a:t>abline(0, 1, col='red', lwd=2)</a:t>
            </a:r>
            <a:endParaRPr lang="en-US" sz="1250" dirty="0"/>
          </a:p>
        </p:txBody>
      </p:sp>
      <p:sp>
        <p:nvSpPr>
          <p:cNvPr id="12" name="Shape 9"/>
          <p:cNvSpPr/>
          <p:nvPr/>
        </p:nvSpPr>
        <p:spPr>
          <a:xfrm>
            <a:off x="548640" y="5860288"/>
            <a:ext cx="11064240" cy="476504"/>
          </a:xfrm>
          <a:prstGeom prst="rect">
            <a:avLst/>
          </a:prstGeom>
          <a:solidFill>
            <a:srgbClr val="EDF3F8"/>
          </a:solidFill>
          <a:ln/>
        </p:spPr>
      </p:sp>
      <p:sp>
        <p:nvSpPr>
          <p:cNvPr id="13" name="Text 10"/>
          <p:cNvSpPr/>
          <p:nvPr/>
        </p:nvSpPr>
        <p:spPr>
          <a:xfrm>
            <a:off x="731520" y="5860288"/>
            <a:ext cx="10698480" cy="476504"/>
          </a:xfrm>
          <a:prstGeom prst="rect">
            <a:avLst/>
          </a:prstGeom>
          <a:noFill/>
          <a:ln/>
        </p:spPr>
        <p:txBody>
          <a:bodyPr wrap="square" rtlCol="0" anchor="ctr"/>
          <a:lstStyle/>
          <a:p>
            <a:pPr marL="0" indent="0">
              <a:lnSpc>
                <a:spcPct val="108000"/>
              </a:lnSpc>
              <a:buNone/>
            </a:pPr>
            <a:r>
              <a:rPr lang="en-US" sz="1100" b="1" dirty="0">
                <a:solidFill>
                  <a:srgbClr val="1C7293"/>
                </a:solidFill>
                <a:latin typeface="Calibri" pitchFamily="34" charset="0"/>
                <a:ea typeface="Calibri" pitchFamily="34" charset="-122"/>
                <a:cs typeface="Calibri" pitchFamily="34" charset="-120"/>
              </a:rPr>
              <a:t>Key point:  </a:t>
            </a:r>
            <a:r>
              <a:rPr lang="en-US" sz="1100" dirty="0">
                <a:solidFill>
                  <a:srgbClr val="16232F"/>
                </a:solidFill>
                <a:latin typeface="Calibri" pitchFamily="34" charset="0"/>
                <a:ea typeface="Calibri" pitchFamily="34" charset="-122"/>
                <a:cs typeface="Calibri" pitchFamily="34" charset="-120"/>
              </a:rPr>
              <a:t>shapiro.test() checks whether the response is approximately normal; the correlation matrix flags predictors strongly related to the response (or each other, indicating multicollinearity); the actual-vs-predicted plot with a 45° reference line gives a quick visual check of model fit.</a:t>
            </a:r>
            <a:endParaRPr lang="en-US" sz="1100" dirty="0"/>
          </a:p>
        </p:txBody>
      </p:sp>
      <p:sp>
        <p:nvSpPr>
          <p:cNvPr id="14" name="Text 11"/>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15" name="Text 12"/>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QUICK REFERENCE</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All Functions at a Glance (1/2)</a:t>
            </a:r>
            <a:endParaRPr lang="en-US" sz="30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question.png"/>
          <p:cNvPicPr>
            <a:picLocks noChangeAspect="1"/>
          </p:cNvPicPr>
          <p:nvPr/>
        </p:nvPicPr>
        <p:blipFill>
          <a:blip r:embed="rId3"/>
          <a:stretch>
            <a:fillRect/>
          </a:stretch>
        </p:blipFill>
        <p:spPr>
          <a:xfrm>
            <a:off x="10756773" y="789813"/>
            <a:ext cx="477774" cy="477774"/>
          </a:xfrm>
          <a:prstGeom prst="rect">
            <a:avLst/>
          </a:prstGeom>
        </p:spPr>
      </p:pic>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709166"/>
        </p:xfrm>
        <a:graphic>
          <a:graphicData uri="http://schemas.openxmlformats.org/drawingml/2006/table">
            <a:tbl>
              <a:tblPr/>
              <a:tblGrid>
                <a:gridCol w="31089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336369">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Package</a:t>
                      </a:r>
                      <a:endParaRPr lang="en-US" sz="11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 / .Call()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base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Call compiled C code from 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dyn.load()</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base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Load a compiled shared library</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cppFunction() / sourceCpp()</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Rcpp</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Compile and call C++ code from 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import() / source_python()</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reticulate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Call Python modules / functions from 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r_to_py() / py_to_r()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reticulate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Convert objects between R and Python</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detectCores()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parallel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Number of CPU cores available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6"/>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makeCluster() / stopCluster()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parallel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Start / stop a socket cluster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parLapply() / parSapply()</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parallel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Apply a function in parallel (socket cluster)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8"/>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clusterExport() / mclapply()</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parallel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Export to workers / apply in parallel via forking</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mean()/median()/var()/sd()</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base/stats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Core descriptive statistics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10"/>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quantile()/summary()/cor()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base/stats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Quantiles, overview, correlation</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t.test() / chisq.test() / cor.test()</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Compare means / categorical association / correlation</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12"/>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aov() / TukeyHSD()</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ANOVA and post-hoc pairwise comparison</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7" name="Text 3"/>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8" name="Text 4"/>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QUICK REFERENCE</a:t>
            </a:r>
            <a:endParaRPr lang="en-US" sz="1200" dirty="0"/>
          </a:p>
        </p:txBody>
      </p:sp>
      <p:sp>
        <p:nvSpPr>
          <p:cNvPr id="3" name="Text 1"/>
          <p:cNvSpPr/>
          <p:nvPr/>
        </p:nvSpPr>
        <p:spPr>
          <a:xfrm>
            <a:off x="548640" y="658368"/>
            <a:ext cx="9829800" cy="77724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All Functions at a Glance (2/2)</a:t>
            </a:r>
            <a:endParaRPr lang="en-US" sz="3000" dirty="0"/>
          </a:p>
        </p:txBody>
      </p:sp>
      <p:sp>
        <p:nvSpPr>
          <p:cNvPr id="4" name="Shape 2"/>
          <p:cNvSpPr/>
          <p:nvPr/>
        </p:nvSpPr>
        <p:spPr>
          <a:xfrm>
            <a:off x="10561320" y="594360"/>
            <a:ext cx="868680" cy="868680"/>
          </a:xfrm>
          <a:prstGeom prst="ellipse">
            <a:avLst/>
          </a:prstGeom>
          <a:solidFill>
            <a:srgbClr val="1C7293"/>
          </a:solidFill>
          <a:ln/>
        </p:spPr>
      </p:sp>
      <p:pic>
        <p:nvPicPr>
          <p:cNvPr id="5" name="Image 0" descr="icons/question.png"/>
          <p:cNvPicPr>
            <a:picLocks noChangeAspect="1"/>
          </p:cNvPicPr>
          <p:nvPr/>
        </p:nvPicPr>
        <p:blipFill>
          <a:blip r:embed="rId3"/>
          <a:stretch>
            <a:fillRect/>
          </a:stretch>
        </p:blipFill>
        <p:spPr>
          <a:xfrm>
            <a:off x="10756773" y="789813"/>
            <a:ext cx="477774" cy="477774"/>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709166"/>
        </p:xfrm>
        <a:graphic>
          <a:graphicData uri="http://schemas.openxmlformats.org/drawingml/2006/table">
            <a:tbl>
              <a:tblPr/>
              <a:tblGrid>
                <a:gridCol w="31089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336369">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Package</a:t>
                      </a:r>
                      <a:endParaRPr lang="en-US" sz="11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lm() / predict()</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Fit / predict from a linear model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glm()</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Fit a generalized linear model (logistic, Poisson, ...)</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2"/>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nls()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Fit a non-linear least-squares model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ts() / decompose()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Create / decompose a time series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4"/>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acf() / pacf() / adf.test()</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stats/tseries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Autocorrelation, partial ACF, stationarity test</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auto.arima() / forecast() / accuracy()</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forecast</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Fit ARIMA / generate &amp; evaluate forecasts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6"/>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ets()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forecast</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Fit an exponential smoothing model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kmeans()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Partition-based clustering</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08"/>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dist() / hclust() / cutree()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stats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Hierarchical clustering</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data.table / fread()</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data.table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Fast large-table manipulation</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10"/>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filter()/mutate()/summarise()</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dplyr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Readable data transformation verbs</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mapreduce() / keyval()</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rmr2 (RHadoop)</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Express a Hadoop MapReduce job in 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EDF3F8"/>
                    </a:solidFill>
                  </a:tcPr>
                </a:tc>
                <a:extLst>
                  <a:ext uri="{0D108BD9-81ED-4DB2-BD59-A6C34878D82A}">
                    <a16:rowId xmlns:a16="http://schemas.microsoft.com/office/drawing/2014/main" val="10012"/>
                  </a:ext>
                </a:extLst>
              </a:tr>
              <a:tr h="336369">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sparkR.session() / spark.lapply()</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SparkR</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32F"/>
                          </a:solidFill>
                          <a:latin typeface="Calibri" pitchFamily="34" charset="0"/>
                          <a:ea typeface="Calibri" pitchFamily="34" charset="-122"/>
                          <a:cs typeface="Calibri" pitchFamily="34" charset="-120"/>
                        </a:rPr>
                        <a:t>Distributed computation via Apache Spark</a:t>
                      </a:r>
                      <a:endParaRPr lang="en-US" sz="1050" dirty="0">
                        <a:latin typeface="Calibri" charset="0"/>
                        <a:ea typeface="Calibri" charset="0"/>
                        <a:cs typeface="Calibri" charset="0"/>
                      </a:endParaRPr>
                    </a:p>
                  </a:txBody>
                  <a:tcPr anchor="ctr">
                    <a:lnL w="6350" cap="flat" cmpd="sng" algn="ctr">
                      <a:solidFill>
                        <a:srgbClr val="D7E2EA"/>
                      </a:solidFill>
                      <a:prstDash val="solid"/>
                      <a:round/>
                      <a:headEnd type="none" w="med" len="med"/>
                      <a:tailEnd type="none" w="med" len="med"/>
                    </a:lnL>
                    <a:lnR w="6350" cap="flat" cmpd="sng" algn="ctr">
                      <a:solidFill>
                        <a:srgbClr val="D7E2EA"/>
                      </a:solidFill>
                      <a:prstDash val="solid"/>
                      <a:round/>
                      <a:headEnd type="none" w="med" len="med"/>
                      <a:tailEnd type="none" w="med" len="med"/>
                    </a:lnR>
                    <a:lnT w="6350" cap="flat" cmpd="sng" algn="ctr">
                      <a:solidFill>
                        <a:srgbClr val="D7E2EA"/>
                      </a:solidFill>
                      <a:prstDash val="solid"/>
                      <a:round/>
                      <a:headEnd type="none" w="med" len="med"/>
                      <a:tailEnd type="none" w="med" len="med"/>
                    </a:lnT>
                    <a:lnB w="6350" cap="flat" cmpd="sng" algn="ctr">
                      <a:solidFill>
                        <a:srgbClr val="D7E2E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7" name="Text 3"/>
          <p:cNvSpPr/>
          <p:nvPr/>
        </p:nvSpPr>
        <p:spPr>
          <a:xfrm>
            <a:off x="457200" y="6519672"/>
            <a:ext cx="8686800" cy="274320"/>
          </a:xfrm>
          <a:prstGeom prst="rect">
            <a:avLst/>
          </a:prstGeom>
          <a:noFill/>
          <a:ln/>
        </p:spPr>
        <p:txBody>
          <a:bodyPr wrap="square" rtlCol="0" anchor="ctr"/>
          <a:lstStyle/>
          <a:p>
            <a:pPr marL="0" indent="0" algn="l">
              <a:buNone/>
            </a:pPr>
            <a:r>
              <a:rPr lang="en-US" sz="850" kern="0" spc="50" dirty="0">
                <a:solidFill>
                  <a:srgbClr val="5A6B7A"/>
                </a:solidFill>
                <a:latin typeface="Calibri" pitchFamily="34" charset="0"/>
                <a:ea typeface="Calibri" pitchFamily="34" charset="-122"/>
                <a:cs typeface="Calibri" pitchFamily="34" charset="-120"/>
              </a:rPr>
              <a:t>R PROGRAMMING (35021P28)  •  UNIT V — INTERFACING R AND STATISTICS</a:t>
            </a:r>
            <a:endParaRPr lang="en-US" sz="850" dirty="0"/>
          </a:p>
        </p:txBody>
      </p:sp>
      <p:sp>
        <p:nvSpPr>
          <p:cNvPr id="8" name="Text 4"/>
          <p:cNvSpPr/>
          <p:nvPr/>
        </p:nvSpPr>
        <p:spPr>
          <a:xfrm>
            <a:off x="11430000" y="6519672"/>
            <a:ext cx="365760" cy="274320"/>
          </a:xfrm>
          <a:prstGeom prst="rect">
            <a:avLst/>
          </a:prstGeom>
          <a:noFill/>
          <a:ln/>
        </p:spPr>
        <p:txBody>
          <a:bodyPr wrap="square" rtlCol="0" anchor="ctr"/>
          <a:lstStyle/>
          <a:p>
            <a:pPr marL="0" indent="0" algn="r">
              <a:buNone/>
            </a:pPr>
            <a:r>
              <a:rPr lang="en-US" sz="900" dirty="0">
                <a:solidFill>
                  <a:srgbClr val="5A6B7A"/>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TotalTime>
  <Words>9646</Words>
  <Application>Microsoft Office PowerPoint</Application>
  <PresentationFormat>Widescreen</PresentationFormat>
  <Paragraphs>1133</Paragraphs>
  <Slides>97</Slides>
  <Notes>57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97</vt:i4>
      </vt:variant>
    </vt:vector>
  </HeadingPairs>
  <TitlesOfParts>
    <vt:vector size="105" baseType="lpstr">
      <vt:lpstr>Arial</vt:lpstr>
      <vt:lpstr>Arial Narrow</vt:lpstr>
      <vt:lpstr>Calibri</vt:lpstr>
      <vt:lpstr>Cambria</vt:lpstr>
      <vt:lpstr>Cambria Math</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Pitchumani Angayarkanni</cp:lastModifiedBy>
  <cp:revision>16</cp:revision>
  <dcterms:created xsi:type="dcterms:W3CDTF">2026-09-15T05:10:54Z</dcterms:created>
  <dcterms:modified xsi:type="dcterms:W3CDTF">2026-09-29T03:52:04Z</dcterms:modified>
</cp:coreProperties>
</file>