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1"/>
  </p:notesMasterIdLst>
  <p:sldIdLst>
    <p:sldId id="256" r:id="rId2"/>
    <p:sldId id="257" r:id="rId3"/>
    <p:sldId id="323" r:id="rId4"/>
    <p:sldId id="324" r:id="rId5"/>
    <p:sldId id="325" r:id="rId6"/>
    <p:sldId id="258" r:id="rId7"/>
    <p:sldId id="259" r:id="rId8"/>
    <p:sldId id="260" r:id="rId9"/>
    <p:sldId id="261" r:id="rId10"/>
    <p:sldId id="262" r:id="rId11"/>
    <p:sldId id="263" r:id="rId12"/>
    <p:sldId id="326" r:id="rId13"/>
    <p:sldId id="327" r:id="rId14"/>
    <p:sldId id="328" r:id="rId15"/>
    <p:sldId id="329" r:id="rId16"/>
    <p:sldId id="330" r:id="rId17"/>
    <p:sldId id="331" r:id="rId18"/>
    <p:sldId id="264" r:id="rId19"/>
    <p:sldId id="265" r:id="rId20"/>
    <p:sldId id="266" r:id="rId21"/>
    <p:sldId id="267" r:id="rId22"/>
    <p:sldId id="332" r:id="rId23"/>
    <p:sldId id="333" r:id="rId24"/>
    <p:sldId id="334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  <p:sldId id="295" r:id="rId53"/>
    <p:sldId id="296" r:id="rId54"/>
    <p:sldId id="297" r:id="rId55"/>
    <p:sldId id="298" r:id="rId56"/>
    <p:sldId id="299" r:id="rId57"/>
    <p:sldId id="300" r:id="rId58"/>
    <p:sldId id="301" r:id="rId59"/>
    <p:sldId id="302" r:id="rId60"/>
    <p:sldId id="303" r:id="rId61"/>
    <p:sldId id="304" r:id="rId62"/>
    <p:sldId id="305" r:id="rId63"/>
    <p:sldId id="306" r:id="rId64"/>
    <p:sldId id="307" r:id="rId65"/>
    <p:sldId id="308" r:id="rId66"/>
    <p:sldId id="309" r:id="rId67"/>
    <p:sldId id="310" r:id="rId68"/>
    <p:sldId id="311" r:id="rId69"/>
    <p:sldId id="312" r:id="rId70"/>
    <p:sldId id="313" r:id="rId71"/>
    <p:sldId id="314" r:id="rId72"/>
    <p:sldId id="315" r:id="rId73"/>
    <p:sldId id="316" r:id="rId74"/>
    <p:sldId id="317" r:id="rId75"/>
    <p:sldId id="318" r:id="rId76"/>
    <p:sldId id="319" r:id="rId77"/>
    <p:sldId id="320" r:id="rId78"/>
    <p:sldId id="321" r:id="rId79"/>
    <p:sldId id="322" r:id="rId8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presProps" Target="presProp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7247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081E38"/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1097280"/>
            <a:ext cx="3291840" cy="3291840"/>
          </a:xfrm>
          <a:prstGeom prst="ellipse">
            <a:avLst/>
          </a:prstGeom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66760" y="2148840"/>
            <a:ext cx="2834640" cy="2834640"/>
          </a:xfrm>
          <a:prstGeom prst="ellipse">
            <a:avLst/>
          </a:prstGeom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3200400"/>
            <a:ext cx="2377440" cy="2377440"/>
          </a:xfrm>
          <a:prstGeom prst="ellipse">
            <a:avLst/>
          </a:prstGeom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58200" y="4251960"/>
            <a:ext cx="1920240" cy="1920240"/>
          </a:xfrm>
          <a:prstGeom prst="ellipse">
            <a:avLst/>
          </a:prstGeom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0" y="5303520"/>
            <a:ext cx="1463040" cy="1463040"/>
          </a:xfrm>
          <a:prstGeom prst="ellipse">
            <a:avLst/>
          </a:prstGeom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06840" y="2834640"/>
            <a:ext cx="1371600" cy="13716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9" name="Image 0" descr="icons/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5450" y="3143250"/>
            <a:ext cx="754380" cy="7543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11430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 |  COURSE CODE 35021P28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1572768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V</a:t>
            </a:r>
            <a:endParaRPr lang="en-US" sz="5200" dirty="0"/>
          </a:p>
        </p:txBody>
      </p:sp>
      <p:sp>
        <p:nvSpPr>
          <p:cNvPr id="12" name="Text 9"/>
          <p:cNvSpPr/>
          <p:nvPr/>
        </p:nvSpPr>
        <p:spPr>
          <a:xfrm>
            <a:off x="640080" y="2487168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Interfacing R and Statistics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40080" y="36576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Unit V function with its full syntax and argument reference, plus 21 complete, runnable R programs — one detailed slide per function, one or more slides per program.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58368" y="461772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48006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Outcome CO5 — Learn Big Data and apply R for statistical and interfacing tasks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53492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sections   •   26 functions with syntax &amp; arguments   •   21 complete programs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61722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081E38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20116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  —  SECTION 1 OF 11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24231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Interfacing R to Other Languages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658368" y="562356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7607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functions with syntax &amp; arguments   •   3 complete programs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8C2E86-8BF2-57FA-1F73-6D510B3ED70A}"/>
              </a:ext>
            </a:extLst>
          </p:cNvPr>
          <p:cNvSpPr txBox="1"/>
          <p:nvPr/>
        </p:nvSpPr>
        <p:spPr>
          <a:xfrm>
            <a:off x="294261" y="3901797"/>
            <a:ext cx="60943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u="none" strike="noStrike" baseline="0" dirty="0">
                <a:solidFill>
                  <a:srgbClr val="FFFF00"/>
                </a:solidFill>
                <a:latin typeface="Times New Roman" panose="02020603050405020304" pitchFamily="18" charset="0"/>
              </a:rPr>
              <a:t>INTERFACING </a:t>
            </a:r>
            <a:endParaRPr lang="en-IN" sz="1800" b="0" i="0" u="none" strike="noStrike" baseline="0" dirty="0">
              <a:solidFill>
                <a:srgbClr val="FFFF00"/>
              </a:solidFill>
              <a:latin typeface="Times New Roman" panose="02020603050405020304" pitchFamily="18" charset="0"/>
            </a:endParaRPr>
          </a:p>
          <a:p>
            <a:r>
              <a:rPr lang="en-US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Interfacing R to other languages – Parallel R – Basic Statistics – Linear Model – Generalized Linear models – Non-linear models – Time Series and Auto-correlation – Clustering 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EA3442-D45B-FDF8-AE4E-A07F6E161A3A}"/>
              </a:ext>
            </a:extLst>
          </p:cNvPr>
          <p:cNvSpPr txBox="1"/>
          <p:nvPr/>
        </p:nvSpPr>
        <p:spPr>
          <a:xfrm>
            <a:off x="283075" y="1582341"/>
            <a:ext cx="10611904" cy="4194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>
                <a:latin typeface="Arial Narrow" panose="020B0606020202030204" pitchFamily="34" charset="0"/>
              </a:rPr>
              <a:t>R is an interpreted, high-level programming language well suited for data analysis, visualization, and statistical modelling. However, it may be inefficient when executing large loops or computationally intensive numerical operations.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Arial Narrow" panose="020B0606020202030204" pitchFamily="34" charset="0"/>
              </a:rPr>
              <a:t>C and C++ are compiled languages that operate closer to the hardware and provide: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 Narrow" panose="020B0606020202030204" pitchFamily="34" charset="0"/>
              </a:rPr>
              <a:t>Faster execution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 Narrow" panose="020B0606020202030204" pitchFamily="34" charset="0"/>
              </a:rPr>
              <a:t>Low-level memory control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 Narrow" panose="020B0606020202030204" pitchFamily="34" charset="0"/>
              </a:rPr>
              <a:t>Access to powerful external libraries 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Arial Narrow" panose="020B0606020202030204" pitchFamily="34" charset="0"/>
              </a:rPr>
              <a:t>Interfacing R with C/C++ enables us to: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 Narrow" panose="020B0606020202030204" pitchFamily="34" charset="0"/>
              </a:rPr>
              <a:t>Combine R’s convenience with the performance of C/C++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 Narrow" panose="020B0606020202030204" pitchFamily="34" charset="0"/>
              </a:rPr>
              <a:t>Extend R using custom compiled code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 Narrow" panose="020B0606020202030204" pitchFamily="34" charset="0"/>
              </a:rPr>
              <a:t>Directly use existing C/C++ functions in R</a:t>
            </a: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CD6B1C3D-6793-5B97-D49F-BE6494C5B322}"/>
              </a:ext>
            </a:extLst>
          </p:cNvPr>
          <p:cNvSpPr/>
          <p:nvPr/>
        </p:nvSpPr>
        <p:spPr>
          <a:xfrm>
            <a:off x="283075" y="321985"/>
            <a:ext cx="1009633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Interfacing R to C &amp; C++</a:t>
            </a: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1135074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D697FF-6289-1116-8C30-0419B8A7AB8E}"/>
              </a:ext>
            </a:extLst>
          </p:cNvPr>
          <p:cNvSpPr txBox="1"/>
          <p:nvPr/>
        </p:nvSpPr>
        <p:spPr>
          <a:xfrm>
            <a:off x="187257" y="1338671"/>
            <a:ext cx="6094378" cy="3363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latin typeface="Arial Narrow" panose="020B0606020202030204" pitchFamily="34" charset="0"/>
              </a:rPr>
              <a:t>Need for Interfacing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Arial Narrow" panose="020B0606020202030204" pitchFamily="34" charset="0"/>
              </a:rPr>
              <a:t>R may have performance limitations when processing computationally intensive tasks. Integrating R with C/C++ provides: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 Narrow" panose="020B0606020202030204" pitchFamily="34" charset="0"/>
              </a:rPr>
              <a:t>Faster loop execution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 Narrow" panose="020B0606020202030204" pitchFamily="34" charset="0"/>
              </a:rPr>
              <a:t>Improved memory utilization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 Narrow" panose="020B0606020202030204" pitchFamily="34" charset="0"/>
              </a:rPr>
              <a:t>Reuse of existing C/C++ algorithms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 Narrow" panose="020B0606020202030204" pitchFamily="34" charset="0"/>
              </a:rPr>
              <a:t>Better handling of complex data operations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 Narrow" panose="020B0606020202030204" pitchFamily="34" charset="0"/>
              </a:rPr>
              <a:t>Efficient processing of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3470953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9C4AF5E-71F5-30B4-66F2-46223F027B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519615"/>
              </p:ext>
            </p:extLst>
          </p:nvPr>
        </p:nvGraphicFramePr>
        <p:xfrm>
          <a:off x="624191" y="1122880"/>
          <a:ext cx="10515600" cy="31089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55292711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2518883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217365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894601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Arial Narrow" panose="020B0606020202030204" pitchFamily="34" charset="0"/>
                        </a:rPr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Arial Narrow" panose="020B0606020202030204" pitchFamily="34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Arial Narrow" panose="020B0606020202030204" pitchFamily="34" charset="0"/>
                        </a:rPr>
                        <a:t>Data Handling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Arial Narrow" panose="020B0606020202030204" pitchFamily="34" charset="0"/>
                        </a:rPr>
                        <a:t>Typical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862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Arial Narrow" panose="020B0606020202030204" pitchFamily="34" charset="0"/>
                        </a:rPr>
                        <a:t>.C()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Arial Narrow" panose="020B0606020202030204" pitchFamily="34" charset="0"/>
                        </a:rPr>
                        <a:t>A simple interface used to pass basic data types to compiled C functions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 Narrow" panose="020B0606020202030204" pitchFamily="34" charset="0"/>
                        </a:rPr>
                        <a:t>Passes vectors and other basic data by reference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 Narrow" panose="020B0606020202030204" pitchFamily="34" charset="0"/>
                        </a:rPr>
                        <a:t>Small and simple numerical functions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33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Arial Narrow" panose="020B0606020202030204" pitchFamily="34" charset="0"/>
                        </a:rPr>
                        <a:t>.Call()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 Narrow" panose="020B0606020202030204" pitchFamily="34" charset="0"/>
                        </a:rPr>
                        <a:t>Works directly with R’s internal object representation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Arial Narrow" panose="020B0606020202030204" pitchFamily="34" charset="0"/>
                        </a:rPr>
                        <a:t>Provides complete access to R objects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 Narrow" panose="020B0606020202030204" pitchFamily="34" charset="0"/>
                        </a:rPr>
                        <a:t>Developing efficient R packages and complex extensions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788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Arial Narrow" panose="020B0606020202030204" pitchFamily="34" charset="0"/>
                        </a:rPr>
                        <a:t>Rcpp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 Narrow" panose="020B0606020202030204" pitchFamily="34" charset="0"/>
                        </a:rPr>
                        <a:t>Provides a high-level interface between R and C++ with automatic conversions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Arial Narrow" panose="020B0606020202030204" pitchFamily="34" charset="0"/>
                        </a:rPr>
                        <a:t>Automatically converts common R and C++ data types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Arial Narrow" panose="020B0606020202030204" pitchFamily="34" charset="0"/>
                        </a:rPr>
                        <a:t>Modern and recommended approach for integrating R with C++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11661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BAB9106-4DCD-2EC0-861C-870D27CA8F83}"/>
              </a:ext>
            </a:extLst>
          </p:cNvPr>
          <p:cNvSpPr txBox="1"/>
          <p:nvPr/>
        </p:nvSpPr>
        <p:spPr>
          <a:xfrm>
            <a:off x="2834802" y="4944842"/>
            <a:ext cx="60943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Arial Narrow" panose="020B0606020202030204" pitchFamily="34" charset="0"/>
              </a:rPr>
              <a:t>Simple comparison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rial Narrow" panose="020B0606020202030204" pitchFamily="34" charset="0"/>
              </a:rPr>
              <a:t>.C()</a:t>
            </a:r>
            <a:r>
              <a:rPr lang="en-US" dirty="0">
                <a:latin typeface="Arial Narrow" panose="020B0606020202030204" pitchFamily="34" charset="0"/>
              </a:rPr>
              <a:t> — easiest for basic data and simple C functions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rial Narrow" panose="020B0606020202030204" pitchFamily="34" charset="0"/>
              </a:rPr>
              <a:t>.Call()</a:t>
            </a:r>
            <a:r>
              <a:rPr lang="en-US" dirty="0">
                <a:latin typeface="Arial Narrow" panose="020B0606020202030204" pitchFamily="34" charset="0"/>
              </a:rPr>
              <a:t> — powerful but requires knowledge of R’s internal objects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>
                <a:latin typeface="Arial Narrow" panose="020B0606020202030204" pitchFamily="34" charset="0"/>
              </a:rPr>
              <a:t>Rcpp</a:t>
            </a:r>
            <a:r>
              <a:rPr lang="en-US" dirty="0">
                <a:latin typeface="Arial Narrow" panose="020B0606020202030204" pitchFamily="34" charset="0"/>
              </a:rPr>
              <a:t> — user-friendly, efficient, and recommended for modern R–C++ integration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1D429B-9747-57C9-FBC5-3EC3A4708F7D}"/>
              </a:ext>
            </a:extLst>
          </p:cNvPr>
          <p:cNvSpPr txBox="1"/>
          <p:nvPr/>
        </p:nvSpPr>
        <p:spPr>
          <a:xfrm>
            <a:off x="1325394" y="158832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Methods of Interfacing</a:t>
            </a:r>
          </a:p>
        </p:txBody>
      </p:sp>
    </p:spTree>
    <p:extLst>
      <p:ext uri="{BB962C8B-B14F-4D97-AF65-F5344CB8AC3E}">
        <p14:creationId xmlns:p14="http://schemas.microsoft.com/office/powerpoint/2010/main" val="4275869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INTERFACING R TO OTHER LANGUAGES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.C()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l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.C(.NAME, ..., NAOK = FALSE, DUP = TRUE, PACKAGE, ENCODING)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270662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.NAME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of the compiled C function to invoke, as a character string (or native symbol).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...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Arguments passed to the C function — typically coerced with as.double()/as.integer(). Results return via these arguments (call-by-reference).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NAOK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Logical. If FALSE (default), NA/NaN/Inf in the arguments raises an error.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DUP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Logical; retained for compatibility — arguments are duplicated before being passed.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PACKAGE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 string naming the package the C symbol belongs to.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.C() is the simplest, oldest interface to compiled C code — every argument is a pointer and results come back through the argument list. Easy for simple numeric kernels but more overhead than .Call().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INTERFACING R TO OTHER LANGUAGES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.Call() and dyn.load()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l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.Call(.NAME, ...) dyn.load(x, local = TRUE, now = TRUE)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226771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.NAME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.Call(): compiled function registered as a .Call routine.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...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.Call(): R objects passed directly as SEXP pointers — no forced coercion/copy.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dyn.load(): path to the shared library to load, e.g. "add.so" or "add.dll".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138928"/>
            <a:ext cx="11064240" cy="77724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138928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.Call() works directly with R's internal SEXP representation, avoiding .C()'s copy overhead and handling complex objects. dyn.load() loads the compiled shared library (built with R CMD SHLIB) before .C()/.Call() can find it.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INTERFACING R TO OTHER LANGUAGES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1: Interfacing R with C — Vector Addition via .C()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 C routine that adds two vectors element-wise, load it, and call it with .C().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327837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284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File: add.c  (compile: R CMD SHLIB add.c) */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addVec(double *x, double *y, int *n, double *out) {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i;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 = 0; i &lt; *n; i++) out[i] = x[i] + y[i];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---- R script ----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dyn.load("add.so")            # "add.dll" on Windows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c(1.5, 2.5, 3.5, 4.5); y &lt;- c(10, 20, 30, 40)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&lt;- length(x)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&lt;- .C("addVec", as.double(x), as.double(y),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as.integer(n), out = double(n))$out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print(result)                  # 11.5 22.5 33.5 44.5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dyn.unload("add.so")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472938"/>
            <a:ext cx="11064240" cy="64008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47293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CMD SHLIB compiles add.c; dyn.load() exposes addVec() to R. .C() passes x, y, n and a pre-allocated out buffer; $out extracts the filled result. Big Data numeric kernels routinely see a 10-100x speed-up this way.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INTERFACING R TO OTHER LANGUAGES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cppFunction()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l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67665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cppFunction(code, depends = character(), includes = character(), plugins = character(), rebuild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FALSE)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6151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07792"/>
          <a:ext cx="11064240" cy="253288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code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 string containing the complete C++ source to compile and expose to 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depends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 of other R packages this code depends on (e.g. "RcppArmadillo").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includes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C++ lines (such as #include) inserted before the function definition.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plugins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Rcpp plugins to enable, e.g. "cpp11".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rebuild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Logical; force recompilation even if a cached version exists.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Rcpp is the modern, preferred R-C++ interface. cppFunction() compiles an inline C++ snippet into a callable R function; sourceCpp("file.cpp") does the same for // [[Rcpp::export]] functions in an external file. Rcpp auto-generates the .Call() glue and handles R ↔ C++ type conversion.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INTERFACING R TO OTHER LANGUAGES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2: Rcpp — Fast Vector Sum and Squared-Distance Kernel  (1/2)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two small C++ functions with Rcpp and call them from R.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2310003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1880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library(Rcpp)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cppFunction("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sumC(NumericVector x) {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double total = 0; int n = x.size();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for (int i = 0; i &lt; n; i++) total += x[i];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total;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INTERFACING R TO OTHER LANGUAGES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2: Rcpp — Fast Vector Sum and Squared-Distance Kernel  (2/2)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11064240" cy="2697353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1719072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5"/>
          <p:cNvSpPr/>
          <p:nvPr/>
        </p:nvSpPr>
        <p:spPr>
          <a:xfrm>
            <a:off x="950976" y="1719072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6"/>
          <p:cNvSpPr/>
          <p:nvPr/>
        </p:nvSpPr>
        <p:spPr>
          <a:xfrm>
            <a:off x="1152144" y="1719072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1938528"/>
            <a:ext cx="10515600" cy="22675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cppFunction("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NumericVector sqDiffC(NumericVector x, double center) {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int n = x.size(); NumericVector out(n);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for (int i = 0; i &lt; n; i++) out[i] = pow(x[i]-center, 2);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out;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set.seed(1); v &lt;- runif(1e7)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system.time(sumC(v))          # near-zero overhead vs. sum(v)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head(sqDiffC(v, mean(v)))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4361561"/>
            <a:ext cx="11064240" cy="64008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4361561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cppFunction() compiles each block into a shared library the first time it runs (cached afterwards). For loops that can't be vectorised in R, Rcpp routinely gives 20-100x speed-ups — the standard choice for performance-critical Big Data kernels.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FE5B29-B329-8C62-B0BB-5DF9F5E7E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258" y="2142945"/>
            <a:ext cx="6325483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727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18A014-1C49-E1DD-CA90-647658C19995}"/>
              </a:ext>
            </a:extLst>
          </p:cNvPr>
          <p:cNvSpPr txBox="1"/>
          <p:nvPr/>
        </p:nvSpPr>
        <p:spPr>
          <a:xfrm>
            <a:off x="839010" y="41358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Using R from Python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EB0683-4BC0-91B4-73AC-A899B1F89692}"/>
              </a:ext>
            </a:extLst>
          </p:cNvPr>
          <p:cNvSpPr txBox="1"/>
          <p:nvPr/>
        </p:nvSpPr>
        <p:spPr>
          <a:xfrm>
            <a:off x="4399334" y="382092"/>
            <a:ext cx="708903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b="1" dirty="0"/>
              <a:t>Introduction</a:t>
            </a:r>
          </a:p>
          <a:p>
            <a:pPr algn="just">
              <a:buNone/>
            </a:pPr>
            <a:r>
              <a:rPr lang="en-US" dirty="0"/>
              <a:t>R and Python are two of the most widely used programming languages for data science, machine learning, and statistical computing.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R</a:t>
            </a:r>
            <a:r>
              <a:rPr lang="en-US" dirty="0"/>
              <a:t> is particularly effective for statistical analysis, data visualization using packages such as </a:t>
            </a:r>
            <a:r>
              <a:rPr lang="en-US" dirty="0">
                <a:latin typeface="Courier New" panose="02070309020205020404" pitchFamily="49" charset="0"/>
              </a:rPr>
              <a:t>ggplot2</a:t>
            </a:r>
            <a:r>
              <a:rPr lang="en-US" dirty="0"/>
              <a:t>, and statistical modelling.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Python</a:t>
            </a:r>
            <a:r>
              <a:rPr lang="en-US" dirty="0"/>
              <a:t> is widely used for general-purpose programming, artificial intelligence, and machine learning using libraries such as NumPy, pandas, and scikit-learn. </a:t>
            </a:r>
          </a:p>
          <a:p>
            <a:pPr algn="just">
              <a:buNone/>
            </a:pPr>
            <a:r>
              <a:rPr lang="en-US" dirty="0"/>
              <a:t>Combining the capabilities of both languages is useful in many projects. For example: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Using R statistical models within a Python application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Applying Python machine-learning tools to data generated or processed in R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Reusing existing R packages without rewriting them in Python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Integrating R-based analysis into Python workflows </a:t>
            </a:r>
          </a:p>
          <a:p>
            <a:pPr algn="just">
              <a:buNone/>
            </a:pPr>
            <a:r>
              <a:rPr lang="en-US" dirty="0"/>
              <a:t>This integration can be achieved through tools such as </a:t>
            </a:r>
            <a:r>
              <a:rPr lang="en-US" dirty="0">
                <a:latin typeface="Courier New" panose="02070309020205020404" pitchFamily="49" charset="0"/>
              </a:rPr>
              <a:t>rpy2</a:t>
            </a:r>
            <a:r>
              <a:rPr lang="en-US" dirty="0"/>
              <a:t>, file exchange, APIs, or subprocess execution. For the reverse direction—using Python from R—the </a:t>
            </a:r>
            <a:r>
              <a:rPr lang="en-US" dirty="0">
                <a:latin typeface="Courier New" panose="02070309020205020404" pitchFamily="49" charset="0"/>
              </a:rPr>
              <a:t>reticulate</a:t>
            </a:r>
            <a:r>
              <a:rPr lang="en-US" dirty="0"/>
              <a:t> package can be used.</a:t>
            </a:r>
          </a:p>
        </p:txBody>
      </p:sp>
    </p:spTree>
    <p:extLst>
      <p:ext uri="{BB962C8B-B14F-4D97-AF65-F5344CB8AC3E}">
        <p14:creationId xmlns:p14="http://schemas.microsoft.com/office/powerpoint/2010/main" val="1233832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8420DB-188A-C32E-A33E-EDE61F634408}"/>
              </a:ext>
            </a:extLst>
          </p:cNvPr>
          <p:cNvSpPr txBox="1"/>
          <p:nvPr/>
        </p:nvSpPr>
        <p:spPr>
          <a:xfrm>
            <a:off x="498543" y="257942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Approaches to Combine R and Python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EC8C68-B0E4-C296-87F9-6CDDBE954CDC}"/>
              </a:ext>
            </a:extLst>
          </p:cNvPr>
          <p:cNvGraphicFramePr>
            <a:graphicFrameLocks noGrp="1"/>
          </p:cNvGraphicFramePr>
          <p:nvPr/>
        </p:nvGraphicFramePr>
        <p:xfrm>
          <a:off x="883459" y="1809098"/>
          <a:ext cx="10425081" cy="4384392"/>
        </p:xfrm>
        <a:graphic>
          <a:graphicData uri="http://schemas.openxmlformats.org/drawingml/2006/table">
            <a:tbl>
              <a:tblPr/>
              <a:tblGrid>
                <a:gridCol w="3475027">
                  <a:extLst>
                    <a:ext uri="{9D8B030D-6E8A-4147-A177-3AD203B41FA5}">
                      <a16:colId xmlns:a16="http://schemas.microsoft.com/office/drawing/2014/main" val="2292370230"/>
                    </a:ext>
                  </a:extLst>
                </a:gridCol>
                <a:gridCol w="3475027">
                  <a:extLst>
                    <a:ext uri="{9D8B030D-6E8A-4147-A177-3AD203B41FA5}">
                      <a16:colId xmlns:a16="http://schemas.microsoft.com/office/drawing/2014/main" val="3840460080"/>
                    </a:ext>
                  </a:extLst>
                </a:gridCol>
                <a:gridCol w="3475027">
                  <a:extLst>
                    <a:ext uri="{9D8B030D-6E8A-4147-A177-3AD203B41FA5}">
                      <a16:colId xmlns:a16="http://schemas.microsoft.com/office/drawing/2014/main" val="3715075636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Direction/Approach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Interface or Tool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Description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289143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 from Python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rpy2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Allows Python to access R functions, packages, variables, and objects directly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0218623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Python from R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reticulate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Allows R programs to execute Python code and use Python modules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09555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File exchange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CSV, XLSX, RDS, Feather or Parquet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Transfers data between R and Python through files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9121418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Subprocess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Python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subprocess</a:t>
                      </a:r>
                      <a:r>
                        <a:rPr lang="en-IN" sz="1800"/>
                        <a:t> module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Executes an R script externally from Python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776150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API integration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REST API using Plumber or Flask/FastAPI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Enables R and Python applications to communicate through web services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2405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8038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C6A1FC-219A-219B-1049-649451AEB4A8}"/>
              </a:ext>
            </a:extLst>
          </p:cNvPr>
          <p:cNvSpPr txBox="1"/>
          <p:nvPr/>
        </p:nvSpPr>
        <p:spPr>
          <a:xfrm>
            <a:off x="673640" y="197744"/>
            <a:ext cx="458902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b="1" dirty="0">
                <a:latin typeface="Arial Narrow" panose="020B0606020202030204" pitchFamily="34" charset="0"/>
              </a:rPr>
              <a:t>The rpy2 Interface</a:t>
            </a:r>
          </a:p>
          <a:p>
            <a:pPr algn="just">
              <a:buNone/>
            </a:pPr>
            <a:r>
              <a:rPr lang="en-US" dirty="0">
                <a:latin typeface="Arial Narrow" panose="020B0606020202030204" pitchFamily="34" charset="0"/>
              </a:rPr>
              <a:t>rpy2 provides an interface for running R code and accessing R objects directly from Python.</a:t>
            </a:r>
          </a:p>
          <a:p>
            <a:pPr algn="just">
              <a:buNone/>
            </a:pPr>
            <a:r>
              <a:rPr lang="en-US" b="1" dirty="0">
                <a:latin typeface="Arial Narrow" panose="020B0606020202030204" pitchFamily="34" charset="0"/>
              </a:rPr>
              <a:t>Prerequisite</a:t>
            </a:r>
          </a:p>
          <a:p>
            <a:pPr algn="just">
              <a:buNone/>
            </a:pPr>
            <a:r>
              <a:rPr lang="en-US" dirty="0">
                <a:latin typeface="Arial Narrow" panose="020B0606020202030204" pitchFamily="34" charset="0"/>
              </a:rPr>
              <a:t>R must be installed and accessible on the system before installing rpy2.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456E41-C8FE-E66A-1A53-6D5B4F14C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137" y="0"/>
            <a:ext cx="6267401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133CEF-1392-6830-3085-55391536E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031" y="6076841"/>
            <a:ext cx="1038370" cy="7811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E334F5-9ABE-BB5D-16BC-96252D0E3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609" y="2491599"/>
            <a:ext cx="4458322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89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414B96-E6D3-4296-B516-B05A66D30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966" y="1305101"/>
            <a:ext cx="5058481" cy="47536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60765C-AE84-DD1F-D15F-7EB2B5FD1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413" y="190520"/>
            <a:ext cx="2638793" cy="1114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713AA7-67B6-464A-D465-9520346F91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1571" y="109732"/>
            <a:ext cx="5220429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819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E656AD6-31E7-AB1C-B6FA-ED973EAC2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53" y="494890"/>
            <a:ext cx="4486901" cy="58682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B0EBED-3D44-44EF-D2EB-5A6780E62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227" y="81660"/>
            <a:ext cx="4735517" cy="30454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2F85C0-ABBF-A641-FE27-286EA8950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142" y="3537617"/>
            <a:ext cx="5318394" cy="323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20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INTERFACING R TO OTHER LANGUAGES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l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import(module, as = NULL, convert = TRUE, delay_load = FALSE)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2706625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module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of the Python module to import, e.g. "numpy".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local alias, e.g. np &lt;- import("numpy", as = "np").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convert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Logical; whether returned Python objects auto-convert to R equivalents.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delay_load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Logical; defer loading until first used.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reticulate embeds a Python interpreter inside R, so Python modules/functions/objects can be used directly from R, and R data can be passed to Python and back.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INTERFACING R TO OTHER LANGUAGES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source_python() / r_to_py() / py_to_r()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l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source_python(file, envir = parent.frame()) r_to_py(x) py_to_r(x)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226771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to a .py script; its top-level functions/variables become R objects after sourcing.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envir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environment the sourced objects are assigned into.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 object / Python object to convert to the other language's representation.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138928"/>
            <a:ext cx="11064240" cy="77724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138928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source_python() is the most direct route to reuse an existing Python script as if it were native R. r_to_py()/py_to_r() explicitly convert a single object between representations.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INTERFACING R TO OTHER LANGUAGES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3: reticulate — Calling a Python Function and NumPy from 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 Python model function into R and drive NumPy interactively.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366572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323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---- model.py ----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predict_price(area_sqft):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2500 + 120 * area_sqft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---- R script ----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library(reticulate)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source_python("model.py")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predict_price(1200)              # 146500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 &lt;- import("numpy")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 &lt;- np$array(c(4, 9, 16, 25))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np$sqrt(arr)                     # 2 3 4 5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 &lt;- import("pandas")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py_df   &lt;- r_to_py(mtcars)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back_df &lt;- py_to_r(py_df)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860288"/>
            <a:ext cx="11064240" cy="476504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860288"/>
            <a:ext cx="10698480" cy="476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source_python() makes predict_price() callable exactly like an R function; import() gives handle-style module access (np$sqrt() mirrors Python's np.sqrt()); r_to_py()/py_to_r() round-trip a full data frame between R and Python.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081E38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2651760"/>
            <a:ext cx="1737360" cy="1737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ons/micro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466" y="3042666"/>
            <a:ext cx="955548" cy="9555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  —  SECTION 2 OF 11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24231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R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 R executes on a single core. Parallel R spreads independent computations across CPU cores or machines, cutting wall-clock time roughly in proportion to the number of workers used. The parallel package offers forking (mclapply, Unix/macOS only) and socket clusters (makeCluster + parLapply, cross-platform).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58368" y="562356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7607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functions with syntax &amp; arguments   •   2 complete programs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EA5AD0-3A71-7C23-0521-EA901C452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898" y="1028698"/>
            <a:ext cx="8783276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337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DEF30E-3026-960D-94AA-54AF6471D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047" y="1852392"/>
            <a:ext cx="7563906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4505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005077-5E53-8267-8EA9-D4738FE8B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00" y="80416"/>
            <a:ext cx="8221222" cy="34675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014D2A-CC68-B3F5-2A6E-C9E8AE0B6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31" y="3440815"/>
            <a:ext cx="8025319" cy="3417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3310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detectCores()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micro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detectCores(all.tests = FALSE, logical = TRUE)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170078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all.tests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Logical; run extra heuristics on unusual platforms to determine core count.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logical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(default) counts logical/hyperthreaded cores; FALSE counts physical cores only.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4572000"/>
            <a:ext cx="11064240" cy="77724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45720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number of CPU cores available — normally used to decide worker count (commonly detectCores() - 1).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0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makeCluster() / stopCluster()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micro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makeCluster(spec, type = getClusterOption("type"), ...) stopCluster(cl)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226771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spec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number of local worker processes, or a character vector of remote machine names.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"PSOCK" (socket cluster, cross-platform, default) or "FORK" (Unix-only, shared memory).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(stopCluster) The cluster object to shut down.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138928"/>
            <a:ext cx="11064240" cy="77724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138928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makeCluster() starts worker R processes and returns a cluster object; stopCluster(cl) must always be called when done, to release resources.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parLapply() / parSapply()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micro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parLapply(cl, X, fun, ...) / parSapply(cl, X, FUN, ..., simplify = TRUE)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2706625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cluster object returned by makeCluster().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vector or list; the function is applied once per element, in parallel.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fun / FUN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function applied to each element of X.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simplify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(parSapply) Logical; simplify the result to a vector/matrix when possible.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parallel, cluster-based equivalents of lapply()/sapply(): the same function is applied to every element of X, distributed across the cluster's workers.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clusterExport() / mclapply()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micro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clusterExport(cl, varlist, envir = .GlobalEnv) mclapply(X, FUN, ..., mc.cores = 2L)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226771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varlist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clusterExport(): character vector of variable/function names to copy to every worker.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envir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clusterExport(): environment those objects are looked up in.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mc.cores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mclapply(): number of cores (child processes) to fork.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138928"/>
            <a:ext cx="11064240" cy="77724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138928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clusterExport() copies objects socket workers need (they start with an empty environment). mclapply() forks the current process instead — workers automatically share memory via copy-on-write, so no export is needed — but it only works on Unix/Linux/macOS.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4: parLapply() — Parallel Squaring Across a Socket Cluster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cluster, export what workers need, run in parallel, and clean up.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327837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284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library(parallel)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no_cores &lt;- detectCores() - 1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 &lt;- makeCluster(no_cores)         # cross-platform socket cluster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 &lt;- function(x) x ^ 2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clusterExport(cl, varlist = c("square"))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&lt;- parLapply(cl, 1:20, square)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print(unlist(result))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big_result &lt;- parSapply(cl, 1:1e6, square)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cat('Length:', length(big_result), '\n')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stopCluster(cl)                     # always release workers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472938"/>
            <a:ext cx="11064240" cy="64008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47293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parLapply() returns a list; parSapply() simplifies to a vector/matrix. Forgetting clusterExport() is the most common bug — workers are separate processes and can't see square() otherwise.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5: Benchmark — mclapply() (Forking) vs. Socket Cluster  (1/2)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π via Monte Carlo sampling, comparing sequential, forked, and socket-cluster execution.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1922653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1492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library(parallel)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mc_pi &lt;- function(n) {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&lt;- runif(n); y &lt;- runif(n)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4 * sum(x^2 + y^2 &lt;= 1) / n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&lt;- 5e6; reps &lt;- 8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5: Benchmark — mclapply() (Forking) vs. Socket Cluster  (2/2)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11064240" cy="250367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1719072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5"/>
          <p:cNvSpPr/>
          <p:nvPr/>
        </p:nvSpPr>
        <p:spPr>
          <a:xfrm>
            <a:off x="950976" y="1719072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6"/>
          <p:cNvSpPr/>
          <p:nvPr/>
        </p:nvSpPr>
        <p:spPr>
          <a:xfrm>
            <a:off x="1152144" y="1719072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1938528"/>
            <a:ext cx="10515600" cy="20739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t_seq  &lt;- system.time(sapply(1:reps, function(i) mc_pi(n)))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t_fork &lt;- system.time(mclapply(1:reps, function(i) mc_pi(n),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mc.cores = detectCores() - 1))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 &lt;- makeCluster(detectCores() - 1)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clusterExport(cl, varlist = c("mc_pi"))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t_sock &lt;- system.time(parSapply(cl, 1:reps, function(i) mc_pi(n)))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stopCluster(cl)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cat('Seq:', t_seq[3], ' Fork:', t_fork[3], ' Sock:', t_sock[3], '\n')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4167886"/>
            <a:ext cx="11064240" cy="64008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4167886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mclapply() needs no clusterExport() (forked children inherit the parent's memory) and is fastest to launch on Linux/macOS, but is unavailable on Windows. Socket clusters work everywhere but need clusterExport() and have more overhead.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081E38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2651760"/>
            <a:ext cx="1737360" cy="1737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ons/chart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466" y="3042666"/>
            <a:ext cx="955548" cy="9555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  —  SECTION 3 OF 11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24231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Statistics in R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ships with built-in functions for every core descriptive statistic, making it straightforward to profile a numeric variable before any modelling is attempted.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58368" y="562356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7607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complete program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STATISTICS IN 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Statistics in 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hart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3968496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mean(x, trim=0, na.rm=FALSE)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Arithmetic mean of x; trim removes a fraction of extreme values from each end.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median(x, na.rm=FALSE)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middle value of x when sorted (50th percentile).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var(x, na.rm=FALSE) / sd(x, na.rm=FALSE)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variance / standard deviation of x.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quantile(x, probs=seq(0,1,0.25))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quantiles at the given probabilities (default: min, Q1, median, Q3, max).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summary(object)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One-shot overview: min, Q1, median, mean, Q3, max.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cor(x, y, method="pearson")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 coefficient; method: "pearson", "kendall" or "spearman".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733288"/>
            <a:ext cx="11064240" cy="621792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5733288"/>
            <a:ext cx="10698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has no built-in mode() for the statistical mode — mode() returns an object's storage type instead. The mode of a vector is computed via table(), as shown below.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STATISTICS IN 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6: Descriptive Statistics on a Numeric Vector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every core descriptive statistic on a sample dataset.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327837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284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&lt;- c(72,85,90,65,88,76,90,95,60,82,90,77)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cat('Mean    :', mean(scores), '\n')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cat('Median  :', median(scores), '\n')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mode_val &lt;- names(sort(table(scores), decreasing = TRUE))[1]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cat('Mode    :', mode_val, '\n')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cat('Variance:', var(scores), '\n')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cat('Std Dev :', sd(scores), '\n')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print(quantile(scores))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print(summary(scores))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 &lt;- c(88,92,95,70,91,80,93,98,65,85,94,79)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cat('Correlation:', cor(scores, attendance), '\n')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472938"/>
            <a:ext cx="11064240" cy="64008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47293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summary() is the fastest single call to profile a variable; cor() close to +1/-1 indicates a strong linear relationship, near 0 indicates little linear association.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081E38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2651760"/>
            <a:ext cx="1737360" cy="1737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ons/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466" y="3042666"/>
            <a:ext cx="955548" cy="9555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  —  SECTION 4 OF 11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24231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Testing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provides a formal framework for deciding whether an observed effect in sample data is likely to reflect a real effect in the population, or could plausibly be due to chance.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58368" y="562356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7607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functions with syntax &amp; arguments   •   2 complete programs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  Core Concepts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hypothesis (H0)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default claim of “no effect / no difference” that the test tries to disprove.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 hypothesis (H1)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claim accepted if H0 is rejected.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 of data this extreme if H0 were true; small p-value = evidence against H0.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Significance level (α)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(commonly 0.05) below which the p-value leads to rejecting H0.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I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Rejecting H0 when it is actually true (“false positive”); probability = α.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II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Failing to reject H0 when it is actually false (“false negative”); probability = β.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t.test()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67665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t.test(x, y = NULL, alternative = c("two.sided","less","greater"), mu = 0, paired = FALSE,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var.equal = FALSE, conf.level = 0.95)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6151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07792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x, 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vectors. If y is omitted, a one-sample test against mu is performed.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alternative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two-sided, or that the true mean is less/greater than mu.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Hypothesised mean (one-sample) or mean difference (two-sample).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paired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Logical; perform a paired t-test.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var.equal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Logical; TRUE uses pooled-variance (Student's) test, else Welch's correction.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whether the mean of one sample differs from a fixed value, or whether the means of two samples differ.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chisq.test() / cor.test()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67665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chisq.test(x, y = NULL, correct = TRUE) cor.test(x, y, method =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c("pearson","kendall","spearman"))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6151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07792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65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5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chisq.test(): a factor or contingency table of counts.  cor.test(): a numeric vector.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5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second factor (chisq.test) or numeric vector (cor.test) to compare against x.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5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correct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Logical; apply Yates' continuity correction for 2×2 tables.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5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method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correlation coefficient to compute and test.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chisq.test() tests independence/association between categorical variables (or goodness-of-fit). cor.test() tests whether the correlation between x and y is significantly different from zero.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7: t-test, Chi-square Test and Correlation Test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all three tests with interpretation of each result.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3084703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26549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set.seed(42)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class_A &lt;- rnorm(30, 72, 8); class_B &lt;- rnorm(30, 76, 9)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t_result &lt;- t.test(class_A, class_B)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print(t_result)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gender   &lt;- sample(c('M','F'), 200, replace = TRUE)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purchase &lt;- sample(c('Yes','No'), 200, replace = TRUE, prob = c(.4,.6))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tbl &lt;- table(gender, purchase)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print(chisq.test(tbl))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study_hours &lt;- c(2,4,6,8,3,5,7,9,1,6)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exam_score  &lt;- c(55,63,72,85,58,68,78,90,50,74)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print(cor.test(study_hours, exam_score, method = 'pearson'))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279263"/>
            <a:ext cx="11064240" cy="45720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279263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case: p-value &lt; α (commonly 0.05) means the result is statistically significant, so H0 is rejected.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aov() / TukeyHSD()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aov(formula, data, subset, na.action) TukeyHSD(x, which, conf.level = 0.95)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formula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e.g. y ~ group (one-way) or y ~ factorA * factorB (two-way, with interaction).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data frame containing the variables in formula.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TukeyHSD(): a fitted aov() model object.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which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TukeyHSD(): which factor(s) to compute pairwise comparisons for.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aov() fits an ANOVA model, testing whether a numeric response's mean differs across factor levels. TukeyHSD() runs a post-hoc test finding which specific group pairs differ, controlling the family-wise error rate.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8: One-Way and Two-Way ANOVA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crop yield across fertilizer types (one-way) and fertilizer × irrigation (two-way).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289102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2461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set.seed(7)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crop_data &lt;- data.frame(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fertilizer = rep(c('A','B','C'), each = 20),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irrigation = rep(c('Low','High'), times = 30),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yield = c(rnorm(20,40,5), rnorm(20,46,5), rnorm(20,52,5))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model1 &lt;- aov(yield ~ fertilizer, data = crop_data)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print(summary(model1))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print(TukeyHSD(model1))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model2 &lt;- aov(yield ~ fertilizer * irrigation, data = crop_data)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print(summary(model2))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085588"/>
            <a:ext cx="11064240" cy="64008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08558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one-way model's p-value (Pr(&gt;F)) tests whether fertilizer type affects yield at all; TukeyHSD() then identifies which pairs (A-B, A-C, B-C) differ significantly. The two-way model adds irrigation and the fertilizer×irrigation interaction.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081E38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2651760"/>
            <a:ext cx="1737360" cy="1737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ons/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466" y="3042666"/>
            <a:ext cx="955548" cy="9555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  —  SECTION 5 OF 11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24231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Model — lm()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models a numeric response as a weighted sum of predictors plus random error: simple regression uses one predictor (y = β0 + β1x + ε), multiple regression uses several.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58368" y="562356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7607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functions with syntax &amp; arguments   •   1 complete program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 — LM()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lm()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lm(formula, data, subset, weights, na.action, method = "qr")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66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6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formula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e.g. y ~ x1 + x2 (multiple regression) or y ~ . (all other columns as predictors).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6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data frame containing the variables in formula.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6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subset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vector specifying a subset of rows to fit 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6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weights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vector of weights for weighted least squares.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6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na.action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missing values are handled (default: drop incomplete rows).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6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method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fitting method; "qr" (QR decomposition) is the default.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an ordinary least-squares linear model. The result supports summary() (coefficients, R², p-values), predict(), residuals() and plot() (diagnostics).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 — LM()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predict(object, newdata, interval = c("none","confidence","prediction"), level = 0.95)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object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fitted model, e.g. from lm() or glm().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newdata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data frame of new predictor values.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interval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"confidence" (mean response) or "prediction" (a new observation).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level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level for the interval.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fitted/predicted values for new data, optionally with an interval expressing prediction uncertainty.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 — LM()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9: Multiple Linear Regression — Full Workflow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Fit, interpret, diagnose, and predict with lm() on the built-in mtcars dataset.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289102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2461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data(mtcars)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&lt;- lm(mpg ~ wt + hp + cyl, data = mtcars)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print(summary(model))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par(mfrow = c(2,2)); plot(model)     # 4-panel diagnostics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new_car &lt;- data.frame(wt = 3.0, hp = 120, cyl = 6)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print(predict(model, newdata = new_car, interval = 'confidence'))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&lt;- sqrt(mean(residuals(model)^2))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   &lt;- summary(model)$r.squared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cat('RMSE:', RMSE, ' R-squared:', R2, '\n')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085588"/>
            <a:ext cx="11064240" cy="64008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08558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coefficient's Estimate is the expected change in mpg per unit change in that predictor (others fixed); Pr(&gt;|t|) &lt; 0.05 marks a significant predictor; Multiple R-squared is the variance explained. plot(model) checks linearity, normality, variance, and influence.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081E38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2651760"/>
            <a:ext cx="1737360" cy="1737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ons/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466" y="3042666"/>
            <a:ext cx="955548" cy="9555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  —  SECTION 6 OF 11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24231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Generalized Linear Models (GLM)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GLMs extend linear regression to response variables that are not normally distributed (binary outcomes, counts, …) by relating the mean of the response to the predictors through a link function.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58368" y="562356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7607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function with syntax &amp; arguments   •   2 complete programs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LINEAR MODELS (GLM)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glm()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glm(formula, family = gaussian, data, weights, subset, na.action)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formula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model formula, e.g. y ~ x1 + x2.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family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binomial() for logistic regression, poisson() for count data, gaussian() (the lm() case), etc.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data frame containing the variables in formula.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weights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prior weights for the fit.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subset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vector specifying a subset of rows.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= binomial(link="logit") fits logistic regression (predict(type="response") gives probabilities). family = poisson(link="log") fits Poisson regression for count outcomes.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LINEAR MODELS (GLM)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10: Logistic Regression — Classification, Confusion Matrix, ROC  (1/2)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logistic regression, classify a held-out test set, and evaluate it.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2310003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1880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set.seed(11); n &lt;- 300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&lt;- round(rnorm(n,45,12)); bmi &lt;- round(rnorm(n,27,4),1)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glucose &lt;- round(rnorm(n,110,20))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&lt;- -8 + .05*age + .10*bmi + .04*glucose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disease &lt;- rbinom(n, 1, plogis(risk))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patients &lt;- data.frame(age, bmi, glucose, disease)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&lt;- sample(1:n, .7*n)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&lt;- patients[idx,]; test &lt;- patients[-idx,]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LINEAR MODELS (GLM)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10: Logistic Regression — Classification, Confusion Matrix, ROC  (2/2)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11064240" cy="2697353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1719072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5"/>
          <p:cNvSpPr/>
          <p:nvPr/>
        </p:nvSpPr>
        <p:spPr>
          <a:xfrm>
            <a:off x="950976" y="1719072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6"/>
          <p:cNvSpPr/>
          <p:nvPr/>
        </p:nvSpPr>
        <p:spPr>
          <a:xfrm>
            <a:off x="1152144" y="1719072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1938528"/>
            <a:ext cx="10515600" cy="22675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&lt;- glm(disease ~ age+bmi+glucose, data=train, family=binomial)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 &lt;- predict(model, newdata=test, type='response')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 &lt;- ifelse(prob &gt; 0.5, 1, 0)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 &lt;- table(Predicted=pred, Actual=test$disease)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print(confusion)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cat('Accuracy:', sum(diag(confusion))/sum(confusion), '\n')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library(pROC)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roc_obj &lt;- roc(test$disease, prob)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cat('AUC:', auc(roc_obj), '\n')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4361561"/>
            <a:ext cx="11064240" cy="64008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4361561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= binomial gives log-odds coefficients (exp(coef()) = odds ratios). The confusion matrix's diagonal is correct predictions; AUC close to 1 indicates a strong classifier (0.5 = no better than chance).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LINEAR MODELS (GLM)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11: Poisson Regression — Modelling Count Data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Poisson GLM to a count outcome (website visits per user per day).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289102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2461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set.seed(21); n &lt;- 200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ad_spend &lt;- round(runif(n,0,100),1)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is_weekend &lt;- rbinom(n,1,0.3)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&lt;- exp(0.5 + 0.02*ad_spend + 0.4*is_weekend)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visits &lt;- rpois(n, lambda)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web_data &lt;- data.frame(ad_spend, is_weekend, visits)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&lt;- glm(visits ~ ad_spend + is_weekend, data=web_data, family=poisson)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print(summary(model))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new_day &lt;- data.frame(ad_spend = 50, is_weekend = 1)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predict(model, newdata = new_day, type = 'response')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085588"/>
            <a:ext cx="11064240" cy="64008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08558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= poisson uses a log link, so exp(coefficient) gives the multiplicative effect of a one-unit predictor increase on the expected count. type="response" converts back to an actual expected count.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081E38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2651760"/>
            <a:ext cx="1737360" cy="1737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ons/w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466" y="3042666"/>
            <a:ext cx="955548" cy="9555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  —  SECTION 7 OF 11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24231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Non-linear Models — nls()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relationships cannot be expressed as a linear combination of parameters. nls() fits such models by non-linear least squares using the Gauss–Newton algorithm, which iteratively linearizes the model around current parameter estimates. Good starting values are essential for convergence.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58368" y="562356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7607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function with syntax &amp; arguments   •   1 complete program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MODELS — NLS()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nls()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icons/w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nls(formula, data, start, control = nls.control(), algorithm = "default")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formula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non-linear model formula, e.g. y ~ Asym/(1+exp((xmid-x)/scal)).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data frame containing the variables in formula.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start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named list giving the starting value for every parameter — critical for convergence.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control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nls.control() object setting iteration limits, tolerance, etc.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algorithm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"default" (Gauss-Newton), "plinear" or "port".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 model non-linear in its parameters. The model shape must be given explicitly, and optimisation needs reasonable initial values to converge to the right solution.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MODELS — NLS()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12: Logistic Growth Curve with nls()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an S-shaped growth curve (population over time) and plot it.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3472053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30422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&lt;- 2000:2020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population &lt;- c(1000,1080,1170,1280,1400,1550,1720,1920,2150,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2400,2680,2980,3300,3620,3930,4220,4480,4700,4880,5010,5100)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growth_data &lt;- data.frame(year, population)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growth_model &lt;- nls(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population ~ Asym / (1 + exp((xmid - year)/scal)),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growth_data,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 = list(Asym = 5200, xmid = 2010, scal = 3)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print(summary(growth_model))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plot(growth_data$year, growth_data$population)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lines(growth_data$year, predict(growth_model), col='blue', lwd=2)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predict(growth_model, newdata = data.frame(year = 2025))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666613"/>
            <a:ext cx="11064240" cy="64008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666613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 is the estimated upper asymptote (carrying capacity), xmid the year of fastest growth, scal the steepness. summary() reports each parameter's estimate, standard error and significance, like lm().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081E38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2651760"/>
            <a:ext cx="1737360" cy="1737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466" y="3042666"/>
            <a:ext cx="955548" cy="9555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  —  SECTION 8 OF 11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24231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Series and Autocorrelation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 series is a sequence of observations indexed in time order. R's ts() class attaches time information to a numeric vector; from there, decomposition, autocorrelation analysis and ARIMA modelling support trend/seasonality detection and forecasting.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58368" y="562356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7607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functions with syntax &amp; arguments   •   4 complete programs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AND AUTOCORRELATION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ts() / decompose()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ts(data, start, end, frequency, deltat) decompose(x, type = c("additive","multiplicative"))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numeric vector (or matrix) of observed values, in time order.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start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of the first observation, e.g. c(2020, 1) for January 2020.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frequency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Observations per unit of time — 12 monthly, 4 quarterly, 7 daily-weekly.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decompose(): a ts object with frequency &gt; 1.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decompose(): additive or multiplicative seasonal effects.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ts() wraps a plain vector with time metadata. decompose() splits a series into trend, seasonal and random components via moving averages — the standard first step before forecasting.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AND AUTOCORRELATION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13: Creating and Decomposing a Monthly Time Series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a monthly sales series and decompose it into trend, seasonal and random components.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2697353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22675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set.seed(3)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trend &lt;- seq(200, 400, length.out = 48)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seasonal &lt;- rep(c(20,10,-5,-15,-10,5,15,25,10,-5,-15,-20), 4)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sales_data &lt;- trend + seasonal + rnorm(48, 0, 8)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sales_ts &lt;- ts(sales_data, start = c(2020,1), frequency = 12)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plot.ts(sales_ts, main = 'Monthly Sales')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 &lt;- decompose(sales_ts)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plot(components)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print(components$trend); print(components$seasonal)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4891913"/>
            <a:ext cx="11064240" cy="64008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4891913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components$trend shows the long-run direction with seasonality smoothed out; components$seasonal shows the repeating month-to-month pattern — confirming seasonality is exactly why the forecast model must account for it.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AND AUTOCORRELATION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acf() / pacf() / adf.test()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67665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acf(x, lag.max=NULL, plot=TRUE) pacf(x, lag.max=NULL, plot=TRUE) adf.test(x,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alternative="stationary") [pkg: tseries]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6151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07792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65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5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univariate time series.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5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lag.max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maximum lag to compute/plot.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5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plot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Logical; draw the correlogram, or return numeric values if FALSE.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5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alternative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adf.test(): stationary (default) or explosive.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acf() measures correlation with the series' own past values (suggests MA(q) order); pacf() measures correlation after removing shorter-lag effects (suggests AR(p) order). adf.test()'s H0 is non-stationary — p &lt; 0.05 lets us reject H0 and treat the series as stationary.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AND AUTOCORRELATION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14: Autocorrelation and Stationarity Check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ACF, PACF, and test stationarity on the sales series from Program 13.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2697353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22675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acf(sales_ts, main = 'ACF of Sales')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pacf(sales_ts, main = 'PACF of Sales')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library(tseries)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adf_result &lt;- adf.test(sales_ts)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print(adf_result)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(adf_result$p.value &gt; 0.05) {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sales_diff &lt;- diff(sales_ts)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print(adf.test(sales_diff))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cat('Series is stationary\n')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4891913"/>
            <a:ext cx="11064240" cy="64008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4891913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p-value is above 0.05, diff() removes the trend by first-differencing; the series is re-tested until stationary. The number of differences applied becomes ARIMA's "d" parameter.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AND AUTOCORRELATION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auto.arima() / forecast() / accuracy()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67665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auto.arima(y, seasonal=TRUE, ic=c("aicc","aic","bic")) forecast(object, h=10) accuracy(f, x)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[pkg: forecast]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6151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07792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 / object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time series / fitted model to forecast from.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seasonal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Logical; whether to consider seasonal (SARIMA) terms.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ic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criterion used to choose between candidate models.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forecast(): the horizon — how many future periods to predict.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f, x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accuracy(): the forecast object, and actual values to compare against.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auto.arima() searches ARIMA(p,d,q) combinations and returns the model with lowest information criterion. forecast() produces point forecasts with prediction intervals; accuracy() reports RMSE/MAE/MAPE against actual data.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AND AUTOCORRELATION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15: Complete ARIMA Forecasting Workflow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Stationarity check, differencing, ACF/PACF, model fit, residual check, and forecasting — end to end.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2697353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22675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library(forecast); library(tseries)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print(adf.test(sales_ts))                # 1. Stationarity check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sales_diff &lt;- diff(sales_ts)              # 2. Differencing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acf(sales_diff); pacf(sales_diff)         # 3. ACF / PACF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 &lt;- auto.arima(sales_ts, seasonal = TRUE)   # 4. Fit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print(fit)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checkresiduals(fit)                       # 5. Residual diagnostics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 &lt;- forecast(fit, h = 12)                # 6. Forecast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plot(fc); print(fc)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4891913"/>
            <a:ext cx="11064240" cy="64008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4891913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auto.arima() determines d (and D for seasonal) automatically, so steps 1-2 are shown for understanding. checkresiduals() plots the residual ACF and runs a Ljung-Box test — a non-significant result (p &gt; 0.05) confirms residuals are white noise.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AND AUTOCORRELATION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ets()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ets(y, model = "ZZZ", damped = NULL) [pkg: forecast]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time series to model.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3-letter code for (Error, Trend, Seasonal): A/M/N/Z per component; Z = auto-select (default).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damped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Logical; use a damped trend (NULL lets the function decide).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138928"/>
            <a:ext cx="11064240" cy="77724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138928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an Exponential Smoothing State-Space model, automatically choosing error/trend/seasonal components by AICc — an ARIMA alternative that's often simpler to tune and very competitive for business series.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AND AUTOCORRELATION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16: Comparing ETS and ARIMA Forecast Accuracy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both model families on the same training data and compare accuracy on a held-out test window.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289102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2461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library(forecast)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&lt;- window(sales_ts, end = c(2023,6))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 &lt;- window(sales_ts, start = c(2023,7))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fit_arima &lt;- auto.arima(train)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fc_arima  &lt;- forecast(fit_arima, h = length(test))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fit_ets &lt;- ets(train)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fc_ets  &lt;- forecast(fit_ets, h = length(test))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print(accuracy(fc_arima, test))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print(accuracy(fc_ets, test))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085588"/>
            <a:ext cx="11064240" cy="64008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08558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accuracy() reports RMSE/MAE/MAPE for both fits; the model with lower MAPE/RMSE on the held-out test window (out-of-sample) is preferred over relying on in-sample fit alone.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081E38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2651760"/>
            <a:ext cx="1737360" cy="1737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ons/objectgro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466" y="3042666"/>
            <a:ext cx="955548" cy="9555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  —  SECTION 9 OF 11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24231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groups unlabeled observations so points within a cluster are more similar to each other than to points in other clusters. R provides both partition-based (k-means) and hierarchical approaches.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58368" y="562356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7607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functions with syntax &amp; arguments   •   2 complete programs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kmeans()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objectgro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67665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kmeans(x, centers, iter.max = 10, nstart = 1, algorithm =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c("Hartigan-Wong","Lloyd","Forgy","MacQueen"))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6151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07792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65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5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numeric matrix/data frame of observations (typically scaled first).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5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centers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clusters k, or a matrix of initial centers.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5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iter.max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iterations allowed for convergence.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5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nstart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random initial configurations to try, keeping the best (lowest WSS).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 data into k clusters by iteratively assigning points to the nearest centroid, minimising total within-cluster sum of squares. $cluster gives assignments, $centers the centroids, $tot.withinss the WSS used by the elbow method.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17: k-means Clustering with the Elbow Method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data, choose k via the elbow method, fit k-means, and visualise clusters.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327837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284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set.seed(5)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customer_data &lt;- data.frame(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income   = c(rnorm(50,30,5), rnorm(50,60,6), rnorm(50,90,7), rnorm(50,45,5)),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spending = c(rnorm(50,20,5), rnorm(50,70,8), rnorm(50,30,6), rnorm(50,55,7))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scaled_data &lt;- scale(customer_data)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wss &lt;- sapply(1:10, function(k) kmeans(scaled_data,k,nstart=25)$tot.withinss)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plot(1:10, wss, type='b', xlab='k', ylab='WSS')     # elbow method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 &lt;- kmeans(scaled_data, centers = 4, nstart = 25)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print(table(km$cluster))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plot(scaled_data, col = km$cluster, pch = 19)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points(km$centers, col = 1:4, pch = 8, cex = 2)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472938"/>
            <a:ext cx="11064240" cy="64008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47293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elbow method plots WSS against k; the point where WSS stops decreasing sharply is the optimal k. nstart=25 re-runs from 25 random starts, avoiding a poor local optimum.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dist() / hclust() / cutree()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objectgro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dist(x, method = "euclidean") hclust(d, method = "complete") cutree(tree, k = NULL, h = NULL)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/ method (dist)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to measure; distance metric ("euclidean", "manhattan", ...).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 / method (hclust)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distance matrix; linkage criterion ("complete", "average", "ward.D2", ...).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tree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cutree(): a fitted hclust object.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 / h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cutree(): desired number of clusters, or the height to cut at instead.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dist() computes pairwise distances; hclust() builds a dendrogram by successively merging the closest clusters; cutree() cuts the dendrogram into flat cluster labels.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18: Hierarchical Clustering with Dendrogram Visualisation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cut a dendrogram on the same customer data used for k-means.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2310003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1880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&lt;- dist(scaled_data, method = 'euclidean')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hc &lt;- hclust(d, method = 'ward.D2')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plot(hc, labels = FALSE, main = 'Customer Dendrogram')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clusters &lt;- cutree(hc, k = 4)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rect.hclust(hc, k = 4, border = 'red')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print(table(clusters))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print(table(kmeans = km$cluster, hierarchical = clusters))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4504563"/>
            <a:ext cx="11064240" cy="64008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4504563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 methods (complete, average, ward.D2, single) change how inter-cluster distance is measured; ward.D2 tends to produce compact, evenly sized clusters. The final table shows how closely the two methods agree.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9.1  k-means vs. Hierarchical Clustering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objectgro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(hclust)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Partition-based; assigns points to k centroids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Builds a tree by successively merging clusters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Pre-specify k?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-- via elbow / silhouette 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-- k chosen later by cutting the dendrogram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on large datasets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Expensive for very large n (distance matrix O(n²))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set of k clusters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Dendrogram showing nested cluster 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Big, spherical clusters; Big Data segmentation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Small/medium data; exploratory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081E38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2651760"/>
            <a:ext cx="1737360" cy="1737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466" y="3042666"/>
            <a:ext cx="955548" cy="9555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  —  SECTION 10 OF 11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24231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Data and R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is, by default, a single-machine, largely in-memory tool. When data outgrows a single machine's RAM, R connects to specialised packages and distributed systems rather than replacing them, acting as the statistical/analytics layer on top.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58368" y="562356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7607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functions with syntax &amp; arguments   •   1 complete program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AND 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data.table syntax — DT[i, j, by]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DT[i, j, by] fread(file, sep = "auto", header = "auto")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selection/filtering, e.g. DT[age &gt; 30, ].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selection or computation, e.g. DT[, .(avg = mean(salary))].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Grouping variable(s) for the computation in j.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fread(): path to the file — a very fast replacement for read.csv().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data.table's dt[i, j, by] syntax filters, computes and groups in one call using highly optimised C code — dramatically faster and more memory-efficient than base data frames on large tables.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AND 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dplyr verbs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filter(.data, ...) mutate(.data, ...) summarise(.data, ...) group_by(.data, ...) %&gt;%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filter()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rows matching a logical condition.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mutate()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or transforms columns.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summarise()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Collapses each group to one row of summary statistics.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group_by()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 rows for subsequent summarise()/mutate().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%&gt;% / |&gt;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pipe operator; chains operations left-to-right.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dplyr offers a readable, verb-based grammar for the same filter/transform/aggregate operations, prioritising clarity — often used together with data.table in a Big Data pipeline.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AND 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 package / RHadoop (rmr2)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ffdf(...) read.csv.ffdf(file, ...) mapreduce(input, map, reduce) keyval(key, value)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... (ffdf)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ff vectors making up the data frame's columns.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file (read.csv.ffdf)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to the CSV file to import.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input, map, reduce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rmr2: input data path on HDFS; the map function(key,value); the reduce function(key,values).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138928"/>
            <a:ext cx="11064240" cy="77724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138928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ff package stores data on disk (memory-mapped) so datasets larger than RAM can be processed in chunks. RHadoop's rmr2 lets R express a MapReduce job and submit it to a Hadoop cluster; rhdfs reads/writes HDFS directly.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AND 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sparkR.session(master, appName) read.df(path, source) spark.lapply(list, func)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master, appName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 cluster URL to connect to, and an application name.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path, source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and format (e.g. "csv", "parquet") of data to load as a distributed Spark DataFrame.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list, func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list to distribute across the cluster, and the function to run on each element in parallel.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138928"/>
            <a:ext cx="11064240" cy="777240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138928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SparkR (and sparklyr) give R an interface to Apache Spark for distributed, in-memory computation — far faster than disk-based Hadoop MapReduce for iterative algorithms. Map applies a function to each chunk in parallel; Reduce aggregates the results.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AND 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19: data.table and dplyr — Fast Grouped Aggregation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self-contained program (no cluster needed) demonstrating both styles of fast, large-table manipulation.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3472053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30422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library(data.table); library(dplyr)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set.seed(9); n &lt;- 200000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 &lt;- data.table(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region = sample(c('North','South','East','West'), n, replace=TRUE),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amount = round(runif(n, 10, 500), 2)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data.table syntax: DT[i, j, by]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region_summary &lt;- sales[amount &gt; 50, .(total=sum(amount), avg=mean(amount)), by=region]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print(region_summary)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Equivalent dplyr pipeline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region_summary_dplyr &lt;- sales %&gt;% filter(amount &gt; 50) %&gt;%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group_by(region) %&gt;% summarise(total=sum(amount), avg=mean(amount))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print(region_summary_dplyr)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666613"/>
            <a:ext cx="11064240" cy="670179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666613"/>
            <a:ext cx="10698480" cy="6701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pipelines produce the same grouped totals per region for orders above 50. data.table is typically fastest on very large in-memory tables; dplyr's verb chain is often preferred for readability. On data too large for RAM, the same logic moves to SparkR/sparklyr or an RHadoop mapreduce() job.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081E38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2651760"/>
            <a:ext cx="1737360" cy="1737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ons/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466" y="3042666"/>
            <a:ext cx="955548" cy="9555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  —  SECTION 11 OF 11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24231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End-to-End Programs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programs combine the techniques above into complete, exam-ready workflows: a general predictive-analytics pipeline, and a full statistical analysis report.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58368" y="562356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7607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complete programs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END-TO-END PROGRAMS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20: Predictive Analytics Pipeline in 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six-step pipeline: load, preprocess, fit, evaluate, predict, and visualise.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366572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323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data(mtcars); df &lt;- na.omit(mtcars)      # 1-2. Load &amp; preprocess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df$cyl &lt;- as.factor(df$cyl)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set.seed(1)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&lt;- sample(1:nrow(df), .75*nrow(df))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&lt;- df[idx,]; test &lt;- df[-idx,]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&lt;- lm(mpg ~ wt+hp+cyl, data=train)        # 3. Fit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pred_test &lt;- predict(model, newdata=test)        # 4. Evaluate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&lt;- sqrt(mean((test$mpg-pred_test)^2))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 &lt;- 1 - sum((test$mpg-pred_test)^2)/sum((test$mpg-mean(test$mpg))^2)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cat('Test RMSE:', RMSE, ' R2:', R2, '\n')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new_car &lt;- data.frame(wt=3.2, hp=150, cyl=factor(6, levels=levels(df$cyl)))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predict(model, newdata = new_car)                # 5. Predict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plot(model, which = 1)                           # 6. Visualise residuals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860288"/>
            <a:ext cx="11064240" cy="476504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860288"/>
            <a:ext cx="10698480" cy="476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six-step design mirrors any supervised modelling task in R and generalises directly to glm() (classification), nls() (non-linear) or a clustering pipeline.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END-TO-END PROGRAMS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21: Complete Statistical Analysis Report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statistics, normality check, correlation matrix, regression, and prediction with visualisation.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366572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323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data(mtcars); df &lt;- mtcars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print(summary(df)); sapply(df, sd)             # (i) Descriptive stats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shapiro_result &lt;- shapiro.test(df$mpg)          # (ii) Normality test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print(shapiro_result)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cor_matrix &lt;- cor(df)                           # (iii) Correlation matrix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print(round(cor_matrix, 2))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&lt;- lm(mpg ~ wt+hp+disp, data=df)          # (iv) Regression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print(summary(model))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df$predicted &lt;- predict(model)                  # (v) Prediction + visualisation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plot(df$mpg, df$predicted, xlab='Actual mpg', ylab='Predicted mpg',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pch=19, col='steelblue')</a:t>
            </a:r>
            <a:endParaRPr lang="en-US" sz="1250" dirty="0"/>
          </a:p>
          <a:p>
            <a:pPr marL="0" indent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abline(0, 1, col='red', lwd=2)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860288"/>
            <a:ext cx="11064240" cy="476504"/>
          </a:xfrm>
          <a:prstGeom prst="rect">
            <a:avLst/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860288"/>
            <a:ext cx="10698480" cy="476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shapiro.test() checks whether the response is approximately normal; the correlation matrix flags predictors strongly related to the response (or each other, indicating multicollinearity); the actual-vs-predicted plot with a 45° reference line gives a quick visual check of model fit.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Functions at a Glance (1/2)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6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.C() / .Call()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compiled C code from 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dyn.load()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a compiled shared library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cppFunction() / sourceCpp()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 and call C++ code from 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import() / source_python()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reticulate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Python modules / functions from 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r_to_py() / py_to_r()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reticulate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 objects between R and Python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detectCores()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CPU cores available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makeCluster() / stopCluster()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/ stop a socket cluster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parLapply() / parSapply()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a function in parallel (socket cluster)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clusterExport() / mclapply()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to workers / apply in parallel via forking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mean()/median()/var()/sd()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base/stats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descriptive statistics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quantile()/summary()/cor()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base/stats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Quantiles, overview, correlation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t.test() / chisq.test() / cor.test()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means / categorical association / correlation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aov() / TukeyHSD()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ANOVA and post-hoc pairwise comparison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Functions at a Glance (2/2)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6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lm() / predict()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/ predict from a linear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glm()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a generalized linear model (logistic, Poisson, ...)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nls()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a non-linear least-squares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ts() / decompose()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/ decompose a time series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acf() / pacf() / adf.test()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stats/tseries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Autocorrelation, partial ACF, stationarity 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auto.arima() / forecast() / accuracy()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ARIMA / generate &amp; evaluate forecasts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ets()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an exponential smoothing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kmeans()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Partition-based clustering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dist() / hclust() / cutree()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clustering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data.table / fread()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data.table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large-table manipulation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filter()/mutate()/summarise()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dplyr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Readable data transformation verbs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mapreduce() / keyval()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rmr2 (RHadoop)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 a Hadoop MapReduce job in 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sparkR.session() / spark.lapply()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Distributed computation via Apache Spark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11072</Words>
  <Application>Microsoft Office PowerPoint</Application>
  <PresentationFormat>Widescreen</PresentationFormat>
  <Paragraphs>1270</Paragraphs>
  <Slides>79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6" baseType="lpstr">
      <vt:lpstr>Arial</vt:lpstr>
      <vt:lpstr>Arial Narrow</vt:lpstr>
      <vt:lpstr>Calibri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Pitchumani Angayarkanni</cp:lastModifiedBy>
  <cp:revision>3</cp:revision>
  <dcterms:created xsi:type="dcterms:W3CDTF">2026-09-15T05:10:54Z</dcterms:created>
  <dcterms:modified xsi:type="dcterms:W3CDTF">2026-09-20T13:56:20Z</dcterms:modified>
</cp:coreProperties>
</file>