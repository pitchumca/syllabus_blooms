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56" r:id="rId2"/>
    <p:sldId id="257" r:id="rId3"/>
    <p:sldId id="258" r:id="rId4"/>
    <p:sldId id="259" r:id="rId5"/>
    <p:sldId id="302" r:id="rId6"/>
    <p:sldId id="260" r:id="rId7"/>
    <p:sldId id="261" r:id="rId8"/>
    <p:sldId id="303" r:id="rId9"/>
    <p:sldId id="262" r:id="rId10"/>
    <p:sldId id="304" r:id="rId11"/>
    <p:sldId id="263" r:id="rId12"/>
    <p:sldId id="264" r:id="rId13"/>
    <p:sldId id="306" r:id="rId14"/>
    <p:sldId id="307" r:id="rId15"/>
    <p:sldId id="305" r:id="rId16"/>
    <p:sldId id="265" r:id="rId17"/>
    <p:sldId id="266" r:id="rId18"/>
    <p:sldId id="267" r:id="rId19"/>
    <p:sldId id="268" r:id="rId20"/>
    <p:sldId id="308" r:id="rId21"/>
    <p:sldId id="309" r:id="rId22"/>
    <p:sldId id="310"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311" r:id="rId50"/>
    <p:sldId id="295" r:id="rId51"/>
    <p:sldId id="312" r:id="rId52"/>
    <p:sldId id="296" r:id="rId53"/>
    <p:sldId id="313" r:id="rId54"/>
    <p:sldId id="314" r:id="rId55"/>
    <p:sldId id="297" r:id="rId56"/>
    <p:sldId id="315" r:id="rId57"/>
    <p:sldId id="298" r:id="rId58"/>
    <p:sldId id="299" r:id="rId59"/>
    <p:sldId id="318" r:id="rId60"/>
    <p:sldId id="319" r:id="rId61"/>
    <p:sldId id="316" r:id="rId62"/>
    <p:sldId id="317" r:id="rId63"/>
    <p:sldId id="300" r:id="rId64"/>
    <p:sldId id="301" r:id="rId6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11"/>
    <p:restoredTop sz="94610"/>
  </p:normalViewPr>
  <p:slideViewPr>
    <p:cSldViewPr snapToGrid="0" snapToObjects="1">
      <p:cViewPr varScale="1">
        <p:scale>
          <a:sx n="88" d="100"/>
          <a:sy n="88" d="100"/>
        </p:scale>
        <p:origin x="-437" y="-77"/>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735140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19</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29</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30</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39</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40</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50</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52</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55</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57</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63</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64</a:t>
            </a:fld>
            <a:endParaRPr lang="en-US"/>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r-language/r-object-oriented-programming/"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743"/>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F6E8C">
              <a:alpha val="25000"/>
            </a:srgbClr>
          </a:solidFill>
          <a:ln/>
        </p:spPr>
      </p:sp>
      <p:sp>
        <p:nvSpPr>
          <p:cNvPr id="3" name="Shape 1"/>
          <p:cNvSpPr/>
          <p:nvPr/>
        </p:nvSpPr>
        <p:spPr>
          <a:xfrm>
            <a:off x="10789920" y="4206240"/>
            <a:ext cx="2926080" cy="2926080"/>
          </a:xfrm>
          <a:prstGeom prst="ellipse">
            <a:avLst/>
          </a:prstGeom>
          <a:solidFill>
            <a:srgbClr val="FF6B35">
              <a:alpha val="18000"/>
            </a:srgbClr>
          </a:solidFill>
          <a:ln/>
        </p:spPr>
      </p:sp>
      <p:sp>
        <p:nvSpPr>
          <p:cNvPr id="4" name="Shape 2"/>
          <p:cNvSpPr/>
          <p:nvPr/>
        </p:nvSpPr>
        <p:spPr>
          <a:xfrm>
            <a:off x="-1097280" y="4937760"/>
            <a:ext cx="3200400" cy="3200400"/>
          </a:xfrm>
          <a:prstGeom prst="ellipse">
            <a:avLst/>
          </a:prstGeom>
          <a:solidFill>
            <a:srgbClr val="1F6E8C">
              <a:alpha val="15000"/>
            </a:srgbClr>
          </a:solidFill>
          <a:ln/>
        </p:spPr>
      </p:sp>
      <p:sp>
        <p:nvSpPr>
          <p:cNvPr id="5" name="Text 3"/>
          <p:cNvSpPr/>
          <p:nvPr/>
        </p:nvSpPr>
        <p:spPr>
          <a:xfrm>
            <a:off x="822960" y="1280160"/>
            <a:ext cx="8229600" cy="365760"/>
          </a:xfrm>
          <a:prstGeom prst="rect">
            <a:avLst/>
          </a:prstGeom>
          <a:noFill/>
          <a:ln/>
        </p:spPr>
        <p:txBody>
          <a:bodyPr wrap="square" rtlCol="0" anchor="ctr"/>
          <a:lstStyle/>
          <a:p>
            <a:pPr marL="0" indent="0">
              <a:buNone/>
            </a:pPr>
            <a:r>
              <a:rPr lang="en-US" sz="1500" b="1" kern="0" spc="200" dirty="0">
                <a:solidFill>
                  <a:srgbClr val="5FA8C9"/>
                </a:solidFill>
                <a:latin typeface="Calibri" pitchFamily="34" charset="0"/>
                <a:ea typeface="Calibri" pitchFamily="34" charset="-122"/>
                <a:cs typeface="Calibri" pitchFamily="34" charset="-120"/>
              </a:rPr>
              <a:t>R PROGRAMMING  ·  UNIT IV</a:t>
            </a:r>
            <a:endParaRPr lang="en-US" sz="1500" dirty="0"/>
          </a:p>
        </p:txBody>
      </p:sp>
      <p:sp>
        <p:nvSpPr>
          <p:cNvPr id="6" name="Text 4"/>
          <p:cNvSpPr/>
          <p:nvPr/>
        </p:nvSpPr>
        <p:spPr>
          <a:xfrm>
            <a:off x="822960" y="1691640"/>
            <a:ext cx="9966960" cy="1783080"/>
          </a:xfrm>
          <a:prstGeom prst="rect">
            <a:avLst/>
          </a:prstGeom>
          <a:noFill/>
          <a:ln/>
        </p:spPr>
        <p:txBody>
          <a:bodyPr wrap="square"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Object-Oriented Programming</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&amp; Working with Data in R</a:t>
            </a:r>
            <a:endParaRPr lang="en-US" sz="4200" dirty="0"/>
          </a:p>
        </p:txBody>
      </p:sp>
      <p:sp>
        <p:nvSpPr>
          <p:cNvPr id="7" name="Text 5"/>
          <p:cNvSpPr/>
          <p:nvPr/>
        </p:nvSpPr>
        <p:spPr>
          <a:xfrm>
            <a:off x="822960" y="3474720"/>
            <a:ext cx="9875520" cy="548640"/>
          </a:xfrm>
          <a:prstGeom prst="rect">
            <a:avLst/>
          </a:prstGeom>
          <a:noFill/>
          <a:ln/>
        </p:spPr>
        <p:txBody>
          <a:bodyPr wrap="square" rtlCol="0" anchor="ctr"/>
          <a:lstStyle/>
          <a:p>
            <a:pPr marL="0" indent="0">
              <a:buNone/>
            </a:pPr>
            <a:r>
              <a:rPr lang="en-US" sz="1700" i="1" dirty="0">
                <a:solidFill>
                  <a:srgbClr val="CFE8FF"/>
                </a:solidFill>
                <a:latin typeface="Calibri" pitchFamily="34" charset="0"/>
                <a:ea typeface="Calibri" pitchFamily="34" charset="-122"/>
                <a:cs typeface="Calibri" pitchFamily="34" charset="-120"/>
              </a:rPr>
              <a:t>S3 &amp; S4 Classes  •  Managing Objects  •  Input/Output  •  String Manipulation  •  Graphics</a:t>
            </a:r>
            <a:endParaRPr lang="en-US" sz="1700" dirty="0"/>
          </a:p>
        </p:txBody>
      </p:sp>
      <p:sp>
        <p:nvSpPr>
          <p:cNvPr id="8" name="Shape 6"/>
          <p:cNvSpPr/>
          <p:nvPr/>
        </p:nvSpPr>
        <p:spPr>
          <a:xfrm>
            <a:off x="822960" y="4206240"/>
            <a:ext cx="2011680" cy="0"/>
          </a:xfrm>
          <a:prstGeom prst="line">
            <a:avLst/>
          </a:prstGeom>
          <a:noFill/>
          <a:ln w="38100">
            <a:solidFill>
              <a:srgbClr val="FF6B35"/>
            </a:solidFill>
            <a:prstDash val="solid"/>
          </a:ln>
        </p:spPr>
      </p:sp>
      <p:sp>
        <p:nvSpPr>
          <p:cNvPr id="9" name="Text 7"/>
          <p:cNvSpPr/>
          <p:nvPr/>
        </p:nvSpPr>
        <p:spPr>
          <a:xfrm>
            <a:off x="822960" y="4572000"/>
            <a:ext cx="9875520" cy="1645920"/>
          </a:xfrm>
          <a:prstGeom prst="rect">
            <a:avLst/>
          </a:prstGeom>
          <a:noFill/>
          <a:ln/>
        </p:spPr>
        <p:txBody>
          <a:bodyPr wrap="square" rtlCol="0" anchor="ctr"/>
          <a:lstStyle/>
          <a:p>
            <a:pPr marL="0" indent="0">
              <a:lnSpc>
                <a:spcPct val="140000"/>
              </a:lnSpc>
              <a:buNone/>
            </a:pPr>
            <a:r>
              <a:rPr lang="en-US" sz="1400" b="1" dirty="0">
                <a:solidFill>
                  <a:srgbClr val="5FA8C9"/>
                </a:solidFill>
                <a:latin typeface="Calibri" pitchFamily="34" charset="0"/>
                <a:ea typeface="Calibri" pitchFamily="34" charset="-122"/>
                <a:cs typeface="Calibri" pitchFamily="34" charset="-120"/>
              </a:rPr>
              <a:t>Course: </a:t>
            </a:r>
            <a:r>
              <a:rPr lang="en-US" sz="1400" dirty="0">
                <a:solidFill>
                  <a:srgbClr val="FFFFFF"/>
                </a:solidFill>
                <a:latin typeface="Calibri" pitchFamily="34" charset="0"/>
                <a:ea typeface="Calibri" pitchFamily="34" charset="-122"/>
                <a:cs typeface="Calibri" pitchFamily="34" charset="-120"/>
              </a:rPr>
              <a:t>R Programming (35021P28)
</a:t>
            </a:r>
            <a:r>
              <a:rPr lang="en-US" sz="1400" b="1" dirty="0">
                <a:solidFill>
                  <a:srgbClr val="5FA8C9"/>
                </a:solidFill>
                <a:latin typeface="Calibri" pitchFamily="34" charset="0"/>
                <a:ea typeface="Calibri" pitchFamily="34" charset="-122"/>
                <a:cs typeface="Calibri" pitchFamily="34" charset="-120"/>
              </a:rPr>
              <a:t>Programme: </a:t>
            </a:r>
            <a:r>
              <a:rPr lang="en-US" sz="1400" dirty="0">
                <a:solidFill>
                  <a:srgbClr val="FFFFFF"/>
                </a:solidFill>
                <a:latin typeface="Calibri" pitchFamily="34" charset="0"/>
                <a:ea typeface="Calibri" pitchFamily="34" charset="-122"/>
                <a:cs typeface="Calibri" pitchFamily="34" charset="-120"/>
              </a:rPr>
              <a:t>B.E. Computer Science and Engineering (CS)
</a:t>
            </a:r>
            <a:r>
              <a:rPr lang="en-US" sz="1400" b="1" dirty="0">
                <a:solidFill>
                  <a:srgbClr val="5FA8C9"/>
                </a:solidFill>
                <a:latin typeface="Calibri" pitchFamily="34" charset="0"/>
                <a:ea typeface="Calibri" pitchFamily="34" charset="-122"/>
                <a:cs typeface="Calibri" pitchFamily="34" charset="-120"/>
              </a:rPr>
              <a:t>Faculty: </a:t>
            </a:r>
            <a:r>
              <a:rPr lang="en-US" sz="1400" dirty="0">
                <a:solidFill>
                  <a:srgbClr val="FFFFFF"/>
                </a:solidFill>
                <a:latin typeface="Calibri" pitchFamily="34" charset="0"/>
                <a:ea typeface="Calibri" pitchFamily="34" charset="-122"/>
                <a:cs typeface="Calibri" pitchFamily="34" charset="-120"/>
              </a:rPr>
              <a:t>Dr. S. Pitchumani Angayarkanni, Professor, Dept. of CSE
</a:t>
            </a:r>
            <a:r>
              <a:rPr lang="en-US" sz="1400" b="1" dirty="0">
                <a:solidFill>
                  <a:srgbClr val="5FA8C9"/>
                </a:solidFill>
                <a:latin typeface="Calibri" pitchFamily="34" charset="0"/>
                <a:ea typeface="Calibri" pitchFamily="34" charset="-122"/>
                <a:cs typeface="Calibri" pitchFamily="34" charset="-120"/>
              </a:rPr>
              <a:t>Institution: </a:t>
            </a:r>
            <a:r>
              <a:rPr lang="en-US" sz="1400" dirty="0">
                <a:solidFill>
                  <a:srgbClr val="FFFFFF"/>
                </a:solidFill>
                <a:latin typeface="Calibri" pitchFamily="34" charset="0"/>
                <a:ea typeface="Calibri" pitchFamily="34" charset="-122"/>
                <a:cs typeface="Calibri" pitchFamily="34" charset="-120"/>
              </a:rPr>
              <a:t>Aarupadai Veedu Institute of Technology (AVIT), VMRF</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ORIENTATION</a:t>
            </a:r>
            <a:endParaRPr lang="en-US" sz="1200" dirty="0"/>
          </a:p>
        </p:txBody>
      </p:sp>
      <p:sp>
        <p:nvSpPr>
          <p:cNvPr id="4" name="Text 2"/>
          <p:cNvSpPr/>
          <p:nvPr/>
        </p:nvSpPr>
        <p:spPr>
          <a:xfrm>
            <a:off x="457200" y="841248"/>
            <a:ext cx="10058400" cy="640080"/>
          </a:xfrm>
          <a:prstGeom prst="rect">
            <a:avLst/>
          </a:prstGeom>
          <a:noFill/>
          <a:ln/>
        </p:spPr>
        <p:txBody>
          <a:bodyPr wrap="square" rtlCol="0" anchor="ctr"/>
          <a:lstStyle/>
          <a:p>
            <a:pPr marL="0" indent="0">
              <a:buNone/>
            </a:pPr>
            <a:r>
              <a:rPr lang="en-US" sz="3300" b="1" dirty="0">
                <a:solidFill>
                  <a:srgbClr val="132743"/>
                </a:solidFill>
                <a:latin typeface="Cambria" pitchFamily="34" charset="0"/>
                <a:ea typeface="Cambria" pitchFamily="34" charset="-122"/>
                <a:cs typeface="Cambria" pitchFamily="34" charset="-120"/>
              </a:rPr>
              <a:t>Learning Objectives</a:t>
            </a:r>
            <a:endParaRPr lang="en-US" sz="3300" dirty="0"/>
          </a:p>
        </p:txBody>
      </p:sp>
      <p:sp>
        <p:nvSpPr>
          <p:cNvPr id="5" name="Text 3"/>
          <p:cNvSpPr/>
          <p:nvPr/>
        </p:nvSpPr>
        <p:spPr>
          <a:xfrm>
            <a:off x="457200" y="1463040"/>
            <a:ext cx="10058400" cy="365760"/>
          </a:xfrm>
          <a:prstGeom prst="rect">
            <a:avLst/>
          </a:prstGeom>
          <a:noFill/>
          <a:ln/>
        </p:spPr>
        <p:txBody>
          <a:bodyPr wrap="square" rtlCol="0" anchor="ctr"/>
          <a:lstStyle/>
          <a:p>
            <a:pPr marL="0" indent="0">
              <a:buNone/>
            </a:pPr>
            <a:r>
              <a:rPr lang="en-US" sz="1500" i="1" dirty="0">
                <a:solidFill>
                  <a:srgbClr val="5C6B73"/>
                </a:solidFill>
                <a:latin typeface="Calibri" pitchFamily="34" charset="0"/>
                <a:ea typeface="Calibri" pitchFamily="34" charset="-122"/>
                <a:cs typeface="Calibri" pitchFamily="34" charset="-120"/>
              </a:rPr>
              <a:t>By the end of this unit, students will be able to:</a:t>
            </a:r>
            <a:endParaRPr lang="en-US" sz="1500" dirty="0"/>
          </a:p>
        </p:txBody>
      </p:sp>
      <p:sp>
        <p:nvSpPr>
          <p:cNvPr id="6" name="Shape 4"/>
          <p:cNvSpPr/>
          <p:nvPr/>
        </p:nvSpPr>
        <p:spPr>
          <a:xfrm>
            <a:off x="457200" y="2057400"/>
            <a:ext cx="3310128" cy="1828800"/>
          </a:xfrm>
          <a:prstGeom prst="roundRect">
            <a:avLst>
              <a:gd name="adj" fmla="val 4000"/>
            </a:avLst>
          </a:prstGeom>
          <a:solidFill>
            <a:srgbClr val="EDF3F6"/>
          </a:solidFill>
          <a:ln/>
          <a:effectLst>
            <a:outerShdw blurRad="76200" dist="25400" dir="5400000" algn="bl" rotWithShape="0">
              <a:srgbClr val="8A99A3">
                <a:alpha val="25000"/>
              </a:srgbClr>
            </a:outerShdw>
          </a:effectLst>
        </p:spPr>
      </p:sp>
      <p:sp>
        <p:nvSpPr>
          <p:cNvPr id="7" name="Shape 5"/>
          <p:cNvSpPr/>
          <p:nvPr/>
        </p:nvSpPr>
        <p:spPr>
          <a:xfrm>
            <a:off x="658368" y="2240280"/>
            <a:ext cx="402336" cy="402336"/>
          </a:xfrm>
          <a:prstGeom prst="ellipse">
            <a:avLst/>
          </a:prstGeom>
          <a:solidFill>
            <a:srgbClr val="1F6E8C"/>
          </a:solidFill>
          <a:ln/>
        </p:spPr>
      </p:sp>
      <p:sp>
        <p:nvSpPr>
          <p:cNvPr id="8" name="Text 6"/>
          <p:cNvSpPr/>
          <p:nvPr/>
        </p:nvSpPr>
        <p:spPr>
          <a:xfrm>
            <a:off x="658368" y="2240280"/>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658368" y="2752344"/>
            <a:ext cx="2907792" cy="365760"/>
          </a:xfrm>
          <a:prstGeom prst="rect">
            <a:avLst/>
          </a:prstGeom>
          <a:noFill/>
          <a:ln/>
        </p:spPr>
        <p:txBody>
          <a:bodyPr wrap="square" rtlCol="0" anchor="ctr"/>
          <a:lstStyle/>
          <a:p>
            <a:pPr marL="0" indent="0">
              <a:buNone/>
            </a:pPr>
            <a:r>
              <a:rPr lang="en-US" sz="1550" b="1" dirty="0">
                <a:solidFill>
                  <a:srgbClr val="132743"/>
                </a:solidFill>
                <a:latin typeface="Calibri" pitchFamily="34" charset="0"/>
                <a:ea typeface="Calibri" pitchFamily="34" charset="-122"/>
                <a:cs typeface="Calibri" pitchFamily="34" charset="-120"/>
              </a:rPr>
              <a:t>Design R classes</a:t>
            </a:r>
            <a:endParaRPr lang="en-US" sz="1550" dirty="0"/>
          </a:p>
        </p:txBody>
      </p:sp>
      <p:sp>
        <p:nvSpPr>
          <p:cNvPr id="10" name="Text 8"/>
          <p:cNvSpPr/>
          <p:nvPr/>
        </p:nvSpPr>
        <p:spPr>
          <a:xfrm>
            <a:off x="658368" y="3136392"/>
            <a:ext cx="2907792" cy="713232"/>
          </a:xfrm>
          <a:prstGeom prst="rect">
            <a:avLst/>
          </a:prstGeom>
          <a:noFill/>
          <a:ln/>
        </p:spPr>
        <p:txBody>
          <a:bodyPr wrap="square" rtlCol="0" anchor="ctr"/>
          <a:lstStyle/>
          <a:p>
            <a:pPr marL="0" indent="0">
              <a:lnSpc>
                <a:spcPct val="120000"/>
              </a:lnSpc>
              <a:buNone/>
            </a:pPr>
            <a:r>
              <a:rPr lang="en-US" sz="1200" dirty="0">
                <a:solidFill>
                  <a:srgbClr val="1C2B36"/>
                </a:solidFill>
                <a:latin typeface="Calibri" pitchFamily="34" charset="0"/>
                <a:ea typeface="Calibri" pitchFamily="34" charset="-122"/>
                <a:cs typeface="Calibri" pitchFamily="34" charset="-120"/>
              </a:rPr>
              <a:t>Build and use S3, S4 and Reference-Class systems to model real-world entities in R.</a:t>
            </a:r>
            <a:endParaRPr lang="en-US" sz="1200" dirty="0"/>
          </a:p>
        </p:txBody>
      </p:sp>
      <p:sp>
        <p:nvSpPr>
          <p:cNvPr id="11" name="Shape 9"/>
          <p:cNvSpPr/>
          <p:nvPr/>
        </p:nvSpPr>
        <p:spPr>
          <a:xfrm>
            <a:off x="4023360" y="2057400"/>
            <a:ext cx="3310128" cy="1828800"/>
          </a:xfrm>
          <a:prstGeom prst="roundRect">
            <a:avLst>
              <a:gd name="adj" fmla="val 4000"/>
            </a:avLst>
          </a:prstGeom>
          <a:solidFill>
            <a:srgbClr val="EDF3F6"/>
          </a:solidFill>
          <a:ln/>
          <a:effectLst>
            <a:outerShdw blurRad="76200" dist="25400" dir="5400000" algn="bl" rotWithShape="0">
              <a:srgbClr val="8A99A3">
                <a:alpha val="25000"/>
              </a:srgbClr>
            </a:outerShdw>
          </a:effectLst>
        </p:spPr>
      </p:sp>
      <p:sp>
        <p:nvSpPr>
          <p:cNvPr id="12" name="Shape 10"/>
          <p:cNvSpPr/>
          <p:nvPr/>
        </p:nvSpPr>
        <p:spPr>
          <a:xfrm>
            <a:off x="4224528" y="2240280"/>
            <a:ext cx="402336" cy="402336"/>
          </a:xfrm>
          <a:prstGeom prst="ellipse">
            <a:avLst/>
          </a:prstGeom>
          <a:solidFill>
            <a:srgbClr val="1F6E8C"/>
          </a:solidFill>
          <a:ln/>
        </p:spPr>
      </p:sp>
      <p:sp>
        <p:nvSpPr>
          <p:cNvPr id="13" name="Text 11"/>
          <p:cNvSpPr/>
          <p:nvPr/>
        </p:nvSpPr>
        <p:spPr>
          <a:xfrm>
            <a:off x="4224528" y="2240280"/>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4224528" y="2752344"/>
            <a:ext cx="2907792" cy="365760"/>
          </a:xfrm>
          <a:prstGeom prst="rect">
            <a:avLst/>
          </a:prstGeom>
          <a:noFill/>
          <a:ln/>
        </p:spPr>
        <p:txBody>
          <a:bodyPr wrap="square" rtlCol="0" anchor="ctr"/>
          <a:lstStyle/>
          <a:p>
            <a:pPr marL="0" indent="0">
              <a:buNone/>
            </a:pPr>
            <a:r>
              <a:rPr lang="en-US" sz="1550" b="1" dirty="0">
                <a:solidFill>
                  <a:srgbClr val="132743"/>
                </a:solidFill>
                <a:latin typeface="Calibri" pitchFamily="34" charset="0"/>
                <a:ea typeface="Calibri" pitchFamily="34" charset="-122"/>
                <a:cs typeface="Calibri" pitchFamily="34" charset="-120"/>
              </a:rPr>
              <a:t>Manage the workspace</a:t>
            </a:r>
            <a:endParaRPr lang="en-US" sz="1550" dirty="0"/>
          </a:p>
        </p:txBody>
      </p:sp>
      <p:sp>
        <p:nvSpPr>
          <p:cNvPr id="15" name="Text 13"/>
          <p:cNvSpPr/>
          <p:nvPr/>
        </p:nvSpPr>
        <p:spPr>
          <a:xfrm>
            <a:off x="4224528" y="3136392"/>
            <a:ext cx="2907792" cy="713232"/>
          </a:xfrm>
          <a:prstGeom prst="rect">
            <a:avLst/>
          </a:prstGeom>
          <a:noFill/>
          <a:ln/>
        </p:spPr>
        <p:txBody>
          <a:bodyPr wrap="square" rtlCol="0" anchor="ctr"/>
          <a:lstStyle/>
          <a:p>
            <a:pPr marL="0" indent="0">
              <a:lnSpc>
                <a:spcPct val="120000"/>
              </a:lnSpc>
              <a:buNone/>
            </a:pPr>
            <a:r>
              <a:rPr lang="en-US" sz="1200" dirty="0">
                <a:solidFill>
                  <a:srgbClr val="1C2B36"/>
                </a:solidFill>
                <a:latin typeface="Calibri" pitchFamily="34" charset="0"/>
                <a:ea typeface="Calibri" pitchFamily="34" charset="-122"/>
                <a:cs typeface="Calibri" pitchFamily="34" charset="-120"/>
              </a:rPr>
              <a:t>Inspect, save, reload and clean up R objects and sessions confidently.</a:t>
            </a:r>
            <a:endParaRPr lang="en-US" sz="1200" dirty="0"/>
          </a:p>
        </p:txBody>
      </p:sp>
      <p:sp>
        <p:nvSpPr>
          <p:cNvPr id="16" name="Shape 14"/>
          <p:cNvSpPr/>
          <p:nvPr/>
        </p:nvSpPr>
        <p:spPr>
          <a:xfrm>
            <a:off x="7589520" y="2057400"/>
            <a:ext cx="3310128" cy="1828800"/>
          </a:xfrm>
          <a:prstGeom prst="roundRect">
            <a:avLst>
              <a:gd name="adj" fmla="val 4000"/>
            </a:avLst>
          </a:prstGeom>
          <a:solidFill>
            <a:srgbClr val="EDF3F6"/>
          </a:solidFill>
          <a:ln/>
          <a:effectLst>
            <a:outerShdw blurRad="76200" dist="25400" dir="5400000" algn="bl" rotWithShape="0">
              <a:srgbClr val="8A99A3">
                <a:alpha val="25000"/>
              </a:srgbClr>
            </a:outerShdw>
          </a:effectLst>
        </p:spPr>
      </p:sp>
      <p:sp>
        <p:nvSpPr>
          <p:cNvPr id="17" name="Shape 15"/>
          <p:cNvSpPr/>
          <p:nvPr/>
        </p:nvSpPr>
        <p:spPr>
          <a:xfrm>
            <a:off x="7790688" y="2240280"/>
            <a:ext cx="402336" cy="402336"/>
          </a:xfrm>
          <a:prstGeom prst="ellipse">
            <a:avLst/>
          </a:prstGeom>
          <a:solidFill>
            <a:srgbClr val="1F6E8C"/>
          </a:solidFill>
          <a:ln/>
        </p:spPr>
      </p:sp>
      <p:sp>
        <p:nvSpPr>
          <p:cNvPr id="18" name="Text 16"/>
          <p:cNvSpPr/>
          <p:nvPr/>
        </p:nvSpPr>
        <p:spPr>
          <a:xfrm>
            <a:off x="7790688" y="2240280"/>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7790688" y="2752344"/>
            <a:ext cx="2907792" cy="365760"/>
          </a:xfrm>
          <a:prstGeom prst="rect">
            <a:avLst/>
          </a:prstGeom>
          <a:noFill/>
          <a:ln/>
        </p:spPr>
        <p:txBody>
          <a:bodyPr wrap="square" rtlCol="0" anchor="ctr"/>
          <a:lstStyle/>
          <a:p>
            <a:pPr marL="0" indent="0">
              <a:buNone/>
            </a:pPr>
            <a:r>
              <a:rPr lang="en-US" sz="1550" b="1" dirty="0">
                <a:solidFill>
                  <a:srgbClr val="132743"/>
                </a:solidFill>
                <a:latin typeface="Calibri" pitchFamily="34" charset="0"/>
                <a:ea typeface="Calibri" pitchFamily="34" charset="-122"/>
                <a:cs typeface="Calibri" pitchFamily="34" charset="-120"/>
              </a:rPr>
              <a:t>Handle Input/Output</a:t>
            </a:r>
            <a:endParaRPr lang="en-US" sz="1550" dirty="0"/>
          </a:p>
        </p:txBody>
      </p:sp>
      <p:sp>
        <p:nvSpPr>
          <p:cNvPr id="20" name="Text 18"/>
          <p:cNvSpPr/>
          <p:nvPr/>
        </p:nvSpPr>
        <p:spPr>
          <a:xfrm>
            <a:off x="7790688" y="3136392"/>
            <a:ext cx="2907792" cy="713232"/>
          </a:xfrm>
          <a:prstGeom prst="rect">
            <a:avLst/>
          </a:prstGeom>
          <a:noFill/>
          <a:ln/>
        </p:spPr>
        <p:txBody>
          <a:bodyPr wrap="square" rtlCol="0" anchor="ctr"/>
          <a:lstStyle/>
          <a:p>
            <a:pPr marL="0" indent="0">
              <a:lnSpc>
                <a:spcPct val="120000"/>
              </a:lnSpc>
              <a:buNone/>
            </a:pPr>
            <a:r>
              <a:rPr lang="en-US" sz="1200" dirty="0">
                <a:solidFill>
                  <a:srgbClr val="1C2B36"/>
                </a:solidFill>
                <a:latin typeface="Calibri" pitchFamily="34" charset="0"/>
                <a:ea typeface="Calibri" pitchFamily="34" charset="-122"/>
                <a:cs typeface="Calibri" pitchFamily="34" charset="-120"/>
              </a:rPr>
              <a:t>Read from the keyboard, files, connections, the internet and JSON APIs.</a:t>
            </a:r>
            <a:endParaRPr lang="en-US" sz="1200" dirty="0"/>
          </a:p>
        </p:txBody>
      </p:sp>
      <p:sp>
        <p:nvSpPr>
          <p:cNvPr id="21" name="Shape 19"/>
          <p:cNvSpPr/>
          <p:nvPr/>
        </p:nvSpPr>
        <p:spPr>
          <a:xfrm>
            <a:off x="457200" y="4142232"/>
            <a:ext cx="3310128" cy="1828800"/>
          </a:xfrm>
          <a:prstGeom prst="roundRect">
            <a:avLst>
              <a:gd name="adj" fmla="val 4000"/>
            </a:avLst>
          </a:prstGeom>
          <a:solidFill>
            <a:srgbClr val="EDF3F6"/>
          </a:solidFill>
          <a:ln/>
          <a:effectLst>
            <a:outerShdw blurRad="76200" dist="25400" dir="5400000" algn="bl" rotWithShape="0">
              <a:srgbClr val="8A99A3">
                <a:alpha val="25000"/>
              </a:srgbClr>
            </a:outerShdw>
          </a:effectLst>
        </p:spPr>
      </p:sp>
      <p:sp>
        <p:nvSpPr>
          <p:cNvPr id="22" name="Shape 20"/>
          <p:cNvSpPr/>
          <p:nvPr/>
        </p:nvSpPr>
        <p:spPr>
          <a:xfrm>
            <a:off x="658368" y="4325112"/>
            <a:ext cx="402336" cy="402336"/>
          </a:xfrm>
          <a:prstGeom prst="ellipse">
            <a:avLst/>
          </a:prstGeom>
          <a:solidFill>
            <a:srgbClr val="1F6E8C"/>
          </a:solidFill>
          <a:ln/>
        </p:spPr>
      </p:sp>
      <p:sp>
        <p:nvSpPr>
          <p:cNvPr id="23" name="Text 21"/>
          <p:cNvSpPr/>
          <p:nvPr/>
        </p:nvSpPr>
        <p:spPr>
          <a:xfrm>
            <a:off x="658368" y="4325112"/>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658368" y="4837176"/>
            <a:ext cx="2907792" cy="365760"/>
          </a:xfrm>
          <a:prstGeom prst="rect">
            <a:avLst/>
          </a:prstGeom>
          <a:noFill/>
          <a:ln/>
        </p:spPr>
        <p:txBody>
          <a:bodyPr wrap="square" rtlCol="0" anchor="ctr"/>
          <a:lstStyle/>
          <a:p>
            <a:pPr marL="0" indent="0">
              <a:buNone/>
            </a:pPr>
            <a:r>
              <a:rPr lang="en-US" sz="1550" b="1" dirty="0">
                <a:solidFill>
                  <a:srgbClr val="132743"/>
                </a:solidFill>
                <a:latin typeface="Calibri" pitchFamily="34" charset="0"/>
                <a:ea typeface="Calibri" pitchFamily="34" charset="-122"/>
                <a:cs typeface="Calibri" pitchFamily="34" charset="-120"/>
              </a:rPr>
              <a:t>Manipulate strings</a:t>
            </a:r>
            <a:endParaRPr lang="en-US" sz="1550" dirty="0"/>
          </a:p>
        </p:txBody>
      </p:sp>
      <p:sp>
        <p:nvSpPr>
          <p:cNvPr id="25" name="Text 23"/>
          <p:cNvSpPr/>
          <p:nvPr/>
        </p:nvSpPr>
        <p:spPr>
          <a:xfrm>
            <a:off x="658368" y="5221224"/>
            <a:ext cx="2907792" cy="713232"/>
          </a:xfrm>
          <a:prstGeom prst="rect">
            <a:avLst/>
          </a:prstGeom>
          <a:noFill/>
          <a:ln/>
        </p:spPr>
        <p:txBody>
          <a:bodyPr wrap="square" rtlCol="0" anchor="ctr"/>
          <a:lstStyle/>
          <a:p>
            <a:pPr marL="0" indent="0">
              <a:lnSpc>
                <a:spcPct val="120000"/>
              </a:lnSpc>
              <a:buNone/>
            </a:pPr>
            <a:r>
              <a:rPr lang="en-US" sz="1200" dirty="0">
                <a:solidFill>
                  <a:srgbClr val="1C2B36"/>
                </a:solidFill>
                <a:latin typeface="Calibri" pitchFamily="34" charset="0"/>
                <a:ea typeface="Calibri" pitchFamily="34" charset="-122"/>
                <a:cs typeface="Calibri" pitchFamily="34" charset="-120"/>
              </a:rPr>
              <a:t>Search, extract, replace, format and analyze text data using base R and stringr.</a:t>
            </a:r>
            <a:endParaRPr lang="en-US" sz="1200" dirty="0"/>
          </a:p>
        </p:txBody>
      </p:sp>
      <p:sp>
        <p:nvSpPr>
          <p:cNvPr id="26" name="Shape 24"/>
          <p:cNvSpPr/>
          <p:nvPr/>
        </p:nvSpPr>
        <p:spPr>
          <a:xfrm>
            <a:off x="4023360" y="4142232"/>
            <a:ext cx="3310128" cy="1828800"/>
          </a:xfrm>
          <a:prstGeom prst="roundRect">
            <a:avLst>
              <a:gd name="adj" fmla="val 4000"/>
            </a:avLst>
          </a:prstGeom>
          <a:solidFill>
            <a:srgbClr val="EDF3F6"/>
          </a:solidFill>
          <a:ln/>
          <a:effectLst>
            <a:outerShdw blurRad="76200" dist="25400" dir="5400000" algn="bl" rotWithShape="0">
              <a:srgbClr val="8A99A3">
                <a:alpha val="25000"/>
              </a:srgbClr>
            </a:outerShdw>
          </a:effectLst>
        </p:spPr>
      </p:sp>
      <p:sp>
        <p:nvSpPr>
          <p:cNvPr id="27" name="Shape 25"/>
          <p:cNvSpPr/>
          <p:nvPr/>
        </p:nvSpPr>
        <p:spPr>
          <a:xfrm>
            <a:off x="4224528" y="4325112"/>
            <a:ext cx="402336" cy="402336"/>
          </a:xfrm>
          <a:prstGeom prst="ellipse">
            <a:avLst/>
          </a:prstGeom>
          <a:solidFill>
            <a:srgbClr val="1F6E8C"/>
          </a:solidFill>
          <a:ln/>
        </p:spPr>
      </p:sp>
      <p:sp>
        <p:nvSpPr>
          <p:cNvPr id="28" name="Text 26"/>
          <p:cNvSpPr/>
          <p:nvPr/>
        </p:nvSpPr>
        <p:spPr>
          <a:xfrm>
            <a:off x="4224528" y="4325112"/>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p:nvPr/>
        </p:nvSpPr>
        <p:spPr>
          <a:xfrm>
            <a:off x="4224528" y="4837176"/>
            <a:ext cx="2907792" cy="365760"/>
          </a:xfrm>
          <a:prstGeom prst="rect">
            <a:avLst/>
          </a:prstGeom>
          <a:noFill/>
          <a:ln/>
        </p:spPr>
        <p:txBody>
          <a:bodyPr wrap="square" rtlCol="0" anchor="ctr"/>
          <a:lstStyle/>
          <a:p>
            <a:pPr marL="0" indent="0">
              <a:buNone/>
            </a:pPr>
            <a:r>
              <a:rPr lang="en-US" sz="1550" b="1" dirty="0">
                <a:solidFill>
                  <a:srgbClr val="132743"/>
                </a:solidFill>
                <a:latin typeface="Calibri" pitchFamily="34" charset="0"/>
                <a:ea typeface="Calibri" pitchFamily="34" charset="-122"/>
                <a:cs typeface="Calibri" pitchFamily="34" charset="-120"/>
              </a:rPr>
              <a:t>Build graphics</a:t>
            </a:r>
            <a:endParaRPr lang="en-US" sz="1550" dirty="0"/>
          </a:p>
        </p:txBody>
      </p:sp>
      <p:sp>
        <p:nvSpPr>
          <p:cNvPr id="30" name="Text 28"/>
          <p:cNvSpPr/>
          <p:nvPr/>
        </p:nvSpPr>
        <p:spPr>
          <a:xfrm>
            <a:off x="4224528" y="5221224"/>
            <a:ext cx="2907792" cy="713232"/>
          </a:xfrm>
          <a:prstGeom prst="rect">
            <a:avLst/>
          </a:prstGeom>
          <a:noFill/>
          <a:ln/>
        </p:spPr>
        <p:txBody>
          <a:bodyPr wrap="square" rtlCol="0" anchor="ctr"/>
          <a:lstStyle/>
          <a:p>
            <a:pPr marL="0" indent="0">
              <a:lnSpc>
                <a:spcPct val="120000"/>
              </a:lnSpc>
              <a:buNone/>
            </a:pPr>
            <a:r>
              <a:rPr lang="en-US" sz="1200" dirty="0">
                <a:solidFill>
                  <a:srgbClr val="1C2B36"/>
                </a:solidFill>
                <a:latin typeface="Calibri" pitchFamily="34" charset="0"/>
                <a:ea typeface="Calibri" pitchFamily="34" charset="-122"/>
                <a:cs typeface="Calibri" pitchFamily="34" charset="-120"/>
              </a:rPr>
              <a:t>Create, customize, arrange, save and render 2D and 3D plots for data analysis.</a:t>
            </a:r>
            <a:endParaRPr lang="en-US" sz="1200" dirty="0"/>
          </a:p>
        </p:txBody>
      </p:sp>
      <p:sp>
        <p:nvSpPr>
          <p:cNvPr id="31" name="Shape 29"/>
          <p:cNvSpPr/>
          <p:nvPr/>
        </p:nvSpPr>
        <p:spPr>
          <a:xfrm>
            <a:off x="7589520" y="4142232"/>
            <a:ext cx="3310128" cy="1828800"/>
          </a:xfrm>
          <a:prstGeom prst="roundRect">
            <a:avLst>
              <a:gd name="adj" fmla="val 4000"/>
            </a:avLst>
          </a:prstGeom>
          <a:solidFill>
            <a:srgbClr val="EDF3F6"/>
          </a:solidFill>
          <a:ln/>
          <a:effectLst>
            <a:outerShdw blurRad="76200" dist="25400" dir="5400000" algn="bl" rotWithShape="0">
              <a:srgbClr val="8A99A3">
                <a:alpha val="25000"/>
              </a:srgbClr>
            </a:outerShdw>
          </a:effectLst>
        </p:spPr>
      </p:sp>
      <p:sp>
        <p:nvSpPr>
          <p:cNvPr id="32" name="Shape 30"/>
          <p:cNvSpPr/>
          <p:nvPr/>
        </p:nvSpPr>
        <p:spPr>
          <a:xfrm>
            <a:off x="7790688" y="4325112"/>
            <a:ext cx="402336" cy="402336"/>
          </a:xfrm>
          <a:prstGeom prst="ellipse">
            <a:avLst/>
          </a:prstGeom>
          <a:solidFill>
            <a:srgbClr val="1F6E8C"/>
          </a:solidFill>
          <a:ln/>
        </p:spPr>
      </p:sp>
      <p:sp>
        <p:nvSpPr>
          <p:cNvPr id="33" name="Text 31"/>
          <p:cNvSpPr/>
          <p:nvPr/>
        </p:nvSpPr>
        <p:spPr>
          <a:xfrm>
            <a:off x="7790688" y="4325112"/>
            <a:ext cx="402336" cy="402336"/>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4" name="Text 32"/>
          <p:cNvSpPr/>
          <p:nvPr/>
        </p:nvSpPr>
        <p:spPr>
          <a:xfrm>
            <a:off x="7790688" y="4837176"/>
            <a:ext cx="2907792" cy="365760"/>
          </a:xfrm>
          <a:prstGeom prst="rect">
            <a:avLst/>
          </a:prstGeom>
          <a:noFill/>
          <a:ln/>
        </p:spPr>
        <p:txBody>
          <a:bodyPr wrap="square" rtlCol="0" anchor="ctr"/>
          <a:lstStyle/>
          <a:p>
            <a:pPr marL="0" indent="0">
              <a:buNone/>
            </a:pPr>
            <a:r>
              <a:rPr lang="en-US" sz="1550" b="1" dirty="0">
                <a:solidFill>
                  <a:srgbClr val="132743"/>
                </a:solidFill>
                <a:latin typeface="Calibri" pitchFamily="34" charset="0"/>
                <a:ea typeface="Calibri" pitchFamily="34" charset="-122"/>
                <a:cs typeface="Calibri" pitchFamily="34" charset="-120"/>
              </a:rPr>
              <a:t>Apply skills together</a:t>
            </a:r>
            <a:endParaRPr lang="en-US" sz="1550" dirty="0"/>
          </a:p>
        </p:txBody>
      </p:sp>
      <p:sp>
        <p:nvSpPr>
          <p:cNvPr id="35" name="Text 33"/>
          <p:cNvSpPr/>
          <p:nvPr/>
        </p:nvSpPr>
        <p:spPr>
          <a:xfrm>
            <a:off x="7790688" y="5221224"/>
            <a:ext cx="2907792" cy="713232"/>
          </a:xfrm>
          <a:prstGeom prst="rect">
            <a:avLst/>
          </a:prstGeom>
          <a:noFill/>
          <a:ln/>
        </p:spPr>
        <p:txBody>
          <a:bodyPr wrap="square" rtlCol="0" anchor="ctr"/>
          <a:lstStyle/>
          <a:p>
            <a:pPr marL="0" indent="0">
              <a:lnSpc>
                <a:spcPct val="120000"/>
              </a:lnSpc>
              <a:buNone/>
            </a:pPr>
            <a:r>
              <a:rPr lang="en-US" sz="1200" dirty="0">
                <a:solidFill>
                  <a:srgbClr val="1C2B36"/>
                </a:solidFill>
                <a:latin typeface="Calibri" pitchFamily="34" charset="0"/>
                <a:ea typeface="Calibri" pitchFamily="34" charset="-122"/>
                <a:cs typeface="Calibri" pitchFamily="34" charset="-120"/>
              </a:rPr>
              <a:t>Combine OOP, I/O, strings and graphics in an end-to-end R script.</a:t>
            </a:r>
            <a:endParaRPr lang="en-US" sz="1200" dirty="0"/>
          </a:p>
        </p:txBody>
      </p:sp>
      <p:sp>
        <p:nvSpPr>
          <p:cNvPr id="36" name="Text 34"/>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37" name="Text 35"/>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ROADMAP</a:t>
            </a:r>
            <a:endParaRPr lang="en-US" sz="1200" dirty="0"/>
          </a:p>
        </p:txBody>
      </p:sp>
      <p:sp>
        <p:nvSpPr>
          <p:cNvPr id="4" name="Text 2"/>
          <p:cNvSpPr/>
          <p:nvPr/>
        </p:nvSpPr>
        <p:spPr>
          <a:xfrm>
            <a:off x="457200" y="841248"/>
            <a:ext cx="10058400" cy="640080"/>
          </a:xfrm>
          <a:prstGeom prst="rect">
            <a:avLst/>
          </a:prstGeom>
          <a:noFill/>
          <a:ln/>
        </p:spPr>
        <p:txBody>
          <a:bodyPr wrap="square" rtlCol="0" anchor="ctr"/>
          <a:lstStyle/>
          <a:p>
            <a:pPr marL="0" indent="0">
              <a:buNone/>
            </a:pPr>
            <a:r>
              <a:rPr lang="en-US" sz="3300" b="1" dirty="0">
                <a:solidFill>
                  <a:srgbClr val="132743"/>
                </a:solidFill>
                <a:latin typeface="Cambria" pitchFamily="34" charset="0"/>
                <a:ea typeface="Cambria" pitchFamily="34" charset="-122"/>
                <a:cs typeface="Cambria" pitchFamily="34" charset="-120"/>
              </a:rPr>
              <a:t>Lesson Agenda</a:t>
            </a:r>
            <a:endParaRPr lang="en-US" sz="3300" dirty="0"/>
          </a:p>
        </p:txBody>
      </p:sp>
      <p:sp>
        <p:nvSpPr>
          <p:cNvPr id="5" name="Shape 3"/>
          <p:cNvSpPr/>
          <p:nvPr/>
        </p:nvSpPr>
        <p:spPr>
          <a:xfrm>
            <a:off x="457200" y="1783080"/>
            <a:ext cx="11247120" cy="768096"/>
          </a:xfrm>
          <a:prstGeom prst="roundRect">
            <a:avLst>
              <a:gd name="adj" fmla="val 7143"/>
            </a:avLst>
          </a:prstGeom>
          <a:solidFill>
            <a:srgbClr val="EDF3F6"/>
          </a:solidFill>
          <a:ln w="12700">
            <a:solidFill>
              <a:srgbClr val="DDE6EA"/>
            </a:solidFill>
            <a:prstDash val="solid"/>
          </a:ln>
        </p:spPr>
      </p:sp>
      <p:sp>
        <p:nvSpPr>
          <p:cNvPr id="6" name="Text 4"/>
          <p:cNvSpPr/>
          <p:nvPr/>
        </p:nvSpPr>
        <p:spPr>
          <a:xfrm>
            <a:off x="685800" y="1783080"/>
            <a:ext cx="914400" cy="768096"/>
          </a:xfrm>
          <a:prstGeom prst="rect">
            <a:avLst/>
          </a:prstGeom>
          <a:noFill/>
          <a:ln/>
        </p:spPr>
        <p:txBody>
          <a:bodyPr wrap="square" rtlCol="0" anchor="ctr"/>
          <a:lstStyle/>
          <a:p>
            <a:pPr marL="0" indent="0">
              <a:buNone/>
            </a:pPr>
            <a:r>
              <a:rPr lang="en-US" sz="2700" b="1" dirty="0">
                <a:solidFill>
                  <a:srgbClr val="FF6B35"/>
                </a:solidFill>
                <a:latin typeface="Cambria" pitchFamily="34" charset="0"/>
                <a:ea typeface="Cambria" pitchFamily="34" charset="-122"/>
                <a:cs typeface="Cambria" pitchFamily="34" charset="-120"/>
              </a:rPr>
              <a:t>01</a:t>
            </a:r>
            <a:endParaRPr lang="en-US" sz="2700" dirty="0"/>
          </a:p>
        </p:txBody>
      </p:sp>
      <p:sp>
        <p:nvSpPr>
          <p:cNvPr id="7" name="Text 5"/>
          <p:cNvSpPr/>
          <p:nvPr/>
        </p:nvSpPr>
        <p:spPr>
          <a:xfrm>
            <a:off x="1737360" y="1783080"/>
            <a:ext cx="3840480" cy="768096"/>
          </a:xfrm>
          <a:prstGeom prst="rect">
            <a:avLst/>
          </a:prstGeom>
          <a:noFill/>
          <a:ln/>
        </p:spPr>
        <p:txBody>
          <a:bodyPr wrap="square" rtlCol="0" anchor="ctr"/>
          <a:lstStyle/>
          <a:p>
            <a:pPr marL="0" indent="0">
              <a:buNone/>
            </a:pPr>
            <a:r>
              <a:rPr lang="en-US" sz="1700" b="1" dirty="0">
                <a:solidFill>
                  <a:srgbClr val="132743"/>
                </a:solidFill>
                <a:latin typeface="Calibri" pitchFamily="34" charset="0"/>
                <a:ea typeface="Calibri" pitchFamily="34" charset="-122"/>
                <a:cs typeface="Calibri" pitchFamily="34" charset="-120"/>
              </a:rPr>
              <a:t>Object-Oriented Programming</a:t>
            </a:r>
            <a:endParaRPr lang="en-US" sz="1700" dirty="0"/>
          </a:p>
        </p:txBody>
      </p:sp>
      <p:sp>
        <p:nvSpPr>
          <p:cNvPr id="8" name="Text 6"/>
          <p:cNvSpPr/>
          <p:nvPr/>
        </p:nvSpPr>
        <p:spPr>
          <a:xfrm>
            <a:off x="5760720" y="1783080"/>
            <a:ext cx="5760720" cy="768096"/>
          </a:xfrm>
          <a:prstGeom prst="rect">
            <a:avLst/>
          </a:prstGeom>
          <a:noFill/>
          <a:ln/>
        </p:spPr>
        <p:txBody>
          <a:bodyPr wrap="square" rtlCol="0" anchor="ctr"/>
          <a:lstStyle/>
          <a:p>
            <a:pPr marL="0" indent="0">
              <a:buNone/>
            </a:pPr>
            <a:r>
              <a:rPr lang="en-US" sz="1300" dirty="0">
                <a:solidFill>
                  <a:srgbClr val="1C2B36"/>
                </a:solidFill>
                <a:latin typeface="Calibri" pitchFamily="34" charset="0"/>
                <a:ea typeface="Calibri" pitchFamily="34" charset="-122"/>
                <a:cs typeface="Calibri" pitchFamily="34" charset="-120"/>
              </a:rPr>
              <a:t>S3, S4 &amp; Reference Classes, dispatch, inheritance, OOP in statistical models</a:t>
            </a:r>
            <a:endParaRPr lang="en-US" sz="1300" dirty="0"/>
          </a:p>
        </p:txBody>
      </p:sp>
      <p:sp>
        <p:nvSpPr>
          <p:cNvPr id="9" name="Shape 7"/>
          <p:cNvSpPr/>
          <p:nvPr/>
        </p:nvSpPr>
        <p:spPr>
          <a:xfrm>
            <a:off x="457200" y="2679192"/>
            <a:ext cx="11247120" cy="768096"/>
          </a:xfrm>
          <a:prstGeom prst="roundRect">
            <a:avLst>
              <a:gd name="adj" fmla="val 7143"/>
            </a:avLst>
          </a:prstGeom>
          <a:solidFill>
            <a:srgbClr val="FFFFFF"/>
          </a:solidFill>
          <a:ln w="12700">
            <a:solidFill>
              <a:srgbClr val="DDE6EA"/>
            </a:solidFill>
            <a:prstDash val="solid"/>
          </a:ln>
        </p:spPr>
      </p:sp>
      <p:sp>
        <p:nvSpPr>
          <p:cNvPr id="10" name="Text 8"/>
          <p:cNvSpPr/>
          <p:nvPr/>
        </p:nvSpPr>
        <p:spPr>
          <a:xfrm>
            <a:off x="685800" y="2679192"/>
            <a:ext cx="914400" cy="768096"/>
          </a:xfrm>
          <a:prstGeom prst="rect">
            <a:avLst/>
          </a:prstGeom>
          <a:noFill/>
          <a:ln/>
        </p:spPr>
        <p:txBody>
          <a:bodyPr wrap="square" rtlCol="0" anchor="ctr"/>
          <a:lstStyle/>
          <a:p>
            <a:pPr marL="0" indent="0">
              <a:buNone/>
            </a:pPr>
            <a:r>
              <a:rPr lang="en-US" sz="2700" b="1" dirty="0">
                <a:solidFill>
                  <a:srgbClr val="FF6B35"/>
                </a:solidFill>
                <a:latin typeface="Cambria" pitchFamily="34" charset="0"/>
                <a:ea typeface="Cambria" pitchFamily="34" charset="-122"/>
                <a:cs typeface="Cambria" pitchFamily="34" charset="-120"/>
              </a:rPr>
              <a:t>02</a:t>
            </a:r>
            <a:endParaRPr lang="en-US" sz="2700" dirty="0"/>
          </a:p>
        </p:txBody>
      </p:sp>
      <p:sp>
        <p:nvSpPr>
          <p:cNvPr id="11" name="Text 9"/>
          <p:cNvSpPr/>
          <p:nvPr/>
        </p:nvSpPr>
        <p:spPr>
          <a:xfrm>
            <a:off x="1737360" y="2679192"/>
            <a:ext cx="3840480" cy="768096"/>
          </a:xfrm>
          <a:prstGeom prst="rect">
            <a:avLst/>
          </a:prstGeom>
          <a:noFill/>
          <a:ln/>
        </p:spPr>
        <p:txBody>
          <a:bodyPr wrap="square" rtlCol="0" anchor="ctr"/>
          <a:lstStyle/>
          <a:p>
            <a:pPr marL="0" indent="0">
              <a:buNone/>
            </a:pPr>
            <a:r>
              <a:rPr lang="en-US" sz="1700" b="1" dirty="0">
                <a:solidFill>
                  <a:srgbClr val="132743"/>
                </a:solidFill>
                <a:latin typeface="Calibri" pitchFamily="34" charset="0"/>
                <a:ea typeface="Calibri" pitchFamily="34" charset="-122"/>
                <a:cs typeface="Calibri" pitchFamily="34" charset="-120"/>
              </a:rPr>
              <a:t>Managing Your Objects</a:t>
            </a:r>
            <a:endParaRPr lang="en-US" sz="1700" dirty="0"/>
          </a:p>
        </p:txBody>
      </p:sp>
      <p:sp>
        <p:nvSpPr>
          <p:cNvPr id="12" name="Text 10"/>
          <p:cNvSpPr/>
          <p:nvPr/>
        </p:nvSpPr>
        <p:spPr>
          <a:xfrm>
            <a:off x="5760720" y="2679192"/>
            <a:ext cx="5760720" cy="768096"/>
          </a:xfrm>
          <a:prstGeom prst="rect">
            <a:avLst/>
          </a:prstGeom>
          <a:noFill/>
          <a:ln/>
        </p:spPr>
        <p:txBody>
          <a:bodyPr wrap="square" rtlCol="0" anchor="ctr"/>
          <a:lstStyle/>
          <a:p>
            <a:pPr marL="0" indent="0">
              <a:buNone/>
            </a:pPr>
            <a:r>
              <a:rPr lang="en-US" sz="1300" dirty="0">
                <a:solidFill>
                  <a:srgbClr val="1C2B36"/>
                </a:solidFill>
                <a:latin typeface="Calibri" pitchFamily="34" charset="0"/>
                <a:ea typeface="Calibri" pitchFamily="34" charset="-122"/>
                <a:cs typeface="Calibri" pitchFamily="34" charset="-120"/>
              </a:rPr>
              <a:t>Workspace inspection, exists/get/assign, saving, file connections</a:t>
            </a:r>
            <a:endParaRPr lang="en-US" sz="1300" dirty="0"/>
          </a:p>
        </p:txBody>
      </p:sp>
      <p:sp>
        <p:nvSpPr>
          <p:cNvPr id="13" name="Shape 11"/>
          <p:cNvSpPr/>
          <p:nvPr/>
        </p:nvSpPr>
        <p:spPr>
          <a:xfrm>
            <a:off x="457200" y="3575304"/>
            <a:ext cx="11247120" cy="768096"/>
          </a:xfrm>
          <a:prstGeom prst="roundRect">
            <a:avLst>
              <a:gd name="adj" fmla="val 7143"/>
            </a:avLst>
          </a:prstGeom>
          <a:solidFill>
            <a:srgbClr val="EDF3F6"/>
          </a:solidFill>
          <a:ln w="12700">
            <a:solidFill>
              <a:srgbClr val="DDE6EA"/>
            </a:solidFill>
            <a:prstDash val="solid"/>
          </a:ln>
        </p:spPr>
      </p:sp>
      <p:sp>
        <p:nvSpPr>
          <p:cNvPr id="14" name="Text 12"/>
          <p:cNvSpPr/>
          <p:nvPr/>
        </p:nvSpPr>
        <p:spPr>
          <a:xfrm>
            <a:off x="685800" y="3575304"/>
            <a:ext cx="914400" cy="768096"/>
          </a:xfrm>
          <a:prstGeom prst="rect">
            <a:avLst/>
          </a:prstGeom>
          <a:noFill/>
          <a:ln/>
        </p:spPr>
        <p:txBody>
          <a:bodyPr wrap="square" rtlCol="0" anchor="ctr"/>
          <a:lstStyle/>
          <a:p>
            <a:pPr marL="0" indent="0">
              <a:buNone/>
            </a:pPr>
            <a:r>
              <a:rPr lang="en-US" sz="2700" b="1" dirty="0">
                <a:solidFill>
                  <a:srgbClr val="FF6B35"/>
                </a:solidFill>
                <a:latin typeface="Cambria" pitchFamily="34" charset="0"/>
                <a:ea typeface="Cambria" pitchFamily="34" charset="-122"/>
                <a:cs typeface="Cambria" pitchFamily="34" charset="-120"/>
              </a:rPr>
              <a:t>03</a:t>
            </a:r>
            <a:endParaRPr lang="en-US" sz="2700" dirty="0"/>
          </a:p>
        </p:txBody>
      </p:sp>
      <p:sp>
        <p:nvSpPr>
          <p:cNvPr id="15" name="Text 13"/>
          <p:cNvSpPr/>
          <p:nvPr/>
        </p:nvSpPr>
        <p:spPr>
          <a:xfrm>
            <a:off x="1737360" y="3575304"/>
            <a:ext cx="3840480" cy="768096"/>
          </a:xfrm>
          <a:prstGeom prst="rect">
            <a:avLst/>
          </a:prstGeom>
          <a:noFill/>
          <a:ln/>
        </p:spPr>
        <p:txBody>
          <a:bodyPr wrap="square" rtlCol="0" anchor="ctr"/>
          <a:lstStyle/>
          <a:p>
            <a:pPr marL="0" indent="0">
              <a:buNone/>
            </a:pPr>
            <a:r>
              <a:rPr lang="en-US" sz="1700" b="1" dirty="0">
                <a:solidFill>
                  <a:srgbClr val="132743"/>
                </a:solidFill>
                <a:latin typeface="Calibri" pitchFamily="34" charset="0"/>
                <a:ea typeface="Calibri" pitchFamily="34" charset="-122"/>
                <a:cs typeface="Calibri" pitchFamily="34" charset="-120"/>
              </a:rPr>
              <a:t>Input / Output</a:t>
            </a:r>
            <a:endParaRPr lang="en-US" sz="1700" dirty="0"/>
          </a:p>
        </p:txBody>
      </p:sp>
      <p:sp>
        <p:nvSpPr>
          <p:cNvPr id="16" name="Text 14"/>
          <p:cNvSpPr/>
          <p:nvPr/>
        </p:nvSpPr>
        <p:spPr>
          <a:xfrm>
            <a:off x="5760720" y="3575304"/>
            <a:ext cx="5760720" cy="768096"/>
          </a:xfrm>
          <a:prstGeom prst="rect">
            <a:avLst/>
          </a:prstGeom>
          <a:noFill/>
          <a:ln/>
        </p:spPr>
        <p:txBody>
          <a:bodyPr wrap="square" rtlCol="0" anchor="ctr"/>
          <a:lstStyle/>
          <a:p>
            <a:pPr marL="0" indent="0">
              <a:buNone/>
            </a:pPr>
            <a:r>
              <a:rPr lang="en-US" sz="1300" dirty="0">
                <a:solidFill>
                  <a:srgbClr val="1C2B36"/>
                </a:solidFill>
                <a:latin typeface="Calibri" pitchFamily="34" charset="0"/>
                <a:ea typeface="Calibri" pitchFamily="34" charset="-122"/>
                <a:cs typeface="Calibri" pitchFamily="34" charset="-120"/>
              </a:rPr>
              <a:t>Keyboard, monitor, files, the internet and JSON APIs</a:t>
            </a:r>
            <a:endParaRPr lang="en-US" sz="1300" dirty="0"/>
          </a:p>
        </p:txBody>
      </p:sp>
      <p:sp>
        <p:nvSpPr>
          <p:cNvPr id="17" name="Shape 15"/>
          <p:cNvSpPr/>
          <p:nvPr/>
        </p:nvSpPr>
        <p:spPr>
          <a:xfrm>
            <a:off x="457200" y="4471416"/>
            <a:ext cx="11247120" cy="768096"/>
          </a:xfrm>
          <a:prstGeom prst="roundRect">
            <a:avLst>
              <a:gd name="adj" fmla="val 7143"/>
            </a:avLst>
          </a:prstGeom>
          <a:solidFill>
            <a:srgbClr val="FFFFFF"/>
          </a:solidFill>
          <a:ln w="12700">
            <a:solidFill>
              <a:srgbClr val="DDE6EA"/>
            </a:solidFill>
            <a:prstDash val="solid"/>
          </a:ln>
        </p:spPr>
      </p:sp>
      <p:sp>
        <p:nvSpPr>
          <p:cNvPr id="18" name="Text 16"/>
          <p:cNvSpPr/>
          <p:nvPr/>
        </p:nvSpPr>
        <p:spPr>
          <a:xfrm>
            <a:off x="685800" y="4471416"/>
            <a:ext cx="914400" cy="768096"/>
          </a:xfrm>
          <a:prstGeom prst="rect">
            <a:avLst/>
          </a:prstGeom>
          <a:noFill/>
          <a:ln/>
        </p:spPr>
        <p:txBody>
          <a:bodyPr wrap="square" rtlCol="0" anchor="ctr"/>
          <a:lstStyle/>
          <a:p>
            <a:pPr marL="0" indent="0">
              <a:buNone/>
            </a:pPr>
            <a:r>
              <a:rPr lang="en-US" sz="2700" b="1" dirty="0">
                <a:solidFill>
                  <a:srgbClr val="FF6B35"/>
                </a:solidFill>
                <a:latin typeface="Cambria" pitchFamily="34" charset="0"/>
                <a:ea typeface="Cambria" pitchFamily="34" charset="-122"/>
                <a:cs typeface="Cambria" pitchFamily="34" charset="-120"/>
              </a:rPr>
              <a:t>04</a:t>
            </a:r>
            <a:endParaRPr lang="en-US" sz="2700" dirty="0"/>
          </a:p>
        </p:txBody>
      </p:sp>
      <p:sp>
        <p:nvSpPr>
          <p:cNvPr id="19" name="Text 17"/>
          <p:cNvSpPr/>
          <p:nvPr/>
        </p:nvSpPr>
        <p:spPr>
          <a:xfrm>
            <a:off x="1737360" y="4471416"/>
            <a:ext cx="3840480" cy="768096"/>
          </a:xfrm>
          <a:prstGeom prst="rect">
            <a:avLst/>
          </a:prstGeom>
          <a:noFill/>
          <a:ln/>
        </p:spPr>
        <p:txBody>
          <a:bodyPr wrap="square" rtlCol="0" anchor="ctr"/>
          <a:lstStyle/>
          <a:p>
            <a:pPr marL="0" indent="0">
              <a:buNone/>
            </a:pPr>
            <a:r>
              <a:rPr lang="en-US" sz="1700" b="1" dirty="0">
                <a:solidFill>
                  <a:srgbClr val="132743"/>
                </a:solidFill>
                <a:latin typeface="Calibri" pitchFamily="34" charset="0"/>
                <a:ea typeface="Calibri" pitchFamily="34" charset="-122"/>
                <a:cs typeface="Calibri" pitchFamily="34" charset="-120"/>
              </a:rPr>
              <a:t>String Manipulation</a:t>
            </a:r>
            <a:endParaRPr lang="en-US" sz="1700" dirty="0"/>
          </a:p>
        </p:txBody>
      </p:sp>
      <p:sp>
        <p:nvSpPr>
          <p:cNvPr id="20" name="Text 18"/>
          <p:cNvSpPr/>
          <p:nvPr/>
        </p:nvSpPr>
        <p:spPr>
          <a:xfrm>
            <a:off x="5760720" y="4471416"/>
            <a:ext cx="5760720" cy="768096"/>
          </a:xfrm>
          <a:prstGeom prst="rect">
            <a:avLst/>
          </a:prstGeom>
          <a:noFill/>
          <a:ln/>
        </p:spPr>
        <p:txBody>
          <a:bodyPr wrap="square" rtlCol="0" anchor="ctr"/>
          <a:lstStyle/>
          <a:p>
            <a:pPr marL="0" indent="0">
              <a:buNone/>
            </a:pPr>
            <a:r>
              <a:rPr lang="en-US" sz="1300" dirty="0">
                <a:solidFill>
                  <a:srgbClr val="1C2B36"/>
                </a:solidFill>
                <a:latin typeface="Calibri" pitchFamily="34" charset="0"/>
                <a:ea typeface="Calibri" pitchFamily="34" charset="-122"/>
                <a:cs typeface="Calibri" pitchFamily="34" charset="-120"/>
              </a:rPr>
              <a:t>Building, trimming, pattern matching, replacing, formatting and text analytics</a:t>
            </a:r>
            <a:endParaRPr lang="en-US" sz="1300" dirty="0"/>
          </a:p>
        </p:txBody>
      </p:sp>
      <p:sp>
        <p:nvSpPr>
          <p:cNvPr id="21" name="Shape 19"/>
          <p:cNvSpPr/>
          <p:nvPr/>
        </p:nvSpPr>
        <p:spPr>
          <a:xfrm>
            <a:off x="457200" y="5367528"/>
            <a:ext cx="11247120" cy="768096"/>
          </a:xfrm>
          <a:prstGeom prst="roundRect">
            <a:avLst>
              <a:gd name="adj" fmla="val 7143"/>
            </a:avLst>
          </a:prstGeom>
          <a:solidFill>
            <a:srgbClr val="EDF3F6"/>
          </a:solidFill>
          <a:ln w="12700">
            <a:solidFill>
              <a:srgbClr val="DDE6EA"/>
            </a:solidFill>
            <a:prstDash val="solid"/>
          </a:ln>
        </p:spPr>
      </p:sp>
      <p:sp>
        <p:nvSpPr>
          <p:cNvPr id="22" name="Text 20"/>
          <p:cNvSpPr/>
          <p:nvPr/>
        </p:nvSpPr>
        <p:spPr>
          <a:xfrm>
            <a:off x="685800" y="5367528"/>
            <a:ext cx="914400" cy="768096"/>
          </a:xfrm>
          <a:prstGeom prst="rect">
            <a:avLst/>
          </a:prstGeom>
          <a:noFill/>
          <a:ln/>
        </p:spPr>
        <p:txBody>
          <a:bodyPr wrap="square" rtlCol="0" anchor="ctr"/>
          <a:lstStyle/>
          <a:p>
            <a:pPr marL="0" indent="0">
              <a:buNone/>
            </a:pPr>
            <a:r>
              <a:rPr lang="en-US" sz="2700" b="1" dirty="0">
                <a:solidFill>
                  <a:srgbClr val="FF6B35"/>
                </a:solidFill>
                <a:latin typeface="Cambria" pitchFamily="34" charset="0"/>
                <a:ea typeface="Cambria" pitchFamily="34" charset="-122"/>
                <a:cs typeface="Cambria" pitchFamily="34" charset="-120"/>
              </a:rPr>
              <a:t>05</a:t>
            </a:r>
            <a:endParaRPr lang="en-US" sz="2700" dirty="0"/>
          </a:p>
        </p:txBody>
      </p:sp>
      <p:sp>
        <p:nvSpPr>
          <p:cNvPr id="23" name="Text 21"/>
          <p:cNvSpPr/>
          <p:nvPr/>
        </p:nvSpPr>
        <p:spPr>
          <a:xfrm>
            <a:off x="1737360" y="5367528"/>
            <a:ext cx="3840480" cy="768096"/>
          </a:xfrm>
          <a:prstGeom prst="rect">
            <a:avLst/>
          </a:prstGeom>
          <a:noFill/>
          <a:ln/>
        </p:spPr>
        <p:txBody>
          <a:bodyPr wrap="square" rtlCol="0" anchor="ctr"/>
          <a:lstStyle/>
          <a:p>
            <a:pPr marL="0" indent="0">
              <a:buNone/>
            </a:pPr>
            <a:r>
              <a:rPr lang="en-US" sz="1700" b="1" dirty="0">
                <a:solidFill>
                  <a:srgbClr val="132743"/>
                </a:solidFill>
                <a:latin typeface="Calibri" pitchFamily="34" charset="0"/>
                <a:ea typeface="Calibri" pitchFamily="34" charset="-122"/>
                <a:cs typeface="Calibri" pitchFamily="34" charset="-120"/>
              </a:rPr>
              <a:t>Graphics</a:t>
            </a:r>
            <a:endParaRPr lang="en-US" sz="1700" dirty="0"/>
          </a:p>
        </p:txBody>
      </p:sp>
      <p:sp>
        <p:nvSpPr>
          <p:cNvPr id="24" name="Text 22"/>
          <p:cNvSpPr/>
          <p:nvPr/>
        </p:nvSpPr>
        <p:spPr>
          <a:xfrm>
            <a:off x="5760720" y="5367528"/>
            <a:ext cx="5760720" cy="768096"/>
          </a:xfrm>
          <a:prstGeom prst="rect">
            <a:avLst/>
          </a:prstGeom>
          <a:noFill/>
          <a:ln/>
        </p:spPr>
        <p:txBody>
          <a:bodyPr wrap="square" rtlCol="0" anchor="ctr"/>
          <a:lstStyle/>
          <a:p>
            <a:pPr marL="0" indent="0">
              <a:buNone/>
            </a:pPr>
            <a:r>
              <a:rPr lang="en-US" sz="1300" dirty="0">
                <a:solidFill>
                  <a:srgbClr val="1C2B36"/>
                </a:solidFill>
                <a:latin typeface="Calibri" pitchFamily="34" charset="0"/>
                <a:ea typeface="Calibri" pitchFamily="34" charset="-122"/>
                <a:cs typeface="Calibri" pitchFamily="34" charset="-120"/>
              </a:rPr>
              <a:t>Creating, customizing, arranging, saving and 3D plots</a:t>
            </a:r>
            <a:endParaRPr lang="en-US" sz="1300" dirty="0"/>
          </a:p>
        </p:txBody>
      </p:sp>
      <p:sp>
        <p:nvSpPr>
          <p:cNvPr id="25" name="Text 23"/>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26" name="Text 24"/>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743"/>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1F6E8C">
              <a:alpha val="22000"/>
            </a:srgbClr>
          </a:solidFill>
          <a:ln/>
        </p:spPr>
      </p:sp>
      <p:sp>
        <p:nvSpPr>
          <p:cNvPr id="3" name="Shape 1"/>
          <p:cNvSpPr/>
          <p:nvPr/>
        </p:nvSpPr>
        <p:spPr>
          <a:xfrm>
            <a:off x="-1371600" y="4572000"/>
            <a:ext cx="3657600" cy="3657600"/>
          </a:xfrm>
          <a:prstGeom prst="ellipse">
            <a:avLst/>
          </a:prstGeom>
          <a:solidFill>
            <a:srgbClr val="FF6B35">
              <a:alpha val="15000"/>
            </a:srgbClr>
          </a:solidFill>
          <a:ln/>
        </p:spPr>
      </p:sp>
      <p:sp>
        <p:nvSpPr>
          <p:cNvPr id="4" name="Text 2"/>
          <p:cNvSpPr/>
          <p:nvPr/>
        </p:nvSpPr>
        <p:spPr>
          <a:xfrm>
            <a:off x="822960" y="2377440"/>
            <a:ext cx="9144000" cy="457200"/>
          </a:xfrm>
          <a:prstGeom prst="rect">
            <a:avLst/>
          </a:prstGeom>
          <a:noFill/>
          <a:ln/>
        </p:spPr>
        <p:txBody>
          <a:bodyPr wrap="square" rtlCol="0" anchor="ctr"/>
          <a:lstStyle/>
          <a:p>
            <a:pPr marL="0" indent="0">
              <a:buNone/>
            </a:pPr>
            <a:r>
              <a:rPr lang="en-US" sz="1600" b="1" kern="0" spc="200" dirty="0">
                <a:solidFill>
                  <a:srgbClr val="FF6B35"/>
                </a:solidFill>
                <a:latin typeface="Calibri" pitchFamily="34" charset="0"/>
                <a:ea typeface="Calibri" pitchFamily="34" charset="-122"/>
                <a:cs typeface="Calibri" pitchFamily="34" charset="-120"/>
              </a:rPr>
              <a:t>SECTION 1</a:t>
            </a:r>
            <a:endParaRPr lang="en-US" sz="1600" dirty="0"/>
          </a:p>
        </p:txBody>
      </p:sp>
      <p:sp>
        <p:nvSpPr>
          <p:cNvPr id="5" name="Text 3"/>
          <p:cNvSpPr/>
          <p:nvPr/>
        </p:nvSpPr>
        <p:spPr>
          <a:xfrm>
            <a:off x="822960" y="2816352"/>
            <a:ext cx="10241280" cy="118872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Object-Oriented Programming in R</a:t>
            </a:r>
            <a:endParaRPr lang="en-US" sz="4200" dirty="0"/>
          </a:p>
        </p:txBody>
      </p:sp>
      <p:sp>
        <p:nvSpPr>
          <p:cNvPr id="6" name="Text 4"/>
          <p:cNvSpPr/>
          <p:nvPr/>
        </p:nvSpPr>
        <p:spPr>
          <a:xfrm>
            <a:off x="822960" y="3977640"/>
            <a:ext cx="9875520" cy="640080"/>
          </a:xfrm>
          <a:prstGeom prst="rect">
            <a:avLst/>
          </a:prstGeom>
          <a:noFill/>
          <a:ln/>
        </p:spPr>
        <p:txBody>
          <a:bodyPr wrap="square" rtlCol="0" anchor="ctr"/>
          <a:lstStyle/>
          <a:p>
            <a:pPr marL="0" indent="0">
              <a:buNone/>
            </a:pPr>
            <a:r>
              <a:rPr lang="en-US" sz="1650" i="1" dirty="0">
                <a:solidFill>
                  <a:srgbClr val="CFE8FF"/>
                </a:solidFill>
                <a:latin typeface="Calibri" pitchFamily="34" charset="0"/>
                <a:ea typeface="Calibri" pitchFamily="34" charset="-122"/>
                <a:cs typeface="Calibri" pitchFamily="34" charset="-120"/>
              </a:rPr>
              <a:t>Three class systems power OOP in R — this unit covers S3, S4 and Reference Classes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845389"/>
            <a:ext cx="12192000" cy="601261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800" dirty="0">
              <a:latin typeface="Arial Narrow" pitchFamily="34" charset="0"/>
            </a:endParaRPr>
          </a:p>
        </p:txBody>
      </p:sp>
      <p:sp>
        <p:nvSpPr>
          <p:cNvPr id="3" name="Rectangle 2"/>
          <p:cNvSpPr/>
          <p:nvPr/>
        </p:nvSpPr>
        <p:spPr>
          <a:xfrm>
            <a:off x="0" y="0"/>
            <a:ext cx="12192000" cy="8453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3"/>
          <p:cNvSpPr/>
          <p:nvPr/>
        </p:nvSpPr>
        <p:spPr>
          <a:xfrm>
            <a:off x="1" y="0"/>
            <a:ext cx="10241280" cy="707366"/>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Object-Oriented Programming in R</a:t>
            </a:r>
            <a:endParaRPr lang="en-US" sz="4200" dirty="0"/>
          </a:p>
        </p:txBody>
      </p:sp>
      <p:sp>
        <p:nvSpPr>
          <p:cNvPr id="5" name="TextBox 4"/>
          <p:cNvSpPr txBox="1"/>
          <p:nvPr/>
        </p:nvSpPr>
        <p:spPr>
          <a:xfrm>
            <a:off x="120769" y="1078302"/>
            <a:ext cx="11878573" cy="5601533"/>
          </a:xfrm>
          <a:prstGeom prst="rect">
            <a:avLst/>
          </a:prstGeom>
          <a:noFill/>
        </p:spPr>
        <p:txBody>
          <a:bodyPr wrap="square" rtlCol="0">
            <a:spAutoFit/>
          </a:bodyPr>
          <a:lstStyle/>
          <a:p>
            <a:pPr>
              <a:buFont typeface="Arial" pitchFamily="34" charset="0"/>
              <a:buChar char="•"/>
            </a:pPr>
            <a:r>
              <a:rPr lang="en-US" sz="2000" b="1" dirty="0">
                <a:latin typeface="Arial Narrow" pitchFamily="34" charset="0"/>
              </a:rPr>
              <a:t>Object-Oriented Programming (OOP)</a:t>
            </a:r>
            <a:r>
              <a:rPr lang="en-US" sz="2000" dirty="0">
                <a:latin typeface="Arial Narrow" pitchFamily="34" charset="0"/>
              </a:rPr>
              <a:t> is a programming paradigm in which programs are organized around </a:t>
            </a:r>
            <a:r>
              <a:rPr lang="en-US" sz="2000" b="1" dirty="0">
                <a:latin typeface="Arial Narrow" pitchFamily="34" charset="0"/>
              </a:rPr>
              <a:t>objects</a:t>
            </a:r>
            <a:r>
              <a:rPr lang="en-US" sz="2000" dirty="0">
                <a:latin typeface="Arial Narrow" pitchFamily="34" charset="0"/>
              </a:rPr>
              <a:t> rather than only functions and procedures.</a:t>
            </a:r>
          </a:p>
          <a:p>
            <a:pPr>
              <a:buFont typeface="Arial" pitchFamily="34" charset="0"/>
              <a:buChar char="•"/>
            </a:pPr>
            <a:r>
              <a:rPr lang="en-US" sz="2000" dirty="0">
                <a:latin typeface="Arial Narrow" pitchFamily="34" charset="0"/>
              </a:rPr>
              <a:t>An object normally combines:</a:t>
            </a:r>
          </a:p>
          <a:p>
            <a:pPr lvl="1">
              <a:buFont typeface="Arial" pitchFamily="34" charset="0"/>
              <a:buChar char="•"/>
            </a:pPr>
            <a:r>
              <a:rPr lang="en-US" sz="2000" dirty="0">
                <a:latin typeface="Arial Narrow" pitchFamily="34" charset="0"/>
              </a:rPr>
              <a:t>data </a:t>
            </a:r>
          </a:p>
          <a:p>
            <a:pPr lvl="1">
              <a:buFont typeface="Arial" pitchFamily="34" charset="0"/>
              <a:buChar char="•"/>
            </a:pPr>
            <a:r>
              <a:rPr lang="en-US" sz="2000" dirty="0">
                <a:latin typeface="Arial Narrow" pitchFamily="34" charset="0"/>
              </a:rPr>
              <a:t>attributes describing the data </a:t>
            </a:r>
          </a:p>
          <a:p>
            <a:pPr lvl="1">
              <a:buFont typeface="Arial" pitchFamily="34" charset="0"/>
              <a:buChar char="•"/>
            </a:pPr>
            <a:r>
              <a:rPr lang="en-US" sz="2000" dirty="0">
                <a:latin typeface="Arial Narrow" pitchFamily="34" charset="0"/>
              </a:rPr>
              <a:t>operations/methods that work on the data. </a:t>
            </a:r>
          </a:p>
          <a:p>
            <a:pPr>
              <a:buFont typeface="Arial" pitchFamily="34" charset="0"/>
              <a:buChar char="•"/>
            </a:pPr>
            <a:r>
              <a:rPr lang="en-US" sz="2000" dirty="0">
                <a:latin typeface="Arial Narrow" pitchFamily="34" charset="0"/>
              </a:rPr>
              <a:t>R is different from traditional OOP languages such as Java, C++, and Python, but object orientation is still fundamental to R.</a:t>
            </a:r>
          </a:p>
          <a:p>
            <a:pPr>
              <a:buFont typeface="Arial" pitchFamily="34" charset="0"/>
              <a:buChar char="•"/>
            </a:pPr>
            <a:r>
              <a:rPr lang="en-US" sz="2000" dirty="0">
                <a:latin typeface="Arial Narrow" pitchFamily="34" charset="0"/>
              </a:rPr>
              <a:t>The important OOP concepts in R are:</a:t>
            </a:r>
          </a:p>
          <a:p>
            <a:pPr>
              <a:buFont typeface="Arial" pitchFamily="34" charset="0"/>
              <a:buChar char="•"/>
            </a:pPr>
            <a:r>
              <a:rPr lang="en-US" sz="2000" b="1" dirty="0">
                <a:latin typeface="Arial Narrow" pitchFamily="34" charset="0"/>
              </a:rPr>
              <a:t>Objects:</a:t>
            </a:r>
            <a:r>
              <a:rPr lang="en-US" sz="2000" dirty="0">
                <a:latin typeface="Arial Narrow" pitchFamily="34" charset="0"/>
              </a:rPr>
              <a:t> Almost everything in R is an object—numbers, vectors, character strings, matrices, data frames, functions, models, etc.</a:t>
            </a:r>
          </a:p>
          <a:p>
            <a:pPr>
              <a:buFont typeface="Arial" pitchFamily="34" charset="0"/>
              <a:buChar char="•"/>
            </a:pPr>
            <a:r>
              <a:rPr lang="en-US" sz="2000" b="1" dirty="0">
                <a:latin typeface="Arial Narrow" pitchFamily="34" charset="0"/>
              </a:rPr>
              <a:t>Encapsulation:</a:t>
            </a:r>
            <a:r>
              <a:rPr lang="en-US" sz="2000" dirty="0">
                <a:latin typeface="Arial Narrow" pitchFamily="34" charset="0"/>
              </a:rPr>
              <a:t> Related information can be packaged together into an object.</a:t>
            </a:r>
          </a:p>
          <a:p>
            <a:pPr>
              <a:buFont typeface="Arial" pitchFamily="34" charset="0"/>
              <a:buChar char="•"/>
            </a:pPr>
            <a:r>
              <a:rPr lang="en-US" sz="2000" b="1" dirty="0">
                <a:latin typeface="Arial Narrow" pitchFamily="34" charset="0"/>
              </a:rPr>
              <a:t>Polymorphism:</a:t>
            </a:r>
            <a:r>
              <a:rPr lang="en-US" sz="2000" dirty="0">
                <a:latin typeface="Arial Narrow" pitchFamily="34" charset="0"/>
              </a:rPr>
              <a:t> The same function can behave differently depending on the class of the object.</a:t>
            </a:r>
          </a:p>
          <a:p>
            <a:pPr>
              <a:buFont typeface="Arial" pitchFamily="34" charset="0"/>
              <a:buChar char="•"/>
            </a:pPr>
            <a:r>
              <a:rPr lang="en-US" sz="2000" b="1" dirty="0">
                <a:latin typeface="Arial Narrow" pitchFamily="34" charset="0"/>
              </a:rPr>
              <a:t>Inheritance:</a:t>
            </a:r>
            <a:r>
              <a:rPr lang="en-US" sz="2000" dirty="0">
                <a:latin typeface="Arial Narrow" pitchFamily="34" charset="0"/>
              </a:rPr>
              <a:t> A class can inherit properties and </a:t>
            </a:r>
            <a:r>
              <a:rPr lang="en-US" sz="2000" dirty="0" err="1">
                <a:latin typeface="Arial Narrow" pitchFamily="34" charset="0"/>
              </a:rPr>
              <a:t>behaviour</a:t>
            </a:r>
            <a:r>
              <a:rPr lang="en-US" sz="2000" dirty="0">
                <a:latin typeface="Arial Narrow" pitchFamily="34" charset="0"/>
              </a:rPr>
              <a:t> from another class.</a:t>
            </a:r>
          </a:p>
          <a:p>
            <a:pPr>
              <a:buFont typeface="Arial" pitchFamily="34" charset="0"/>
              <a:buChar char="•"/>
            </a:pPr>
            <a:r>
              <a:rPr lang="en-US" sz="2000" dirty="0">
                <a:latin typeface="Arial Narrow" pitchFamily="34" charset="0"/>
              </a:rPr>
              <a:t>The polymorphism: a call such as print() or plot() may dispatch to a class-specific method depending on the object supplied. </a:t>
            </a:r>
          </a:p>
          <a:p>
            <a:pPr>
              <a:buFont typeface="Arial" pitchFamily="34" charset="0"/>
              <a:buChar char="•"/>
            </a:pPr>
            <a:r>
              <a:rPr lang="en-US" sz="2000" dirty="0">
                <a:latin typeface="Arial Narrow" pitchFamily="34" charset="0"/>
              </a:rPr>
              <a:t>R has multiple OOP systems, but we focus on:</a:t>
            </a:r>
          </a:p>
          <a:p>
            <a:pPr>
              <a:buFont typeface="Arial" pitchFamily="34" charset="0"/>
              <a:buChar char="•"/>
            </a:pPr>
            <a:r>
              <a:rPr lang="en-US" sz="2000" b="1" dirty="0">
                <a:latin typeface="Arial Narrow" pitchFamily="34" charset="0"/>
              </a:rPr>
              <a:t>S3 classes</a:t>
            </a:r>
            <a:r>
              <a:rPr lang="en-US" sz="2000" dirty="0">
                <a:latin typeface="Arial Narrow" pitchFamily="34" charset="0"/>
              </a:rPr>
              <a:t> </a:t>
            </a:r>
          </a:p>
          <a:p>
            <a:pPr>
              <a:buFont typeface="Arial" pitchFamily="34" charset="0"/>
              <a:buChar char="•"/>
            </a:pPr>
            <a:r>
              <a:rPr lang="en-US" sz="2000" b="1" dirty="0">
                <a:latin typeface="Arial Narrow" pitchFamily="34" charset="0"/>
              </a:rPr>
              <a:t>S4 classes</a:t>
            </a:r>
            <a:endParaRPr lang="en-US" sz="2000" dirty="0">
              <a:latin typeface="Arial Narrow" pitchFamily="34" charset="0"/>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OOP IN R</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700" b="1" dirty="0">
                <a:solidFill>
                  <a:srgbClr val="132743"/>
                </a:solidFill>
                <a:latin typeface="Cambria" pitchFamily="34" charset="0"/>
                <a:ea typeface="Cambria" pitchFamily="34" charset="-122"/>
                <a:cs typeface="Cambria" pitchFamily="34" charset="-120"/>
              </a:rPr>
              <a:t>Why Object-Oriented Programming in R?</a:t>
            </a:r>
            <a:endParaRPr lang="en-US" sz="2700" dirty="0"/>
          </a:p>
        </p:txBody>
      </p:sp>
      <p:sp>
        <p:nvSpPr>
          <p:cNvPr id="5" name="Text 3"/>
          <p:cNvSpPr/>
          <p:nvPr/>
        </p:nvSpPr>
        <p:spPr>
          <a:xfrm>
            <a:off x="457200" y="1417320"/>
            <a:ext cx="11247120" cy="365760"/>
          </a:xfrm>
          <a:prstGeom prst="rect">
            <a:avLst/>
          </a:prstGeom>
          <a:noFill/>
          <a:ln/>
        </p:spPr>
        <p:txBody>
          <a:bodyPr wrap="square" rtlCol="0" anchor="ctr"/>
          <a:lstStyle/>
          <a:p>
            <a:pPr marL="0" indent="0">
              <a:buNone/>
            </a:pPr>
            <a:r>
              <a:rPr lang="en-US" sz="1400" i="1" dirty="0">
                <a:solidFill>
                  <a:srgbClr val="5C6B73"/>
                </a:solidFill>
                <a:latin typeface="Calibri" pitchFamily="34" charset="0"/>
                <a:ea typeface="Calibri" pitchFamily="34" charset="-122"/>
                <a:cs typeface="Calibri" pitchFamily="34" charset="-120"/>
              </a:rPr>
              <a:t>R offers three OOP systems. Each trades simplicity for structure differently.</a:t>
            </a:r>
            <a:endParaRPr lang="en-US" sz="1400" dirty="0"/>
          </a:p>
        </p:txBody>
      </p:sp>
      <p:sp>
        <p:nvSpPr>
          <p:cNvPr id="6" name="Shape 4"/>
          <p:cNvSpPr/>
          <p:nvPr/>
        </p:nvSpPr>
        <p:spPr>
          <a:xfrm>
            <a:off x="457200" y="2011680"/>
            <a:ext cx="3657600" cy="3200400"/>
          </a:xfrm>
          <a:prstGeom prst="roundRect">
            <a:avLst>
              <a:gd name="adj" fmla="val 2286"/>
            </a:avLst>
          </a:prstGeom>
          <a:solidFill>
            <a:srgbClr val="EDF3F6"/>
          </a:solidFill>
          <a:ln/>
          <a:effectLst>
            <a:outerShdw blurRad="76200" dist="25400" dir="5400000" algn="bl" rotWithShape="0">
              <a:srgbClr val="8A99A3">
                <a:alpha val="25000"/>
              </a:srgbClr>
            </a:outerShdw>
          </a:effectLst>
        </p:spPr>
      </p:sp>
      <p:sp>
        <p:nvSpPr>
          <p:cNvPr id="7" name="Text 5"/>
          <p:cNvSpPr/>
          <p:nvPr/>
        </p:nvSpPr>
        <p:spPr>
          <a:xfrm>
            <a:off x="731520" y="2240280"/>
            <a:ext cx="3108960" cy="640080"/>
          </a:xfrm>
          <a:prstGeom prst="rect">
            <a:avLst/>
          </a:prstGeom>
          <a:noFill/>
          <a:ln/>
        </p:spPr>
        <p:txBody>
          <a:bodyPr wrap="square" rtlCol="0" anchor="ctr"/>
          <a:lstStyle/>
          <a:p>
            <a:pPr marL="0" indent="0">
              <a:buNone/>
            </a:pPr>
            <a:r>
              <a:rPr lang="en-US" sz="3400" b="1" dirty="0">
                <a:solidFill>
                  <a:srgbClr val="FF6B35"/>
                </a:solidFill>
                <a:latin typeface="Cambria" pitchFamily="34" charset="0"/>
                <a:ea typeface="Cambria" pitchFamily="34" charset="-122"/>
                <a:cs typeface="Cambria" pitchFamily="34" charset="-120"/>
              </a:rPr>
              <a:t>S3</a:t>
            </a:r>
            <a:endParaRPr lang="en-US" sz="3400" dirty="0"/>
          </a:p>
        </p:txBody>
      </p:sp>
      <p:sp>
        <p:nvSpPr>
          <p:cNvPr id="8" name="Text 6"/>
          <p:cNvSpPr/>
          <p:nvPr/>
        </p:nvSpPr>
        <p:spPr>
          <a:xfrm>
            <a:off x="731520" y="2907792"/>
            <a:ext cx="3108960" cy="365760"/>
          </a:xfrm>
          <a:prstGeom prst="rect">
            <a:avLst/>
          </a:prstGeom>
          <a:noFill/>
          <a:ln/>
        </p:spPr>
        <p:txBody>
          <a:bodyPr wrap="square" rtlCol="0" anchor="ctr"/>
          <a:lstStyle/>
          <a:p>
            <a:pPr marL="0" indent="0">
              <a:buNone/>
            </a:pPr>
            <a:r>
              <a:rPr lang="en-US" sz="1500" b="1" dirty="0">
                <a:solidFill>
                  <a:srgbClr val="132743"/>
                </a:solidFill>
                <a:latin typeface="Calibri" pitchFamily="34" charset="0"/>
                <a:ea typeface="Calibri" pitchFamily="34" charset="-122"/>
                <a:cs typeface="Calibri" pitchFamily="34" charset="-120"/>
              </a:rPr>
              <a:t>Informal &amp; lightweight</a:t>
            </a:r>
            <a:endParaRPr lang="en-US" sz="1500" dirty="0"/>
          </a:p>
        </p:txBody>
      </p:sp>
      <p:sp>
        <p:nvSpPr>
          <p:cNvPr id="9" name="Text 7"/>
          <p:cNvSpPr/>
          <p:nvPr/>
        </p:nvSpPr>
        <p:spPr>
          <a:xfrm>
            <a:off x="731520" y="3364992"/>
            <a:ext cx="3108960" cy="1554480"/>
          </a:xfrm>
          <a:prstGeom prst="rect">
            <a:avLst/>
          </a:prstGeom>
          <a:noFill/>
          <a:ln/>
        </p:spPr>
        <p:txBody>
          <a:bodyPr wrap="square" rtlCol="0" anchor="ctr"/>
          <a:lstStyle/>
          <a:p>
            <a:pPr marL="0" indent="0">
              <a:lnSpc>
                <a:spcPct val="130000"/>
              </a:lnSpc>
              <a:buNone/>
            </a:pPr>
            <a:r>
              <a:rPr lang="en-US" sz="1350" dirty="0">
                <a:solidFill>
                  <a:srgbClr val="1C2B36"/>
                </a:solidFill>
                <a:latin typeface="Calibri" pitchFamily="34" charset="0"/>
                <a:ea typeface="Calibri" pitchFamily="34" charset="-122"/>
                <a:cs typeface="Calibri" pitchFamily="34" charset="-120"/>
              </a:rPr>
              <a:t>Attach a class attribute to any object; dispatch by function name matching.</a:t>
            </a:r>
            <a:endParaRPr lang="en-US" sz="1350" dirty="0"/>
          </a:p>
        </p:txBody>
      </p:sp>
      <p:sp>
        <p:nvSpPr>
          <p:cNvPr id="10" name="Shape 8"/>
          <p:cNvSpPr/>
          <p:nvPr/>
        </p:nvSpPr>
        <p:spPr>
          <a:xfrm>
            <a:off x="4251960" y="2011680"/>
            <a:ext cx="3657600" cy="3200400"/>
          </a:xfrm>
          <a:prstGeom prst="roundRect">
            <a:avLst>
              <a:gd name="adj" fmla="val 2286"/>
            </a:avLst>
          </a:prstGeom>
          <a:solidFill>
            <a:srgbClr val="1F6E8C"/>
          </a:solidFill>
          <a:ln/>
          <a:effectLst>
            <a:outerShdw blurRad="76200" dist="25400" dir="5400000" algn="bl" rotWithShape="0">
              <a:srgbClr val="8A99A3">
                <a:alpha val="25000"/>
              </a:srgbClr>
            </a:outerShdw>
          </a:effectLst>
        </p:spPr>
      </p:sp>
      <p:sp>
        <p:nvSpPr>
          <p:cNvPr id="11" name="Text 9"/>
          <p:cNvSpPr/>
          <p:nvPr/>
        </p:nvSpPr>
        <p:spPr>
          <a:xfrm>
            <a:off x="4526280" y="2240280"/>
            <a:ext cx="310896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S4</a:t>
            </a:r>
            <a:endParaRPr lang="en-US" sz="3400" dirty="0"/>
          </a:p>
        </p:txBody>
      </p:sp>
      <p:sp>
        <p:nvSpPr>
          <p:cNvPr id="12" name="Text 10"/>
          <p:cNvSpPr/>
          <p:nvPr/>
        </p:nvSpPr>
        <p:spPr>
          <a:xfrm>
            <a:off x="4526280" y="2907792"/>
            <a:ext cx="3108960" cy="365760"/>
          </a:xfrm>
          <a:prstGeom prst="rect">
            <a:avLst/>
          </a:prstGeom>
          <a:noFill/>
          <a:ln/>
        </p:spPr>
        <p:txBody>
          <a:bodyPr wrap="square" rtlCol="0" anchor="ctr"/>
          <a:lstStyle/>
          <a:p>
            <a:pPr marL="0" indent="0">
              <a:buNone/>
            </a:pPr>
            <a:r>
              <a:rPr lang="en-US" sz="1500" b="1" dirty="0">
                <a:solidFill>
                  <a:srgbClr val="CFE8FF"/>
                </a:solidFill>
                <a:latin typeface="Calibri" pitchFamily="34" charset="0"/>
                <a:ea typeface="Calibri" pitchFamily="34" charset="-122"/>
                <a:cs typeface="Calibri" pitchFamily="34" charset="-120"/>
              </a:rPr>
              <a:t>Formal &amp; rigorous</a:t>
            </a:r>
            <a:endParaRPr lang="en-US" sz="1500" dirty="0"/>
          </a:p>
        </p:txBody>
      </p:sp>
      <p:sp>
        <p:nvSpPr>
          <p:cNvPr id="13" name="Text 11"/>
          <p:cNvSpPr/>
          <p:nvPr/>
        </p:nvSpPr>
        <p:spPr>
          <a:xfrm>
            <a:off x="4526280" y="3364992"/>
            <a:ext cx="3108960" cy="1554480"/>
          </a:xfrm>
          <a:prstGeom prst="rect">
            <a:avLst/>
          </a:prstGeom>
          <a:noFill/>
          <a:ln/>
        </p:spPr>
        <p:txBody>
          <a:bodyPr wrap="square" rtlCol="0" anchor="ctr"/>
          <a:lstStyle/>
          <a:p>
            <a:pPr marL="0" indent="0">
              <a:lnSpc>
                <a:spcPct val="130000"/>
              </a:lnSpc>
              <a:buNone/>
            </a:pPr>
            <a:r>
              <a:rPr lang="en-US" sz="1350" dirty="0">
                <a:solidFill>
                  <a:srgbClr val="FFFFFF"/>
                </a:solidFill>
                <a:latin typeface="Calibri" pitchFamily="34" charset="0"/>
                <a:ea typeface="Calibri" pitchFamily="34" charset="-122"/>
                <a:cs typeface="Calibri" pitchFamily="34" charset="-120"/>
              </a:rPr>
              <a:t>Declare classes with typed slots; strict validity checking and multiple dispatch.</a:t>
            </a:r>
            <a:endParaRPr lang="en-US" sz="1350" dirty="0"/>
          </a:p>
        </p:txBody>
      </p:sp>
      <p:sp>
        <p:nvSpPr>
          <p:cNvPr id="14" name="Shape 12"/>
          <p:cNvSpPr/>
          <p:nvPr/>
        </p:nvSpPr>
        <p:spPr>
          <a:xfrm>
            <a:off x="8046720" y="2011680"/>
            <a:ext cx="3657600" cy="3200400"/>
          </a:xfrm>
          <a:prstGeom prst="roundRect">
            <a:avLst>
              <a:gd name="adj" fmla="val 2286"/>
            </a:avLst>
          </a:prstGeom>
          <a:solidFill>
            <a:srgbClr val="EDF3F6"/>
          </a:solidFill>
          <a:ln/>
          <a:effectLst>
            <a:outerShdw blurRad="76200" dist="25400" dir="5400000" algn="bl" rotWithShape="0">
              <a:srgbClr val="8A99A3">
                <a:alpha val="25000"/>
              </a:srgbClr>
            </a:outerShdw>
          </a:effectLst>
        </p:spPr>
      </p:sp>
      <p:sp>
        <p:nvSpPr>
          <p:cNvPr id="15" name="Text 13"/>
          <p:cNvSpPr/>
          <p:nvPr/>
        </p:nvSpPr>
        <p:spPr>
          <a:xfrm>
            <a:off x="8321040" y="2240280"/>
            <a:ext cx="3108960" cy="640080"/>
          </a:xfrm>
          <a:prstGeom prst="rect">
            <a:avLst/>
          </a:prstGeom>
          <a:noFill/>
          <a:ln/>
        </p:spPr>
        <p:txBody>
          <a:bodyPr wrap="square" rtlCol="0" anchor="ctr"/>
          <a:lstStyle/>
          <a:p>
            <a:pPr marL="0" indent="0">
              <a:buNone/>
            </a:pPr>
            <a:r>
              <a:rPr lang="en-US" sz="3400" b="1" dirty="0">
                <a:solidFill>
                  <a:srgbClr val="132743"/>
                </a:solidFill>
                <a:latin typeface="Cambria" pitchFamily="34" charset="0"/>
                <a:ea typeface="Cambria" pitchFamily="34" charset="-122"/>
                <a:cs typeface="Cambria" pitchFamily="34" charset="-120"/>
              </a:rPr>
              <a:t>R5 / RC</a:t>
            </a:r>
            <a:endParaRPr lang="en-US" sz="3400" dirty="0"/>
          </a:p>
        </p:txBody>
      </p:sp>
      <p:sp>
        <p:nvSpPr>
          <p:cNvPr id="16" name="Text 14"/>
          <p:cNvSpPr/>
          <p:nvPr/>
        </p:nvSpPr>
        <p:spPr>
          <a:xfrm>
            <a:off x="8321040" y="2907792"/>
            <a:ext cx="3108960" cy="365760"/>
          </a:xfrm>
          <a:prstGeom prst="rect">
            <a:avLst/>
          </a:prstGeom>
          <a:noFill/>
          <a:ln/>
        </p:spPr>
        <p:txBody>
          <a:bodyPr wrap="square" rtlCol="0" anchor="ctr"/>
          <a:lstStyle/>
          <a:p>
            <a:pPr marL="0" indent="0">
              <a:buNone/>
            </a:pPr>
            <a:r>
              <a:rPr lang="en-US" sz="1500" b="1" dirty="0">
                <a:solidFill>
                  <a:srgbClr val="132743"/>
                </a:solidFill>
                <a:latin typeface="Calibri" pitchFamily="34" charset="0"/>
                <a:ea typeface="Calibri" pitchFamily="34" charset="-122"/>
                <a:cs typeface="Calibri" pitchFamily="34" charset="-120"/>
              </a:rPr>
              <a:t>Reference classes</a:t>
            </a:r>
            <a:endParaRPr lang="en-US" sz="1500" dirty="0"/>
          </a:p>
        </p:txBody>
      </p:sp>
      <p:sp>
        <p:nvSpPr>
          <p:cNvPr id="17" name="Text 15"/>
          <p:cNvSpPr/>
          <p:nvPr/>
        </p:nvSpPr>
        <p:spPr>
          <a:xfrm>
            <a:off x="8321040" y="3364992"/>
            <a:ext cx="3108960" cy="1554480"/>
          </a:xfrm>
          <a:prstGeom prst="rect">
            <a:avLst/>
          </a:prstGeom>
          <a:noFill/>
          <a:ln/>
        </p:spPr>
        <p:txBody>
          <a:bodyPr wrap="square" rtlCol="0" anchor="ctr"/>
          <a:lstStyle/>
          <a:p>
            <a:pPr marL="0" indent="0">
              <a:lnSpc>
                <a:spcPct val="130000"/>
              </a:lnSpc>
              <a:buNone/>
            </a:pPr>
            <a:r>
              <a:rPr lang="en-US" sz="1350" dirty="0">
                <a:solidFill>
                  <a:srgbClr val="1C2B36"/>
                </a:solidFill>
                <a:latin typeface="Calibri" pitchFamily="34" charset="0"/>
                <a:ea typeface="Calibri" pitchFamily="34" charset="-122"/>
                <a:cs typeface="Calibri" pitchFamily="34" charset="-120"/>
              </a:rPr>
              <a:t>Mutable, environment-based objects — closest to classic OOP (Java/Python style).</a:t>
            </a:r>
            <a:endParaRPr lang="en-US" sz="1350" dirty="0"/>
          </a:p>
        </p:txBody>
      </p:sp>
      <p:sp>
        <p:nvSpPr>
          <p:cNvPr id="18" name="Text 16"/>
          <p:cNvSpPr/>
          <p:nvPr/>
        </p:nvSpPr>
        <p:spPr>
          <a:xfrm>
            <a:off x="457200" y="5394960"/>
            <a:ext cx="11247120" cy="548640"/>
          </a:xfrm>
          <a:prstGeom prst="rect">
            <a:avLst/>
          </a:prstGeom>
          <a:noFill/>
          <a:ln/>
        </p:spPr>
        <p:txBody>
          <a:bodyPr wrap="square" rtlCol="0" anchor="ctr"/>
          <a:lstStyle/>
          <a:p>
            <a:pPr marL="0" indent="0">
              <a:buNone/>
            </a:pPr>
            <a:r>
              <a:rPr lang="en-US" sz="1300" i="1" dirty="0">
                <a:solidFill>
                  <a:srgbClr val="5C6B73"/>
                </a:solidFill>
                <a:latin typeface="Calibri" pitchFamily="34" charset="0"/>
                <a:ea typeface="Calibri" pitchFamily="34" charset="-122"/>
                <a:cs typeface="Calibri" pitchFamily="34" charset="-120"/>
              </a:rPr>
              <a:t>This unit focuses on S3 (e.g. lm(), data.frame print methods), S4 (used heavily in Bioconductor) and touches R5/Reference Classes for comparison.</a:t>
            </a:r>
            <a:endParaRPr lang="en-US" sz="1300" dirty="0"/>
          </a:p>
        </p:txBody>
      </p:sp>
      <p:sp>
        <p:nvSpPr>
          <p:cNvPr id="19" name="Text 17"/>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20" name="Text 18"/>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S3 CLASSES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S3 Classes — A Simple First Example</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a:lnSpc>
                <a:spcPct val="150000"/>
              </a:lnSpc>
              <a:buFont typeface="Arial" pitchFamily="34" charset="0"/>
              <a:buChar char="•"/>
            </a:pPr>
            <a:r>
              <a:rPr lang="en-US" sz="1600" dirty="0"/>
              <a:t>S3 is R's </a:t>
            </a:r>
            <a:r>
              <a:rPr lang="en-US" sz="1600" b="1" dirty="0"/>
              <a:t>original and relatively simple object-oriented system.</a:t>
            </a:r>
          </a:p>
          <a:p>
            <a:pPr>
              <a:lnSpc>
                <a:spcPct val="150000"/>
              </a:lnSpc>
              <a:buFont typeface="Arial" pitchFamily="34" charset="0"/>
              <a:buChar char="•"/>
            </a:pPr>
            <a:r>
              <a:rPr lang="en-US" sz="1600" dirty="0"/>
              <a:t>Most built-in R classes </a:t>
            </a:r>
            <a:r>
              <a:rPr lang="en-US" sz="1600" b="1" dirty="0"/>
              <a:t>traditionally use the S3 approach</a:t>
            </a:r>
            <a:r>
              <a:rPr lang="en-US" sz="1600" dirty="0"/>
              <a:t>.</a:t>
            </a:r>
          </a:p>
          <a:p>
            <a:pPr>
              <a:lnSpc>
                <a:spcPct val="150000"/>
              </a:lnSpc>
              <a:buFont typeface="Arial" pitchFamily="34" charset="0"/>
              <a:buChar char="•"/>
            </a:pPr>
            <a:r>
              <a:rPr lang="en-US" sz="1600" dirty="0"/>
              <a:t> An S3 object is essentially an </a:t>
            </a:r>
            <a:r>
              <a:rPr lang="en-US" sz="1600" b="1" dirty="0"/>
              <a:t>ordinary R object</a:t>
            </a:r>
            <a:r>
              <a:rPr lang="en-US" sz="1600" dirty="0"/>
              <a:t>—often a list—to which a </a:t>
            </a:r>
            <a:r>
              <a:rPr lang="en-US" sz="1600" b="1" dirty="0"/>
              <a:t>class attribute</a:t>
            </a:r>
            <a:r>
              <a:rPr lang="en-US" sz="1600" dirty="0"/>
              <a:t> is attached</a:t>
            </a:r>
          </a:p>
          <a:p>
            <a:r>
              <a:rPr lang="en-US" sz="1600" b="1" dirty="0"/>
              <a:t>Creating an S3 Object</a:t>
            </a:r>
          </a:p>
          <a:p>
            <a:r>
              <a:rPr lang="en-US" sz="1600" dirty="0"/>
              <a:t>A common approach is to write a </a:t>
            </a:r>
            <a:r>
              <a:rPr lang="en-US" sz="1600" b="1" dirty="0"/>
              <a:t>constructor function</a:t>
            </a:r>
            <a:endParaRPr lang="en-US" sz="1600" dirty="0"/>
          </a:p>
          <a:p>
            <a:pPr>
              <a:lnSpc>
                <a:spcPct val="150000"/>
              </a:lnSpc>
              <a:buFont typeface="Arial" pitchFamily="34" charset="0"/>
              <a:buChar char="•"/>
            </a:pPr>
            <a:endParaRPr lang="en-US" sz="1600" dirty="0"/>
          </a:p>
          <a:p>
            <a:pPr marL="342900" indent="-342900">
              <a:lnSpc>
                <a:spcPct val="122000"/>
              </a:lnSpc>
              <a:spcAft>
                <a:spcPts val="1100"/>
              </a:spcAft>
              <a:buSzPct val="100000"/>
            </a:pP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700" dirty="0">
                <a:solidFill>
                  <a:srgbClr val="8FD694"/>
                </a:solidFill>
                <a:latin typeface="Courier New" pitchFamily="34" charset="0"/>
                <a:ea typeface="Courier New" pitchFamily="34" charset="-122"/>
                <a:cs typeface="Courier New" pitchFamily="34" charset="-120"/>
              </a:rPr>
              <a:t># Step 1: make a list</a:t>
            </a: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student &lt;- list(name = "Arun", marks = 88)</a:t>
            </a:r>
            <a:endParaRPr lang="en-US" sz="1700" dirty="0"/>
          </a:p>
          <a:p>
            <a:pPr marL="0" indent="0">
              <a:lnSpc>
                <a:spcPct val="118000"/>
              </a:lnSpc>
              <a:buNone/>
            </a:pPr>
            <a:endParaRPr lang="en-US" sz="1700" dirty="0"/>
          </a:p>
          <a:p>
            <a:pPr marL="0" indent="0">
              <a:lnSpc>
                <a:spcPct val="118000"/>
              </a:lnSpc>
              <a:buNone/>
            </a:pPr>
            <a:r>
              <a:rPr lang="en-US" sz="1700" dirty="0">
                <a:solidFill>
                  <a:srgbClr val="8FD694"/>
                </a:solidFill>
                <a:latin typeface="Courier New" pitchFamily="34" charset="0"/>
                <a:ea typeface="Courier New" pitchFamily="34" charset="-122"/>
                <a:cs typeface="Courier New" pitchFamily="34" charset="-120"/>
              </a:rPr>
              <a:t># Step 2: attach a class</a:t>
            </a: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class(student) &lt;- "Student"</a:t>
            </a:r>
            <a:endParaRPr lang="en-US" sz="1700" dirty="0"/>
          </a:p>
          <a:p>
            <a:pPr marL="0" indent="0">
              <a:lnSpc>
                <a:spcPct val="118000"/>
              </a:lnSpc>
              <a:buNone/>
            </a:pPr>
            <a:endParaRPr lang="en-US" sz="1700" dirty="0"/>
          </a:p>
          <a:p>
            <a:pPr marL="0" indent="0">
              <a:lnSpc>
                <a:spcPct val="118000"/>
              </a:lnSpc>
              <a:buNone/>
            </a:pPr>
            <a:r>
              <a:rPr lang="en-US" sz="1700" dirty="0">
                <a:solidFill>
                  <a:srgbClr val="8FD694"/>
                </a:solidFill>
                <a:latin typeface="Courier New" pitchFamily="34" charset="0"/>
                <a:ea typeface="Courier New" pitchFamily="34" charset="-122"/>
                <a:cs typeface="Courier New" pitchFamily="34" charset="-120"/>
              </a:rPr>
              <a:t># Use it</a:t>
            </a: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class(student)     # "Student"</a:t>
            </a: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student$name       # "Arun"</a:t>
            </a:r>
            <a:endParaRPr lang="en-US" sz="17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6</a:t>
            </a:r>
            <a:endParaRPr lang="en-US" sz="1000" dirty="0"/>
          </a:p>
        </p:txBody>
      </p:sp>
      <p:sp>
        <p:nvSpPr>
          <p:cNvPr id="14" name="Rectangle 13"/>
          <p:cNvSpPr/>
          <p:nvPr/>
        </p:nvSpPr>
        <p:spPr>
          <a:xfrm>
            <a:off x="5760720" y="5154085"/>
            <a:ext cx="6096000" cy="954107"/>
          </a:xfrm>
          <a:prstGeom prst="rect">
            <a:avLst/>
          </a:prstGeom>
        </p:spPr>
        <p:txBody>
          <a:bodyPr>
            <a:spAutoFit/>
          </a:bodyPr>
          <a:lstStyle/>
          <a:p>
            <a:pPr lvl="0" fontAlgn="base">
              <a:spcBef>
                <a:spcPct val="0"/>
              </a:spcBef>
              <a:spcAft>
                <a:spcPct val="0"/>
              </a:spcAft>
            </a:pPr>
            <a:r>
              <a:rPr lang="en-US" sz="1200" dirty="0">
                <a:solidFill>
                  <a:srgbClr val="FFFF00"/>
                </a:solidFill>
                <a:latin typeface="Arial" pitchFamily="34" charset="0"/>
                <a:cs typeface="Arial" pitchFamily="34" charset="0"/>
              </a:rPr>
              <a:t>Here:</a:t>
            </a:r>
          </a:p>
          <a:p>
            <a:pPr lvl="0" eaLnBrk="0" fontAlgn="base" hangingPunct="0">
              <a:spcBef>
                <a:spcPct val="0"/>
              </a:spcBef>
              <a:spcAft>
                <a:spcPct val="0"/>
              </a:spcAft>
              <a:buFontTx/>
              <a:buChar char="•"/>
            </a:pPr>
            <a:r>
              <a:rPr lang="en-US" sz="1200" dirty="0">
                <a:solidFill>
                  <a:srgbClr val="FFFF00"/>
                </a:solidFill>
                <a:latin typeface="Arial Unicode MS" pitchFamily="34" charset="-128"/>
                <a:cs typeface="Arial" pitchFamily="34" charset="0"/>
              </a:rPr>
              <a:t>student</a:t>
            </a:r>
            <a:r>
              <a:rPr lang="en-US" sz="1200" dirty="0">
                <a:solidFill>
                  <a:srgbClr val="FFFF00"/>
                </a:solidFill>
                <a:latin typeface="Arial" pitchFamily="34" charset="0"/>
                <a:cs typeface="Arial" pitchFamily="34" charset="0"/>
              </a:rPr>
              <a:t> is initially a list. </a:t>
            </a:r>
          </a:p>
          <a:p>
            <a:pPr lvl="0" eaLnBrk="0" fontAlgn="base" hangingPunct="0">
              <a:spcBef>
                <a:spcPct val="0"/>
              </a:spcBef>
              <a:spcAft>
                <a:spcPct val="0"/>
              </a:spcAft>
              <a:buFontTx/>
              <a:buChar char="•"/>
            </a:pPr>
            <a:r>
              <a:rPr lang="en-US" sz="1200" dirty="0">
                <a:solidFill>
                  <a:srgbClr val="FFFF00"/>
                </a:solidFill>
                <a:latin typeface="Arial Unicode MS" pitchFamily="34" charset="-128"/>
                <a:cs typeface="Arial" pitchFamily="34" charset="0"/>
              </a:rPr>
              <a:t>"Student"</a:t>
            </a:r>
            <a:r>
              <a:rPr lang="en-US" sz="1200" dirty="0">
                <a:solidFill>
                  <a:srgbClr val="FFFF00"/>
                </a:solidFill>
                <a:latin typeface="Arial" pitchFamily="34" charset="0"/>
                <a:cs typeface="Arial" pitchFamily="34" charset="0"/>
              </a:rPr>
              <a:t> is assigned as its class. </a:t>
            </a:r>
          </a:p>
          <a:p>
            <a:pPr lvl="0" eaLnBrk="0" fontAlgn="base" hangingPunct="0">
              <a:spcBef>
                <a:spcPct val="0"/>
              </a:spcBef>
              <a:spcAft>
                <a:spcPct val="0"/>
              </a:spcAft>
              <a:buFontTx/>
              <a:buChar char="•"/>
            </a:pPr>
            <a:r>
              <a:rPr lang="en-US" sz="1200" dirty="0">
                <a:solidFill>
                  <a:srgbClr val="FFFF00"/>
                </a:solidFill>
                <a:latin typeface="Arial" pitchFamily="34" charset="0"/>
                <a:cs typeface="Arial" pitchFamily="34" charset="0"/>
              </a:rPr>
              <a:t>The object can now have class-specific methods</a:t>
            </a:r>
            <a:r>
              <a:rPr lang="en-US" dirty="0">
                <a:latin typeface="Arial" pitchFamily="34" charset="0"/>
                <a:cs typeface="Arial" pitchFamily="34"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p:cNvPicPr>
            <a:picLocks noChangeAspect="1" noChangeArrowheads="1"/>
          </p:cNvPicPr>
          <p:nvPr/>
        </p:nvPicPr>
        <p:blipFill>
          <a:blip r:embed="rId2"/>
          <a:srcRect/>
          <a:stretch>
            <a:fillRect/>
          </a:stretch>
        </p:blipFill>
        <p:spPr bwMode="auto">
          <a:xfrm>
            <a:off x="871268" y="-76200"/>
            <a:ext cx="9056957" cy="7011988"/>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S3 CLASSES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S3 — Generic Functions &amp; Method Dispatch</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A generic function (e.g. print) checks the object's class.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UseMethod() hands control to the matching class method.</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Naming convention: generic.className, e.g. print.Student.</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This is single dispatch — dispatch on the first argument only.</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print.Student &lt;- function(x, ...) {</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cat("Student:", x$name,</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 Marks:", x$marks, "\n")</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print(student)</a:t>
            </a:r>
            <a:endParaRPr lang="en-US" sz="1600" dirty="0"/>
          </a:p>
          <a:p>
            <a:pPr marL="0" indent="0">
              <a:lnSpc>
                <a:spcPct val="118000"/>
              </a:lnSpc>
              <a:buNone/>
            </a:pPr>
            <a:r>
              <a:rPr lang="en-US" sz="1600" dirty="0">
                <a:solidFill>
                  <a:srgbClr val="8FD694"/>
                </a:solidFill>
                <a:latin typeface="Courier New" pitchFamily="34" charset="0"/>
                <a:ea typeface="Courier New" pitchFamily="34" charset="-122"/>
                <a:cs typeface="Courier New" pitchFamily="34" charset="-120"/>
              </a:rPr>
              <a:t># Student: Arun | Marks: 88</a:t>
            </a:r>
            <a:endParaRPr lang="en-US" sz="1600" dirty="0"/>
          </a:p>
          <a:p>
            <a:pPr marL="0" indent="0">
              <a:lnSpc>
                <a:spcPct val="118000"/>
              </a:lnSpc>
              <a:buNone/>
            </a:pPr>
            <a:endParaRPr lang="en-US" sz="1600" dirty="0"/>
          </a:p>
          <a:p>
            <a:pPr marL="0" indent="0">
              <a:lnSpc>
                <a:spcPct val="118000"/>
              </a:lnSpc>
              <a:buNone/>
            </a:pPr>
            <a:r>
              <a:rPr lang="en-US" sz="1600" dirty="0">
                <a:solidFill>
                  <a:srgbClr val="8FD694"/>
                </a:solidFill>
                <a:latin typeface="Courier New" pitchFamily="34" charset="0"/>
                <a:ea typeface="Courier New" pitchFamily="34" charset="-122"/>
                <a:cs typeface="Courier New" pitchFamily="34" charset="-120"/>
              </a:rPr>
              <a:t># R automatically calls print.Student</a:t>
            </a:r>
            <a:endParaRPr lang="en-US" sz="1600" dirty="0"/>
          </a:p>
          <a:p>
            <a:pPr marL="0" indent="0">
              <a:lnSpc>
                <a:spcPct val="118000"/>
              </a:lnSpc>
              <a:buNone/>
            </a:pPr>
            <a:r>
              <a:rPr lang="en-US" sz="1600" dirty="0">
                <a:solidFill>
                  <a:srgbClr val="8FD694"/>
                </a:solidFill>
                <a:latin typeface="Courier New" pitchFamily="34" charset="0"/>
                <a:ea typeface="Courier New" pitchFamily="34" charset="-122"/>
                <a:cs typeface="Courier New" pitchFamily="34" charset="-120"/>
              </a:rPr>
              <a:t># because class(student) == "Student"</a:t>
            </a:r>
            <a:endParaRPr lang="en-US" sz="16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7</a:t>
            </a:r>
            <a:endParaRPr lang="en-US" sz="1000" dirty="0"/>
          </a:p>
        </p:txBody>
      </p:sp>
      <p:pic>
        <p:nvPicPr>
          <p:cNvPr id="82945" name="Picture 1"/>
          <p:cNvPicPr>
            <a:picLocks noChangeAspect="1" noChangeArrowheads="1"/>
          </p:cNvPicPr>
          <p:nvPr/>
        </p:nvPicPr>
        <p:blipFill>
          <a:blip r:embed="rId3"/>
          <a:srcRect/>
          <a:stretch>
            <a:fillRect/>
          </a:stretch>
        </p:blipFill>
        <p:spPr bwMode="auto">
          <a:xfrm>
            <a:off x="174068" y="3745572"/>
            <a:ext cx="1847850" cy="1609725"/>
          </a:xfrm>
          <a:prstGeom prst="rect">
            <a:avLst/>
          </a:prstGeom>
          <a:noFill/>
          <a:ln w="9525">
            <a:noFill/>
            <a:miter lim="800000"/>
            <a:headEnd/>
            <a:tailEnd/>
          </a:ln>
          <a:effectLst/>
        </p:spPr>
      </p:pic>
      <p:pic>
        <p:nvPicPr>
          <p:cNvPr id="82946" name="Picture 2"/>
          <p:cNvPicPr>
            <a:picLocks noChangeAspect="1" noChangeArrowheads="1"/>
          </p:cNvPicPr>
          <p:nvPr/>
        </p:nvPicPr>
        <p:blipFill>
          <a:blip r:embed="rId4"/>
          <a:srcRect/>
          <a:stretch>
            <a:fillRect/>
          </a:stretch>
        </p:blipFill>
        <p:spPr bwMode="auto">
          <a:xfrm>
            <a:off x="2086616" y="3554083"/>
            <a:ext cx="3674104" cy="2852238"/>
          </a:xfrm>
          <a:prstGeom prst="rect">
            <a:avLst/>
          </a:prstGeom>
          <a:noFill/>
          <a:ln w="9525">
            <a:noFill/>
            <a:miter lim="800000"/>
            <a:headEnd/>
            <a:tailEnd/>
          </a:ln>
          <a:effectLst/>
        </p:spPr>
      </p:pic>
      <p:sp>
        <p:nvSpPr>
          <p:cNvPr id="82947" name="Rectangle 3"/>
          <p:cNvSpPr>
            <a:spLocks noChangeArrowheads="1"/>
          </p:cNvSpPr>
          <p:nvPr/>
        </p:nvSpPr>
        <p:spPr bwMode="auto">
          <a:xfrm>
            <a:off x="5925312" y="5355297"/>
            <a:ext cx="5550408"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200" dirty="0">
                <a:solidFill>
                  <a:srgbClr val="FFFF00"/>
                </a:solidFill>
                <a:latin typeface="Arial Unicode MS" pitchFamily="34" charset="-128"/>
                <a:cs typeface="Arial" pitchFamily="34" charset="0"/>
              </a:rPr>
              <a:t>x</a:t>
            </a:r>
            <a:r>
              <a:rPr kumimoji="0" lang="en-US" sz="1200" b="0" i="0" u="none" strike="noStrike" cap="none" normalizeH="0" baseline="0" dirty="0">
                <a:ln>
                  <a:noFill/>
                </a:ln>
                <a:solidFill>
                  <a:srgbClr val="FFFF00"/>
                </a:solidFill>
                <a:effectLst/>
                <a:latin typeface="Arial" pitchFamily="34" charset="0"/>
                <a:cs typeface="Arial" pitchFamily="34" charset="0"/>
              </a:rPr>
              <a:t> represents the object being printed. The </a:t>
            </a:r>
            <a:r>
              <a:rPr kumimoji="0" lang="en-US" sz="1200" b="0" i="0" u="none" strike="noStrike" cap="none" normalizeH="0" baseline="0" dirty="0">
                <a:ln>
                  <a:noFill/>
                </a:ln>
                <a:solidFill>
                  <a:srgbClr val="FFFF00"/>
                </a:solidFill>
                <a:effectLst/>
                <a:latin typeface="Arial Unicode MS" pitchFamily="34" charset="-128"/>
                <a:cs typeface="Arial" pitchFamily="34" charset="0"/>
              </a:rPr>
              <a:t>...</a:t>
            </a:r>
            <a:r>
              <a:rPr kumimoji="0" lang="en-US" sz="1200" b="0" i="0" u="none" strike="noStrike" cap="none" normalizeH="0" baseline="0" dirty="0">
                <a:ln>
                  <a:noFill/>
                </a:ln>
                <a:solidFill>
                  <a:srgbClr val="FFFF00"/>
                </a:solidFill>
                <a:effectLst/>
                <a:latin typeface="Arial" pitchFamily="34" charset="0"/>
                <a:cs typeface="Arial" pitchFamily="34" charset="0"/>
              </a:rPr>
              <a:t> allows additional optional arguments to be passed, which is standard practice for methods of generic functions.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p:cNvPicPr>
            <a:picLocks noChangeAspect="1" noChangeArrowheads="1"/>
          </p:cNvPicPr>
          <p:nvPr/>
        </p:nvPicPr>
        <p:blipFill>
          <a:blip r:embed="rId2"/>
          <a:srcRect/>
          <a:stretch>
            <a:fillRect/>
          </a:stretch>
        </p:blipFill>
        <p:spPr bwMode="auto">
          <a:xfrm>
            <a:off x="1164566" y="158579"/>
            <a:ext cx="6346376" cy="6699421"/>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S3 CLASSES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S3 — Constructor Function Pattern</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A constructor function standardises how objects are built.</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Add a print method so the object displays meaningfully.</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Validate inputs inside the constructor to avoid bad objects.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This pattern scales to bank accounts, shapes, employees, etc.</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new_Student &lt;- function(name, marks) {</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  obj &lt;- list(name = name, marks = marks)</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  class(obj) &lt;- "Student"</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  obj</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s1 &lt;- new_Student("Kavya", 90)</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print(s1)</a:t>
            </a:r>
            <a:endParaRPr lang="en-US" sz="1650" dirty="0"/>
          </a:p>
          <a:p>
            <a:pPr marL="0" indent="0">
              <a:lnSpc>
                <a:spcPct val="118000"/>
              </a:lnSpc>
              <a:buNone/>
            </a:pPr>
            <a:r>
              <a:rPr lang="en-US" sz="1650" dirty="0">
                <a:solidFill>
                  <a:srgbClr val="8FD694"/>
                </a:solidFill>
                <a:latin typeface="Courier New" pitchFamily="34" charset="0"/>
                <a:ea typeface="Courier New" pitchFamily="34" charset="-122"/>
                <a:cs typeface="Courier New" pitchFamily="34" charset="-120"/>
              </a:rPr>
              <a:t># Student: Kavya | Marks: 90</a:t>
            </a:r>
            <a:endParaRPr lang="en-US" sz="16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S3 CLASSES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S3 — Inheritance (Vehicle → Car)</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gn="just">
              <a:lnSpc>
                <a:spcPct val="122000"/>
              </a:lnSpc>
              <a:spcAft>
                <a:spcPts val="1100"/>
              </a:spcAft>
              <a:buSzPct val="100000"/>
              <a:buChar char="•"/>
            </a:pPr>
            <a:r>
              <a:rPr lang="en-US" sz="1600" dirty="0">
                <a:latin typeface="Arial Narrow" panose="020B0606020202030204" pitchFamily="34" charset="0"/>
              </a:rPr>
              <a:t>Inheritance is one of the concept in </a:t>
            </a:r>
            <a:r>
              <a:rPr lang="en-US" sz="1600" u="sng" dirty="0">
                <a:latin typeface="Arial Narrow" panose="020B0606020202030204" pitchFamily="34" charset="0"/>
                <a:hlinkClick r:id="rId3"/>
              </a:rPr>
              <a:t>object oriented programming</a:t>
            </a:r>
            <a:r>
              <a:rPr lang="en-US" sz="1600" dirty="0">
                <a:latin typeface="Arial Narrow" panose="020B0606020202030204" pitchFamily="34" charset="0"/>
              </a:rPr>
              <a:t> by which new classes can derived from existing or base classes helping in re-usability of code. </a:t>
            </a:r>
          </a:p>
          <a:p>
            <a:pPr marL="342900" indent="-342900" algn="just">
              <a:lnSpc>
                <a:spcPct val="122000"/>
              </a:lnSpc>
              <a:spcAft>
                <a:spcPts val="1100"/>
              </a:spcAft>
              <a:buSzPct val="100000"/>
              <a:buChar char="•"/>
            </a:pPr>
            <a:r>
              <a:rPr lang="en-US" sz="1600" dirty="0">
                <a:latin typeface="Arial Narrow" panose="020B0606020202030204" pitchFamily="34" charset="0"/>
              </a:rPr>
              <a:t>Derived classes can be the same as a base class or can have extended features which creates a hierarchical structure of classes in the programming environment. </a:t>
            </a:r>
          </a:p>
          <a:p>
            <a:pPr marL="342900" indent="-342900" algn="just">
              <a:lnSpc>
                <a:spcPct val="122000"/>
              </a:lnSpc>
              <a:spcAft>
                <a:spcPts val="1100"/>
              </a:spcAft>
              <a:buSzPct val="100000"/>
              <a:buChar char="•"/>
            </a:pPr>
            <a:r>
              <a:rPr lang="en-US" sz="1600" dirty="0">
                <a:solidFill>
                  <a:srgbClr val="1C2B36"/>
                </a:solidFill>
                <a:latin typeface="Arial Narrow" panose="020B0606020202030204" pitchFamily="34" charset="0"/>
                <a:ea typeface="Calibri" pitchFamily="34" charset="-122"/>
                <a:cs typeface="Calibri" pitchFamily="34" charset="-120"/>
              </a:rPr>
              <a:t>A class VECTOR builds a hierarchy: c("Car","Vehicle").</a:t>
            </a:r>
            <a:endParaRPr lang="en-US" sz="1600" dirty="0">
              <a:latin typeface="Arial Narrow" panose="020B0606020202030204" pitchFamily="34" charset="0"/>
            </a:endParaRPr>
          </a:p>
          <a:p>
            <a:pPr marL="342900" indent="-342900" algn="just">
              <a:lnSpc>
                <a:spcPct val="122000"/>
              </a:lnSpc>
              <a:spcAft>
                <a:spcPts val="1100"/>
              </a:spcAft>
              <a:buSzPct val="100000"/>
              <a:buChar char="•"/>
            </a:pPr>
            <a:r>
              <a:rPr lang="en-US" sz="1600" dirty="0">
                <a:solidFill>
                  <a:srgbClr val="1C2B36"/>
                </a:solidFill>
                <a:latin typeface="Arial Narrow" panose="020B0606020202030204" pitchFamily="34" charset="0"/>
                <a:ea typeface="Calibri" pitchFamily="34" charset="-122"/>
                <a:cs typeface="Calibri" pitchFamily="34" charset="-120"/>
              </a:rPr>
              <a:t>R searches methods left-to-right along this class vector.</a:t>
            </a:r>
            <a:endParaRPr lang="en-US" sz="1600" dirty="0">
              <a:latin typeface="Arial Narrow" panose="020B0606020202030204" pitchFamily="34" charset="0"/>
            </a:endParaRPr>
          </a:p>
          <a:p>
            <a:pPr marL="342900" indent="-342900" algn="just">
              <a:lnSpc>
                <a:spcPct val="122000"/>
              </a:lnSpc>
              <a:spcAft>
                <a:spcPts val="1100"/>
              </a:spcAft>
              <a:buSzPct val="100000"/>
              <a:buChar char="•"/>
            </a:pPr>
            <a:r>
              <a:rPr lang="en-US" sz="1600" dirty="0">
                <a:solidFill>
                  <a:srgbClr val="1C2B36"/>
                </a:solidFill>
                <a:latin typeface="Arial Narrow" panose="020B0606020202030204" pitchFamily="34" charset="0"/>
                <a:ea typeface="Calibri" pitchFamily="34" charset="-122"/>
                <a:cs typeface="Calibri" pitchFamily="34" charset="-120"/>
              </a:rPr>
              <a:t>NextMethod() calls the method for the next class in line.</a:t>
            </a:r>
            <a:endParaRPr lang="en-US" sz="1600" dirty="0">
              <a:latin typeface="Arial Narrow" panose="020B0606020202030204" pitchFamily="34" charset="0"/>
            </a:endParaRPr>
          </a:p>
          <a:p>
            <a:pPr marL="342900" indent="-342900" algn="just">
              <a:lnSpc>
                <a:spcPct val="122000"/>
              </a:lnSpc>
              <a:spcAft>
                <a:spcPts val="1100"/>
              </a:spcAft>
              <a:buSzPct val="100000"/>
              <a:buChar char="•"/>
            </a:pPr>
            <a:r>
              <a:rPr lang="en-US" sz="1600" dirty="0">
                <a:solidFill>
                  <a:srgbClr val="1C2B36"/>
                </a:solidFill>
                <a:latin typeface="Arial Narrow" panose="020B0606020202030204" pitchFamily="34" charset="0"/>
                <a:ea typeface="Calibri" pitchFamily="34" charset="-122"/>
                <a:cs typeface="Calibri" pitchFamily="34" charset="-120"/>
              </a:rPr>
              <a:t>A subclass method can EXTEND, not just replace, the parent.</a:t>
            </a:r>
            <a:endParaRPr lang="en-US" sz="1600" dirty="0">
              <a:latin typeface="Arial Narrow" panose="020B0606020202030204" pitchFamily="34" charset="0"/>
            </a:endParaRPr>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vehicle &lt;- list(make = "Tesla")</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class(vehicle) &lt;- "Vehicle"</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print.Vehicle &lt;- function(x,...) cat(x$make,"\n")</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class(vehicle) &lt;- c("Car", "Vehicle")</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print.Car &lt;- function(x,...) {</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  cat("Car: "); NextMethod()</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print(vehicle)   # Car: Tesla</a:t>
            </a:r>
            <a:endParaRPr lang="en-US" sz="15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E198C351-6E67-97BF-B40E-B82D84C6CBF0}"/>
              </a:ext>
            </a:extLst>
          </p:cNvPr>
          <p:cNvSpPr txBox="1"/>
          <p:nvPr/>
        </p:nvSpPr>
        <p:spPr>
          <a:xfrm>
            <a:off x="800099" y="377944"/>
            <a:ext cx="6094378" cy="2308324"/>
          </a:xfrm>
          <a:prstGeom prst="rect">
            <a:avLst/>
          </a:prstGeom>
          <a:noFill/>
        </p:spPr>
        <p:txBody>
          <a:bodyPr wrap="square">
            <a:spAutoFit/>
          </a:bodyPr>
          <a:lstStyle/>
          <a:p>
            <a:pPr algn="just"/>
            <a:r>
              <a:rPr lang="en-US" b="0" i="0" dirty="0">
                <a:solidFill>
                  <a:srgbClr val="273239"/>
                </a:solidFill>
                <a:effectLst/>
                <a:latin typeface="Nunito" pitchFamily="2" charset="0"/>
              </a:rPr>
              <a:t>We then create a student object s by making a list with the student's name, age, roll number and country. After creating this list, we assign two classes to it: "</a:t>
            </a:r>
            <a:r>
              <a:rPr lang="en-US" b="0" i="0" dirty="0" err="1">
                <a:solidFill>
                  <a:srgbClr val="273239"/>
                </a:solidFill>
                <a:effectLst/>
                <a:latin typeface="Nunito" pitchFamily="2" charset="0"/>
              </a:rPr>
              <a:t>InternationalStudent</a:t>
            </a:r>
            <a:r>
              <a:rPr lang="en-US" b="0" i="0" dirty="0">
                <a:solidFill>
                  <a:srgbClr val="273239"/>
                </a:solidFill>
                <a:effectLst/>
                <a:latin typeface="Nunito" pitchFamily="2" charset="0"/>
              </a:rPr>
              <a:t>" and "student". The order of these classes matters because R will try to find the method in the first class and then fall back to the second if it doesn't find it. This is done by setting the class() attribute for the object.</a:t>
            </a:r>
            <a:endParaRPr lang="en-IN" dirty="0"/>
          </a:p>
        </p:txBody>
      </p:sp>
      <p:pic>
        <p:nvPicPr>
          <p:cNvPr id="5" name="Picture 4">
            <a:extLst>
              <a:ext uri="{FF2B5EF4-FFF2-40B4-BE49-F238E27FC236}">
                <a16:creationId xmlns="" xmlns:a16="http://schemas.microsoft.com/office/drawing/2014/main" id="{D9F6CB83-DB1F-949B-062E-DC3472CABAC4}"/>
              </a:ext>
            </a:extLst>
          </p:cNvPr>
          <p:cNvPicPr>
            <a:picLocks noChangeAspect="1"/>
          </p:cNvPicPr>
          <p:nvPr/>
        </p:nvPicPr>
        <p:blipFill>
          <a:blip r:embed="rId2"/>
          <a:stretch>
            <a:fillRect/>
          </a:stretch>
        </p:blipFill>
        <p:spPr>
          <a:xfrm>
            <a:off x="694550" y="2563470"/>
            <a:ext cx="5277587" cy="895475"/>
          </a:xfrm>
          <a:prstGeom prst="rect">
            <a:avLst/>
          </a:prstGeom>
        </p:spPr>
      </p:pic>
      <p:cxnSp>
        <p:nvCxnSpPr>
          <p:cNvPr id="7" name="Straight Connector 6">
            <a:extLst>
              <a:ext uri="{FF2B5EF4-FFF2-40B4-BE49-F238E27FC236}">
                <a16:creationId xmlns="" xmlns:a16="http://schemas.microsoft.com/office/drawing/2014/main" id="{C0F78DF2-8A96-5442-3186-ED4CEB93CAA9}"/>
              </a:ext>
            </a:extLst>
          </p:cNvPr>
          <p:cNvCxnSpPr/>
          <p:nvPr/>
        </p:nvCxnSpPr>
        <p:spPr>
          <a:xfrm>
            <a:off x="7149830" y="0"/>
            <a:ext cx="107004" cy="6858000"/>
          </a:xfrm>
          <a:prstGeom prst="line">
            <a:avLst/>
          </a:prstGeom>
        </p:spPr>
        <p:style>
          <a:lnRef idx="3">
            <a:schemeClr val="accent1"/>
          </a:lnRef>
          <a:fillRef idx="0">
            <a:schemeClr val="accent1"/>
          </a:fillRef>
          <a:effectRef idx="2">
            <a:schemeClr val="accent1"/>
          </a:effectRef>
          <a:fontRef idx="minor">
            <a:schemeClr val="tx1"/>
          </a:fontRef>
        </p:style>
      </p:cxnSp>
      <p:sp>
        <p:nvSpPr>
          <p:cNvPr id="9" name="TextBox 8">
            <a:extLst>
              <a:ext uri="{FF2B5EF4-FFF2-40B4-BE49-F238E27FC236}">
                <a16:creationId xmlns="" xmlns:a16="http://schemas.microsoft.com/office/drawing/2014/main" id="{385A2509-F0C5-7555-4000-6C7D21126AEE}"/>
              </a:ext>
            </a:extLst>
          </p:cNvPr>
          <p:cNvSpPr txBox="1"/>
          <p:nvPr/>
        </p:nvSpPr>
        <p:spPr>
          <a:xfrm>
            <a:off x="466606" y="3429000"/>
            <a:ext cx="6094378" cy="1700466"/>
          </a:xfrm>
          <a:prstGeom prst="rect">
            <a:avLst/>
          </a:prstGeom>
          <a:noFill/>
        </p:spPr>
        <p:txBody>
          <a:bodyPr wrap="square">
            <a:spAutoFit/>
          </a:bodyPr>
          <a:lstStyle/>
          <a:p>
            <a:pPr algn="just" fontAlgn="base">
              <a:lnSpc>
                <a:spcPts val="2100"/>
              </a:lnSpc>
              <a:spcBef>
                <a:spcPts val="1800"/>
              </a:spcBef>
              <a:spcAft>
                <a:spcPts val="1800"/>
              </a:spcAft>
              <a:buNone/>
            </a:pPr>
            <a:r>
              <a:rPr lang="en-US" b="1" i="0" dirty="0">
                <a:solidFill>
                  <a:srgbClr val="273239"/>
                </a:solidFill>
                <a:effectLst/>
                <a:latin typeface="Nunito" pitchFamily="2" charset="0"/>
              </a:rPr>
              <a:t>Calling the print method on the student object</a:t>
            </a:r>
          </a:p>
          <a:p>
            <a:pPr algn="just" rtl="0" fontAlgn="base">
              <a:spcAft>
                <a:spcPts val="750"/>
              </a:spcAft>
              <a:buNone/>
            </a:pPr>
            <a:r>
              <a:rPr lang="en-US" b="0" i="0" dirty="0">
                <a:solidFill>
                  <a:srgbClr val="273239"/>
                </a:solidFill>
                <a:effectLst/>
                <a:latin typeface="Nunito" pitchFamily="2" charset="0"/>
              </a:rPr>
              <a:t>After defining the object s, we call print(s) to print its details. Since the </a:t>
            </a:r>
            <a:r>
              <a:rPr lang="en-US" b="0" i="0" dirty="0" err="1">
                <a:solidFill>
                  <a:srgbClr val="273239"/>
                </a:solidFill>
                <a:effectLst/>
                <a:latin typeface="Nunito" pitchFamily="2" charset="0"/>
              </a:rPr>
              <a:t>print.student</a:t>
            </a:r>
            <a:r>
              <a:rPr lang="en-US" b="0" i="0" dirty="0">
                <a:solidFill>
                  <a:srgbClr val="273239"/>
                </a:solidFill>
                <a:effectLst/>
                <a:latin typeface="Nunito" pitchFamily="2" charset="0"/>
              </a:rPr>
              <a:t> method is defined, it gets called. This method prints the name, age and roll number of the student as specified in the earlier code block.</a:t>
            </a:r>
          </a:p>
        </p:txBody>
      </p:sp>
      <p:pic>
        <p:nvPicPr>
          <p:cNvPr id="11" name="Picture 10">
            <a:extLst>
              <a:ext uri="{FF2B5EF4-FFF2-40B4-BE49-F238E27FC236}">
                <a16:creationId xmlns="" xmlns:a16="http://schemas.microsoft.com/office/drawing/2014/main" id="{029CE431-E784-B788-EDAD-11BA3390AC0D}"/>
              </a:ext>
            </a:extLst>
          </p:cNvPr>
          <p:cNvPicPr>
            <a:picLocks noChangeAspect="1"/>
          </p:cNvPicPr>
          <p:nvPr/>
        </p:nvPicPr>
        <p:blipFill>
          <a:blip r:embed="rId3"/>
          <a:stretch>
            <a:fillRect/>
          </a:stretch>
        </p:blipFill>
        <p:spPr>
          <a:xfrm>
            <a:off x="1626270" y="5129466"/>
            <a:ext cx="3179194" cy="1700466"/>
          </a:xfrm>
          <a:prstGeom prst="rect">
            <a:avLst/>
          </a:prstGeom>
        </p:spPr>
      </p:pic>
      <p:sp>
        <p:nvSpPr>
          <p:cNvPr id="13" name="TextBox 12">
            <a:extLst>
              <a:ext uri="{FF2B5EF4-FFF2-40B4-BE49-F238E27FC236}">
                <a16:creationId xmlns="" xmlns:a16="http://schemas.microsoft.com/office/drawing/2014/main" id="{104DA3BC-3635-84CC-8E95-C27150867226}"/>
              </a:ext>
            </a:extLst>
          </p:cNvPr>
          <p:cNvSpPr txBox="1"/>
          <p:nvPr/>
        </p:nvSpPr>
        <p:spPr>
          <a:xfrm>
            <a:off x="7256834" y="214009"/>
            <a:ext cx="4540384" cy="3077766"/>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Overriding the print method for </a:t>
            </a:r>
            <a:r>
              <a:rPr lang="en-US" b="1" i="0" dirty="0" err="1">
                <a:solidFill>
                  <a:srgbClr val="273239"/>
                </a:solidFill>
                <a:effectLst/>
                <a:latin typeface="Nunito" pitchFamily="2" charset="0"/>
              </a:rPr>
              <a:t>InternationalStudent</a:t>
            </a:r>
            <a:endParaRPr lang="en-US" b="1" i="0" dirty="0">
              <a:solidFill>
                <a:srgbClr val="273239"/>
              </a:solidFill>
              <a:effectLst/>
              <a:latin typeface="Nunito" pitchFamily="2" charset="0"/>
            </a:endParaRPr>
          </a:p>
          <a:p>
            <a:pPr algn="just" rtl="0" fontAlgn="base">
              <a:spcAft>
                <a:spcPts val="750"/>
              </a:spcAft>
              <a:buNone/>
            </a:pPr>
            <a:r>
              <a:rPr lang="en-US" b="0" i="0" dirty="0">
                <a:solidFill>
                  <a:srgbClr val="273239"/>
                </a:solidFill>
                <a:effectLst/>
                <a:latin typeface="Nunito" pitchFamily="2" charset="0"/>
              </a:rPr>
              <a:t>At this point, we define a new print method specifically for objects of the class "</a:t>
            </a:r>
            <a:r>
              <a:rPr lang="en-US" b="0" i="0" dirty="0" err="1">
                <a:solidFill>
                  <a:srgbClr val="273239"/>
                </a:solidFill>
                <a:effectLst/>
                <a:latin typeface="Nunito" pitchFamily="2" charset="0"/>
              </a:rPr>
              <a:t>InternationalStudent</a:t>
            </a:r>
            <a:r>
              <a:rPr lang="en-US" b="0" i="0" dirty="0">
                <a:solidFill>
                  <a:srgbClr val="273239"/>
                </a:solidFill>
                <a:effectLst/>
                <a:latin typeface="Nunito" pitchFamily="2" charset="0"/>
              </a:rPr>
              <a:t>". This method will print the student's name and their country, instead of just the name, age and roll number. This effectively overrides the previous print behavior when the object has the </a:t>
            </a:r>
            <a:r>
              <a:rPr lang="en-US" b="0" i="0" dirty="0" err="1">
                <a:solidFill>
                  <a:srgbClr val="273239"/>
                </a:solidFill>
                <a:effectLst/>
                <a:latin typeface="Nunito" pitchFamily="2" charset="0"/>
              </a:rPr>
              <a:t>InternationalStudent</a:t>
            </a:r>
            <a:r>
              <a:rPr lang="en-US" b="0" i="0" dirty="0">
                <a:solidFill>
                  <a:srgbClr val="273239"/>
                </a:solidFill>
                <a:effectLst/>
                <a:latin typeface="Nunito" pitchFamily="2" charset="0"/>
              </a:rPr>
              <a:t> class.</a:t>
            </a:r>
          </a:p>
        </p:txBody>
      </p:sp>
      <p:pic>
        <p:nvPicPr>
          <p:cNvPr id="15" name="Picture 14">
            <a:extLst>
              <a:ext uri="{FF2B5EF4-FFF2-40B4-BE49-F238E27FC236}">
                <a16:creationId xmlns="" xmlns:a16="http://schemas.microsoft.com/office/drawing/2014/main" id="{A7157021-FD34-5546-D090-DBFF2373D2A1}"/>
              </a:ext>
            </a:extLst>
          </p:cNvPr>
          <p:cNvPicPr>
            <a:picLocks noChangeAspect="1"/>
          </p:cNvPicPr>
          <p:nvPr/>
        </p:nvPicPr>
        <p:blipFill>
          <a:blip r:embed="rId4"/>
          <a:stretch>
            <a:fillRect/>
          </a:stretch>
        </p:blipFill>
        <p:spPr>
          <a:xfrm>
            <a:off x="7324230" y="3501682"/>
            <a:ext cx="4401164" cy="1009791"/>
          </a:xfrm>
          <a:prstGeom prst="rect">
            <a:avLst/>
          </a:prstGeom>
        </p:spPr>
      </p:pic>
    </p:spTree>
    <p:extLst>
      <p:ext uri="{BB962C8B-B14F-4D97-AF65-F5344CB8AC3E}">
        <p14:creationId xmlns="" xmlns:p14="http://schemas.microsoft.com/office/powerpoint/2010/main" val="2282734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3D015D2-138E-ADC2-A4C8-57B039E8653C}"/>
              </a:ext>
            </a:extLst>
          </p:cNvPr>
          <p:cNvSpPr txBox="1"/>
          <p:nvPr/>
        </p:nvSpPr>
        <p:spPr>
          <a:xfrm>
            <a:off x="2531623" y="458137"/>
            <a:ext cx="6094378" cy="1700466"/>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Checking if object s inherits from the student class:</a:t>
            </a:r>
          </a:p>
          <a:p>
            <a:pPr algn="l" rtl="0" fontAlgn="base">
              <a:spcAft>
                <a:spcPts val="750"/>
              </a:spcAft>
              <a:buNone/>
            </a:pPr>
            <a:r>
              <a:rPr lang="en-US" b="0" i="0" dirty="0">
                <a:solidFill>
                  <a:srgbClr val="273239"/>
                </a:solidFill>
                <a:effectLst/>
                <a:latin typeface="Nunito" pitchFamily="2" charset="0"/>
              </a:rPr>
              <a:t>Finally, we use the inherits() function to check if the object s is inherited from the student class. This function returns TRUE because the object s is indeed of class student (since student is part of the class hierarchy of s).</a:t>
            </a:r>
          </a:p>
        </p:txBody>
      </p:sp>
      <p:pic>
        <p:nvPicPr>
          <p:cNvPr id="5" name="Picture 4">
            <a:extLst>
              <a:ext uri="{FF2B5EF4-FFF2-40B4-BE49-F238E27FC236}">
                <a16:creationId xmlns="" xmlns:a16="http://schemas.microsoft.com/office/drawing/2014/main" id="{DB5B59EC-1AA8-5F4F-AA1F-5F25B53CB887}"/>
              </a:ext>
            </a:extLst>
          </p:cNvPr>
          <p:cNvPicPr>
            <a:picLocks noChangeAspect="1"/>
          </p:cNvPicPr>
          <p:nvPr/>
        </p:nvPicPr>
        <p:blipFill>
          <a:blip r:embed="rId2"/>
          <a:stretch>
            <a:fillRect/>
          </a:stretch>
        </p:blipFill>
        <p:spPr>
          <a:xfrm>
            <a:off x="2175915" y="2743104"/>
            <a:ext cx="7840169" cy="1371791"/>
          </a:xfrm>
          <a:prstGeom prst="rect">
            <a:avLst/>
          </a:prstGeom>
        </p:spPr>
      </p:pic>
    </p:spTree>
    <p:extLst>
      <p:ext uri="{BB962C8B-B14F-4D97-AF65-F5344CB8AC3E}">
        <p14:creationId xmlns="" xmlns:p14="http://schemas.microsoft.com/office/powerpoint/2010/main" val="2049157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4234" y="629728"/>
            <a:ext cx="7712015" cy="4154984"/>
          </a:xfrm>
          <a:prstGeom prst="rect">
            <a:avLst/>
          </a:prstGeom>
        </p:spPr>
        <p:txBody>
          <a:bodyPr wrap="square">
            <a:spAutoFit/>
          </a:bodyPr>
          <a:lstStyle/>
          <a:p>
            <a:r>
              <a:rPr lang="en-US" sz="2400" b="1" dirty="0">
                <a:latin typeface="Arial Narrow" pitchFamily="34" charset="0"/>
              </a:rPr>
              <a:t>Advantages of S3</a:t>
            </a:r>
          </a:p>
          <a:p>
            <a:r>
              <a:rPr lang="en-US" sz="2400" dirty="0">
                <a:latin typeface="Arial Narrow" pitchFamily="34" charset="0"/>
              </a:rPr>
              <a:t>S3 is:</a:t>
            </a:r>
          </a:p>
          <a:p>
            <a:pPr>
              <a:buFont typeface="Arial" pitchFamily="34" charset="0"/>
              <a:buChar char="•"/>
            </a:pPr>
            <a:r>
              <a:rPr lang="en-US" sz="2400" dirty="0">
                <a:latin typeface="Arial Narrow" pitchFamily="34" charset="0"/>
              </a:rPr>
              <a:t>simple </a:t>
            </a:r>
          </a:p>
          <a:p>
            <a:pPr>
              <a:buFont typeface="Arial" pitchFamily="34" charset="0"/>
              <a:buChar char="•"/>
            </a:pPr>
            <a:r>
              <a:rPr lang="en-US" sz="2400" dirty="0">
                <a:latin typeface="Arial Narrow" pitchFamily="34" charset="0"/>
              </a:rPr>
              <a:t>flexible </a:t>
            </a:r>
          </a:p>
          <a:p>
            <a:pPr>
              <a:buFont typeface="Arial" pitchFamily="34" charset="0"/>
              <a:buChar char="•"/>
            </a:pPr>
            <a:r>
              <a:rPr lang="en-US" sz="2400" dirty="0">
                <a:latin typeface="Arial Narrow" pitchFamily="34" charset="0"/>
              </a:rPr>
              <a:t>easy to learn </a:t>
            </a:r>
          </a:p>
          <a:p>
            <a:pPr>
              <a:buFont typeface="Arial" pitchFamily="34" charset="0"/>
              <a:buChar char="•"/>
            </a:pPr>
            <a:r>
              <a:rPr lang="en-US" sz="2400" dirty="0">
                <a:latin typeface="Arial Narrow" pitchFamily="34" charset="0"/>
              </a:rPr>
              <a:t>easy to implement </a:t>
            </a:r>
          </a:p>
          <a:p>
            <a:pPr>
              <a:buFont typeface="Arial" pitchFamily="34" charset="0"/>
              <a:buChar char="•"/>
            </a:pPr>
            <a:r>
              <a:rPr lang="en-US" sz="2400" dirty="0">
                <a:latin typeface="Arial Narrow" pitchFamily="34" charset="0"/>
              </a:rPr>
              <a:t>suitable for lightweight object-oriented programming </a:t>
            </a:r>
          </a:p>
          <a:p>
            <a:pPr>
              <a:buFont typeface="Arial" pitchFamily="34" charset="0"/>
              <a:buChar char="•"/>
            </a:pPr>
            <a:r>
              <a:rPr lang="en-US" sz="2400" dirty="0">
                <a:latin typeface="Arial Narrow" pitchFamily="34" charset="0"/>
              </a:rPr>
              <a:t>widely used in traditional R code. </a:t>
            </a:r>
          </a:p>
          <a:p>
            <a:pPr>
              <a:buFont typeface="Arial" pitchFamily="34" charset="0"/>
              <a:buChar char="•"/>
            </a:pPr>
            <a:r>
              <a:rPr lang="en-US" sz="2400" dirty="0">
                <a:latin typeface="Arial Narrow" pitchFamily="34" charset="0"/>
              </a:rPr>
              <a:t>But that flexibility also means less strict checking.</a:t>
            </a:r>
          </a:p>
          <a:p>
            <a:r>
              <a:rPr lang="en-US" sz="2400" dirty="0">
                <a:latin typeface="Arial Narrow" pitchFamily="34" charset="0"/>
              </a:rPr>
              <a:t>For example, because an S3 object can simply be a list, accidental components can be added without necessarily generating an error.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S4 CLASSES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S4 Classes — A Simple First Example</a:t>
            </a:r>
            <a:endParaRPr lang="en-US" sz="2800" dirty="0"/>
          </a:p>
        </p:txBody>
      </p:sp>
      <p:sp>
        <p:nvSpPr>
          <p:cNvPr id="5" name="Text 3"/>
          <p:cNvSpPr/>
          <p:nvPr/>
        </p:nvSpPr>
        <p:spPr>
          <a:xfrm>
            <a:off x="0" y="1627632"/>
            <a:ext cx="5943600" cy="4480560"/>
          </a:xfrm>
          <a:prstGeom prst="rect">
            <a:avLst/>
          </a:prstGeom>
          <a:noFill/>
          <a:ln/>
        </p:spPr>
        <p:txBody>
          <a:bodyPr wrap="square" rtlCol="0" anchor="t"/>
          <a:lstStyle/>
          <a:p>
            <a:pPr>
              <a:buFont typeface="Arial" pitchFamily="34" charset="0"/>
              <a:buChar char="•"/>
            </a:pPr>
            <a:r>
              <a:rPr lang="en-US" dirty="0">
                <a:latin typeface="Arial Narrow" pitchFamily="34" charset="0"/>
              </a:rPr>
              <a:t>S4 is a more formal OOP system than S3.</a:t>
            </a:r>
          </a:p>
          <a:p>
            <a:pPr>
              <a:buFont typeface="Arial" pitchFamily="34" charset="0"/>
              <a:buChar char="•"/>
            </a:pPr>
            <a:r>
              <a:rPr lang="en-US" dirty="0">
                <a:latin typeface="Arial Narrow" pitchFamily="34" charset="0"/>
              </a:rPr>
              <a:t>S4 explicitly defines the structure and allowed types of an object, helping prevent accidental creation or access of invalid components. </a:t>
            </a:r>
          </a:p>
          <a:p>
            <a:pPr>
              <a:buFont typeface="Arial" pitchFamily="34" charset="0"/>
              <a:buChar char="•"/>
            </a:pPr>
            <a:r>
              <a:rPr lang="en-US" dirty="0">
                <a:latin typeface="Arial Narrow" pitchFamily="34" charset="0"/>
              </a:rPr>
              <a:t>S4 terminology differs slightly:</a:t>
            </a:r>
          </a:p>
          <a:p>
            <a:pPr>
              <a:buFont typeface="Arial" pitchFamily="34" charset="0"/>
              <a:buChar char="•"/>
            </a:pPr>
            <a:r>
              <a:rPr lang="en-US" dirty="0">
                <a:latin typeface="Arial Narrow" pitchFamily="34" charset="0"/>
              </a:rPr>
              <a:t>class components are called </a:t>
            </a:r>
            <a:r>
              <a:rPr lang="en-US" b="1" dirty="0">
                <a:latin typeface="Arial Narrow" pitchFamily="34" charset="0"/>
              </a:rPr>
              <a:t>slots</a:t>
            </a:r>
            <a:r>
              <a:rPr lang="en-US" dirty="0">
                <a:latin typeface="Arial Narrow" pitchFamily="34" charset="0"/>
              </a:rPr>
              <a:t> </a:t>
            </a:r>
          </a:p>
          <a:p>
            <a:pPr>
              <a:buFont typeface="Arial" pitchFamily="34" charset="0"/>
              <a:buChar char="•"/>
            </a:pPr>
            <a:r>
              <a:rPr lang="en-US" dirty="0">
                <a:latin typeface="Arial Narrow" pitchFamily="34" charset="0"/>
              </a:rPr>
              <a:t>classes are explicitly declared </a:t>
            </a:r>
          </a:p>
          <a:p>
            <a:pPr>
              <a:buFont typeface="Arial" pitchFamily="34" charset="0"/>
              <a:buChar char="•"/>
            </a:pPr>
            <a:r>
              <a:rPr lang="en-US" dirty="0">
                <a:latin typeface="Arial Narrow" pitchFamily="34" charset="0"/>
              </a:rPr>
              <a:t>slot types are explicitly declared </a:t>
            </a:r>
          </a:p>
          <a:p>
            <a:pPr>
              <a:buFont typeface="Arial" pitchFamily="34" charset="0"/>
              <a:buChar char="•"/>
            </a:pPr>
            <a:r>
              <a:rPr lang="en-US" dirty="0">
                <a:latin typeface="Arial Narrow" pitchFamily="34" charset="0"/>
              </a:rPr>
              <a:t>objects are usually created with new() </a:t>
            </a:r>
          </a:p>
          <a:p>
            <a:pPr>
              <a:buFont typeface="Arial" pitchFamily="34" charset="0"/>
              <a:buChar char="•"/>
            </a:pPr>
            <a:r>
              <a:rPr lang="en-US" dirty="0">
                <a:latin typeface="Arial Narrow" pitchFamily="34" charset="0"/>
              </a:rPr>
              <a:t>slots are accessed using @. </a:t>
            </a:r>
          </a:p>
          <a:p>
            <a:pPr marL="342900" indent="-342900">
              <a:lnSpc>
                <a:spcPct val="122000"/>
              </a:lnSpc>
              <a:spcAft>
                <a:spcPts val="1100"/>
              </a:spcAft>
              <a:buSzPct val="100000"/>
              <a:buChar char="•"/>
            </a:pPr>
            <a:r>
              <a:rPr lang="en-US" dirty="0">
                <a:solidFill>
                  <a:srgbClr val="1C2B36"/>
                </a:solidFill>
                <a:latin typeface="Arial Narrow" pitchFamily="34" charset="0"/>
                <a:ea typeface="Calibri" pitchFamily="34" charset="-122"/>
                <a:cs typeface="Calibri" pitchFamily="34" charset="-120"/>
              </a:rPr>
              <a:t>S4 classes are declared with setClass() before use.</a:t>
            </a:r>
            <a:endParaRPr lang="en-US" dirty="0">
              <a:latin typeface="Arial Narrow" pitchFamily="34" charset="0"/>
            </a:endParaRPr>
          </a:p>
          <a:p>
            <a:pPr marL="342900" indent="-342900">
              <a:lnSpc>
                <a:spcPct val="122000"/>
              </a:lnSpc>
              <a:spcAft>
                <a:spcPts val="1100"/>
              </a:spcAft>
              <a:buSzPct val="100000"/>
              <a:buChar char="•"/>
            </a:pPr>
            <a:r>
              <a:rPr lang="en-US" dirty="0">
                <a:solidFill>
                  <a:srgbClr val="1C2B36"/>
                </a:solidFill>
                <a:latin typeface="Arial Narrow" pitchFamily="34" charset="0"/>
                <a:ea typeface="Calibri" pitchFamily="34" charset="-122"/>
                <a:cs typeface="Calibri" pitchFamily="34" charset="-120"/>
              </a:rPr>
              <a:t>slots = c(...) fixes each field's name and required type.</a:t>
            </a:r>
            <a:endParaRPr lang="en-US" dirty="0">
              <a:latin typeface="Arial Narrow" pitchFamily="34" charset="0"/>
            </a:endParaRPr>
          </a:p>
          <a:p>
            <a:pPr marL="342900" indent="-342900">
              <a:lnSpc>
                <a:spcPct val="122000"/>
              </a:lnSpc>
              <a:spcAft>
                <a:spcPts val="1100"/>
              </a:spcAft>
              <a:buSzPct val="100000"/>
              <a:buChar char="•"/>
            </a:pPr>
            <a:r>
              <a:rPr lang="en-US" dirty="0">
                <a:solidFill>
                  <a:srgbClr val="1C2B36"/>
                </a:solidFill>
                <a:latin typeface="Arial Narrow" pitchFamily="34" charset="0"/>
                <a:ea typeface="Calibri" pitchFamily="34" charset="-122"/>
                <a:cs typeface="Calibri" pitchFamily="34" charset="-120"/>
              </a:rPr>
              <a:t>new() creates an object; type-checking happens automatically.</a:t>
            </a:r>
            <a:endParaRPr lang="en-US" dirty="0">
              <a:latin typeface="Arial Narrow" pitchFamily="34" charset="0"/>
            </a:endParaRPr>
          </a:p>
          <a:p>
            <a:pPr marL="342900" indent="-342900">
              <a:lnSpc>
                <a:spcPct val="122000"/>
              </a:lnSpc>
              <a:spcAft>
                <a:spcPts val="1100"/>
              </a:spcAft>
              <a:buSzPct val="100000"/>
              <a:buChar char="•"/>
            </a:pPr>
            <a:r>
              <a:rPr lang="en-US" dirty="0">
                <a:solidFill>
                  <a:srgbClr val="1C2B36"/>
                </a:solidFill>
                <a:latin typeface="Arial Narrow" pitchFamily="34" charset="0"/>
                <a:ea typeface="Calibri" pitchFamily="34" charset="-122"/>
                <a:cs typeface="Calibri" pitchFamily="34" charset="-120"/>
              </a:rPr>
              <a:t>This mirrors the student example, now made type-safe.</a:t>
            </a:r>
            <a:endParaRPr lang="en-US" dirty="0">
              <a:latin typeface="Arial Narrow" pitchFamily="34" charset="0"/>
            </a:endParaRPr>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50" dirty="0">
                <a:solidFill>
                  <a:srgbClr val="8FD694"/>
                </a:solidFill>
                <a:latin typeface="Courier New" pitchFamily="34" charset="0"/>
                <a:ea typeface="Courier New" pitchFamily="34" charset="-122"/>
                <a:cs typeface="Courier New" pitchFamily="34" charset="-120"/>
              </a:rPr>
              <a:t># Step 1: define the class</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setClass("Student", slots = c(</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  name = "character",</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  marks = "numeric"</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a:t>
            </a:r>
            <a:endParaRPr lang="en-US" sz="1650" dirty="0"/>
          </a:p>
          <a:p>
            <a:pPr marL="0" indent="0">
              <a:lnSpc>
                <a:spcPct val="118000"/>
              </a:lnSpc>
              <a:buNone/>
            </a:pPr>
            <a:endParaRPr lang="en-US" sz="1650" dirty="0"/>
          </a:p>
          <a:p>
            <a:pPr marL="0" indent="0">
              <a:lnSpc>
                <a:spcPct val="118000"/>
              </a:lnSpc>
              <a:buNone/>
            </a:pPr>
            <a:r>
              <a:rPr lang="en-US" sz="1650" dirty="0">
                <a:solidFill>
                  <a:srgbClr val="8FD694"/>
                </a:solidFill>
                <a:latin typeface="Courier New" pitchFamily="34" charset="0"/>
                <a:ea typeface="Courier New" pitchFamily="34" charset="-122"/>
                <a:cs typeface="Courier New" pitchFamily="34" charset="-120"/>
              </a:rPr>
              <a:t># Step 2: create an object</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 &lt;- new("Student", name = "John", marks = 88)</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s@name    # "John"   (@ instead of $)</a:t>
            </a:r>
            <a:endParaRPr lang="en-US" sz="16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S4 CLASSES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S4 — Slots &amp; Validity Rules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Slots are accessed with the @ operator, not $.</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setValidity() attaches a rule-checking function to the class.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Return TRUE if valid, or an error message string if not.</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Invalid objects are rejected the moment new() runs.</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setValidity("Student", function(object) {</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  if (object@marks &lt; 0 || object@marks &gt; 100)</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    return("marks must be between 0 and 100")</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  TRUE</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new("Student", name = "X", marks = 150)</a:t>
            </a:r>
            <a:endParaRPr lang="en-US" sz="1550" dirty="0"/>
          </a:p>
          <a:p>
            <a:pPr marL="0" indent="0">
              <a:lnSpc>
                <a:spcPct val="118000"/>
              </a:lnSpc>
              <a:buNone/>
            </a:pPr>
            <a:r>
              <a:rPr lang="en-US" sz="1550" dirty="0">
                <a:solidFill>
                  <a:srgbClr val="8FD694"/>
                </a:solidFill>
                <a:latin typeface="Courier New" pitchFamily="34" charset="0"/>
                <a:ea typeface="Courier New" pitchFamily="34" charset="-122"/>
                <a:cs typeface="Courier New" pitchFamily="34" charset="-120"/>
              </a:rPr>
              <a:t># Error: invalid class “Student” object:</a:t>
            </a:r>
            <a:endParaRPr lang="en-US" sz="1550" dirty="0"/>
          </a:p>
          <a:p>
            <a:pPr marL="0" indent="0">
              <a:lnSpc>
                <a:spcPct val="118000"/>
              </a:lnSpc>
              <a:buNone/>
            </a:pPr>
            <a:r>
              <a:rPr lang="en-US" sz="1550" dirty="0">
                <a:solidFill>
                  <a:srgbClr val="8FD694"/>
                </a:solidFill>
                <a:latin typeface="Courier New" pitchFamily="34" charset="0"/>
                <a:ea typeface="Courier New" pitchFamily="34" charset="-122"/>
                <a:cs typeface="Courier New" pitchFamily="34" charset="-120"/>
              </a:rPr>
              <a:t>#  marks must be between 0 and 100</a:t>
            </a:r>
            <a:endParaRPr lang="en-US" sz="15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S4 CLASSES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S4 — Generic Functions &amp; Methods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setGeneric() declares a new generic function.</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setMethod() defines its behaviour for a specific class.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signature= names which argument's class controls dispatch.</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S4 supports multiple dispatch — more than one argument's class.</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setGeneric("grade", function(obj)</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standardGeneric("grade"))</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setMethod("grade", "Student", function(obj) {</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if (obj@marks &gt;= 90) "A"</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else if (obj@marks &gt;= 75) "B"</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else "C"</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grade(s)     # "B"</a:t>
            </a:r>
            <a:endParaRPr lang="en-US" sz="16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S4 CLASSES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S4 — Inheritance with contains=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contains= names the parent class a new class extends.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A subclass automatically inherits all parent slots.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callNextMethod() invokes the parent's version of a method.</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is() checks whether an object belongs to a class or ancestor.</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setClass("GradStudent", contains = "Student",</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slots = c(thesis = "character"))</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g &lt;- new("GradStudent", name = "Divya",</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marks = 92, thesis = "AI in Health")</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is(g, "Student")     # TRUE</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g@thesis              # "AI in Health"</a:t>
            </a:r>
            <a:endParaRPr lang="en-US" sz="16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F2A39AE-8C80-130C-C0ED-21895EB74D83}"/>
              </a:ext>
            </a:extLst>
          </p:cNvPr>
          <p:cNvPicPr>
            <a:picLocks noChangeAspect="1"/>
          </p:cNvPicPr>
          <p:nvPr/>
        </p:nvPicPr>
        <p:blipFill>
          <a:blip r:embed="rId2"/>
          <a:stretch>
            <a:fillRect/>
          </a:stretch>
        </p:blipFill>
        <p:spPr>
          <a:xfrm>
            <a:off x="1185177" y="347232"/>
            <a:ext cx="9821646" cy="6163535"/>
          </a:xfrm>
          <a:prstGeom prst="rect">
            <a:avLst/>
          </a:prstGeom>
        </p:spPr>
      </p:pic>
    </p:spTree>
    <p:extLst>
      <p:ext uri="{BB962C8B-B14F-4D97-AF65-F5344CB8AC3E}">
        <p14:creationId xmlns="" xmlns:p14="http://schemas.microsoft.com/office/powerpoint/2010/main" val="4281182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1BC790F2-DE74-336D-27EA-77BA05E57DF5}"/>
              </a:ext>
            </a:extLst>
          </p:cNvPr>
          <p:cNvPicPr>
            <a:picLocks noChangeAspect="1"/>
          </p:cNvPicPr>
          <p:nvPr/>
        </p:nvPicPr>
        <p:blipFill>
          <a:blip r:embed="rId2"/>
          <a:stretch>
            <a:fillRect/>
          </a:stretch>
        </p:blipFill>
        <p:spPr>
          <a:xfrm>
            <a:off x="2013058" y="0"/>
            <a:ext cx="8165883" cy="6858000"/>
          </a:xfrm>
          <a:prstGeom prst="rect">
            <a:avLst/>
          </a:prstGeom>
        </p:spPr>
      </p:pic>
    </p:spTree>
    <p:extLst>
      <p:ext uri="{BB962C8B-B14F-4D97-AF65-F5344CB8AC3E}">
        <p14:creationId xmlns="" xmlns:p14="http://schemas.microsoft.com/office/powerpoint/2010/main" val="1181483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FDCC7676-7A62-9051-3E03-FA6866DD41EF}"/>
              </a:ext>
            </a:extLst>
          </p:cNvPr>
          <p:cNvPicPr>
            <a:picLocks noChangeAspect="1"/>
          </p:cNvPicPr>
          <p:nvPr/>
        </p:nvPicPr>
        <p:blipFill>
          <a:blip r:embed="rId2"/>
          <a:stretch>
            <a:fillRect/>
          </a:stretch>
        </p:blipFill>
        <p:spPr>
          <a:xfrm>
            <a:off x="1499546" y="1590418"/>
            <a:ext cx="9192908" cy="3677163"/>
          </a:xfrm>
          <a:prstGeom prst="rect">
            <a:avLst/>
          </a:prstGeom>
        </p:spPr>
      </p:pic>
    </p:spTree>
    <p:extLst>
      <p:ext uri="{BB962C8B-B14F-4D97-AF65-F5344CB8AC3E}">
        <p14:creationId xmlns="" xmlns:p14="http://schemas.microsoft.com/office/powerpoint/2010/main" val="3416344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COMPARE</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S3 vs S4 — Side by Side</a:t>
            </a:r>
            <a:endParaRPr lang="en-US" sz="2800" dirty="0"/>
          </a:p>
        </p:txBody>
      </p:sp>
      <p:graphicFrame>
        <p:nvGraphicFramePr>
          <p:cNvPr id="15" name="Table 0"/>
          <p:cNvGraphicFramePr>
            <a:graphicFrameLocks noGrp="1"/>
          </p:cNvGraphicFramePr>
          <p:nvPr>
            <p:extLst>
              <p:ext uri="{D42A27DB-BD31-4B8C-83A1-F6EECF244321}">
                <p14:modId xmlns="" xmlns:p14="http://schemas.microsoft.com/office/powerpoint/2010/main" val="1579011935"/>
              </p:ext>
            </p:extLst>
          </p:nvPr>
        </p:nvGraphicFramePr>
        <p:xfrm>
          <a:off x="457200" y="1645920"/>
          <a:ext cx="11247120" cy="4526280"/>
        </p:xfrm>
        <a:graphic>
          <a:graphicData uri="http://schemas.openxmlformats.org/drawingml/2006/table">
            <a:tbl>
              <a:tblPr/>
              <a:tblGrid>
                <a:gridCol w="2926080">
                  <a:extLst>
                    <a:ext uri="{9D8B030D-6E8A-4147-A177-3AD203B41FA5}">
                      <a16:colId xmlns="" xmlns:a16="http://schemas.microsoft.com/office/drawing/2014/main" val="20000"/>
                    </a:ext>
                  </a:extLst>
                </a:gridCol>
                <a:gridCol w="4160520">
                  <a:extLst>
                    <a:ext uri="{9D8B030D-6E8A-4147-A177-3AD203B41FA5}">
                      <a16:colId xmlns="" xmlns:a16="http://schemas.microsoft.com/office/drawing/2014/main" val="20001"/>
                    </a:ext>
                  </a:extLst>
                </a:gridCol>
                <a:gridCol w="4160520">
                  <a:extLst>
                    <a:ext uri="{9D8B030D-6E8A-4147-A177-3AD203B41FA5}">
                      <a16:colId xmlns="" xmlns:a16="http://schemas.microsoft.com/office/drawing/2014/main" val="20002"/>
                    </a:ext>
                  </a:extLst>
                </a:gridCol>
              </a:tblGrid>
              <a:tr h="565785">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Aspect</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S3</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S4</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extLst>
                  <a:ext uri="{0D108BD9-81ED-4DB2-BD59-A6C34878D82A}">
                    <a16:rowId xmlns="" xmlns:a16="http://schemas.microsoft.com/office/drawing/2014/main" val="10000"/>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Definition</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Informal — no setClass()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Formal — declared with setClass()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Field access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x$field</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x@slot</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extLst>
                  <a:ext uri="{0D108BD9-81ED-4DB2-BD59-A6C34878D82A}">
                    <a16:rowId xmlns="" xmlns:a16="http://schemas.microsoft.com/office/drawing/2014/main" val="10002"/>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Type checking</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None (unchecked)</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Enforced at object creation</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Method dispatch</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Single (first argument)</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Single or multiple dispatch</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extLst>
                  <a:ext uri="{0D108BD9-81ED-4DB2-BD59-A6C34878D82A}">
                    <a16:rowId xmlns="" xmlns:a16="http://schemas.microsoft.com/office/drawing/2014/main" val="10004"/>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Method naming</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generic.class()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setMethod("generic", "class")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Inheritance call</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NextMethod()</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callNextMethod()</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extLst>
                  <a:ext uri="{0D108BD9-81ED-4DB2-BD59-A6C34878D82A}">
                    <a16:rowId xmlns="" xmlns:a16="http://schemas.microsoft.com/office/drawing/2014/main" val="10006"/>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Typical use</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Quick, everyday objects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Robust packages needing validation</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bl>
          </a:graphicData>
        </a:graphic>
      </p:graphicFrame>
      <p:sp>
        <p:nvSpPr>
          <p:cNvPr id="6" name="Text 3"/>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7" name="Text 4"/>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COMPARE</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S3 vs S4 vs R5 (Reference Classes)</a:t>
            </a:r>
            <a:endParaRPr lang="en-US" sz="2800" dirty="0"/>
          </a:p>
        </p:txBody>
      </p:sp>
      <p:graphicFrame>
        <p:nvGraphicFramePr>
          <p:cNvPr id="16" name="Table 0"/>
          <p:cNvGraphicFramePr>
            <a:graphicFrameLocks noGrp="1"/>
          </p:cNvGraphicFramePr>
          <p:nvPr>
            <p:extLst>
              <p:ext uri="{D42A27DB-BD31-4B8C-83A1-F6EECF244321}">
                <p14:modId xmlns="" xmlns:p14="http://schemas.microsoft.com/office/powerpoint/2010/main" val="1579011935"/>
              </p:ext>
            </p:extLst>
          </p:nvPr>
        </p:nvGraphicFramePr>
        <p:xfrm>
          <a:off x="457200" y="1645920"/>
          <a:ext cx="11247120" cy="4526277"/>
        </p:xfrm>
        <a:graphic>
          <a:graphicData uri="http://schemas.openxmlformats.org/drawingml/2006/table">
            <a:tbl>
              <a:tblPr/>
              <a:tblGrid>
                <a:gridCol w="2468880">
                  <a:extLst>
                    <a:ext uri="{9D8B030D-6E8A-4147-A177-3AD203B41FA5}">
                      <a16:colId xmlns="" xmlns:a16="http://schemas.microsoft.com/office/drawing/2014/main" val="20000"/>
                    </a:ext>
                  </a:extLst>
                </a:gridCol>
                <a:gridCol w="2743200">
                  <a:extLst>
                    <a:ext uri="{9D8B030D-6E8A-4147-A177-3AD203B41FA5}">
                      <a16:colId xmlns="" xmlns:a16="http://schemas.microsoft.com/office/drawing/2014/main" val="20001"/>
                    </a:ext>
                  </a:extLst>
                </a:gridCol>
                <a:gridCol w="2743200">
                  <a:extLst>
                    <a:ext uri="{9D8B030D-6E8A-4147-A177-3AD203B41FA5}">
                      <a16:colId xmlns="" xmlns:a16="http://schemas.microsoft.com/office/drawing/2014/main" val="20002"/>
                    </a:ext>
                  </a:extLst>
                </a:gridCol>
                <a:gridCol w="3291840">
                  <a:extLst>
                    <a:ext uri="{9D8B030D-6E8A-4147-A177-3AD203B41FA5}">
                      <a16:colId xmlns="" xmlns:a16="http://schemas.microsoft.com/office/drawing/2014/main" val="20003"/>
                    </a:ext>
                  </a:extLst>
                </a:gridCol>
              </a:tblGrid>
              <a:tr h="646611">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Aspect</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S3</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S4</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R5 / Reference Classes</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extLst>
                  <a:ext uri="{0D108BD9-81ED-4DB2-BD59-A6C34878D82A}">
                    <a16:rowId xmlns="" xmlns:a16="http://schemas.microsoft.com/office/drawing/2014/main" val="10000"/>
                  </a:ext>
                </a:extLst>
              </a:tr>
              <a:tr h="646611">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Declared with</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class() / structure()</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setClass()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setRefClass()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646611">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Mutability</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Copy-on-modify</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Copy-on-modify</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Mutable — modify in place</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extLst>
                  <a:ext uri="{0D108BD9-81ED-4DB2-BD59-A6C34878D82A}">
                    <a16:rowId xmlns="" xmlns:a16="http://schemas.microsoft.com/office/drawing/2014/main" val="10002"/>
                  </a:ext>
                </a:extLst>
              </a:tr>
              <a:tr h="646611">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Field access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x$field</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x@slot</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x$field (via $methods)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646611">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Type checking</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Enforced</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Enforced</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extLst>
                  <a:ext uri="{0D108BD9-81ED-4DB2-BD59-A6C34878D82A}">
                    <a16:rowId xmlns="" xmlns:a16="http://schemas.microsoft.com/office/drawing/2014/main" val="10004"/>
                  </a:ext>
                </a:extLst>
              </a:tr>
              <a:tr h="646611">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Dispatch</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Single, by class attr.</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Single or multiple</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Method belongs to object</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646611">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Best for</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Quick, everyday objects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Validated package classes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Stateful objects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extLst>
                  <a:ext uri="{0D108BD9-81ED-4DB2-BD59-A6C34878D82A}">
                    <a16:rowId xmlns="" xmlns:a16="http://schemas.microsoft.com/office/drawing/2014/main" val="10006"/>
                  </a:ext>
                </a:extLst>
              </a:tr>
            </a:tbl>
          </a:graphicData>
        </a:graphic>
      </p:graphicFrame>
      <p:sp>
        <p:nvSpPr>
          <p:cNvPr id="6" name="Text 3"/>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7" name="Text 4"/>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OOP IN PRACTICE</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OOP Meets Statistical Models in R</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Model functions like lm() and glm() return an S3 object.</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class(model) is set to "lm", carrying data + coefficients.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print(), summary(), predict() are all S3 generics.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The SAME function names work on completely different models.</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fit &lt;- lm(mpg ~ wt, data = mtcars)</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class(fit)          # "lm"</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summary(fit)       # calls summary.lm()</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predict(fit, data.frame(wt = 3))</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fit2 &lt;- glm(am ~ wt, data = mtcars,</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family = binomial)</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class(fit2)         # "glm" "lm"</a:t>
            </a:r>
            <a:endParaRPr lang="en-US" sz="16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132743"/>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1F6E8C">
              <a:alpha val="22000"/>
            </a:srgbClr>
          </a:solidFill>
          <a:ln/>
        </p:spPr>
      </p:sp>
      <p:sp>
        <p:nvSpPr>
          <p:cNvPr id="3" name="Shape 1"/>
          <p:cNvSpPr/>
          <p:nvPr/>
        </p:nvSpPr>
        <p:spPr>
          <a:xfrm>
            <a:off x="-1371600" y="4572000"/>
            <a:ext cx="3657600" cy="3657600"/>
          </a:xfrm>
          <a:prstGeom prst="ellipse">
            <a:avLst/>
          </a:prstGeom>
          <a:solidFill>
            <a:srgbClr val="FF6B35">
              <a:alpha val="15000"/>
            </a:srgbClr>
          </a:solidFill>
          <a:ln/>
        </p:spPr>
      </p:sp>
      <p:sp>
        <p:nvSpPr>
          <p:cNvPr id="4" name="Text 2"/>
          <p:cNvSpPr/>
          <p:nvPr/>
        </p:nvSpPr>
        <p:spPr>
          <a:xfrm>
            <a:off x="822960" y="2377440"/>
            <a:ext cx="9144000" cy="457200"/>
          </a:xfrm>
          <a:prstGeom prst="rect">
            <a:avLst/>
          </a:prstGeom>
          <a:noFill/>
          <a:ln/>
        </p:spPr>
        <p:txBody>
          <a:bodyPr wrap="square" rtlCol="0" anchor="ctr"/>
          <a:lstStyle/>
          <a:p>
            <a:pPr marL="0" indent="0">
              <a:buNone/>
            </a:pPr>
            <a:r>
              <a:rPr lang="en-US" sz="1600" b="1" kern="0" spc="200" dirty="0">
                <a:solidFill>
                  <a:srgbClr val="FF6B35"/>
                </a:solidFill>
                <a:latin typeface="Calibri" pitchFamily="34" charset="0"/>
                <a:ea typeface="Calibri" pitchFamily="34" charset="-122"/>
                <a:cs typeface="Calibri" pitchFamily="34" charset="-120"/>
              </a:rPr>
              <a:t>SECTION 2</a:t>
            </a:r>
            <a:endParaRPr lang="en-US" sz="1600" dirty="0"/>
          </a:p>
        </p:txBody>
      </p:sp>
      <p:sp>
        <p:nvSpPr>
          <p:cNvPr id="5" name="Text 3"/>
          <p:cNvSpPr/>
          <p:nvPr/>
        </p:nvSpPr>
        <p:spPr>
          <a:xfrm>
            <a:off x="822960" y="2816352"/>
            <a:ext cx="10241280" cy="118872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Managing Your Objects</a:t>
            </a:r>
            <a:endParaRPr lang="en-US" sz="4200" dirty="0"/>
          </a:p>
        </p:txBody>
      </p:sp>
      <p:sp>
        <p:nvSpPr>
          <p:cNvPr id="6" name="Text 4"/>
          <p:cNvSpPr/>
          <p:nvPr/>
        </p:nvSpPr>
        <p:spPr>
          <a:xfrm>
            <a:off x="822960" y="3977640"/>
            <a:ext cx="9875520" cy="640080"/>
          </a:xfrm>
          <a:prstGeom prst="rect">
            <a:avLst/>
          </a:prstGeom>
          <a:noFill/>
          <a:ln/>
        </p:spPr>
        <p:txBody>
          <a:bodyPr wrap="square" rtlCol="0" anchor="ctr"/>
          <a:lstStyle/>
          <a:p>
            <a:pPr marL="0" indent="0">
              <a:buNone/>
            </a:pPr>
            <a:r>
              <a:rPr lang="en-US" sz="1650" i="1" dirty="0">
                <a:solidFill>
                  <a:srgbClr val="CFE8FF"/>
                </a:solidFill>
                <a:latin typeface="Calibri" pitchFamily="34" charset="0"/>
                <a:ea typeface="Calibri" pitchFamily="34" charset="-122"/>
                <a:cs typeface="Calibri" pitchFamily="34" charset="-120"/>
              </a:rPr>
              <a:t>Inspecting, saving, reloading and connecting to the R workspace</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MANAGING OBJECTS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Inspecting Objects &amp; the Workspace</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ls() lists every object in the workspace right now.</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str() shows the internal structure of any object.</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class() / typeof() report the class vs. storage type.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rm() removes objects; rm(list = ls()) clears everything.</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ls()                  # list all objects</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str(student)           # structure of an object</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class(student)         # "Student"</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exists("student")      # TRUE</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rm(s1)                  # remove one object</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rm(list = ls())         # clear workspace</a:t>
            </a:r>
            <a:endParaRPr lang="en-US" sz="16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MANAGING OBJECTS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Session State: exists(), get(), assign()</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exists("name") checks whether an object is defined.</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get("name") retrieves an object by its name as a string.</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assign("name", value) creates a variable from a string name.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Together they let code build variable names dynamically.</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550" dirty="0">
                <a:solidFill>
                  <a:srgbClr val="8FD694"/>
                </a:solidFill>
                <a:latin typeface="Courier New" pitchFamily="34" charset="0"/>
                <a:ea typeface="Courier New" pitchFamily="34" charset="-122"/>
                <a:cs typeface="Courier New" pitchFamily="34" charset="-120"/>
              </a:rPr>
              <a:t># Create score1, score2, score3 dynamically</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for (i in 1:3) assign(paste0("score", i), i * 10)</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score2            # 20</a:t>
            </a:r>
            <a:endParaRPr lang="en-US" sz="1550" dirty="0"/>
          </a:p>
          <a:p>
            <a:pPr marL="0" indent="0">
              <a:lnSpc>
                <a:spcPct val="118000"/>
              </a:lnSpc>
              <a:buNone/>
            </a:pPr>
            <a:endParaRPr lang="en-US" sz="1550" dirty="0"/>
          </a:p>
          <a:p>
            <a:pPr marL="0" indent="0">
              <a:lnSpc>
                <a:spcPct val="118000"/>
              </a:lnSpc>
              <a:buNone/>
            </a:pPr>
            <a:r>
              <a:rPr lang="en-US" sz="1550" dirty="0">
                <a:solidFill>
                  <a:srgbClr val="8FD694"/>
                </a:solidFill>
                <a:latin typeface="Courier New" pitchFamily="34" charset="0"/>
                <a:ea typeface="Courier New" pitchFamily="34" charset="-122"/>
                <a:cs typeface="Courier New" pitchFamily="34" charset="-120"/>
              </a:rPr>
              <a:t># Safe dynamic lookup</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get_or_default &lt;- function(nm, default = NA) {</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  if (exists(nm)) get(nm) else default</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get_or_default("score1")   # 10</a:t>
            </a:r>
            <a:endParaRPr lang="en-US" sz="15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MANAGING OBJECTS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Saving &amp; Reloading Objects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save() writes one or more objects to a .RData file.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load() restores those objects, exactly as saved.</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saveRDS()/readRDS() save a SINGLE object, unnamed.</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save.image() saves the whole current workspace.</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save(student, s1, file = "students.RData")</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load("students.RData")</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saveRDS(s1, "student.rds")</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copy &lt;- readRDS("student.rds")</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save.image("session.RData")</a:t>
            </a:r>
            <a:endParaRPr lang="en-US" sz="16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MANAGING OBJECTS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File Connections &amp; Logging</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file() opens an explicit connection to a file.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open()/close() control when the connection is active.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"a" (append) mode keeps adding without overwriting.</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This pattern underlies simple timestamped log files.</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500" dirty="0">
                <a:solidFill>
                  <a:srgbClr val="CFE8FF"/>
                </a:solidFill>
                <a:latin typeface="Courier New" pitchFamily="34" charset="0"/>
                <a:ea typeface="Courier New" pitchFamily="34" charset="-122"/>
                <a:cs typeface="Courier New" pitchFamily="34" charset="-120"/>
              </a:rPr>
              <a:t>con &lt;- file("data.txt", open = "r")</a:t>
            </a:r>
            <a:endParaRPr lang="en-US" sz="1500" dirty="0"/>
          </a:p>
          <a:p>
            <a:pPr marL="0" indent="0">
              <a:lnSpc>
                <a:spcPct val="118000"/>
              </a:lnSpc>
              <a:buNone/>
            </a:pPr>
            <a:r>
              <a:rPr lang="en-US" sz="1500" dirty="0">
                <a:solidFill>
                  <a:srgbClr val="CFE8FF"/>
                </a:solidFill>
                <a:latin typeface="Courier New" pitchFamily="34" charset="0"/>
                <a:ea typeface="Courier New" pitchFamily="34" charset="-122"/>
                <a:cs typeface="Courier New" pitchFamily="34" charset="-120"/>
              </a:rPr>
              <a:t>lines &lt;- readLines(con, n = 5)</a:t>
            </a:r>
            <a:endParaRPr lang="en-US" sz="1500" dirty="0"/>
          </a:p>
          <a:p>
            <a:pPr marL="0" indent="0">
              <a:lnSpc>
                <a:spcPct val="118000"/>
              </a:lnSpc>
              <a:buNone/>
            </a:pPr>
            <a:r>
              <a:rPr lang="en-US" sz="1500" dirty="0">
                <a:solidFill>
                  <a:srgbClr val="CFE8FF"/>
                </a:solidFill>
                <a:latin typeface="Courier New" pitchFamily="34" charset="0"/>
                <a:ea typeface="Courier New" pitchFamily="34" charset="-122"/>
                <a:cs typeface="Courier New" pitchFamily="34" charset="-120"/>
              </a:rPr>
              <a:t>close(con)</a:t>
            </a:r>
            <a:endParaRPr lang="en-US" sz="1500" dirty="0"/>
          </a:p>
          <a:p>
            <a:pPr marL="0" indent="0">
              <a:lnSpc>
                <a:spcPct val="118000"/>
              </a:lnSpc>
              <a:buNone/>
            </a:pPr>
            <a:endParaRPr lang="en-US" sz="1500" dirty="0"/>
          </a:p>
          <a:p>
            <a:pPr marL="0" indent="0">
              <a:lnSpc>
                <a:spcPct val="118000"/>
              </a:lnSpc>
              <a:buNone/>
            </a:pPr>
            <a:r>
              <a:rPr lang="en-US" sz="1500" dirty="0">
                <a:solidFill>
                  <a:srgbClr val="CFE8FF"/>
                </a:solidFill>
                <a:latin typeface="Courier New" pitchFamily="34" charset="0"/>
                <a:ea typeface="Courier New" pitchFamily="34" charset="-122"/>
                <a:cs typeface="Courier New" pitchFamily="34" charset="-120"/>
              </a:rPr>
              <a:t>log_event &lt;- function(msg, path = "app.log") {</a:t>
            </a:r>
            <a:endParaRPr lang="en-US" sz="1500" dirty="0"/>
          </a:p>
          <a:p>
            <a:pPr marL="0" indent="0">
              <a:lnSpc>
                <a:spcPct val="118000"/>
              </a:lnSpc>
              <a:buNone/>
            </a:pPr>
            <a:r>
              <a:rPr lang="en-US" sz="1500" dirty="0">
                <a:solidFill>
                  <a:srgbClr val="CFE8FF"/>
                </a:solidFill>
                <a:latin typeface="Courier New" pitchFamily="34" charset="0"/>
                <a:ea typeface="Courier New" pitchFamily="34" charset="-122"/>
                <a:cs typeface="Courier New" pitchFamily="34" charset="-120"/>
              </a:rPr>
              <a:t>  con &lt;- file(path, open = "a")</a:t>
            </a:r>
            <a:endParaRPr lang="en-US" sz="1500" dirty="0"/>
          </a:p>
          <a:p>
            <a:pPr marL="0" indent="0">
              <a:lnSpc>
                <a:spcPct val="118000"/>
              </a:lnSpc>
              <a:buNone/>
            </a:pPr>
            <a:r>
              <a:rPr lang="en-US" sz="1500" dirty="0">
                <a:solidFill>
                  <a:srgbClr val="CFE8FF"/>
                </a:solidFill>
                <a:latin typeface="Courier New" pitchFamily="34" charset="0"/>
                <a:ea typeface="Courier New" pitchFamily="34" charset="-122"/>
                <a:cs typeface="Courier New" pitchFamily="34" charset="-120"/>
              </a:rPr>
              <a:t>  writeLines(paste(Sys.time(), "-", msg), con)</a:t>
            </a:r>
            <a:endParaRPr lang="en-US" sz="1500" dirty="0"/>
          </a:p>
          <a:p>
            <a:pPr marL="0" indent="0">
              <a:lnSpc>
                <a:spcPct val="118000"/>
              </a:lnSpc>
              <a:buNone/>
            </a:pPr>
            <a:r>
              <a:rPr lang="en-US" sz="1500" dirty="0">
                <a:solidFill>
                  <a:srgbClr val="CFE8FF"/>
                </a:solidFill>
                <a:latin typeface="Courier New" pitchFamily="34" charset="0"/>
                <a:ea typeface="Courier New" pitchFamily="34" charset="-122"/>
                <a:cs typeface="Courier New" pitchFamily="34" charset="-120"/>
              </a:rPr>
              <a:t>  close(con)</a:t>
            </a:r>
            <a:endParaRPr lang="en-US" sz="1500" dirty="0"/>
          </a:p>
          <a:p>
            <a:pPr marL="0" indent="0">
              <a:lnSpc>
                <a:spcPct val="118000"/>
              </a:lnSpc>
              <a:buNone/>
            </a:pPr>
            <a:r>
              <a:rPr lang="en-US" sz="1500" dirty="0">
                <a:solidFill>
                  <a:srgbClr val="CFE8FF"/>
                </a:solidFill>
                <a:latin typeface="Courier New" pitchFamily="34" charset="0"/>
                <a:ea typeface="Courier New" pitchFamily="34" charset="-122"/>
                <a:cs typeface="Courier New" pitchFamily="34" charset="-120"/>
              </a:rPr>
              <a:t>}</a:t>
            </a:r>
            <a:endParaRPr lang="en-US" sz="1500" dirty="0"/>
          </a:p>
          <a:p>
            <a:pPr marL="0" indent="0">
              <a:lnSpc>
                <a:spcPct val="118000"/>
              </a:lnSpc>
              <a:buNone/>
            </a:pPr>
            <a:r>
              <a:rPr lang="en-US" sz="1500" dirty="0">
                <a:solidFill>
                  <a:srgbClr val="CFE8FF"/>
                </a:solidFill>
                <a:latin typeface="Courier New" pitchFamily="34" charset="0"/>
                <a:ea typeface="Courier New" pitchFamily="34" charset="-122"/>
                <a:cs typeface="Courier New" pitchFamily="34" charset="-120"/>
              </a:rPr>
              <a:t>log_event("Training started")</a:t>
            </a:r>
            <a:endParaRPr lang="en-US" sz="15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132743"/>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1F6E8C">
              <a:alpha val="22000"/>
            </a:srgbClr>
          </a:solidFill>
          <a:ln/>
        </p:spPr>
      </p:sp>
      <p:sp>
        <p:nvSpPr>
          <p:cNvPr id="3" name="Shape 1"/>
          <p:cNvSpPr/>
          <p:nvPr/>
        </p:nvSpPr>
        <p:spPr>
          <a:xfrm>
            <a:off x="-1371600" y="4572000"/>
            <a:ext cx="3657600" cy="3657600"/>
          </a:xfrm>
          <a:prstGeom prst="ellipse">
            <a:avLst/>
          </a:prstGeom>
          <a:solidFill>
            <a:srgbClr val="FF6B35">
              <a:alpha val="15000"/>
            </a:srgbClr>
          </a:solidFill>
          <a:ln/>
        </p:spPr>
      </p:sp>
      <p:sp>
        <p:nvSpPr>
          <p:cNvPr id="4" name="Text 2"/>
          <p:cNvSpPr/>
          <p:nvPr/>
        </p:nvSpPr>
        <p:spPr>
          <a:xfrm>
            <a:off x="822960" y="2377440"/>
            <a:ext cx="9144000" cy="457200"/>
          </a:xfrm>
          <a:prstGeom prst="rect">
            <a:avLst/>
          </a:prstGeom>
          <a:noFill/>
          <a:ln/>
        </p:spPr>
        <p:txBody>
          <a:bodyPr wrap="square" rtlCol="0" anchor="ctr"/>
          <a:lstStyle/>
          <a:p>
            <a:pPr marL="0" indent="0">
              <a:buNone/>
            </a:pPr>
            <a:r>
              <a:rPr lang="en-US" sz="1600" b="1" kern="0" spc="200" dirty="0">
                <a:solidFill>
                  <a:srgbClr val="FF6B35"/>
                </a:solidFill>
                <a:latin typeface="Calibri" pitchFamily="34" charset="0"/>
                <a:ea typeface="Calibri" pitchFamily="34" charset="-122"/>
                <a:cs typeface="Calibri" pitchFamily="34" charset="-120"/>
              </a:rPr>
              <a:t>SECTION 3</a:t>
            </a:r>
            <a:endParaRPr lang="en-US" sz="1600" dirty="0"/>
          </a:p>
        </p:txBody>
      </p:sp>
      <p:sp>
        <p:nvSpPr>
          <p:cNvPr id="5" name="Text 3"/>
          <p:cNvSpPr/>
          <p:nvPr/>
        </p:nvSpPr>
        <p:spPr>
          <a:xfrm>
            <a:off x="822960" y="2816352"/>
            <a:ext cx="10241280" cy="118872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Input / Output in R</a:t>
            </a:r>
            <a:endParaRPr lang="en-US" sz="4200" dirty="0"/>
          </a:p>
        </p:txBody>
      </p:sp>
      <p:sp>
        <p:nvSpPr>
          <p:cNvPr id="6" name="Text 4"/>
          <p:cNvSpPr/>
          <p:nvPr/>
        </p:nvSpPr>
        <p:spPr>
          <a:xfrm>
            <a:off x="822960" y="3977640"/>
            <a:ext cx="9875520" cy="640080"/>
          </a:xfrm>
          <a:prstGeom prst="rect">
            <a:avLst/>
          </a:prstGeom>
          <a:noFill/>
          <a:ln/>
        </p:spPr>
        <p:txBody>
          <a:bodyPr wrap="square" rtlCol="0" anchor="ctr"/>
          <a:lstStyle/>
          <a:p>
            <a:pPr marL="0" indent="0">
              <a:buNone/>
            </a:pPr>
            <a:r>
              <a:rPr lang="en-US" sz="1650" i="1" dirty="0">
                <a:solidFill>
                  <a:srgbClr val="CFE8FF"/>
                </a:solidFill>
                <a:latin typeface="Calibri" pitchFamily="34" charset="0"/>
                <a:ea typeface="Calibri" pitchFamily="34" charset="-122"/>
                <a:cs typeface="Calibri" pitchFamily="34" charset="-120"/>
              </a:rPr>
              <a:t>Keyboard, monitor, files, the internet and JSON APIs</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I/O</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900" b="1" dirty="0">
                <a:solidFill>
                  <a:srgbClr val="132743"/>
                </a:solidFill>
                <a:latin typeface="Cambria" pitchFamily="34" charset="0"/>
                <a:ea typeface="Cambria" pitchFamily="34" charset="-122"/>
                <a:cs typeface="Cambria" pitchFamily="34" charset="-120"/>
              </a:rPr>
              <a:t>Input/Output — The Big Picture</a:t>
            </a:r>
            <a:endParaRPr lang="en-US" sz="2900" dirty="0"/>
          </a:p>
        </p:txBody>
      </p:sp>
      <p:sp>
        <p:nvSpPr>
          <p:cNvPr id="5" name="Text 3"/>
          <p:cNvSpPr/>
          <p:nvPr/>
        </p:nvSpPr>
        <p:spPr>
          <a:xfrm>
            <a:off x="457200" y="1444752"/>
            <a:ext cx="11247120" cy="365760"/>
          </a:xfrm>
          <a:prstGeom prst="rect">
            <a:avLst/>
          </a:prstGeom>
          <a:noFill/>
          <a:ln/>
        </p:spPr>
        <p:txBody>
          <a:bodyPr wrap="square" rtlCol="0" anchor="ctr"/>
          <a:lstStyle/>
          <a:p>
            <a:pPr marL="0" indent="0">
              <a:buNone/>
            </a:pPr>
            <a:r>
              <a:rPr lang="en-US" sz="1400" i="1" dirty="0">
                <a:solidFill>
                  <a:srgbClr val="5C6B73"/>
                </a:solidFill>
                <a:latin typeface="Calibri" pitchFamily="34" charset="0"/>
                <a:ea typeface="Calibri" pitchFamily="34" charset="-122"/>
                <a:cs typeface="Calibri" pitchFamily="34" charset="-120"/>
              </a:rPr>
              <a:t>R programs exchange data with four kinds of endpoints:</a:t>
            </a:r>
            <a:endParaRPr lang="en-US" sz="1400" dirty="0"/>
          </a:p>
        </p:txBody>
      </p:sp>
      <p:sp>
        <p:nvSpPr>
          <p:cNvPr id="6" name="Shape 4"/>
          <p:cNvSpPr/>
          <p:nvPr/>
        </p:nvSpPr>
        <p:spPr>
          <a:xfrm>
            <a:off x="457200" y="2148840"/>
            <a:ext cx="2697480" cy="3291840"/>
          </a:xfrm>
          <a:prstGeom prst="roundRect">
            <a:avLst>
              <a:gd name="adj" fmla="val 2712"/>
            </a:avLst>
          </a:prstGeom>
          <a:solidFill>
            <a:srgbClr val="EDF3F6"/>
          </a:solidFill>
          <a:ln/>
          <a:effectLst>
            <a:outerShdw blurRad="63500" dist="25400" dir="5400000" algn="bl" rotWithShape="0">
              <a:srgbClr val="8A99A3">
                <a:alpha val="22000"/>
              </a:srgbClr>
            </a:outerShdw>
          </a:effectLst>
        </p:spPr>
      </p:sp>
      <p:sp>
        <p:nvSpPr>
          <p:cNvPr id="7" name="Shape 5"/>
          <p:cNvSpPr/>
          <p:nvPr/>
        </p:nvSpPr>
        <p:spPr>
          <a:xfrm>
            <a:off x="685800" y="2377440"/>
            <a:ext cx="502920" cy="502920"/>
          </a:xfrm>
          <a:prstGeom prst="roundRect">
            <a:avLst>
              <a:gd name="adj" fmla="val 50909"/>
            </a:avLst>
          </a:prstGeom>
          <a:solidFill>
            <a:srgbClr val="FF6B35"/>
          </a:solidFill>
          <a:ln/>
        </p:spPr>
      </p:sp>
      <p:sp>
        <p:nvSpPr>
          <p:cNvPr id="8" name="Text 6"/>
          <p:cNvSpPr/>
          <p:nvPr/>
        </p:nvSpPr>
        <p:spPr>
          <a:xfrm>
            <a:off x="685800" y="237744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9" name="Text 7"/>
          <p:cNvSpPr/>
          <p:nvPr/>
        </p:nvSpPr>
        <p:spPr>
          <a:xfrm>
            <a:off x="685800" y="3063240"/>
            <a:ext cx="2240280" cy="365760"/>
          </a:xfrm>
          <a:prstGeom prst="rect">
            <a:avLst/>
          </a:prstGeom>
          <a:noFill/>
          <a:ln/>
        </p:spPr>
        <p:txBody>
          <a:bodyPr wrap="square" rtlCol="0" anchor="ctr"/>
          <a:lstStyle/>
          <a:p>
            <a:pPr marL="0" indent="0">
              <a:buNone/>
            </a:pPr>
            <a:r>
              <a:rPr lang="en-US" sz="1700" b="1" dirty="0">
                <a:solidFill>
                  <a:srgbClr val="132743"/>
                </a:solidFill>
                <a:latin typeface="Calibri" pitchFamily="34" charset="0"/>
                <a:ea typeface="Calibri" pitchFamily="34" charset="-122"/>
                <a:cs typeface="Calibri" pitchFamily="34" charset="-120"/>
              </a:rPr>
              <a:t>Keyboard</a:t>
            </a:r>
            <a:endParaRPr lang="en-US" sz="1700" dirty="0"/>
          </a:p>
        </p:txBody>
      </p:sp>
      <p:sp>
        <p:nvSpPr>
          <p:cNvPr id="10" name="Text 8"/>
          <p:cNvSpPr/>
          <p:nvPr/>
        </p:nvSpPr>
        <p:spPr>
          <a:xfrm>
            <a:off x="685800" y="3447288"/>
            <a:ext cx="2240280" cy="548640"/>
          </a:xfrm>
          <a:prstGeom prst="rect">
            <a:avLst/>
          </a:prstGeom>
          <a:noFill/>
          <a:ln/>
        </p:spPr>
        <p:txBody>
          <a:bodyPr wrap="square" rtlCol="0" anchor="ctr"/>
          <a:lstStyle/>
          <a:p>
            <a:pPr marL="0" indent="0">
              <a:lnSpc>
                <a:spcPct val="120000"/>
              </a:lnSpc>
              <a:buNone/>
            </a:pPr>
            <a:r>
              <a:rPr lang="en-US" sz="1150" dirty="0">
                <a:solidFill>
                  <a:srgbClr val="1F6E8C"/>
                </a:solidFill>
                <a:latin typeface="Courier New" pitchFamily="34" charset="0"/>
                <a:ea typeface="Courier New" pitchFamily="34" charset="-122"/>
                <a:cs typeface="Courier New" pitchFamily="34" charset="-120"/>
              </a:rPr>
              <a:t>readline(), scan()</a:t>
            </a:r>
            <a:endParaRPr lang="en-US" sz="1150" dirty="0"/>
          </a:p>
        </p:txBody>
      </p:sp>
      <p:sp>
        <p:nvSpPr>
          <p:cNvPr id="11" name="Text 9"/>
          <p:cNvSpPr/>
          <p:nvPr/>
        </p:nvSpPr>
        <p:spPr>
          <a:xfrm>
            <a:off x="685800" y="4114800"/>
            <a:ext cx="2240280" cy="1188720"/>
          </a:xfrm>
          <a:prstGeom prst="rect">
            <a:avLst/>
          </a:prstGeom>
          <a:noFill/>
          <a:ln/>
        </p:spPr>
        <p:txBody>
          <a:bodyPr wrap="square" rtlCol="0" anchor="ctr"/>
          <a:lstStyle/>
          <a:p>
            <a:pPr marL="0" indent="0">
              <a:lnSpc>
                <a:spcPct val="125000"/>
              </a:lnSpc>
              <a:buNone/>
            </a:pPr>
            <a:r>
              <a:rPr lang="en-US" sz="1200" dirty="0">
                <a:solidFill>
                  <a:srgbClr val="1C2B36"/>
                </a:solidFill>
                <a:latin typeface="Calibri" pitchFamily="34" charset="0"/>
                <a:ea typeface="Calibri" pitchFamily="34" charset="-122"/>
                <a:cs typeface="Calibri" pitchFamily="34" charset="-120"/>
              </a:rPr>
              <a:t>Interactive input from the user at the console</a:t>
            </a:r>
            <a:endParaRPr lang="en-US" sz="1200" dirty="0"/>
          </a:p>
        </p:txBody>
      </p:sp>
      <p:sp>
        <p:nvSpPr>
          <p:cNvPr id="12" name="Shape 10"/>
          <p:cNvSpPr/>
          <p:nvPr/>
        </p:nvSpPr>
        <p:spPr>
          <a:xfrm>
            <a:off x="3310128" y="2148840"/>
            <a:ext cx="2697480" cy="3291840"/>
          </a:xfrm>
          <a:prstGeom prst="roundRect">
            <a:avLst>
              <a:gd name="adj" fmla="val 2712"/>
            </a:avLst>
          </a:prstGeom>
          <a:solidFill>
            <a:srgbClr val="EDF3F6"/>
          </a:solidFill>
          <a:ln/>
          <a:effectLst>
            <a:outerShdw blurRad="63500" dist="25400" dir="5400000" algn="bl" rotWithShape="0">
              <a:srgbClr val="8A99A3">
                <a:alpha val="22000"/>
              </a:srgbClr>
            </a:outerShdw>
          </a:effectLst>
        </p:spPr>
      </p:sp>
      <p:sp>
        <p:nvSpPr>
          <p:cNvPr id="13" name="Shape 11"/>
          <p:cNvSpPr/>
          <p:nvPr/>
        </p:nvSpPr>
        <p:spPr>
          <a:xfrm>
            <a:off x="3538728" y="2377440"/>
            <a:ext cx="502920" cy="502920"/>
          </a:xfrm>
          <a:prstGeom prst="roundRect">
            <a:avLst>
              <a:gd name="adj" fmla="val 50909"/>
            </a:avLst>
          </a:prstGeom>
          <a:solidFill>
            <a:srgbClr val="1F6E8C"/>
          </a:solidFill>
          <a:ln/>
        </p:spPr>
      </p:sp>
      <p:sp>
        <p:nvSpPr>
          <p:cNvPr id="14" name="Text 12"/>
          <p:cNvSpPr/>
          <p:nvPr/>
        </p:nvSpPr>
        <p:spPr>
          <a:xfrm>
            <a:off x="3538728" y="237744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5" name="Text 13"/>
          <p:cNvSpPr/>
          <p:nvPr/>
        </p:nvSpPr>
        <p:spPr>
          <a:xfrm>
            <a:off x="3538728" y="3063240"/>
            <a:ext cx="2240280" cy="365760"/>
          </a:xfrm>
          <a:prstGeom prst="rect">
            <a:avLst/>
          </a:prstGeom>
          <a:noFill/>
          <a:ln/>
        </p:spPr>
        <p:txBody>
          <a:bodyPr wrap="square" rtlCol="0" anchor="ctr"/>
          <a:lstStyle/>
          <a:p>
            <a:pPr marL="0" indent="0">
              <a:buNone/>
            </a:pPr>
            <a:r>
              <a:rPr lang="en-US" sz="1700" b="1" dirty="0">
                <a:solidFill>
                  <a:srgbClr val="132743"/>
                </a:solidFill>
                <a:latin typeface="Calibri" pitchFamily="34" charset="0"/>
                <a:ea typeface="Calibri" pitchFamily="34" charset="-122"/>
                <a:cs typeface="Calibri" pitchFamily="34" charset="-120"/>
              </a:rPr>
              <a:t>Monitor</a:t>
            </a:r>
            <a:endParaRPr lang="en-US" sz="1700" dirty="0"/>
          </a:p>
        </p:txBody>
      </p:sp>
      <p:sp>
        <p:nvSpPr>
          <p:cNvPr id="16" name="Text 14"/>
          <p:cNvSpPr/>
          <p:nvPr/>
        </p:nvSpPr>
        <p:spPr>
          <a:xfrm>
            <a:off x="3538728" y="3447288"/>
            <a:ext cx="2240280" cy="548640"/>
          </a:xfrm>
          <a:prstGeom prst="rect">
            <a:avLst/>
          </a:prstGeom>
          <a:noFill/>
          <a:ln/>
        </p:spPr>
        <p:txBody>
          <a:bodyPr wrap="square" rtlCol="0" anchor="ctr"/>
          <a:lstStyle/>
          <a:p>
            <a:pPr marL="0" indent="0">
              <a:lnSpc>
                <a:spcPct val="120000"/>
              </a:lnSpc>
              <a:buNone/>
            </a:pPr>
            <a:r>
              <a:rPr lang="en-US" sz="1150" dirty="0">
                <a:solidFill>
                  <a:srgbClr val="1F6E8C"/>
                </a:solidFill>
                <a:latin typeface="Courier New" pitchFamily="34" charset="0"/>
                <a:ea typeface="Courier New" pitchFamily="34" charset="-122"/>
                <a:cs typeface="Courier New" pitchFamily="34" charset="-120"/>
              </a:rPr>
              <a:t>print(), cat(), format()</a:t>
            </a:r>
            <a:endParaRPr lang="en-US" sz="1150" dirty="0"/>
          </a:p>
        </p:txBody>
      </p:sp>
      <p:sp>
        <p:nvSpPr>
          <p:cNvPr id="17" name="Text 15"/>
          <p:cNvSpPr/>
          <p:nvPr/>
        </p:nvSpPr>
        <p:spPr>
          <a:xfrm>
            <a:off x="3538728" y="4114800"/>
            <a:ext cx="2240280" cy="1188720"/>
          </a:xfrm>
          <a:prstGeom prst="rect">
            <a:avLst/>
          </a:prstGeom>
          <a:noFill/>
          <a:ln/>
        </p:spPr>
        <p:txBody>
          <a:bodyPr wrap="square" rtlCol="0" anchor="ctr"/>
          <a:lstStyle/>
          <a:p>
            <a:pPr marL="0" indent="0">
              <a:lnSpc>
                <a:spcPct val="125000"/>
              </a:lnSpc>
              <a:buNone/>
            </a:pPr>
            <a:r>
              <a:rPr lang="en-US" sz="1200" dirty="0">
                <a:solidFill>
                  <a:srgbClr val="1C2B36"/>
                </a:solidFill>
                <a:latin typeface="Calibri" pitchFamily="34" charset="0"/>
                <a:ea typeface="Calibri" pitchFamily="34" charset="-122"/>
                <a:cs typeface="Calibri" pitchFamily="34" charset="-120"/>
              </a:rPr>
              <a:t>Displaying results and formatted output</a:t>
            </a:r>
            <a:endParaRPr lang="en-US" sz="1200" dirty="0"/>
          </a:p>
        </p:txBody>
      </p:sp>
      <p:sp>
        <p:nvSpPr>
          <p:cNvPr id="18" name="Shape 16"/>
          <p:cNvSpPr/>
          <p:nvPr/>
        </p:nvSpPr>
        <p:spPr>
          <a:xfrm>
            <a:off x="6163056" y="2148840"/>
            <a:ext cx="2697480" cy="3291840"/>
          </a:xfrm>
          <a:prstGeom prst="roundRect">
            <a:avLst>
              <a:gd name="adj" fmla="val 2712"/>
            </a:avLst>
          </a:prstGeom>
          <a:solidFill>
            <a:srgbClr val="EDF3F6"/>
          </a:solidFill>
          <a:ln/>
          <a:effectLst>
            <a:outerShdw blurRad="63500" dist="25400" dir="5400000" algn="bl" rotWithShape="0">
              <a:srgbClr val="8A99A3">
                <a:alpha val="22000"/>
              </a:srgbClr>
            </a:outerShdw>
          </a:effectLst>
        </p:spPr>
      </p:sp>
      <p:sp>
        <p:nvSpPr>
          <p:cNvPr id="19" name="Shape 17"/>
          <p:cNvSpPr/>
          <p:nvPr/>
        </p:nvSpPr>
        <p:spPr>
          <a:xfrm>
            <a:off x="6391656" y="2377440"/>
            <a:ext cx="502920" cy="502920"/>
          </a:xfrm>
          <a:prstGeom prst="roundRect">
            <a:avLst>
              <a:gd name="adj" fmla="val 50909"/>
            </a:avLst>
          </a:prstGeom>
          <a:solidFill>
            <a:srgbClr val="132743"/>
          </a:solidFill>
          <a:ln/>
        </p:spPr>
      </p:sp>
      <p:sp>
        <p:nvSpPr>
          <p:cNvPr id="20" name="Text 18"/>
          <p:cNvSpPr/>
          <p:nvPr/>
        </p:nvSpPr>
        <p:spPr>
          <a:xfrm>
            <a:off x="6391656" y="237744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1" name="Text 19"/>
          <p:cNvSpPr/>
          <p:nvPr/>
        </p:nvSpPr>
        <p:spPr>
          <a:xfrm>
            <a:off x="6391656" y="3063240"/>
            <a:ext cx="2240280" cy="365760"/>
          </a:xfrm>
          <a:prstGeom prst="rect">
            <a:avLst/>
          </a:prstGeom>
          <a:noFill/>
          <a:ln/>
        </p:spPr>
        <p:txBody>
          <a:bodyPr wrap="square" rtlCol="0" anchor="ctr"/>
          <a:lstStyle/>
          <a:p>
            <a:pPr marL="0" indent="0">
              <a:buNone/>
            </a:pPr>
            <a:r>
              <a:rPr lang="en-US" sz="1700" b="1" dirty="0">
                <a:solidFill>
                  <a:srgbClr val="132743"/>
                </a:solidFill>
                <a:latin typeface="Calibri" pitchFamily="34" charset="0"/>
                <a:ea typeface="Calibri" pitchFamily="34" charset="-122"/>
                <a:cs typeface="Calibri" pitchFamily="34" charset="-120"/>
              </a:rPr>
              <a:t>Files</a:t>
            </a:r>
            <a:endParaRPr lang="en-US" sz="1700" dirty="0"/>
          </a:p>
        </p:txBody>
      </p:sp>
      <p:sp>
        <p:nvSpPr>
          <p:cNvPr id="22" name="Text 20"/>
          <p:cNvSpPr/>
          <p:nvPr/>
        </p:nvSpPr>
        <p:spPr>
          <a:xfrm>
            <a:off x="6391656" y="3447288"/>
            <a:ext cx="2240280" cy="548640"/>
          </a:xfrm>
          <a:prstGeom prst="rect">
            <a:avLst/>
          </a:prstGeom>
          <a:noFill/>
          <a:ln/>
        </p:spPr>
        <p:txBody>
          <a:bodyPr wrap="square" rtlCol="0" anchor="ctr"/>
          <a:lstStyle/>
          <a:p>
            <a:pPr marL="0" indent="0">
              <a:lnSpc>
                <a:spcPct val="120000"/>
              </a:lnSpc>
              <a:buNone/>
            </a:pPr>
            <a:r>
              <a:rPr lang="en-US" sz="1150" dirty="0">
                <a:solidFill>
                  <a:srgbClr val="1F6E8C"/>
                </a:solidFill>
                <a:latin typeface="Courier New" pitchFamily="34" charset="0"/>
                <a:ea typeface="Courier New" pitchFamily="34" charset="-122"/>
                <a:cs typeface="Courier New" pitchFamily="34" charset="-120"/>
              </a:rPr>
              <a:t>read.csv(), write.csv()</a:t>
            </a:r>
            <a:endParaRPr lang="en-US" sz="1150" dirty="0"/>
          </a:p>
        </p:txBody>
      </p:sp>
      <p:sp>
        <p:nvSpPr>
          <p:cNvPr id="23" name="Text 21"/>
          <p:cNvSpPr/>
          <p:nvPr/>
        </p:nvSpPr>
        <p:spPr>
          <a:xfrm>
            <a:off x="6391656" y="4114800"/>
            <a:ext cx="2240280" cy="1188720"/>
          </a:xfrm>
          <a:prstGeom prst="rect">
            <a:avLst/>
          </a:prstGeom>
          <a:noFill/>
          <a:ln/>
        </p:spPr>
        <p:txBody>
          <a:bodyPr wrap="square" rtlCol="0" anchor="ctr"/>
          <a:lstStyle/>
          <a:p>
            <a:pPr marL="0" indent="0">
              <a:lnSpc>
                <a:spcPct val="125000"/>
              </a:lnSpc>
              <a:buNone/>
            </a:pPr>
            <a:r>
              <a:rPr lang="en-US" sz="1200" dirty="0">
                <a:solidFill>
                  <a:srgbClr val="1C2B36"/>
                </a:solidFill>
                <a:latin typeface="Calibri" pitchFamily="34" charset="0"/>
                <a:ea typeface="Calibri" pitchFamily="34" charset="-122"/>
                <a:cs typeface="Calibri" pitchFamily="34" charset="-120"/>
              </a:rPr>
              <a:t>Persisting data to disk and loading it back</a:t>
            </a:r>
            <a:endParaRPr lang="en-US" sz="1200" dirty="0"/>
          </a:p>
        </p:txBody>
      </p:sp>
      <p:sp>
        <p:nvSpPr>
          <p:cNvPr id="24" name="Shape 22"/>
          <p:cNvSpPr/>
          <p:nvPr/>
        </p:nvSpPr>
        <p:spPr>
          <a:xfrm>
            <a:off x="9015984" y="2148840"/>
            <a:ext cx="2697480" cy="3291840"/>
          </a:xfrm>
          <a:prstGeom prst="roundRect">
            <a:avLst>
              <a:gd name="adj" fmla="val 2712"/>
            </a:avLst>
          </a:prstGeom>
          <a:solidFill>
            <a:srgbClr val="EDF3F6"/>
          </a:solidFill>
          <a:ln/>
          <a:effectLst>
            <a:outerShdw blurRad="63500" dist="25400" dir="5400000" algn="bl" rotWithShape="0">
              <a:srgbClr val="8A99A3">
                <a:alpha val="22000"/>
              </a:srgbClr>
            </a:outerShdw>
          </a:effectLst>
        </p:spPr>
      </p:sp>
      <p:sp>
        <p:nvSpPr>
          <p:cNvPr id="25" name="Shape 23"/>
          <p:cNvSpPr/>
          <p:nvPr/>
        </p:nvSpPr>
        <p:spPr>
          <a:xfrm>
            <a:off x="9244584" y="2377440"/>
            <a:ext cx="502920" cy="502920"/>
          </a:xfrm>
          <a:prstGeom prst="roundRect">
            <a:avLst>
              <a:gd name="adj" fmla="val 50909"/>
            </a:avLst>
          </a:prstGeom>
          <a:solidFill>
            <a:srgbClr val="5FA8C9"/>
          </a:solidFill>
          <a:ln/>
        </p:spPr>
      </p:sp>
      <p:sp>
        <p:nvSpPr>
          <p:cNvPr id="26" name="Text 24"/>
          <p:cNvSpPr/>
          <p:nvPr/>
        </p:nvSpPr>
        <p:spPr>
          <a:xfrm>
            <a:off x="9244584" y="2377440"/>
            <a:ext cx="502920" cy="502920"/>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7" name="Text 25"/>
          <p:cNvSpPr/>
          <p:nvPr/>
        </p:nvSpPr>
        <p:spPr>
          <a:xfrm>
            <a:off x="9244584" y="3063240"/>
            <a:ext cx="2240280" cy="365760"/>
          </a:xfrm>
          <a:prstGeom prst="rect">
            <a:avLst/>
          </a:prstGeom>
          <a:noFill/>
          <a:ln/>
        </p:spPr>
        <p:txBody>
          <a:bodyPr wrap="square" rtlCol="0" anchor="ctr"/>
          <a:lstStyle/>
          <a:p>
            <a:pPr marL="0" indent="0">
              <a:buNone/>
            </a:pPr>
            <a:r>
              <a:rPr lang="en-US" sz="1700" b="1" dirty="0">
                <a:solidFill>
                  <a:srgbClr val="132743"/>
                </a:solidFill>
                <a:latin typeface="Calibri" pitchFamily="34" charset="0"/>
                <a:ea typeface="Calibri" pitchFamily="34" charset="-122"/>
                <a:cs typeface="Calibri" pitchFamily="34" charset="-120"/>
              </a:rPr>
              <a:t>Internet</a:t>
            </a:r>
            <a:endParaRPr lang="en-US" sz="1700" dirty="0"/>
          </a:p>
        </p:txBody>
      </p:sp>
      <p:sp>
        <p:nvSpPr>
          <p:cNvPr id="28" name="Text 26"/>
          <p:cNvSpPr/>
          <p:nvPr/>
        </p:nvSpPr>
        <p:spPr>
          <a:xfrm>
            <a:off x="9244584" y="3447288"/>
            <a:ext cx="2240280" cy="548640"/>
          </a:xfrm>
          <a:prstGeom prst="rect">
            <a:avLst/>
          </a:prstGeom>
          <a:noFill/>
          <a:ln/>
        </p:spPr>
        <p:txBody>
          <a:bodyPr wrap="square" rtlCol="0" anchor="ctr"/>
          <a:lstStyle/>
          <a:p>
            <a:pPr marL="0" indent="0">
              <a:lnSpc>
                <a:spcPct val="120000"/>
              </a:lnSpc>
              <a:buNone/>
            </a:pPr>
            <a:r>
              <a:rPr lang="en-US" sz="1150" dirty="0">
                <a:solidFill>
                  <a:srgbClr val="1F6E8C"/>
                </a:solidFill>
                <a:latin typeface="Courier New" pitchFamily="34" charset="0"/>
                <a:ea typeface="Courier New" pitchFamily="34" charset="-122"/>
                <a:cs typeface="Courier New" pitchFamily="34" charset="-120"/>
              </a:rPr>
              <a:t>url(), download.file()</a:t>
            </a:r>
            <a:endParaRPr lang="en-US" sz="1150" dirty="0"/>
          </a:p>
        </p:txBody>
      </p:sp>
      <p:sp>
        <p:nvSpPr>
          <p:cNvPr id="29" name="Text 27"/>
          <p:cNvSpPr/>
          <p:nvPr/>
        </p:nvSpPr>
        <p:spPr>
          <a:xfrm>
            <a:off x="9244584" y="4114800"/>
            <a:ext cx="2240280" cy="1188720"/>
          </a:xfrm>
          <a:prstGeom prst="rect">
            <a:avLst/>
          </a:prstGeom>
          <a:noFill/>
          <a:ln/>
        </p:spPr>
        <p:txBody>
          <a:bodyPr wrap="square" rtlCol="0" anchor="ctr"/>
          <a:lstStyle/>
          <a:p>
            <a:pPr marL="0" indent="0">
              <a:lnSpc>
                <a:spcPct val="125000"/>
              </a:lnSpc>
              <a:buNone/>
            </a:pPr>
            <a:r>
              <a:rPr lang="en-US" sz="1200" dirty="0">
                <a:solidFill>
                  <a:srgbClr val="1C2B36"/>
                </a:solidFill>
                <a:latin typeface="Calibri" pitchFamily="34" charset="0"/>
                <a:ea typeface="Calibri" pitchFamily="34" charset="-122"/>
                <a:cs typeface="Calibri" pitchFamily="34" charset="-120"/>
              </a:rPr>
              <a:t>Fetching remote data over HTTP/HTTPS</a:t>
            </a:r>
            <a:endParaRPr lang="en-US" sz="1200" dirty="0"/>
          </a:p>
        </p:txBody>
      </p:sp>
      <p:sp>
        <p:nvSpPr>
          <p:cNvPr id="30" name="Text 28"/>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31" name="Text 29"/>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I/O</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Accessing the Keyboard</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readline() reads one line typed by the user (interactive).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readline() always returns a character string.</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scan() reads several numeric values until a blank line.</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name &lt;- readline("Enter your name: ")</a:t>
            </a: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age  &lt;- as.integer(readline("Enter age: "))</a:t>
            </a: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cat("Hello", name, "- age", age, "\n")</a:t>
            </a:r>
            <a:endParaRPr lang="en-US" sz="1700" dirty="0"/>
          </a:p>
          <a:p>
            <a:pPr marL="0" indent="0">
              <a:lnSpc>
                <a:spcPct val="118000"/>
              </a:lnSpc>
              <a:buNone/>
            </a:pP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marks &lt;- scan(what = numeric(), n = 3)</a:t>
            </a: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mean(marks)</a:t>
            </a:r>
            <a:endParaRPr lang="en-US" sz="17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I/O</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Accessing the Monitor</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print() shows R's default view of an object.</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cat() prints without quotes — good for messages.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sprintf() gives C-style formatted output.</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print(3.14159)              # [1] 3.14159</a:t>
            </a: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cat("Score:", 88, "/100\n")   # Score: 88 /100</a:t>
            </a:r>
            <a:endParaRPr lang="en-US" sz="1700" dirty="0"/>
          </a:p>
          <a:p>
            <a:pPr marL="0" indent="0">
              <a:lnSpc>
                <a:spcPct val="118000"/>
              </a:lnSpc>
              <a:buNone/>
            </a:pPr>
            <a:endParaRPr lang="en-US" sz="1700" dirty="0"/>
          </a:p>
          <a:p>
            <a:pPr marL="0" indent="0">
              <a:lnSpc>
                <a:spcPct val="118000"/>
              </a:lnSpc>
              <a:buNone/>
            </a:pPr>
            <a:r>
              <a:rPr lang="en-US" sz="1700" dirty="0">
                <a:solidFill>
                  <a:srgbClr val="CFE8FF"/>
                </a:solidFill>
                <a:latin typeface="Courier New" pitchFamily="34" charset="0"/>
                <a:ea typeface="Courier New" pitchFamily="34" charset="-122"/>
                <a:cs typeface="Courier New" pitchFamily="34" charset="-120"/>
              </a:rPr>
              <a:t>sprintf("%-10s %6.2f", "Total", 85.5)</a:t>
            </a:r>
            <a:endParaRPr lang="en-US" sz="1700" dirty="0"/>
          </a:p>
          <a:p>
            <a:pPr marL="0" indent="0">
              <a:lnSpc>
                <a:spcPct val="118000"/>
              </a:lnSpc>
              <a:buNone/>
            </a:pPr>
            <a:r>
              <a:rPr lang="en-US" sz="1700" dirty="0">
                <a:solidFill>
                  <a:srgbClr val="8FD694"/>
                </a:solidFill>
                <a:latin typeface="Courier New" pitchFamily="34" charset="0"/>
                <a:ea typeface="Courier New" pitchFamily="34" charset="-122"/>
                <a:cs typeface="Courier New" pitchFamily="34" charset="-120"/>
              </a:rPr>
              <a:t># "Total          85.50"</a:t>
            </a:r>
            <a:endParaRPr lang="en-US" sz="17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I/O</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Reading Data from Files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read.csv() imports a delimited text file as a data frame.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header = TRUE treats row 1 as column names.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readLines() reads a text file as a character vector.</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df &lt;- read.csv("marks.csv", header = TRUE)</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head(df)</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lines &lt;- readLines("notes.txt")</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length(lines)</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if (file.exists("marks.csv")) df &lt;- read.csv("marks.csv")</a:t>
            </a:r>
            <a:endParaRPr lang="en-US" sz="15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I/O</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Writing Data to Files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write.csv() exports a data frame to a text file.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row.names = FALSE avoids an unwanted index column.</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sink() redirects console output into a file.</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write.csv(df, "output.csv", row.names = FALSE)</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writeLines(c("Line 1", "Line 2"), "notes.txt")</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sink("log.txt")</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print(summary(df))</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sink()               # stop redirecting</a:t>
            </a:r>
            <a:endParaRPr lang="en-US" sz="16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I/O</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Accessing the Internet</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url() opens a connection to a web resource.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download.file() saves a remote file to local disk.</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read.csv() can take a URL directly as its argument.</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Wrap internet calls in tryCatch() — networks can fail.</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u &lt;- "https://example.com/data.csv"</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df &lt;- read.csv(u)</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download.file(u, destfile = "local.csv")</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tryCatch({</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df &lt;- read.csv(u)</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error = function(e) message("Fetch failed"))</a:t>
            </a:r>
            <a:endParaRPr lang="en-US" sz="16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I/O</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Reading JSON from the Web</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jsonlite is R's standard tool for JSON.</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fromJSON() parses a URL/string directly into a data frame.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toJSON() converts an R object back into JSON text.</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library(jsonlite)</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data &lt;- fromJSON("https://api.example.com/students")</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head(data)</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txt &lt;- '{"name":"Arun","marks":88}'</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obj &lt;- fromJSON(txt)</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obj$name          # "Arun"</a:t>
            </a:r>
            <a:endParaRPr lang="en-US" sz="15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0">
    <p:bg>
      <p:bgPr>
        <a:solidFill>
          <a:srgbClr val="132743"/>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1F6E8C">
              <a:alpha val="22000"/>
            </a:srgbClr>
          </a:solidFill>
          <a:ln/>
        </p:spPr>
      </p:sp>
      <p:sp>
        <p:nvSpPr>
          <p:cNvPr id="3" name="Shape 1"/>
          <p:cNvSpPr/>
          <p:nvPr/>
        </p:nvSpPr>
        <p:spPr>
          <a:xfrm>
            <a:off x="-1371600" y="4572000"/>
            <a:ext cx="3657600" cy="3657600"/>
          </a:xfrm>
          <a:prstGeom prst="ellipse">
            <a:avLst/>
          </a:prstGeom>
          <a:solidFill>
            <a:srgbClr val="FF6B35">
              <a:alpha val="15000"/>
            </a:srgbClr>
          </a:solidFill>
          <a:ln/>
        </p:spPr>
      </p:sp>
      <p:sp>
        <p:nvSpPr>
          <p:cNvPr id="4" name="Text 2"/>
          <p:cNvSpPr/>
          <p:nvPr/>
        </p:nvSpPr>
        <p:spPr>
          <a:xfrm>
            <a:off x="822960" y="2377440"/>
            <a:ext cx="9144000" cy="457200"/>
          </a:xfrm>
          <a:prstGeom prst="rect">
            <a:avLst/>
          </a:prstGeom>
          <a:noFill/>
          <a:ln/>
        </p:spPr>
        <p:txBody>
          <a:bodyPr wrap="square" rtlCol="0" anchor="ctr"/>
          <a:lstStyle/>
          <a:p>
            <a:pPr marL="0" indent="0">
              <a:buNone/>
            </a:pPr>
            <a:r>
              <a:rPr lang="en-US" sz="1600" b="1" kern="0" spc="200" dirty="0">
                <a:solidFill>
                  <a:srgbClr val="FF6B35"/>
                </a:solidFill>
                <a:latin typeface="Calibri" pitchFamily="34" charset="0"/>
                <a:ea typeface="Calibri" pitchFamily="34" charset="-122"/>
                <a:cs typeface="Calibri" pitchFamily="34" charset="-120"/>
              </a:rPr>
              <a:t>SECTION 4</a:t>
            </a:r>
            <a:endParaRPr lang="en-US" sz="1600" dirty="0"/>
          </a:p>
        </p:txBody>
      </p:sp>
      <p:sp>
        <p:nvSpPr>
          <p:cNvPr id="5" name="Text 3"/>
          <p:cNvSpPr/>
          <p:nvPr/>
        </p:nvSpPr>
        <p:spPr>
          <a:xfrm>
            <a:off x="822960" y="2816352"/>
            <a:ext cx="10241280" cy="118872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String Manipulation</a:t>
            </a:r>
            <a:endParaRPr lang="en-US" sz="4200" dirty="0"/>
          </a:p>
        </p:txBody>
      </p:sp>
      <p:sp>
        <p:nvSpPr>
          <p:cNvPr id="6" name="Text 4"/>
          <p:cNvSpPr/>
          <p:nvPr/>
        </p:nvSpPr>
        <p:spPr>
          <a:xfrm>
            <a:off x="822960" y="3977640"/>
            <a:ext cx="9875520" cy="640080"/>
          </a:xfrm>
          <a:prstGeom prst="rect">
            <a:avLst/>
          </a:prstGeom>
          <a:noFill/>
          <a:ln/>
        </p:spPr>
        <p:txBody>
          <a:bodyPr wrap="square" rtlCol="0" anchor="ctr"/>
          <a:lstStyle/>
          <a:p>
            <a:pPr marL="0" indent="0">
              <a:buNone/>
            </a:pPr>
            <a:r>
              <a:rPr lang="en-US" sz="1650" i="1" dirty="0">
                <a:solidFill>
                  <a:srgbClr val="CFE8FF"/>
                </a:solidFill>
                <a:latin typeface="Calibri" pitchFamily="34" charset="0"/>
                <a:ea typeface="Calibri" pitchFamily="34" charset="-122"/>
                <a:cs typeface="Calibri" pitchFamily="34" charset="-120"/>
              </a:rPr>
              <a:t>Building, trimming, searching, replacing, formatting and analyzing text</a:t>
            </a:r>
            <a:endParaRPr lang="en-US" sz="1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32743">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32743"/>
                </a:solidFill>
                <a:latin typeface="Calibri" pitchFamily="34" charset="0"/>
                <a:ea typeface="Calibri" pitchFamily="34" charset="-122"/>
                <a:cs typeface="Calibri" pitchFamily="34" charset="-120"/>
              </a:rPr>
              <a:t>STRINGS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Building &amp; Inspecting Strings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paste() joins strings with a separator (space by default).</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nchar() counts characters; substr() extracts a substring.</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toupper() / tolower() change letter case.</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paste("R", "Programming")     # "R Programming"</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paste0("Unit", 5)              # "Unit5"</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nchar("AVIT")                  # 4</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toupper("hello")               # "HELLO"</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substr("R Programming", 3, 13)  # "Programming"</a:t>
            </a:r>
            <a:endParaRPr lang="en-US" sz="16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32743">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32743"/>
                </a:solidFill>
                <a:latin typeface="Calibri" pitchFamily="34" charset="0"/>
                <a:ea typeface="Calibri" pitchFamily="34" charset="-122"/>
                <a:cs typeface="Calibri" pitchFamily="34" charset="-120"/>
              </a:rPr>
              <a:t>STRINGS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Trimming &amp; Boundary Checks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trimws() strips leading/trailing whitespace.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startsWith(x, prefix) tests a string's beginning.</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endsWith(x, suffix) tests a string's ending.</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trimws("   padded text   ")</a:t>
            </a:r>
            <a:endParaRPr lang="en-US" sz="1650" dirty="0"/>
          </a:p>
          <a:p>
            <a:pPr marL="0" indent="0">
              <a:lnSpc>
                <a:spcPct val="118000"/>
              </a:lnSpc>
              <a:buNone/>
            </a:pPr>
            <a:r>
              <a:rPr lang="en-US" sz="1650" dirty="0">
                <a:solidFill>
                  <a:srgbClr val="8FD694"/>
                </a:solidFill>
                <a:latin typeface="Courier New" pitchFamily="34" charset="0"/>
                <a:ea typeface="Courier New" pitchFamily="34" charset="-122"/>
                <a:cs typeface="Courier New" pitchFamily="34" charset="-120"/>
              </a:rPr>
              <a:t># "padded text"</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files &lt;- c("report.csv", "notes.txt")</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startsWith(files, "report")   # TRUE FALSE</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endsWith(files, ".csv")       # TRUE FALSE</a:t>
            </a:r>
            <a:endParaRPr lang="en-US" sz="16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32743">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32743"/>
                </a:solidFill>
                <a:latin typeface="Calibri" pitchFamily="34" charset="0"/>
                <a:ea typeface="Calibri" pitchFamily="34" charset="-122"/>
                <a:cs typeface="Calibri" pitchFamily="34" charset="-120"/>
              </a:rPr>
              <a:t>STRINGS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Pattern Matching with Regular Expressions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grepl() returns TRUE/FALSE for a pattern match.</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grep() returns the matching indices or values.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 start, $ end, . any char, \\d digit, + one-or-more.</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words &lt;- c("apple", "banana", "grape")</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grepl("an", words)          # F T F</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grep("^a", words, value = TRUE)  # "apple"</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regexpr("a", "banana")       # position 2</a:t>
            </a:r>
            <a:endParaRPr lang="en-US" sz="16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32743">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32743"/>
                </a:solidFill>
                <a:latin typeface="Calibri" pitchFamily="34" charset="0"/>
                <a:ea typeface="Calibri" pitchFamily="34" charset="-122"/>
                <a:cs typeface="Calibri" pitchFamily="34" charset="-120"/>
              </a:rPr>
              <a:t>STRINGS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Extracting Matches &amp; Validating Input</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regmatches(x, m) pulls out the TEXT located by regexpr.</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Anchors ^ $ plus {n} build strict validation patterns.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A mobile pattern: leading 6-9 digit then 9 more digits.</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txt &lt;- "Call 9876543210 for help"</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pat &lt;- "[6-9][0-9]{9}"</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m &lt;- regexpr(pat, txt)</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regmatches(txt, m)     # "9876543210"</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grepl(paste0("^", pat, "$"), "9876543210")</a:t>
            </a:r>
            <a:endParaRPr lang="en-US" sz="1600" dirty="0"/>
          </a:p>
          <a:p>
            <a:pPr marL="0" indent="0">
              <a:lnSpc>
                <a:spcPct val="118000"/>
              </a:lnSpc>
              <a:buNone/>
            </a:pPr>
            <a:r>
              <a:rPr lang="en-US" sz="1600" dirty="0">
                <a:solidFill>
                  <a:srgbClr val="8FD694"/>
                </a:solidFill>
                <a:latin typeface="Courier New" pitchFamily="34" charset="0"/>
                <a:ea typeface="Courier New" pitchFamily="34" charset="-122"/>
                <a:cs typeface="Courier New" pitchFamily="34" charset="-120"/>
              </a:rPr>
              <a:t># TRUE</a:t>
            </a:r>
            <a:endParaRPr lang="en-US" sz="16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32743">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32743"/>
                </a:solidFill>
                <a:latin typeface="Calibri" pitchFamily="34" charset="0"/>
                <a:ea typeface="Calibri" pitchFamily="34" charset="-122"/>
                <a:cs typeface="Calibri" pitchFamily="34" charset="-120"/>
              </a:rPr>
              <a:t>STRINGS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Replacing, Splitting &amp; Formatting</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sub() replaces the FIRST match; gsub() replaces ALL.</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strsplit() splits a string around a delimiter.</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sprintf() / format() control numeric display.</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gsub(" ", "_", "R Programming")</a:t>
            </a:r>
            <a:endParaRPr lang="en-US" sz="1650" dirty="0"/>
          </a:p>
          <a:p>
            <a:pPr marL="0" indent="0">
              <a:lnSpc>
                <a:spcPct val="118000"/>
              </a:lnSpc>
              <a:buNone/>
            </a:pPr>
            <a:r>
              <a:rPr lang="en-US" sz="1650" dirty="0">
                <a:solidFill>
                  <a:srgbClr val="8FD694"/>
                </a:solidFill>
                <a:latin typeface="Courier New" pitchFamily="34" charset="0"/>
                <a:ea typeface="Courier New" pitchFamily="34" charset="-122"/>
                <a:cs typeface="Courier New" pitchFamily="34" charset="-120"/>
              </a:rPr>
              <a:t># "R_Programming"</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strsplit("a,b,c", ",")[[1]]</a:t>
            </a:r>
            <a:endParaRPr lang="en-US" sz="1650" dirty="0"/>
          </a:p>
          <a:p>
            <a:pPr marL="0" indent="0">
              <a:lnSpc>
                <a:spcPct val="118000"/>
              </a:lnSpc>
              <a:buNone/>
            </a:pPr>
            <a:r>
              <a:rPr lang="en-US" sz="1650" dirty="0">
                <a:solidFill>
                  <a:srgbClr val="8FD694"/>
                </a:solidFill>
                <a:latin typeface="Courier New" pitchFamily="34" charset="0"/>
                <a:ea typeface="Courier New" pitchFamily="34" charset="-122"/>
                <a:cs typeface="Courier New" pitchFamily="34" charset="-120"/>
              </a:rPr>
              <a:t># "a" "b" "c"</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sprintf("%05d", 42)          # "00042"</a:t>
            </a:r>
            <a:endParaRPr lang="en-US" sz="16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32743">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32743"/>
                </a:solidFill>
                <a:latin typeface="Calibri" pitchFamily="34" charset="0"/>
                <a:ea typeface="Calibri" pitchFamily="34" charset="-122"/>
                <a:cs typeface="Calibri" pitchFamily="34" charset="-120"/>
              </a:rPr>
              <a:t>COMPARE</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Base R vs stringr — Text Handling</a:t>
            </a:r>
            <a:endParaRPr lang="en-US" sz="2800" dirty="0"/>
          </a:p>
        </p:txBody>
      </p:sp>
      <p:graphicFrame>
        <p:nvGraphicFramePr>
          <p:cNvPr id="37" name="Table 0"/>
          <p:cNvGraphicFramePr>
            <a:graphicFrameLocks noGrp="1"/>
          </p:cNvGraphicFramePr>
          <p:nvPr>
            <p:extLst>
              <p:ext uri="{D42A27DB-BD31-4B8C-83A1-F6EECF244321}">
                <p14:modId xmlns="" xmlns:p14="http://schemas.microsoft.com/office/powerpoint/2010/main" val="1579011935"/>
              </p:ext>
            </p:extLst>
          </p:nvPr>
        </p:nvGraphicFramePr>
        <p:xfrm>
          <a:off x="457200" y="1645920"/>
          <a:ext cx="11247120" cy="4526280"/>
        </p:xfrm>
        <a:graphic>
          <a:graphicData uri="http://schemas.openxmlformats.org/drawingml/2006/table">
            <a:tbl>
              <a:tblPr/>
              <a:tblGrid>
                <a:gridCol w="2377440">
                  <a:extLst>
                    <a:ext uri="{9D8B030D-6E8A-4147-A177-3AD203B41FA5}">
                      <a16:colId xmlns="" xmlns:a16="http://schemas.microsoft.com/office/drawing/2014/main" val="20000"/>
                    </a:ext>
                  </a:extLst>
                </a:gridCol>
                <a:gridCol w="4663440">
                  <a:extLst>
                    <a:ext uri="{9D8B030D-6E8A-4147-A177-3AD203B41FA5}">
                      <a16:colId xmlns="" xmlns:a16="http://schemas.microsoft.com/office/drawing/2014/main" val="20001"/>
                    </a:ext>
                  </a:extLst>
                </a:gridCol>
                <a:gridCol w="4206240">
                  <a:extLst>
                    <a:ext uri="{9D8B030D-6E8A-4147-A177-3AD203B41FA5}">
                      <a16:colId xmlns="" xmlns:a16="http://schemas.microsoft.com/office/drawing/2014/main" val="20002"/>
                    </a:ext>
                  </a:extLst>
                </a:gridCol>
              </a:tblGrid>
              <a:tr h="565785">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Base R</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stringr</a:t>
                      </a:r>
                      <a:endParaRPr lang="en-US" sz="14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132743"/>
                    </a:solidFill>
                  </a:tcPr>
                </a:tc>
                <a:extLst>
                  <a:ext uri="{0D108BD9-81ED-4DB2-BD59-A6C34878D82A}">
                    <a16:rowId xmlns="" xmlns:a16="http://schemas.microsoft.com/office/drawing/2014/main" val="10000"/>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Length</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nchar(x)</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str_length(x)</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Substring</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substr(x, a, b)</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str_sub(x, a, b)</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extLst>
                  <a:ext uri="{0D108BD9-81ED-4DB2-BD59-A6C34878D82A}">
                    <a16:rowId xmlns="" xmlns:a16="http://schemas.microsoft.com/office/drawing/2014/main" val="10002"/>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Detect pattern</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grepl(pat, x)</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str_detect(x, pat)</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Extract match</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regmatches(x, regexpr(pat, x))</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str_extract(x, pat)</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extLst>
                  <a:ext uri="{0D108BD9-81ED-4DB2-BD59-A6C34878D82A}">
                    <a16:rowId xmlns="" xmlns:a16="http://schemas.microsoft.com/office/drawing/2014/main" val="10004"/>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Replace all</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gsub(pat, rep, x)</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str_replace_all(x, pat, rep)</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Split</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strsplit(x, sep)</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str_split(x, sep)</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EDF3F6"/>
                    </a:solidFill>
                  </a:tcPr>
                </a:tc>
                <a:extLst>
                  <a:ext uri="{0D108BD9-81ED-4DB2-BD59-A6C34878D82A}">
                    <a16:rowId xmlns="" xmlns:a16="http://schemas.microsoft.com/office/drawing/2014/main" val="10006"/>
                  </a:ext>
                </a:extLst>
              </a:tr>
              <a:tr h="565785">
                <a:tc>
                  <a:txBody>
                    <a:bodyPr/>
                    <a:lstStyle/>
                    <a:p>
                      <a:pPr marL="0" indent="0" algn="l">
                        <a:buNone/>
                      </a:pPr>
                      <a:r>
                        <a:rPr lang="en-US" sz="1300" dirty="0">
                          <a:solidFill>
                            <a:srgbClr val="132743"/>
                          </a:solidFill>
                          <a:latin typeface="Calibri" pitchFamily="34" charset="0"/>
                          <a:ea typeface="Calibri" pitchFamily="34" charset="-122"/>
                          <a:cs typeface="Calibri" pitchFamily="34" charset="-120"/>
                        </a:rPr>
                        <a:t>Pad / trim</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formatC() / trimws()</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B36"/>
                          </a:solidFill>
                          <a:latin typeface="Calibri" pitchFamily="34" charset="0"/>
                          <a:ea typeface="Calibri" pitchFamily="34" charset="-122"/>
                          <a:cs typeface="Calibri" pitchFamily="34" charset="-120"/>
                        </a:rPr>
                        <a:t>str_pad() / str_trim()</a:t>
                      </a:r>
                      <a:endParaRPr lang="en-US" sz="1300" dirty="0">
                        <a:latin typeface="Calibri" charset="0"/>
                        <a:ea typeface="Calibri" charset="0"/>
                        <a:cs typeface="Calibri" charset="0"/>
                      </a:endParaRPr>
                    </a:p>
                  </a:txBody>
                  <a:tcPr marL="76200" marR="76200" marT="38100" marB="38100" anchor="ctr">
                    <a:lnL w="12700" cap="flat" cmpd="sng" algn="ctr">
                      <a:solidFill>
                        <a:srgbClr val="DDE6EA"/>
                      </a:solidFill>
                      <a:prstDash val="solid"/>
                      <a:round/>
                      <a:headEnd type="none" w="med" len="med"/>
                      <a:tailEnd type="none" w="med" len="med"/>
                    </a:lnL>
                    <a:lnR w="12700" cap="flat" cmpd="sng" algn="ctr">
                      <a:solidFill>
                        <a:srgbClr val="DDE6EA"/>
                      </a:solidFill>
                      <a:prstDash val="solid"/>
                      <a:round/>
                      <a:headEnd type="none" w="med" len="med"/>
                      <a:tailEnd type="none" w="med" len="med"/>
                    </a:lnR>
                    <a:lnT w="12700" cap="flat" cmpd="sng" algn="ctr">
                      <a:solidFill>
                        <a:srgbClr val="DDE6EA"/>
                      </a:solidFill>
                      <a:prstDash val="solid"/>
                      <a:round/>
                      <a:headEnd type="none" w="med" len="med"/>
                      <a:tailEnd type="none" w="med" len="med"/>
                    </a:lnT>
                    <a:lnB w="12700" cap="flat" cmpd="sng" algn="ctr">
                      <a:solidFill>
                        <a:srgbClr val="DDE6EA"/>
                      </a:solidFill>
                      <a:prstDash val="solid"/>
                      <a:round/>
                      <a:headEnd type="none" w="med" len="med"/>
                      <a:tailEnd type="none" w="med" len="med"/>
                    </a:lnB>
                    <a:solidFill>
                      <a:srgbClr val="FFFFFF"/>
                    </a:solidFill>
                  </a:tcPr>
                </a:tc>
                <a:extLst>
                  <a:ext uri="{0D108BD9-81ED-4DB2-BD59-A6C34878D82A}">
                    <a16:rowId xmlns="" xmlns:a16="http://schemas.microsoft.com/office/drawing/2014/main" val="10007"/>
                  </a:ext>
                </a:extLst>
              </a:tr>
            </a:tbl>
          </a:graphicData>
        </a:graphic>
      </p:graphicFrame>
      <p:sp>
        <p:nvSpPr>
          <p:cNvPr id="6" name="Text 3"/>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7" name="Text 4"/>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TEXT ANALYTICS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Text Pipeline I — Tokens &amp; Frequency</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tolower() normalises case before comparing words.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strsplit() on whitespace tokenizes a sentence.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A stopword list filters out low-information words.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table() + sort() ranks words by frequency.</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txt &lt;- "R is fun. R is easy to learn"</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words &lt;- tolower(gsub("[[:punct:]]", "", txt))</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tokens &lt;- strsplit(words, "\\s+")[[1]]</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stop &lt;- c("is","to")</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clean &lt;- tokens[!tokens %in% stop]</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sort(table(clean), decreasing = TRUE)</a:t>
            </a:r>
            <a:endParaRPr lang="en-US" sz="15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TEXT ANALYTICS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Text Pipeline II — TF-IDF &amp; Sentiment</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TF-IDF = Term Frequency × Inverse Document Frequency — highlights words distinctive to one document (formula: tf(w) * log(N/df(w))).</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Simple sentiment: build a small positive/negative word lexicon.</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Score = positive count − negative count; classify by its sign.</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words &lt;- c("r","is","great","and","fun")</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pos &lt;- c("great","fun","easy","good")</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neg &lt;- c("bad","hard","boring")</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score &lt;- sum(words %in% pos) - sum(words %in% neg)</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if (score &gt; 0) "Positive" else</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  if (score &lt; 0) "Negative" else "Neutral"</a:t>
            </a:r>
            <a:endParaRPr lang="en-US" sz="15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9">
    <p:bg>
      <p:bgPr>
        <a:solidFill>
          <a:srgbClr val="132743"/>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1F6E8C">
              <a:alpha val="22000"/>
            </a:srgbClr>
          </a:solidFill>
          <a:ln/>
        </p:spPr>
      </p:sp>
      <p:sp>
        <p:nvSpPr>
          <p:cNvPr id="3" name="Shape 1"/>
          <p:cNvSpPr/>
          <p:nvPr/>
        </p:nvSpPr>
        <p:spPr>
          <a:xfrm>
            <a:off x="-1371600" y="4572000"/>
            <a:ext cx="3657600" cy="3657600"/>
          </a:xfrm>
          <a:prstGeom prst="ellipse">
            <a:avLst/>
          </a:prstGeom>
          <a:solidFill>
            <a:srgbClr val="FF6B35">
              <a:alpha val="15000"/>
            </a:srgbClr>
          </a:solidFill>
          <a:ln/>
        </p:spPr>
      </p:sp>
      <p:sp>
        <p:nvSpPr>
          <p:cNvPr id="4" name="Text 2"/>
          <p:cNvSpPr/>
          <p:nvPr/>
        </p:nvSpPr>
        <p:spPr>
          <a:xfrm>
            <a:off x="822960" y="2377440"/>
            <a:ext cx="9144000" cy="457200"/>
          </a:xfrm>
          <a:prstGeom prst="rect">
            <a:avLst/>
          </a:prstGeom>
          <a:noFill/>
          <a:ln/>
        </p:spPr>
        <p:txBody>
          <a:bodyPr wrap="square" rtlCol="0" anchor="ctr"/>
          <a:lstStyle/>
          <a:p>
            <a:pPr marL="0" indent="0">
              <a:buNone/>
            </a:pPr>
            <a:r>
              <a:rPr lang="en-US" sz="1600" b="1" kern="0" spc="200" dirty="0">
                <a:solidFill>
                  <a:srgbClr val="FF6B35"/>
                </a:solidFill>
                <a:latin typeface="Calibri" pitchFamily="34" charset="0"/>
                <a:ea typeface="Calibri" pitchFamily="34" charset="-122"/>
                <a:cs typeface="Calibri" pitchFamily="34" charset="-120"/>
              </a:rPr>
              <a:t>SECTION 5</a:t>
            </a:r>
            <a:endParaRPr lang="en-US" sz="1600" dirty="0"/>
          </a:p>
        </p:txBody>
      </p:sp>
      <p:sp>
        <p:nvSpPr>
          <p:cNvPr id="5" name="Text 3"/>
          <p:cNvSpPr/>
          <p:nvPr/>
        </p:nvSpPr>
        <p:spPr>
          <a:xfrm>
            <a:off x="822960" y="2816352"/>
            <a:ext cx="10241280" cy="118872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Graphics in R</a:t>
            </a:r>
            <a:endParaRPr lang="en-US" sz="4200" dirty="0"/>
          </a:p>
        </p:txBody>
      </p:sp>
      <p:sp>
        <p:nvSpPr>
          <p:cNvPr id="6" name="Text 4"/>
          <p:cNvSpPr/>
          <p:nvPr/>
        </p:nvSpPr>
        <p:spPr>
          <a:xfrm>
            <a:off x="822960" y="3977640"/>
            <a:ext cx="9875520" cy="640080"/>
          </a:xfrm>
          <a:prstGeom prst="rect">
            <a:avLst/>
          </a:prstGeom>
          <a:noFill/>
          <a:ln/>
        </p:spPr>
        <p:txBody>
          <a:bodyPr wrap="square" rtlCol="0" anchor="ctr"/>
          <a:lstStyle/>
          <a:p>
            <a:pPr marL="0" indent="0">
              <a:buNone/>
            </a:pPr>
            <a:r>
              <a:rPr lang="en-US" sz="1650" i="1" dirty="0">
                <a:solidFill>
                  <a:srgbClr val="CFE8FF"/>
                </a:solidFill>
                <a:latin typeface="Calibri" pitchFamily="34" charset="0"/>
                <a:ea typeface="Calibri" pitchFamily="34" charset="-122"/>
                <a:cs typeface="Calibri" pitchFamily="34" charset="-120"/>
              </a:rPr>
              <a:t>Creating, customizing, arranging, saving and building 3D plots</a:t>
            </a:r>
            <a:endParaRPr lang="en-US" sz="16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064" y="353683"/>
            <a:ext cx="5302370" cy="1200329"/>
          </a:xfrm>
          <a:prstGeom prst="rect">
            <a:avLst/>
          </a:prstGeom>
        </p:spPr>
        <p:txBody>
          <a:bodyPr wrap="square">
            <a:spAutoFit/>
          </a:bodyPr>
          <a:lstStyle/>
          <a:p>
            <a:pPr algn="just" fontAlgn="auto"/>
            <a:r>
              <a:rPr lang="en-US" b="1" dirty="0" smtClean="0">
                <a:latin typeface="Arial Narrow" pitchFamily="34" charset="0"/>
              </a:rPr>
              <a:t>Creating Graphs in R Programming</a:t>
            </a:r>
          </a:p>
          <a:p>
            <a:pPr algn="just" fontAlgn="auto"/>
            <a:r>
              <a:rPr lang="en-US" dirty="0" smtClean="0">
                <a:latin typeface="Arial Narrow" pitchFamily="34" charset="0"/>
              </a:rPr>
              <a:t>R provides rich and versatile tools for data visualization, </a:t>
            </a:r>
          </a:p>
          <a:p>
            <a:pPr algn="just" fontAlgn="auto"/>
            <a:r>
              <a:rPr lang="en-US" dirty="0" smtClean="0">
                <a:latin typeface="Arial Narrow" pitchFamily="34" charset="0"/>
              </a:rPr>
              <a:t>allowing you to create charts, plots, and graphs to represent </a:t>
            </a:r>
          </a:p>
          <a:p>
            <a:pPr algn="just" fontAlgn="auto"/>
            <a:r>
              <a:rPr lang="en-US" dirty="0" smtClean="0">
                <a:latin typeface="Arial Narrow" pitchFamily="34" charset="0"/>
              </a:rPr>
              <a:t>data visually. </a:t>
            </a:r>
            <a:endParaRPr lang="en-US" dirty="0">
              <a:latin typeface="Arial Narrow" pitchFamily="34" charset="0"/>
            </a:endParaRPr>
          </a:p>
        </p:txBody>
      </p:sp>
      <p:sp>
        <p:nvSpPr>
          <p:cNvPr id="3" name="Rectangle 2"/>
          <p:cNvSpPr/>
          <p:nvPr/>
        </p:nvSpPr>
        <p:spPr>
          <a:xfrm>
            <a:off x="391064" y="2413338"/>
            <a:ext cx="6096000" cy="2031325"/>
          </a:xfrm>
          <a:prstGeom prst="rect">
            <a:avLst/>
          </a:prstGeom>
        </p:spPr>
        <p:txBody>
          <a:bodyPr>
            <a:spAutoFit/>
          </a:bodyPr>
          <a:lstStyle/>
          <a:p>
            <a:pPr fontAlgn="auto"/>
            <a:r>
              <a:rPr lang="en-US" b="1" dirty="0" smtClean="0"/>
              <a:t>Why Use Graphics in R?</a:t>
            </a:r>
          </a:p>
          <a:p>
            <a:pPr fontAlgn="auto">
              <a:buFont typeface="Arial" pitchFamily="34" charset="0"/>
              <a:buChar char="•"/>
            </a:pPr>
            <a:r>
              <a:rPr lang="en-US" dirty="0" smtClean="0"/>
              <a:t>To summarize and understand data visually.</a:t>
            </a:r>
          </a:p>
          <a:p>
            <a:pPr fontAlgn="auto">
              <a:buFont typeface="Arial" pitchFamily="34" charset="0"/>
              <a:buChar char="•"/>
            </a:pPr>
            <a:r>
              <a:rPr lang="en-US" dirty="0" smtClean="0"/>
              <a:t>To spot trends, outliers, and patterns.</a:t>
            </a:r>
          </a:p>
          <a:p>
            <a:pPr fontAlgn="auto">
              <a:buFont typeface="Arial" pitchFamily="34" charset="0"/>
              <a:buChar char="•"/>
            </a:pPr>
            <a:r>
              <a:rPr lang="en-US" dirty="0" smtClean="0"/>
              <a:t>To make your analysis more interactive and </a:t>
            </a:r>
          </a:p>
          <a:p>
            <a:pPr fontAlgn="auto">
              <a:buFont typeface="Arial" pitchFamily="34" charset="0"/>
              <a:buChar char="•"/>
            </a:pPr>
            <a:r>
              <a:rPr lang="en-US" dirty="0" smtClean="0"/>
              <a:t>understandable.</a:t>
            </a:r>
          </a:p>
          <a:p>
            <a:pPr fontAlgn="auto">
              <a:buFont typeface="Arial" pitchFamily="34" charset="0"/>
              <a:buChar char="•"/>
            </a:pPr>
            <a:r>
              <a:rPr lang="en-US" dirty="0" smtClean="0"/>
              <a:t>To communicate results clearly in presentations or </a:t>
            </a:r>
          </a:p>
          <a:p>
            <a:pPr fontAlgn="auto">
              <a:buFont typeface="Arial" pitchFamily="34" charset="0"/>
              <a:buChar char="•"/>
            </a:pPr>
            <a:r>
              <a:rPr lang="en-US" dirty="0" smtClean="0"/>
              <a:t>reports</a:t>
            </a:r>
            <a:endParaRPr lang="en-US" dirty="0"/>
          </a:p>
        </p:txBody>
      </p:sp>
      <p:sp>
        <p:nvSpPr>
          <p:cNvPr id="4" name="Rectangle 3"/>
          <p:cNvSpPr/>
          <p:nvPr/>
        </p:nvSpPr>
        <p:spPr>
          <a:xfrm>
            <a:off x="8178735" y="353683"/>
            <a:ext cx="2628155" cy="369332"/>
          </a:xfrm>
          <a:prstGeom prst="rect">
            <a:avLst/>
          </a:prstGeom>
        </p:spPr>
        <p:txBody>
          <a:bodyPr wrap="none">
            <a:spAutoFit/>
          </a:bodyPr>
          <a:lstStyle/>
          <a:p>
            <a:r>
              <a:rPr lang="en-US" b="1" dirty="0" smtClean="0"/>
              <a:t>Types of Graphs in Base R</a:t>
            </a:r>
            <a:endParaRPr lang="en-US" b="1" dirty="0"/>
          </a:p>
        </p:txBody>
      </p:sp>
      <p:graphicFrame>
        <p:nvGraphicFramePr>
          <p:cNvPr id="5" name="Table 4"/>
          <p:cNvGraphicFramePr>
            <a:graphicFrameLocks noGrp="1"/>
          </p:cNvGraphicFramePr>
          <p:nvPr/>
        </p:nvGraphicFramePr>
        <p:xfrm>
          <a:off x="5926348" y="957532"/>
          <a:ext cx="5819256" cy="5532510"/>
        </p:xfrm>
        <a:graphic>
          <a:graphicData uri="http://schemas.openxmlformats.org/drawingml/2006/table">
            <a:tbl>
              <a:tblPr/>
              <a:tblGrid>
                <a:gridCol w="1939752"/>
                <a:gridCol w="1939752"/>
                <a:gridCol w="1939752"/>
              </a:tblGrid>
              <a:tr h="277880">
                <a:tc>
                  <a:txBody>
                    <a:bodyPr/>
                    <a:lstStyle/>
                    <a:p>
                      <a:r>
                        <a:rPr lang="en-US" sz="1400" b="1" dirty="0"/>
                        <a:t>Type of Graph</a:t>
                      </a:r>
                    </a:p>
                  </a:txBody>
                  <a:tcPr marL="69470" marR="69470" marT="34735" marB="34735" anchor="ctr">
                    <a:lnL>
                      <a:noFill/>
                    </a:lnL>
                    <a:lnR>
                      <a:noFill/>
                    </a:lnR>
                    <a:lnT>
                      <a:noFill/>
                    </a:lnT>
                    <a:lnB>
                      <a:noFill/>
                    </a:lnB>
                  </a:tcPr>
                </a:tc>
                <a:tc>
                  <a:txBody>
                    <a:bodyPr/>
                    <a:lstStyle/>
                    <a:p>
                      <a:r>
                        <a:rPr lang="en-US" sz="1400" b="1" dirty="0"/>
                        <a:t>Function</a:t>
                      </a:r>
                    </a:p>
                  </a:txBody>
                  <a:tcPr marL="69470" marR="69470" marT="34735" marB="34735" anchor="ctr">
                    <a:lnL>
                      <a:noFill/>
                    </a:lnL>
                    <a:lnR>
                      <a:noFill/>
                    </a:lnR>
                    <a:lnT>
                      <a:noFill/>
                    </a:lnT>
                    <a:lnB>
                      <a:noFill/>
                    </a:lnB>
                  </a:tcPr>
                </a:tc>
                <a:tc>
                  <a:txBody>
                    <a:bodyPr/>
                    <a:lstStyle/>
                    <a:p>
                      <a:r>
                        <a:rPr lang="en-US" sz="1400" b="1" dirty="0"/>
                        <a:t>Purpose</a:t>
                      </a:r>
                    </a:p>
                  </a:txBody>
                  <a:tcPr marL="69470" marR="69470" marT="34735" marB="34735" anchor="ctr">
                    <a:lnL>
                      <a:noFill/>
                    </a:lnL>
                    <a:lnR>
                      <a:noFill/>
                    </a:lnR>
                    <a:lnT>
                      <a:noFill/>
                    </a:lnT>
                    <a:lnB>
                      <a:noFill/>
                    </a:lnB>
                  </a:tcPr>
                </a:tc>
              </a:tr>
              <a:tr h="694701">
                <a:tc>
                  <a:txBody>
                    <a:bodyPr/>
                    <a:lstStyle/>
                    <a:p>
                      <a:r>
                        <a:rPr lang="en-US" sz="1400"/>
                        <a:t>Bar Chart</a:t>
                      </a:r>
                    </a:p>
                  </a:txBody>
                  <a:tcPr marL="69470" marR="69470" marT="34735" marB="34735" anchor="ctr">
                    <a:lnL>
                      <a:noFill/>
                    </a:lnL>
                    <a:lnR>
                      <a:noFill/>
                    </a:lnR>
                    <a:lnT>
                      <a:noFill/>
                    </a:lnT>
                    <a:lnB>
                      <a:noFill/>
                    </a:lnB>
                  </a:tcPr>
                </a:tc>
                <a:tc>
                  <a:txBody>
                    <a:bodyPr/>
                    <a:lstStyle/>
                    <a:p>
                      <a:r>
                        <a:rPr lang="en-US" sz="1400"/>
                        <a:t>barplot()</a:t>
                      </a:r>
                    </a:p>
                  </a:txBody>
                  <a:tcPr marL="69470" marR="69470" marT="34735" marB="34735" anchor="ctr">
                    <a:lnL>
                      <a:noFill/>
                    </a:lnL>
                    <a:lnR>
                      <a:noFill/>
                    </a:lnR>
                    <a:lnT>
                      <a:noFill/>
                    </a:lnT>
                    <a:lnB>
                      <a:noFill/>
                    </a:lnB>
                  </a:tcPr>
                </a:tc>
                <a:tc>
                  <a:txBody>
                    <a:bodyPr/>
                    <a:lstStyle/>
                    <a:p>
                      <a:r>
                        <a:rPr lang="en-US" sz="1400"/>
                        <a:t>Compare frequencies, counts or values across categories.</a:t>
                      </a:r>
                    </a:p>
                  </a:txBody>
                  <a:tcPr marL="69470" marR="69470" marT="34735" marB="34735" anchor="ctr">
                    <a:lnL>
                      <a:noFill/>
                    </a:lnL>
                    <a:lnR>
                      <a:noFill/>
                    </a:lnR>
                    <a:lnT>
                      <a:noFill/>
                    </a:lnT>
                    <a:lnB>
                      <a:noFill/>
                    </a:lnB>
                  </a:tcPr>
                </a:tc>
              </a:tr>
              <a:tr h="694701">
                <a:tc>
                  <a:txBody>
                    <a:bodyPr/>
                    <a:lstStyle/>
                    <a:p>
                      <a:r>
                        <a:rPr lang="en-US" sz="1400"/>
                        <a:t>Histogram</a:t>
                      </a:r>
                    </a:p>
                  </a:txBody>
                  <a:tcPr marL="69470" marR="69470" marT="34735" marB="34735" anchor="ctr">
                    <a:lnL>
                      <a:noFill/>
                    </a:lnL>
                    <a:lnR>
                      <a:noFill/>
                    </a:lnR>
                    <a:lnT>
                      <a:noFill/>
                    </a:lnT>
                    <a:lnB>
                      <a:noFill/>
                    </a:lnB>
                  </a:tcPr>
                </a:tc>
                <a:tc>
                  <a:txBody>
                    <a:bodyPr/>
                    <a:lstStyle/>
                    <a:p>
                      <a:r>
                        <a:rPr lang="en-US" sz="1400"/>
                        <a:t>hist()</a:t>
                      </a:r>
                    </a:p>
                  </a:txBody>
                  <a:tcPr marL="69470" marR="69470" marT="34735" marB="34735" anchor="ctr">
                    <a:lnL>
                      <a:noFill/>
                    </a:lnL>
                    <a:lnR>
                      <a:noFill/>
                    </a:lnR>
                    <a:lnT>
                      <a:noFill/>
                    </a:lnT>
                    <a:lnB>
                      <a:noFill/>
                    </a:lnB>
                  </a:tcPr>
                </a:tc>
                <a:tc>
                  <a:txBody>
                    <a:bodyPr/>
                    <a:lstStyle/>
                    <a:p>
                      <a:r>
                        <a:rPr lang="en-US" sz="1400"/>
                        <a:t>Display the distribution of a numerical variable using intervals.</a:t>
                      </a:r>
                    </a:p>
                  </a:txBody>
                  <a:tcPr marL="69470" marR="69470" marT="34735" marB="34735" anchor="ctr">
                    <a:lnL>
                      <a:noFill/>
                    </a:lnL>
                    <a:lnR>
                      <a:noFill/>
                    </a:lnR>
                    <a:lnT>
                      <a:noFill/>
                    </a:lnT>
                    <a:lnB>
                      <a:noFill/>
                    </a:lnB>
                  </a:tcPr>
                </a:tc>
              </a:tr>
              <a:tr h="486291">
                <a:tc>
                  <a:txBody>
                    <a:bodyPr/>
                    <a:lstStyle/>
                    <a:p>
                      <a:r>
                        <a:rPr lang="en-US" sz="1400"/>
                        <a:t>Pie Chart</a:t>
                      </a:r>
                    </a:p>
                  </a:txBody>
                  <a:tcPr marL="69470" marR="69470" marT="34735" marB="34735" anchor="ctr">
                    <a:lnL>
                      <a:noFill/>
                    </a:lnL>
                    <a:lnR>
                      <a:noFill/>
                    </a:lnR>
                    <a:lnT>
                      <a:noFill/>
                    </a:lnT>
                    <a:lnB>
                      <a:noFill/>
                    </a:lnB>
                  </a:tcPr>
                </a:tc>
                <a:tc>
                  <a:txBody>
                    <a:bodyPr/>
                    <a:lstStyle/>
                    <a:p>
                      <a:r>
                        <a:rPr lang="en-US" sz="1400"/>
                        <a:t>pie()</a:t>
                      </a:r>
                    </a:p>
                  </a:txBody>
                  <a:tcPr marL="69470" marR="69470" marT="34735" marB="34735" anchor="ctr">
                    <a:lnL>
                      <a:noFill/>
                    </a:lnL>
                    <a:lnR>
                      <a:noFill/>
                    </a:lnR>
                    <a:lnT>
                      <a:noFill/>
                    </a:lnT>
                    <a:lnB>
                      <a:noFill/>
                    </a:lnB>
                  </a:tcPr>
                </a:tc>
                <a:tc>
                  <a:txBody>
                    <a:bodyPr/>
                    <a:lstStyle/>
                    <a:p>
                      <a:r>
                        <a:rPr lang="en-US" sz="1400"/>
                        <a:t>Show proportions of a whole.</a:t>
                      </a:r>
                    </a:p>
                  </a:txBody>
                  <a:tcPr marL="69470" marR="69470" marT="34735" marB="34735" anchor="ctr">
                    <a:lnL>
                      <a:noFill/>
                    </a:lnL>
                    <a:lnR>
                      <a:noFill/>
                    </a:lnR>
                    <a:lnT>
                      <a:noFill/>
                    </a:lnT>
                    <a:lnB>
                      <a:noFill/>
                    </a:lnB>
                  </a:tcPr>
                </a:tc>
              </a:tr>
              <a:tr h="486291">
                <a:tc>
                  <a:txBody>
                    <a:bodyPr/>
                    <a:lstStyle/>
                    <a:p>
                      <a:r>
                        <a:rPr lang="en-US" sz="1400"/>
                        <a:t>Line Graph</a:t>
                      </a:r>
                    </a:p>
                  </a:txBody>
                  <a:tcPr marL="69470" marR="69470" marT="34735" marB="34735" anchor="ctr">
                    <a:lnL>
                      <a:noFill/>
                    </a:lnL>
                    <a:lnR>
                      <a:noFill/>
                    </a:lnR>
                    <a:lnT>
                      <a:noFill/>
                    </a:lnT>
                    <a:lnB>
                      <a:noFill/>
                    </a:lnB>
                  </a:tcPr>
                </a:tc>
                <a:tc>
                  <a:txBody>
                    <a:bodyPr/>
                    <a:lstStyle/>
                    <a:p>
                      <a:r>
                        <a:rPr lang="en-US" sz="1400"/>
                        <a:t>plot(..., type = "l")</a:t>
                      </a:r>
                    </a:p>
                  </a:txBody>
                  <a:tcPr marL="69470" marR="69470" marT="34735" marB="34735" anchor="ctr">
                    <a:lnL>
                      <a:noFill/>
                    </a:lnL>
                    <a:lnR>
                      <a:noFill/>
                    </a:lnR>
                    <a:lnT>
                      <a:noFill/>
                    </a:lnT>
                    <a:lnB>
                      <a:noFill/>
                    </a:lnB>
                  </a:tcPr>
                </a:tc>
                <a:tc>
                  <a:txBody>
                    <a:bodyPr/>
                    <a:lstStyle/>
                    <a:p>
                      <a:r>
                        <a:rPr lang="en-US" sz="1400"/>
                        <a:t>Show changes over time or an ordered sequence.</a:t>
                      </a:r>
                    </a:p>
                  </a:txBody>
                  <a:tcPr marL="69470" marR="69470" marT="34735" marB="34735" anchor="ctr">
                    <a:lnL>
                      <a:noFill/>
                    </a:lnL>
                    <a:lnR>
                      <a:noFill/>
                    </a:lnR>
                    <a:lnT>
                      <a:noFill/>
                    </a:lnT>
                    <a:lnB>
                      <a:noFill/>
                    </a:lnB>
                  </a:tcPr>
                </a:tc>
              </a:tr>
              <a:tr h="694701">
                <a:tc>
                  <a:txBody>
                    <a:bodyPr/>
                    <a:lstStyle/>
                    <a:p>
                      <a:r>
                        <a:rPr lang="en-US" sz="1400"/>
                        <a:t>Scatter Plot</a:t>
                      </a:r>
                    </a:p>
                  </a:txBody>
                  <a:tcPr marL="69470" marR="69470" marT="34735" marB="34735" anchor="ctr">
                    <a:lnL>
                      <a:noFill/>
                    </a:lnL>
                    <a:lnR>
                      <a:noFill/>
                    </a:lnR>
                    <a:lnT>
                      <a:noFill/>
                    </a:lnT>
                    <a:lnB>
                      <a:noFill/>
                    </a:lnB>
                  </a:tcPr>
                </a:tc>
                <a:tc>
                  <a:txBody>
                    <a:bodyPr/>
                    <a:lstStyle/>
                    <a:p>
                      <a:r>
                        <a:rPr lang="en-US" sz="1400"/>
                        <a:t>plot()</a:t>
                      </a:r>
                    </a:p>
                  </a:txBody>
                  <a:tcPr marL="69470" marR="69470" marT="34735" marB="34735" anchor="ctr">
                    <a:lnL>
                      <a:noFill/>
                    </a:lnL>
                    <a:lnR>
                      <a:noFill/>
                    </a:lnR>
                    <a:lnT>
                      <a:noFill/>
                    </a:lnT>
                    <a:lnB>
                      <a:noFill/>
                    </a:lnB>
                  </a:tcPr>
                </a:tc>
                <a:tc>
                  <a:txBody>
                    <a:bodyPr/>
                    <a:lstStyle/>
                    <a:p>
                      <a:r>
                        <a:rPr lang="en-US" sz="1400"/>
                        <a:t>Display the relationship between two numerical variables.</a:t>
                      </a:r>
                    </a:p>
                  </a:txBody>
                  <a:tcPr marL="69470" marR="69470" marT="34735" marB="34735" anchor="ctr">
                    <a:lnL>
                      <a:noFill/>
                    </a:lnL>
                    <a:lnR>
                      <a:noFill/>
                    </a:lnR>
                    <a:lnT>
                      <a:noFill/>
                    </a:lnT>
                    <a:lnB>
                      <a:noFill/>
                    </a:lnB>
                  </a:tcPr>
                </a:tc>
              </a:tr>
              <a:tr h="694701">
                <a:tc>
                  <a:txBody>
                    <a:bodyPr/>
                    <a:lstStyle/>
                    <a:p>
                      <a:r>
                        <a:rPr lang="en-US" sz="1400"/>
                        <a:t>Boxplot</a:t>
                      </a:r>
                    </a:p>
                  </a:txBody>
                  <a:tcPr marL="69470" marR="69470" marT="34735" marB="34735" anchor="ctr">
                    <a:lnL>
                      <a:noFill/>
                    </a:lnL>
                    <a:lnR>
                      <a:noFill/>
                    </a:lnR>
                    <a:lnT>
                      <a:noFill/>
                    </a:lnT>
                    <a:lnB>
                      <a:noFill/>
                    </a:lnB>
                  </a:tcPr>
                </a:tc>
                <a:tc>
                  <a:txBody>
                    <a:bodyPr/>
                    <a:lstStyle/>
                    <a:p>
                      <a:r>
                        <a:rPr lang="en-US" sz="1400"/>
                        <a:t>boxplot()</a:t>
                      </a:r>
                    </a:p>
                  </a:txBody>
                  <a:tcPr marL="69470" marR="69470" marT="34735" marB="34735" anchor="ctr">
                    <a:lnL>
                      <a:noFill/>
                    </a:lnL>
                    <a:lnR>
                      <a:noFill/>
                    </a:lnR>
                    <a:lnT>
                      <a:noFill/>
                    </a:lnT>
                    <a:lnB>
                      <a:noFill/>
                    </a:lnB>
                  </a:tcPr>
                </a:tc>
                <a:tc>
                  <a:txBody>
                    <a:bodyPr/>
                    <a:lstStyle/>
                    <a:p>
                      <a:r>
                        <a:rPr lang="en-US" sz="1400"/>
                        <a:t>Visualize the median, spread and potential outliers.</a:t>
                      </a:r>
                    </a:p>
                  </a:txBody>
                  <a:tcPr marL="69470" marR="69470" marT="34735" marB="34735" anchor="ctr">
                    <a:lnL>
                      <a:noFill/>
                    </a:lnL>
                    <a:lnR>
                      <a:noFill/>
                    </a:lnR>
                    <a:lnT>
                      <a:noFill/>
                    </a:lnT>
                    <a:lnB>
                      <a:noFill/>
                    </a:lnB>
                  </a:tcPr>
                </a:tc>
              </a:tr>
              <a:tr h="694701">
                <a:tc>
                  <a:txBody>
                    <a:bodyPr/>
                    <a:lstStyle/>
                    <a:p>
                      <a:r>
                        <a:rPr lang="en-US" sz="1400"/>
                        <a:t>Strip Chart</a:t>
                      </a:r>
                    </a:p>
                  </a:txBody>
                  <a:tcPr marL="69470" marR="69470" marT="34735" marB="34735" anchor="ctr">
                    <a:lnL>
                      <a:noFill/>
                    </a:lnL>
                    <a:lnR>
                      <a:noFill/>
                    </a:lnR>
                    <a:lnT>
                      <a:noFill/>
                    </a:lnT>
                    <a:lnB>
                      <a:noFill/>
                    </a:lnB>
                  </a:tcPr>
                </a:tc>
                <a:tc>
                  <a:txBody>
                    <a:bodyPr/>
                    <a:lstStyle/>
                    <a:p>
                      <a:r>
                        <a:rPr lang="en-US" sz="1400"/>
                        <a:t>stripchart()</a:t>
                      </a:r>
                    </a:p>
                  </a:txBody>
                  <a:tcPr marL="69470" marR="69470" marT="34735" marB="34735" anchor="ctr">
                    <a:lnL>
                      <a:noFill/>
                    </a:lnL>
                    <a:lnR>
                      <a:noFill/>
                    </a:lnR>
                    <a:lnT>
                      <a:noFill/>
                    </a:lnT>
                    <a:lnB>
                      <a:noFill/>
                    </a:lnB>
                  </a:tcPr>
                </a:tc>
                <a:tc>
                  <a:txBody>
                    <a:bodyPr/>
                    <a:lstStyle/>
                    <a:p>
                      <a:r>
                        <a:rPr lang="en-US" sz="1400"/>
                        <a:t>Show individual observations, especially for small datasets.</a:t>
                      </a:r>
                    </a:p>
                  </a:txBody>
                  <a:tcPr marL="69470" marR="69470" marT="34735" marB="34735" anchor="ctr">
                    <a:lnL>
                      <a:noFill/>
                    </a:lnL>
                    <a:lnR>
                      <a:noFill/>
                    </a:lnR>
                    <a:lnT>
                      <a:noFill/>
                    </a:lnT>
                    <a:lnB>
                      <a:noFill/>
                    </a:lnB>
                  </a:tcPr>
                </a:tc>
              </a:tr>
              <a:tr h="694701">
                <a:tc>
                  <a:txBody>
                    <a:bodyPr/>
                    <a:lstStyle/>
                    <a:p>
                      <a:r>
                        <a:rPr lang="en-US" sz="1400"/>
                        <a:t>Dot Chart</a:t>
                      </a:r>
                    </a:p>
                  </a:txBody>
                  <a:tcPr marL="69470" marR="69470" marT="34735" marB="34735" anchor="ctr">
                    <a:lnL>
                      <a:noFill/>
                    </a:lnL>
                    <a:lnR>
                      <a:noFill/>
                    </a:lnR>
                    <a:lnT>
                      <a:noFill/>
                    </a:lnT>
                    <a:lnB>
                      <a:noFill/>
                    </a:lnB>
                  </a:tcPr>
                </a:tc>
                <a:tc>
                  <a:txBody>
                    <a:bodyPr/>
                    <a:lstStyle/>
                    <a:p>
                      <a:r>
                        <a:rPr lang="en-US" sz="1400"/>
                        <a:t>dotchart()</a:t>
                      </a:r>
                    </a:p>
                  </a:txBody>
                  <a:tcPr marL="69470" marR="69470" marT="34735" marB="34735" anchor="ctr">
                    <a:lnL>
                      <a:noFill/>
                    </a:lnL>
                    <a:lnR>
                      <a:noFill/>
                    </a:lnR>
                    <a:lnT>
                      <a:noFill/>
                    </a:lnT>
                    <a:lnB>
                      <a:noFill/>
                    </a:lnB>
                  </a:tcPr>
                </a:tc>
                <a:tc>
                  <a:txBody>
                    <a:bodyPr/>
                    <a:lstStyle/>
                    <a:p>
                      <a:r>
                        <a:rPr lang="en-US" sz="1400" dirty="0"/>
                        <a:t>Compare values across </a:t>
                      </a:r>
                      <a:r>
                        <a:rPr lang="en-US" sz="1400" dirty="0" err="1"/>
                        <a:t>labelled</a:t>
                      </a:r>
                      <a:r>
                        <a:rPr lang="en-US" sz="1400" dirty="0"/>
                        <a:t> categories using dots.</a:t>
                      </a:r>
                    </a:p>
                  </a:txBody>
                  <a:tcPr marL="69470" marR="69470" marT="34735" marB="34735" anchor="ctr">
                    <a:lnL>
                      <a:noFill/>
                    </a:lnL>
                    <a:lnR>
                      <a:noFill/>
                    </a:lnR>
                    <a:lnT>
                      <a:noFill/>
                    </a:lnT>
                    <a:lnB>
                      <a:noFill/>
                    </a:lnB>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GRAPHICS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Creating Graphs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plot() draws scatter/line plots.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hist() draws a histogram; barplot()/pie() for categories.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boxplot() shows median, quartiles and outliers.</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plot(1:10, (1:10)^2, type = "b")</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hist(rnorm(200), main = "Distribution")</a:t>
            </a:r>
            <a:endParaRPr lang="en-US" sz="1650" dirty="0"/>
          </a:p>
          <a:p>
            <a:pPr marL="0" indent="0">
              <a:lnSpc>
                <a:spcPct val="118000"/>
              </a:lnSpc>
              <a:buNone/>
            </a:pP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barplot(table(mtcars$cyl))</a:t>
            </a:r>
            <a:endParaRPr lang="en-US" sz="1650" dirty="0"/>
          </a:p>
          <a:p>
            <a:pPr marL="0" indent="0">
              <a:lnSpc>
                <a:spcPct val="118000"/>
              </a:lnSpc>
              <a:buNone/>
            </a:pPr>
            <a:r>
              <a:rPr lang="en-US" sz="1650" dirty="0">
                <a:solidFill>
                  <a:srgbClr val="CFE8FF"/>
                </a:solidFill>
                <a:latin typeface="Courier New" pitchFamily="34" charset="0"/>
                <a:ea typeface="Courier New" pitchFamily="34" charset="-122"/>
                <a:cs typeface="Courier New" pitchFamily="34" charset="-120"/>
              </a:rPr>
              <a:t>boxplot(mpg ~ cyl, data = mtcars)</a:t>
            </a:r>
            <a:endParaRPr lang="en-US" sz="16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p:cNvPicPr>
            <a:picLocks noChangeAspect="1" noChangeArrowheads="1"/>
          </p:cNvPicPr>
          <p:nvPr/>
        </p:nvPicPr>
        <p:blipFill>
          <a:blip r:embed="rId2"/>
          <a:srcRect/>
          <a:stretch>
            <a:fillRect/>
          </a:stretch>
        </p:blipFill>
        <p:spPr bwMode="auto">
          <a:xfrm>
            <a:off x="0" y="-104205"/>
            <a:ext cx="5391150" cy="6840537"/>
          </a:xfrm>
          <a:prstGeom prst="rect">
            <a:avLst/>
          </a:prstGeom>
          <a:noFill/>
          <a:ln w="9525">
            <a:noFill/>
            <a:miter lim="800000"/>
            <a:headEnd/>
            <a:tailEnd/>
          </a:ln>
          <a:effectLst/>
        </p:spPr>
      </p:pic>
      <p:sp>
        <p:nvSpPr>
          <p:cNvPr id="108549" name="AutoShape 5" descr="data:image/png;base64,iVBORw0KGgoAAAANSUhEUgAAA0gAAANICAIAAAByhViMAAAACXBIWXMAABJ0AAASdAHeZh94%0AAAAgAElEQVR4nOzde5zOdf74//dljPMxOQyR4xapKIVKREvYT0mtdKCD2titrdbK1n5qsx1s%0A27ZbK+xWSumgk4i2dlNtkuSsQiehJCmRcR4z1/eP6/e7bvMZzEGuuXi53/+6rtf1nut6es2k%0Ah/d1mFg8Ho8AADj4lUn3AAAA7B/CDgAgEMIOACAQwg4AIBDCDgAgEMIOACAQwg4AIBDCDgAg%0AEMIOACAQwg4AIBDCDgAgEMIOACAQwg4AIBDCDgAgEMIOACAQwg4AIBDCDgAgEMIOACAQwg4A%0AIBDCDgAgEMIOACAQwg4AIBDCDgAgEMIOACAQwg4AIBDCDgAgEMIOACAQwg4AIBDCDgAgEMIO%0AACAQwg4AIBDCDgAgEMIOACAQwg4AIBDCDgAgEMIOACAQwg4AIBDCDgAgEMIOACAQwg4Oac8/%0A/3wsFovFYhUqVEjXw5XyDGl5xP3iueeeO/HEEytWrFipUqVmzZpt27Yt3RPtwUG6txAMYQfh%0AePjhh2P/V5kyZWrWrNmyZcuBAwc+++yzOTk56Z6RffTee+/169dvwYIF27dv37Zt2+eff56b%0Am7vHIwv8GIwbN273Yx577LH8xzz88MMpHh8oJWXTPQCQQvF4fOPGjRs3bvzoo48mTJjQqFGj%0A8ePHn3HGGckD2rRp87e//S2KorJl9+Vvg2+++aZBgwa5ubnLli07+uijizz+Rz7cPtjjhKU/%0Axo/36KOPJi5Ur179tttuq1WrVvny5YvzhZMnTx40aFCBxZdeemk/zwccGA6av9SAEunVq1dm%0AZmZeXt7333+/aNGiLVu2RFH0xRdfnHnmmS+88EKfPn0ShzVv3vz666/f50d59tln93beaI9+%0A5MPtgz1OWPpj/HhffPFF4kL//v1LNPz06dO3bNlSuXLl5MqOHTv+85//7Of5gAODp2IhTE8+%0A+eTkyZNfeumlmTNnrl+/ftSoURUrVoyiKC8v7+KLL/7qq6/2y6M888wz++V+UufAn7CYdu7c%0AmbhQpUqVYn7JEUccEUXR9u3b//3vf+dff+ONNzZv3hxFUYMGDfbrjED6CTsIX/ny5a+55poX%0AX3wxFotFUbR169Y777wzcdPeXuq+a9euBx988Mwzz6xTp05mZmadOnVOOumkkSNHfvfdd4kD%0Afvazn8VisXfeeSdxtWXLlrFYLHEm6ZFHHkncZ+fOnXft2nXdddfVrl27bt26hTxcQpkyZaIo%0AevHFF08//fTq1atXq1btjDPO+O9//5v/mP/93/9N3EOHDh3yr0+ePDmxnnx2tZAJCxlj06ZN%0Ad911V4cOHQ477LBy5crVrVu3R48ejz76aIHTfsk/4+mnnx5F0dtvv/3Tn/60Zs2aVapU6dSp%0A0/Tp04v+rhT74QYPHhyLxV5//fXE1XvvvTfx0Ik4K8TJJ5+ckZERRdGUKVPyryeeh83IyDjx%0AxBN3/6p4PD5x4sQePXokvvXVqlVr3779qFGj8o9UyLd4jzZs2PCTn/wk8SVDhgxJLBb5Mwbs%0AizgQioceeij5n/aGDRt2P+Dss89O3FqnTp28vLx4PP7cc88lVsqXL588bOfOnV26dNnj3xhN%0Amzb97LPP4vF47969d7/1uuuui8fjTz31VOLqcccdd++99yYuZ2Rk7O3hkotVqlQZO3Zsgfss%0AU6bMtGnTkgf//ve/T6y3b98+/x/txRdfzP9AhU+4xzHi8fiiRYv2dhKrY8eO3333XfLIiRMn%0AJtZbt27973//u1y5cvkPzsjImD59epHfr2I+3NVXX73HY7Kzswv/MbjkkksS+XvYYYft2rUr%0AeUDiTF7Hjh3PP//8xJEPPfRQ8taLL754jw/3s5/9LPEzU9Jv8c6dO5Mv6/yf//mfxCTF+RkD%0A9oEzdnAI6du3b+LCunXrPvroo70dNm7cuMR5sqOPPvrpp5+eNWvWq6++et5550VR9Pnnnyde%0Aif/nP/85/3mgJ5988u23377uuuuiKMrMzEwsbtq06b777svMzGzTpk3z5s2LHC8nJ+fGG2+8%0A8sorn3766T//+c/Vq1ePoigvL2/IkCHJJyKLr5AJ92jDhg29e/dOPEndpEmTsWPHTp48efjw%0A4YlTgO++++6ll16aPDhxJiyKovXr11999dWtWrW66aabunfvnljMzc29+eabCx+v+A83bNiw%0At99+u127domr/fv3f/vtt99+++1KlSoV/hA7d+7s0aNHFEXff//9jBkzEosLFixYvXp1FEXd%0Au3fftWtXgS+ZNm3ak08+GUVRmTJlxowZ88EHH4wbNy4x0rRp055//vnEYSX6Fv/yl7988803%0Aoyg66aSTJk6cmNi64vyMAfvAmyfgEHLUUUclL69du7Zly5Z7POy9995LXLjqqqv69++fuNy1%0Aa9dLL720Vq1aRxxxRF5eXqtWrQ477LDkl5xwwgm7vyt25cqVLVq0+PzzzxOniIq0Y8eOyy+/%0APHnSrmnTpolTSl9++eXrr7/es2fPYv0h/3/FmTC/UaNGJTKrWrVqM2fOrF+/fhRF55xzTuvW%0ArQcMGBBF0csvvzx//vwCT19+/fXXnTp1+s9//pN4VveSSy5JhNG8efNycnKSAfRjHq5Zs2bN%0AmjVLZG4URQ0aNDjttNOKswO5ubm9e/ceMWJEFEVTpkxJnDZLvh+2d+/eixYtKvAlq1atSpzp%0AbN68eeI509atW0+ZMiXxVdOmTfv5z3+e//giv8V/+ctfEp+l0rRp02nTpiVjtDg/Y4mn5oES%0A8Z8NHELyv+4+Ozt7b4dVq1YtceH++++fMGHCN998E0VRZmbmU089NWrUqOHDhxf//7gjRowo%0AZtUl/OpXv0pe7tOnT3KS2bNnF/9O9s2kSZMSF/r27ZvIrIQLL7ywZs2aicv/+te/dv/CESNG%0AJF+rd/nllycu5OXlrVmzJhUPVyLt2rVLPNubPHmZSLQGDRokTwHm96tf/WratGnTpk277777%0AkotHHnlk4sLatWt3/5JCvsVTp04dPnx4FEW1atV65ZVX6tSpk7xpP/6MAfn5LwcOIRs2bEhe%0ATtbD7i6//PLEmZUvvvhi4MCB9erVa968+ZVXXjlp0qQSfbhJFEVdu3Yt/sGZmZmtWrVKXs3I%0AyEg+u5f8sI8UicfjS5YsSVw+9thj89+UkZGRPNW3bNmy3b82fyElGygqNJ1/zMOVSCwWO+ec%0Ac6IoWrly5fvvv7969eqFCxdGUdSnT5/EO2l2N3369D59+jRr1qxChQqJtzuMGjUqcdMev/t7%0A+xbn5ORcdNFFeXl5URRlZWU1bdo0/6378WcMyE/YwSEk/1NvjRo12tthbdq0efnll4855pjk%0AyvLly8eNG3feeec1b9783XffLebDZWRk1K5du/jjVa5cucB5muQzd6n+9Vlbt25NvuBs988T%0ASX4I3O6tVr58+apVqyavFvP3aO3zw+2D5GcWvvbaa1OnTi2wWMDYsWN/+tOfTpky5fPPPy9b%0AtmzLli2PP/74ww8/fG93Xsi3OC8vL/m+3Q8//PDvf/97/lv3188YUICwg0NI8r2cTZs2zX9u%0AaXddunT54IMPZs2a9cc//vGss85KvsBr5cqV55xzTuLjjotUtmzZEj2htm3btng8nn8l+UD5%0AP183YceOHfmvrlu3rvgPtLtKlSolPydl06ZNBW5NBlZyH36k0ny4Ll261KhRI4qiN954I/GZ%0AKTVq1OjcufPuR27evPm3v/1t4vJFF1307bffLl26dNGiRf369dvbnRf+Le7WrVvyg3Vuu+22%0AAs9N75efMaAAYQeHisR7DxOXL7nkkiKPj8ViHTt2vOWWW1555ZX169dPmTIl8eztt99+m3yL%0A5f61Y8eOjz/+OHl1165dn332WeJy48aNExeS57fWrFmTvwIXLFjwYx46Fou1bt06cbnAWwpy%0AcnKWLl2auHzcccf9mEdJy8NlZmb26tUriqK333478e7U3r177/FdHQsXLty6dWvi8rBhwxKf%0AaB1FUf5vSvGVL1/+tdde+93vfnfCCSdEUZSdnT106NACx5T+zxgET9hB+HJzc//xj39cdtll%0Aiau1a9cu5HdSbdu2beTIkZdffvk555yTeIFUFEUZGRlnn332SSedlLiaOFuW/0Va++tDZR98%0A8MHk5UmTJiXPXSXfB5p8nf66detefvnlxOXEb8Ld/d5KNGHys2AmT56c+ECQhPHjxyfGiMVi%0Ae3sGcx+U5sMl7ic7O/v777+P9v48bP6ToDk5OYkLS5cuTeRg/sViisViZcqUuf/++xNXJ06c%0A+MYbb0Ql+RkDSsrHnUCYLr744sRZmc2bNy9evDiZNZmZmRMnTizknRMVK1Z89tlnE6eR+vXr%0AN2jQoDp16mzduvXNN99M/A++fPnyp5xyShRFhx9+eGZmZuJ/9jfffPO1115bvXr15Ge5FV/+%0A/7WPHj06iqIuXbp89tlnic/piKLoqKOOSvyChyiKTjnllFgsljhX179//0suuaRq1aqPPPJI%0AmzZtkucjk0o04bXXXvvggw+uXr16y5YtZ5xxxg033FCvXr3Zs2cnXxw2aNCgn/zkJyX90+1N%0AaT5cz549y5cvn0ilChUqnHXWWXs8rFWrVmXKlEl8O26//fa77rprxYoVQ4YMadGiReKk3aJF%0Ai2bPnl3gbRBFOu200/r16/fss89GUXTNNdcsXry4+D9jQIml9eORgf0p/2+e2KMjjjji7bff%0Azv8le/wdDB988MHePsCiTJky48aNSx5Z4LPlevfuvbf7LOThnnjiicRinTp1ki/JSqpQocI7%0A77yT/04GDx5c4JgWLVrMnDkzcTkWiyV/QUJJJyzkV0H07ds38RLAQv4g8Xj8yy+/TH7JBx98%0AUPj3q/gPF4/Hu3Xrlrhp6NChhd9t8sfgvPPOSy4mno1N7kBC4g2zUb7fPHHttdcWmKR+/for%0AVqzI/4Esf/jDH0r6LV61alXyid0//elP8ZL8jAEl4qlYCFxmZmZWVlbPnj3Hjh376aefFuez%0AbVu3bj1v3rzbb7+9Xbt2devWzczMrFSp0tFHH/2LX/xi4cKFV1xxRfLIhx56qE+fPjVq1KhQ%0AoUKTJk327SzL9u3bExcOO+ywm2+++dFHH23Tpk2FChVq1qx59tlnz549u8DdPvDAAyNHjmzR%0AokW5cuUaNGjwi1/8YubMmckX4cXj8fxvoS3RhMcff/zSpUvvuOOOk046qXr16omtO/fcc196%0A6aUXXnihmO94Lb7SfLhzzz03caHwp3fvvffeu+++u1WrVhUrVmzQoMGVV145d+7cxo0bP/bY%0AY0cddVTZsmWPOOKIvX2udSEaNWqUfFvG7bff/uWXXxb/Zwwokf/vGQ0AAA52ztgBAARC2AEA%0ABELYAQAEQtgBAARC2AEABELYAQAEQtgBAARC2AEABELYAQAEQtgBAARC2AEABELYAQAEQtgB%0AAARC2AEABELYAQAEQtgBAARC2AEABELYAQAEQtgBAARC2AEABELYAQAEQtgBAARC2AEABELY%0AAQAEQtgBAARC2AEABELYAQAEQtgBAARC2AEABELYAQAEQtgBAARC2AEABELYAQAEQtgBAARC%0A2AEABELYAQAEQtgBAARC2AEABELYAQAEQtgBAARC2AEABELYAQAEQtgBAARC2AEABELYAQAE%0AQtgBAARC2AEABELYAQAEQtgBAARC2AEABELYAQAEQtgBAARC2AEABELYAQAEQtgBAARC2AEA%0ABELYAQAE4qAPu9zc3GXLls2bN2/79u3pngUAIJ0OprCbNWtWv3792rRpc+655y5YsCCKos8+%0A+6xNmzatWrU66aST6tSpM2bMmHTPCACQNrF4PJ7uGYrlvffe69SpU05OTmZmZk5OTrVq1RYu%0AXDhw4MBFixb16dNn27Zt//nPfzZv3vzSSy/9z//8T7qHBQBIg4PmjN0dd9wRRdGkSZO2bdu2%0AevXqI4888g9/+MPs2bNfffXVJ5544oUXXpg/f37lypX//ve/p3tSAID0OGjO2B1++OE9e/ac%0AMGFC4uobb7zRrVu3008//a233koec/nll0+ZMuX7778v/t3m5eXNmDFj165dhRwTj8fXrVt3%0A8cUX79vkQNLXX3+9ZMmSdE9xSDvmmGOysrLSPQWQKmXTPUBxbdq0qVmzZsmr7du3j6KoVatW%0A+Y+pX79+dnZ2ie521apV/fr1Kzzsdu3alZ2d3a9fv8zMzBLdOVDALbfcMn7C+PKVyqd7kEPU%0Ajq07Lhtw2cMPP5zuQYBUOWjC7ogjjlixYkXyauXKlatXr16jRo38xyxfvrxWrVolutsmTZqs%0AW7eu8GNmzZp16qmnHiynNuFAlpube+L5J170wEXpHuQQ9dQ1T+Xm5qZ7CiCFDprX2HXt2vWZ%0AZ56ZOXNmcmXjxo0jR45MXp09e/akSZNOO+20dEwHAJB+B03Y/e53v6tUqdLpp59+8803737r%0AgAEDTj/99Hg8Pnz48NKfDQDgQHDQhF3z5s3feeedbt26ZWRk7H7r4sWL69Wr98ILL5x00kml%0APxsAwIHgoHmNXRRFLVu2fO211/Z406uvvlq/fv1SngcA4IBy0JyxK5yqAwAIJOwAAB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RB2AACBEHYAAIEQdgAAgRB2AACBEHYAAIEQdgAA%0AgRB2AACBEHYAAIEQdgAAgRB2AACBCCrsNmzYsHLlynRPAQCQHgdT2L3//vu9e/du3Lhxp06d%0AxowZk5ubW+CAu+++u0mTJmmZDQAg7cqme4Dieuedd7p167Zjx45KlSqtWbNm5syZzz777Isv%0AvlizZs10jwYAcEA4aM7YjRw5Mi8v78UXX9y8eXN2dvZf//rXWbNm9ejRY8uWLekeDQDggHDQ%0AnLF7//33L7jggj59+kRRVL58+RtuuOH444/v2bNnv379XnrppYyMjH2+5yVLlmzfvr2QAz7+%0A+ON9vnMONJs3b/YNTaP169dHVdM9xCEsd1fu+uz18+fPT/cgh6itW7dGUVSpUqV0D3LoOuqo%0Ao6pUqZLuKVLroAm7tWvXNm3aNP9K165dH3744YEDB/7mN7+5//779+1uly9ffuyxx8bj8SKP%0ALM4xHPiGDRv2j3/8I91THNJOvujkdI9w6Ppy4ZfzP50/derUdA8C6TF48OCxY8eme4rUOmjC%0Arm7duosWLSqwOGDAgGXLlo0cOfKII44YNmzYPtxts2bNfvjhh127dhVyzJw5c84666xYLLYP%0A98+BZvv27Secd8L595yf7kEOUfeecW+6Rzik5eXm+flPo3vPuPfIdkfa/3R5ftjzhT9BF4aD%0AJuz69u07atSoBx544Oqrr87MzEyu33nnnWvWrLnxxhvXrFmz+/tki6Nq1SKeGSryAA4uZcuX%0ArVTDUyHpEcvwD6Q08/OfRrGMmP1Po7LlD5rm+TEOmj/krbfeOnny5GuvvXbKlCmvvfZacj0W%0Aiz366KPVq1e/77770jgeAEDaHTTviq1Vq9b8+fN/+ctftm7dusBNsVjs/vvvf+GFF5o1a5aW%0A2QAADgQHzRm7KIoOP/zw0aNH7+3Wvn379u3btzTnAQA4oBw0Z+wAACicsAMACISwAwAIhLAD%0AAAiEsAMACISwAwAIhLADAAiEsAMACISwAwAIhLADAAiEsAMACISwAwAIhLADAAiEsAMACISw%0AAwAIhLADAAiEsAMACISwAwAIhLADAAiEsAMACISwAwAIhLADAAiEsAMACISwAwAIhLADAAiE%0AsAMACISwAwAIhLADAAiEsAMACISwAwAIhLADAAiEsAMACISwAwAIhLADAAiEsAMACISwAwAI%0AhLADAAiEsAMACISwAwAIhLADAAiEsAMACISwAwAIhLADAAhE0WHXsWPHf/7znz/88EMpTAMA%0AwD4rOuzmzZs3ePDgrKysiy666LXXXsvLyyuFsQAAKKmiw27t2rX//Oc/TznllGeffbZ79+6N%0AGzf+3//9388++6wUhgMAoPiKDrtatWr94he/mD59+tdffz127NjmzZuPHDmyRYsWnTp1Gjdu%0AXHZ2dilMCQBAkUrw5onatWsPHjz4jTfeWL169d/+9rfs7Owrr7yyXr16Q4YM+eSTT1I3IgAA%0AxVHid8Vu27btnXfemTlzZiLmDj/88HHjxrVu3XrEiBHxeDwFEwIAUCwlCLt33nnnqquuqlev%0A3s9//vN//etfffv2ffPNN1etWrV8+fKzzz77tttuGzFiROoGBQCgcGWLPOLLL798/PHHH3vs%0AsU8//TSKorZt2w4aNOjiiy+uUaNG4oCGDRs+99xz3bt3Hzt27G233ZbScQEA2Juiw65x48Z5%0AeXnVq1cfPHjwlVdeeeKJJ+5+TCwW69Onz+uvv56CCQEAKJaiw+7UU08dNGhQv379KlasWMhh%0APXr0eOGFF/bfYAAAlEzRYTdjxowoipYsWVK3bt3DDz88sbhkyZKdO3e2bds2eVjz5s2bN2+e%0AoikBAChS0W+eyMnJGTRoUOvWrT/88MPk4ptvvnnCCSdcfvnlubm5qRwPAIDiKjrsRo0a9cgj%0Aj/Tu3fvII49MLv70pz+94IILxo8f/8ADD6RyPAAAiqvosBs/fvzPfvazadOmNWnSJLl41FFH%0ATZw4sVevXsIOAOAAUXTYffbZZ2ecccYeb+rSpcuqVav290gAAOyLosOuWrVqK1eu3ONNK1eu%0APOyww/bzRAAA7JOiw653797jxo3717/+lX8xJyfnoYceevDBB7t3756y2QAAKIGiP+7kjjvu%0AeOWVV3r37t2oUaOjjjqqfPnyGzduXLp06ffff5+VlXXHHXeUwpQAABSp6DN2WVlZCxcuHDx4%0A8JYtW1577bVp06bNnDkzIyPjqquumjt3bqNGjUphSgAAilT0GbsoiurWrTt27NgxY8Z8/fXX%0A27Ztq1evXuXKlVM9GQAAJVKssEuIxWL169dP3SgAAPwYRYddPB5//vnnH3/88dWrV+fk5Ox+%0AQP7fSAEAQLoUHXb33nvvsGHDoiiqVKlSZmZm6kcCAGBfFB12999/f48ePcaMGdO0adNSGAgA%0AgH1TdNh98803zz//vKoDADjAFf1xJ3Xr1o3H46UwCgAAP0bRYXfhhRdOmDChFEYBAODHKPqp%0A2FtvvfX888+/+OKLBw4c2KhRo93fP9G8efPUzAYAQAkUHXZVq1ZNXHjqqaf2eIAnagEADgRF%0Ah92FF15Yrly5smVL8FHGAACUvqJzbW8n6gAAOKAU/eaJpOzs7CVLlmzcuDF10wAAsM+KFXZv%0AvfVWu3btqlWr1rp169mzZycWzz777Ndffz2VswEAUAJFh92cOXO6d+/+ySef9OjRI7n47bff%0Azp07t1evXvPnz0/leAAAFFfRYffHP/6xXr16S5cuHT9+fHKxdu3aixcvrlev3u23357C6QAA%0AKLaiw2727NlDhgw54ogjCqzXqVNn8ODBM2bMSM1gAACUTNFh98MPPzRs2HCPN2VlZW3evHl/%0AjwQAwL4oOuzq1au3bNmyPd40Y8aM+vXr7++RAADYF0WHXa9evcaMGbNgwYL8ixs2bPj973//%0A6KOP9u7dO2WzAQBQAkWH3YgRI6pUqdK+fftEw910001t27bNysq66667GjVqdOutt6Z+SAAA%0Ailasp2LnzZt31VVXrVq1KoqiRYsWLVq0qGrVqkOGDJk7d27dunVTPyQAAEUr1m+ArVOnzpgx%0AY0aPHr1u3brs7OyqVavqOQCAA02xwi4hFovVrVtX0gEAHJiKDrszzzyzkFt37tzpo+wAAA4E%0ARYddIb8QtmrVqlWrVt2v8wAAsI+KDrucnJwCKzt37lyxYsX48ePnzJkzderU1AwGAEDJFP2u%0A2LK7qVSp0jHHHHPPPfeccsopw4cPL4UpAQAoUtFhV4hzzjnnpZde2l+jAADwY/+S7b8AAB64%0ASURBVPyosMvOzt64ceP+GgUAgB+j6NfY7THdcnJylixZcuONNzZp0iQFUwEAUGJFh13NmjUL%0AuXXChAn7bxgAAPZd0WGX+BWxBWRmZmZlZZ133nndunVLwVQAAJRY0WE3bdq0UpgDAIAf6Ue9%0AeQIAgANH0Wfs2rRpU758+VgsVpy7mz179o8eCQCAfVF02K1du3bTpk3btm1LXI3FYvF4PHG5%0AYsWKO3fuTOF0AAAUW9FPxS5btuzEE0/81a9+tWDBgm3btuXl5f3www9vvfVW3759O3Xq9P33%0A3+/KpxQmBgBgj4oOu6FDhzZv3vyBBx5o27ZthQoVoiiqVq3a6aef/sILL5QpU2bo0KGpHxIA%0AgKIVHXbTpk3r1KnTHm8688wz/UoxAIADRNFht2nTprVr1+7xpnXr1v3www/7eyQAAPZF0WHX%0AqlWr0aNHv/feewXW33nnnUceeeToo49OzWAAAJRM0e+Kve222/r27duhQ4cmTZo0a9asYsWK%0A27Zt+/zzzz///PNYLPaPf/yjFKYEAKBIRYfd2Wef/frrr48cOfKtt95asWJFYrFcuXJdu3a9%0A6aabzjzzzBRPCABAsRQddlEUde7cuXPnznl5eV9//fXWrVsrVqyYlZWVkZGR6uEAACi+YoVd%0AwpYtWzZu3NigQYMaNWqkbiAAAPZNsX5X7FtvvdWuXbtq1aq1bt06+UvDEk/RpnI2AABKoOiw%0AmzNnTvfu3T/55JMePXokF7/99tu5c+f26tVr/vz5qRwPAIDiKjrs/vjHP9arV2/p0qXjx49P%0ALtauXXvx4sX16tW7/fbbUzgdAADFVnTYzZ49e8iQIUcccUSB9Tp16gwePHjGjBmpGQwAgJIp%0AOux++OGHhg0b7vGmrKyszZs37++RAADYF0WHXb169ZYtW7bHm2bMmFG/fv39PRIAAPui6LDr%0A1avXmDFjFixYkH9xw4YNv//97x999NHevXunbDYAAEqg6LAbMWJElSpV2rdvn2i4m266qW3b%0AtllZWXfddVejRo1uvfXW1A8JAEDRivVU7Lx586666qpVq1ZFUbRo0aJFixZVrVp1yJAhc+fO%0ArVu3buqHBACgaMX6zRN16tQZM2bM6NGj161bl52dXbVqVT0HAHCgKTrsXnrppWbNmh1zzDGx%0AWKxu3bqSDgDgwFT0U7EXXHDBtGnTSmEUAAB+jKLD7rTTTnvrrbfy8vJKYRoAAPZZ0U/FPvHE%0AEzfccEPv3r0HDhz4k5/8pHr16gUOaN68eWpmAwCgBIoOu3r16iUuvPrqq3s8IB6P78+JAADY%0AJ0WH3QUXXFCuXLnMzMxYLFYKAwEAsG+KDruJEyeWwhwAAPxIe33zxAMPPDBz5swCi4sWLfrq%0Aq69SPBIAAPtir2F37bXXPv/88wUW27ZtO3LkyBSPBADAvij6404AADgoCDsAgEAIOwCAQAg7%0AAIBACDsAgEAIOwCAQBT2AcWzZ8++7bbbCizOmTOnwOLuxwAAUPoKC7v33nvvvffeK7A4d+7c%0AuXPn5l8RdgAAB4K9ht2ECRNKcw4AAH6kvYbdJZdcUppzAADwI3nzBA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IKu/Xr13/22WfpngIAID2C%0ACrt77rmnRYsW6Z4CACA9ggo7AIBDmbADAAhE2XQPUFzt2rUr8pivvvpqH+45Ozt7165dhR+w%0AD3e7N3l5eT/88MN+vENKZOfOnekeAQBS5aAJu4ULF0ZRlJmZWcgxhffZHi1fvrxFixbxeLzI%0AI4tzTHEMHTr0vvvu2y93xb45+aKT0z0CAKTEQRN2w4YNGzNmzIIFC5o3b763Y373u9/dfffd%0AJbrbZs2affDBB9u3by/kmPfff/+KK66IxWIluue92bhx4zE9jjlr+Fn75d4oqXEDxqV7BABI%0AlYMm7G6//fb//Oc/F1544axZswo/b1dSxxxzTOEH7NixYz8+XBRFlWtVbtim4f69T4qpbPmD%0A5mceAErqoHnzRGZm5pNPPrlkyZKbb7453bMAAByIDqazFy1btly7dm0hL6Tr2bNnjRo1SnMk%0AAIADx8EUdlEUVatWrZBbO3fu3Llz51IbBgDggHLQPBULAEDh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Mqme4ASi8fjK1as+Pzzz7Ozs6Moql69eosWLRo2bJjuuQAA0uxgCrsN%0AGzbceeedEyZMWLduXYGbGjVqdOWVV/72t7+tWLFiWmYDAEi7gybsvv7661NPPXXFihUtWrTo%0A1avXkUceWbly5SiKNm3atHz58rfeeuvWW2994YUX3nzzzZo1a6Z7WACANDhowu6WW25ZvXr1%0As88++/Of/3z3W3Nzc//5z39ec801I0aMuO+++0p/PACAtDto3jzx8ssvDxgwYI9VF0VRRkbG%0AL3/5y379+k2aNKmUBwMAOEAcNGfs1q9f36xZs8KPadmy5Ysvvliiu12xYkX79u137dpVyDGJ%0AW2OxWInueW8yMjLmPz//w399uF/ujZLatmnbhtUb7H+62P/0sv/pZf/Ta8fWHccOODbdU6Tc%0AQRN29evXX7x4ceHHLFy4sH79+iW62yOPPPLZZ58tPOzi8fi6desyMzNLdM97c/vtt/fv33+/%0A3BX74Pvvv4+i6LDDDkv3IIco+59e9j+97H/aHXPMMekeIeUOmrDr06fP3//+95NOOunaa68t%0AX758gVu3bNny5z//ecqUKcOHDy/R3ZYpU6ZLly77bcpiyMrKysrKKs1HBAAOEbF4PJ7uGYpl%0A48aN3bp1W7BgQdWqVU8++eSGDRtWqVIlHo9v3rx51apVc+bM2bp1a6dOnf71r39VqVIl3cMC%0AAKTBQRN2URTt3Llz9OjRjz/++AcffJCbm5tcz8zMPPHEE6+44oorrrgiIyMjjRMCAKTRwRR2%0ASdu3b//yyy8Tv3miWrVqjRo1KleuXLqHAgBIs4My7AAA2N1B8zl2AAAUTtgBAARC2AEABELY%0AAQAEQtgBAARC2AEABELYAQAEQtgBAARC2AEABELYAQAEQtgBAARC2AEABELYAQAEQtgBAARC%0A2AEABELYAQAEomy6BzjkdOzYcfbs2emeAgAOOR06dHj33XfTPUVqCbvS1rRp09q1a//hD39I%0A9yCHqBEjRkRRZP/Txf6nl/1PL/ufXiNGjKhatWq6p0g5YVfaypUrV6tWrRNPPDHdgxyiatWq%0AFUWR/U8X+59e9j+97H96JfY/eF5jBwAQCGEHABAIYQcAEAhhBwAQCGEHABAIYQcAEAhhBwAQ%0ACGEHABAIYQcAEAi/eaK0lStXLt0jHNLsf3rZ//Sy/+ll/9PrENn/WDweT/cMh5YNGzZEUVSz%0AZs10D3KIsv/pZf/Ty/6nl/1Pr0Nk/4UdAEAgvMYOACAQwg4AIBDCDgAgEMIOACAQwg4AIBDC%0ADgAgEMIOACAQwg4AIBDCDgAgEMIOACAQwg4AIBDCDgAgEMIOACAQwg4AIBDCDgAgEMKuNPzm%0AN7+JxWJXXnll/sWNGzdef/31jRs3LleuXP369a+88sqvv/46XRMGZvz48bE9ueOOO5LH2P9U%0Ae+WVVzp37ly1atUaNWp07dr1v//9b/5b7X/qVKhQYY8//7FYbOXKlYlj7H9KffTRRwMGDMjK%0AysrMzKxdu/a55547Z86c/AfY/5RatWrVoEGDGjRoUK5cuSOPPHLo0KHZ2dn5Dwh7/8ume4Dw%0AzZs37+9//3uBxZ07d3br1m3BggXnnXfeCSecsHz58scff/yNN96YP39+zZo10zJnSDZu3BhF%0A0YUXXtioUaP866eeemrigv1PtUcfffSKK65o1qzZ9ddfv3379scee6xHjx5vvvnmKaecEtn/%0AFBs2bFhOTk6BxWeeeWbt2rXVqlWL7H+KLVmypGPHjpmZmddcc03z5s1XrVo1evToU0899d//%0A/nfXrl0j+59iK1asOPnkk9evX3/++ecfe+yxs2bN+utf/zpr1qwZM2ZkZmZGh8L+x0mlnJyc%0ANm3aHH/88VEUDRo0KLn+17/+NYqiu+++O7nyzDPPRFE0dOjQdIwZmj/84Q9RFM2dO3dvB9j/%0AlPrmm2+qVKnStm3bzZs3J1Y+/fTTKlWq/PKXv0xctf+lbN68eRkZGXfccUfiqv1PqYsuuiiK%0AojfeeCO5snjx4iiKunTpkrhq/1Oqf//+URQ99NBDyZXrrrsuiqLRo0cnrga//8Iutf70pz/F%0AYrFXXnmlQNi1adOmatWq27dvz39w8+bN69Spk5eXV+pjhibxn/Gnn366twPsf0rdc889URS9%0A+uqr+Rfzb6z9L027du1q27Zty5Ytd+zYkVix/ynVvn37KIp27tyZf7FatWqNGzdOXLb/KVWt%0AWrX69evn38kNGzZUrFixQ4cOiavB77/X2KXQ8uXLR4wYMXjw4A4dOuRf3759+wcffHDyySeX%0AL18+//ppp522bt26FStWlO6YAUo8FVujRo3c3NzVq1d/9913+W+1/6k2ffr0ihUrJp512rFj%0Ax6ZNm6IoisViiVvtfykbNWrUwoULx4wZU65cucj+p97RRx8dRdHHH3+cXPnuu+82b97csmXL%0AyP6n2JYtWzZt2tS8efPkXzhRFNWoUaNFixYLFizIzc09FPZf2KXQ1VdfXaNGjZEjRxZY//LL%0AL3Nzcxs2bFhg/cgjj4yi6PPPPy+l+cL1ww8/RFF033331a5du2HDhrVr1z7qqKOeeuqpxK32%0AP9U++uijJk2afPjhh6eddlrFihWrV6/evHnz8ePHJ261/6Vpy5Ytd911V7du3bp06ZJYsf+p%0ANnz48Jo1a15yySUzZ85cu3btwoUL+/fvX6FChcRLROx/SlWsWLFs2bIF/jEfRVGlSpV27tz5%0A9ddfHwr7L+xSZfz48a+//vqoUaOqV69e4KbE23MqV65cYL1KlSrJW/kxEmfsnn766RtvvPHx%0Axx+/6aab1q5de/HFF//zn/+M7H/qff/991u2bOndu3eHDh2ee+65+++/Pycn5/LLL0+0tf0v%0ATQ888MC3336bSIoE+59qLVu2fPfdd3Nycjp16pSVlXXCCSd8+umn06dPTzxFa/9TqkyZMh07%0Adly2bNkHH3yQXPz444/nz58fRdHmzZsPhf0Xdimxbt26oUOH/uxnPzvvvPP2dkz+E8UJ8Xh8%0Aj+uU1C233PL888+///77v/vd7wYMGHDXXXe9++675cuXv/nmm3fu3Jk4xv6nzs6dO1etWvWn%0AP/3pL3/5y3nnnffrX/969uzZVapUGTp0aG5ubuIY+18Ktm3b9pe//OX000/v1KlTgZvsf+os%0AW7asZ8+e2dnZ995779SpU8eNG1e1atWePXtOnz49eYz9T50RI0bE4/Gzzz578uTJH3/88TPP%0APNOrV6/EJyQkn34Ne/993ElKXHfddTt37hw9evQeb0184sDu/zJIvBSpatWqqR4veIlXd+XX%0AqlWrXr16vfjii4sXL068od3+p06VKlV27dp1/vnnJ1eysrJ69uz53HPPLV261M9/qZk0adJ3%0A3303aNCg/Iv2P9WuuOKKb7755pNPPmnQoEFipX///j/5yU8uu+yyFStW2P9UO+OMM0aNGjV8%0A+PBzzz03iqIqVarcfvvt8+bNW758ec2aNRP/tgx7/52x2/9eeeWViRMn3nDDDWXKlFm9evXq%0A1avXrFkTRdHWrVtXr169adOmRo0alS1bdtWqVQW+cPny5VEUtWjRIg1DHwLq1KkTRdHmzZvt%0Af6o1btw4iqLER0Yl1a5dO4qi7Oxs+19qnnnmmYyMjLPPPjv/ov1Pqc2bN7/33nvt27dPVl0U%0ARZUqVerWrdtXX331ySef2P9ScM0116xdu/a///3vjBkz1qxZc/311y9btiwrK6tGjRqHxP6n%0A8R25oRo6dGghGz58+PB4PN6+fftKlSpt2bIl+VW5ubn169dv2LBh+gYPRHZ29pgxY5566qkC%0A66eddloURcuXL4/b/xS75pproiiaPXt2/sXu3btHUfTFF1/E7X+p2LFjR+XKldu1a7f7TfY/%0AddatWxdFUceOHQus9+vXL4qiefPmxe1/6u3atSv/1VWrVsVisYEDByauBr//ztjtf4MGDZr6%0Af02cODGKou7du0+dOvWyyy5LHLN169bEx30lPPjgg2vWrCnwa8fYB5UqVbrzzjt/8YtffPTR%0AR8nFKVOmzJw5s23btk2bNo3sf4pddtllsVjs5ptv3rFjR2Jl3rx506dPP+644xJvRrP/pWDp%0A0qVbtmxJfDp6AfY/dWrXrt2kSZN58+Z98sknycWNGzdOnz69WrVqrVu3jux/ig0fPrxixYpz%0A585NXM3Ly7vhhhvi8fiQIUMSK+Hvf7rL8pCwYcOG6P9+QPGuXbsSL2c+55xzRowY0b9//1gs%0Aduyxx+b/NwT7bMqUKbFYrHLlyoMGDbrlllvOPffcWCxWrVq1+fPnJw6w/6l2/fXXR1HUpk2b%0AESNGXHXVVRUrVixXrtybb76ZuNX+l4LEvyeTv20iP/ufUpMmTSpTpkytWrV+//vfP/LII3fe%0AeWeTJk2ifL/5wP6n1OLFiytVqlSjRo3rrrtuxIgR7dq1i6Jo2LBhyQOC339hVxp2D7t4PJ6d%0Anf3b3/72yCOPzMzMbNCgwa9+9av169ena8LwzJo1q2fPnjVq1Chbtmz9+vUHDhxY4BdR2P+U%0AysvL+8c//nH88cdXqFChevXqvXr1mjNnTv4D7H+qjR07Noqi+++/f4+32v+UmjVrVp8+fWrX%0Arl22bNmaNWueeeaZL7/8cv4D7H9Kvfvuuz169DjssMMqVKhwwgknPPLIIwUOCHv/Y/F4PC1n%0ACgEA2L+8xg4AIBDCDgAgEMIOACAQwg4AIBDCDgAgEMIOACAQwg4AIBDCDgAgEMIOACAQwg4A%0AIBDCDgAgEMIOACAQwg4AIBDCDgAgEMIOACAQwg4AIBDCDgAgEMIOACAQwg4AIBDCDgAgEMIO%0AACAQwg4AIBDCDgAgEMIOACAQwg4AIBDCDgAgEMIOACAQwg4AIBDCDgAgEMIOACAQwg4AIBDC%0ADgAgEMIOYP/o379/LBZbvXp1ugcBDl3CDgjcE088EYvFYrHYv//97z0ecP311ycO2LVrVynP%0ABrB/CTvgkJCRkTF+/Pjd13ft2vX0009nZGSU+kQA+5+wAw4JJ5988uTJkzdu3Fhg/dVXX123%0Abt1xxx2XlqkA9i9hBxwSzjrrrO3btz/zzDMF1h977LFGjRodddRRBdbnzJlz7rnnHn744eXK%0AlWvcuPGAAQNWrlyZvDXxcrp169b99Kc/rVix4ksvvbT7I+bl5Z133nllypR54oknoijasWPH%0APffcc/zxx1evXr1q1arHHXfcPffck5eXt5//nMChTdgBh4QTTjihSZMmBZ6N3bhx49SpUy+4%0A4IJ4PJ5/ff78+Z07d54zZ8511103evToCy+8cMqUKe3bt1+/fn3igHLlykVRdMMNN2RmZt56%0A661Nmzbd/RF/+9vfTpo06Z577rnkkkuiKBoyZMiNN97YunXru++++y9/+Uvz5s1vvPHGX//6%0A1yn68wKHprLpHgCglFx66aW33Xbbxx9/nDw/98wzz+zYsWPgwIF33HFH/iPnzJnTqlWre++9%0At0uXLomVBg0aXHvttU8//fQ111wTRVFmZmYURd99990rr7xSpswe/oU8evTov/3tb8OGDRs6%0AdGjysTp27Pjkk08mrl599dW/+c1vvvjii9zcXK/wA/YXZ+yAQ8Wll14ai8Xyn7R77LHHTjzx%0AxNatWxc4csiQIfPnz09UXU5Ozvbt21u1ahVFUfLZ2FgslrjDPVbd1KlTr7vuuoEDB959993J%0AxczMzFWrVq1bty658te//vX5559XdcB+JOyAQ0Xjxo07d+48YcKExCvbPvvss3fffffSSy/d%0A48ETJkzo3LlzzZo1y5UrV7FixW7dukVRVODzUHZ/ZV4URfPnz7/wwgs7dOgwbty4RP8l/PGP%0Af1yzZk2LFi0GDhz46KOPfvXVV/vzzwYQRZGwAw4pl19++VdfffXaa69FUfT4449nZmZeeOGF%0Aux928803Dxw4cOvWrX/729/++9//vvvuuw8//PDuh1WvXn33xQEDBmzZsuXDDz8s8EnFv/71%0Ar19//fWuXbtOmjTpiiuuaNiwYe/evVetWrWf/mQAUSTsgEPK+eefX7Vq1fHjx8fj8QkTJvTu%0A3fvwww8vcMz27dvvu+++hg0bvvnmm5dddlnnzp07dOhwxBFHFPMhOnToMHny5Ozs7Isvvjg3%0ANzf/TV27dn3xxRfXr1//2muvDRw48JVXXjnzzDN37ty5f/5sAMIOOKRUqlTp/PPPnzp16syZ%0AM1euXLnH52HXrl27bdu2du3aValSJbn41ltvFfMh/l879+vSahQGcPx9QRlWEQxGwTxk0YHB%0AIoPZtWgYvAwsgsJAgyJ2wTzGYKwtiMMm+BPDhGEw2fYPCCIYDcJFrvdy5f4I99nnkw/ncNqX%0AA8+p1+tLS0tbW1s3Nze7u7ufF+RyuYWFhUajkWXZ4+Njv9//vbsAfCbsgOGytrb28vKyvb09%0AMTFRKpU+L5icnEzT9OOvdf1+v9lsJkny+vr6xVP29vYKhcLBwcHl5WWSJLe3t1NTU++bfPM+%0AePE+YAvwV/juBBguxWJxenr64uJifX39h1E1NjZWKpVOTk6yLJufn394eDg6Omq1WuVyudvt%0Attvtcrn8y1NGR0dbrdbs7OzKysr9/X2hUBgfH69UKldXV/l8Pk3TXq/XaDTm5uby+fw/uCUw%0ApLzYAUNndXU1SZKfzcMmSVKv15eXlzudTpZl19fXx8fHi4uLOzs7T09PGxsbz8/PXzllZmbm%0A8PBwMBhUKpWRkZHz8/NqtXp2dra5uVmr1e7u7vb3909PTz9OzgL8ofS7/9YBAPhPebEDAAhC%0A2AEABCHsAACCEHYAAEEIOwCAIIQdAEAQwg4AIAhhBwAQhLADAAhC2AEABCHsAACCEHYAAEEI%0AOwCAIIQdAEAQwg4AIAhhBwAQhLADAAhC2AEABCHsAACCEHYAAEEIOwCAIIQdAEAQwg4AIAhh%0ABwAQhLADAAhC2AEABCHsAACCEHYAAEEIOwCAIIQdAEAQb18ICe4tk5ZvAAAAAElFTkSuQmCC"/>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50" name="AutoShape 6" descr="data:image/png;base64,iVBORw0KGgoAAAANSUhEUgAAA0gAAANICAIAAAByhViMAAAACXBIWXMAABJ0AAASdAHeZh94%0AAAAgAElEQVR4nOzdd1wUZ+LH8Vl6EwtgAwyiBBUROzYQUc/YC8Zg7IolamKiyRlTTdVcLiYm%0A5jxjjD02sAtiwY4IFtAIFgQVEBXBQpWy+/tj78d5iYWmz8zs5/1HXsswu/vdZQNfn+eZGY1O%0Ap5MAAACgfEaiAwAAAKBqUOwAAABUgmIHAACgEhQ7AAAAlaDYAQAAqATFDgAAQCUodgAAACpB%0AsQMAAFAJih0AAIBKUOwAAABUgmIHAACgEhQ7AAAAlaDYAQAAqATFDgAAQCUodgAAACpBsQMA%0AAFAJih0AAIBKUOwAAABUgmIHAACgEhQ7AAAAlaDYAQAAqATFDgAAQCUodgAAACpBsQMAAFAJ%0Aih0AAIBKUOwAAABUgmIHAACgEhQ7AAAAlaDYAQAAqATFDgAAQCUodgAAACpBsQMAAFAJih0A%0AAIBKUOwAAABUgmIHAACgEhQ7AAAAlaDYAQAAqATFDgAAQCUodgAAACpBsQMA2dm0aVObNm0s%0ALS2trKwaNWqUn58vOhEAZaDYAcrz66+/av7fvXv3RMdRs0ff6kdZWlq+9NJLw4YN27NnT5U/%0A6YkTJ4YNG3b69OmCgoL8/PykpKSSkpIqfxYAqmQiOgAAKE9BQcH169evX7++adOm8ePH6/tf%0AVT348uXL9TeqV68+d+5cOzs7c3PzqnpwAOpGsQOAMunVq5eJiYkkSVqtNi0t7Y8//tBqtZIk%0A/fbbbx4eHjNnzqyqJ7p+/br+RmBg4Ntvv11VDwvAEFDsAKBM1q9fX6NGjdIvz507171794yM%0ADEmSvv/++yosdoWFhfobNjY2VfWYAAwEa+wA9dPpdOvXr+/Vq1ft2rVNTU1tbW29vb1/+umn%0AR1du/fbbb/rVY76+vpIkHTlypGfPnjVr1rSxsfHx8dm3b99fH3b58uVt27a1tra2s7Pr16/f%0AyZMnk5OTS1ehFRQU6Hf76KOP9Fs6dOjw6N23bt2q364fBitX2nIF0Lt48eKUKVPc3NwsLCxs%0AbW3btWv3448/FhcXV/hd9fT0nDVrlv52ampqamrqo29j165di4uLZ8yY4eDgUKdOnTLGmDJl%0Aikaj2b9/v/7L7777Tv9oOTk5ZXwVlQwgVeiTkJaWNnPmzGbNmllbW1taWnp4eLz//vv6yvuo%0AsvwIiouLf/nllx49euh/+rVr127Xrt28efPu3LlTrp8OYLh0AJRm6dKlpf8L371795n7jxgx%0A4rH/+/fr10+r1er3Wb9+vX5j8+bNw8PDzczMHt3T2Nh43759jz7mO++886dHMzc3//nnn//6%0Au+XDDz/Ub/H29n70EbZs2VL64OVNW64AOp0uJCTEwsLir4/p7++fn59f4bd6w4YNpd89f/68%0ATqf7/fff9V+2aNHiu++++9MLfGaMyZMnP/a1Z2dnl/FVVDJABT4JERER1atX/+tj1qlT5+zZ%0As+X6ERQWFvr5+T32HXB1dU1MTHzKTwqAHsUOUJ5yFbsdO3bo9zQyMvrXv/517ty5ZcuWlQ6S%0Abdy4Ub/bpk2b9Fvq1avn4uLSsmXLOXPm/O1vfyt9ovbt25c+ZnR0dOn2li1bLl26dPXq1Z06%0AdSqdOny0q5Wr2JUxbbkCJCUlWVpa6re/9957Fy9ejImJ6dq1q37LnDlzKvxWf/755/pvaTSa%0AzMzMR99GFxcXZ2dnU1PTli1buru7lzFGYmLikSNH2rZtq98YGBh45MiRI0eOlJSUlPFVVDJA%0AeT8J6enptWrV0m/v2rVrcHDwmjVrWrZsqd/i7u5eVFRU9qdevHixfkuTJk3WrVsXGRm5e/fu%0AgICA0sd/yk8KgB7FDlCechW7RYsW9e3bt2/fvjNmzCjdOGDAAP3dR48erd9S+udckiQfH5/S%0AQZTS8TMjI6PCwkL9xkmTJuk31qhR486dO/qNeXl5L7300l97VbmKXRnTlivA9OnT9Rv9/PxK%0AN2ZkZOhbYLVq1Z4yaPeUtzouLs7Ozk7/rTZt2vz1bXRzc0tJSalAjO7du+v3nDVrVnnvXvkA%0A5fokzJkzR7/R3t4+NzdXv/H27dulNS44OLjsTz127Fj9bt99913pboWFhcOHD58+ffr8+fNL%0ASkqe9JMCoMcaO0Dlpk2btnPnzp07d/7www+lG0sL0M2bN/96l88++6x01mzcuHH6G1qt9saN%0AG/rbR48e1d/o379/abmxtLQcPXr0i0lbrgBhYWH6G507dy74fzY2Nq1bt5YkKTs7+9ixY2XJ%0ANmLEiEGDBg0aNGjgwIFt2rRp06ZNZmam/lsfffTRX/f/7LPPnJycqipGBe5e+QDP/CSUjrAO%0AGjTIyspKf9vBwWHfvn1hYWFhYWFeXl5lf2pbW1v9bgsXLly9evWtW7ckSTI1Nf39999/+umn%0A2bNnGxnxNwt4FtHNEkC5lXeN3d69ewcOHOjq6vrX06F1795dv8+j4zQPHjwove/ly5dLt587%0Ad06/sfRP+Ndff/3oEwUHB+u3V3jEroxpyx5Aq9U+sw0sXLiwLG/1Y2k0mq+++qp0/0ffxps3%0Ab5ZuL1eMv47Ylf3ulQ9Q9k+CVqs1NjbWb5k3b96T3sOyP/WZM2dKf7J6jRo1mjBhQkhISHFx%0A8ZMeH8CjON0JoHKLFy+eOnWq/ra1tbWrq6uZmVlaWtqTDjM0NzevVq1a6Zd/XfCu0+ny8vJK%0AH/DRb1X+9BxlSVuuAHl5efqzzT1FVlZWeXOamZnVqVPH19f3rbfeat++/V93MDY2dnBwqKoY%0AFbh75QM885OQl5dXeqhyzZo1n/SwZX/qli1b7tq1a/r06efPn9dvv3LlypUrV5YtW+bi4vL7%0A77937Njx6Y8DgGFtQM1ycnLeffdd/e3XX389IyMjPj4+NjZ22LBhFX5MjUZTOpZWWrD0srOz%0An3LHhw8fPvrl7du3K5a2XAGsrKxKR5V++OGHx/4Dd+7cuU+JXerRwdGHDx9ev359zZo1j211%0AkiSZmJg8OkxVyRgVuHvVBngsS0vL0qfIzc2tkvB+fn7nzp2LjIz8/PPPX3nlldLjba9evTpw%0A4MCnPAsAPYodoGZnzpwprT7vvfde6ZL2ixcvVuZhnZ2d9Tfi4+Mf3R4XF/fXnUtH0W7cuKHT%0A6Uq3nz59usJpyx5Ao9E0atRIfzs5OflJr+h5q2SMyr+K5/E+GBkZubm56W8nJCQ8+q3ff//9%0Ayy+//PLLL3fv3l3ep9ZoNB07dvz444/DwsIyMzO3bdumHw7MyMg4fPhwlSQHVIxiB6jZo4Nk%0ARUVF+hvx8fEHDhz408ZyKT3V8Pbt20snSXNyclauXPnXnUvX79++fXvXrl362xcuXFi9enWF%0A05YrQK9evfQ3Nm3aVFocS0pKRowYMX78+Dlz5qSlpT37NVdaJWNU/lU8j/ehT58++htbt269%0Af/++/vbdu3enT5/+8ccff/zxx/rzNpflqfPz8+fNmzdu3LiBAweWTt0aGxsPGDCgXbt2+i//%0ANOgL4DGeuPoOgFw9uqK/T58+Ax9n1KhROp0uLS2tdLKsf//+586d2759u6Ojo7u7u36jra3t%0A8ePHb926Vbpk3tzc/NHnSklJKX2u0oMnSi+NIElSixYtVqxYsWzZsnbt2pWueHv0eIgrV65o%0ANBr9dmtr68mTJ7/77ru1atXq1KnTn3Yue9ryBigd/OvcufOuXbvCw8OHDBmi3+Lh4fGUhfnl%0APU7lSW9juWI89nQnZbx75QOU65Nw7dq10nV43t7eGzZsWLt2bZs2bfRbGjRokJOTU/anLj0B%0AXkBAQGho6MmTJw8fPvzZZ5+Zmprq89y6deuZPwLAwFHsAOV55qGakiTZ2dnpd37zzTf/9K36%0A9esnJyfXr1+/dMunn35arj/nOp1uzJgxf3pYKyurb775Rn/7Twe6Tpky5U87u7m5lZ6yRKPR%0AlF5Sooxpyxtg06ZNfz3GVpIkR0fHhISEMr7VlSx2ZY/x2GJXxrtXPkB5Pwk7d+7806GsenXr%0A1o2NjS3XU587d+7R87M8ysjIaNmyZc98/wFQ7ADlKVexKyws/Oabb5o1a2Zpaeno6BgUFJSW%0AlqbT6fbu3evu7m5iYuLk5LR+/fry/jkvKSn59ttv3d3dzc3Na9euPXTo0LNnz4aGhj72QYqL%0Ai+fNm+fm5mZmZubo6Dhp0qRbt27pJ+n0Ss9tW8a05Q2g0+ni4+PHjx/fsGFDc3NzKyur5s2b%0Af/jhh1lZWWV/qytf7MoY40nFrix3r3yA8n4SdDpdUlLSG2+84ebmZmlpqb9W7Jw5czIyMirw%0A2m/evPnFF1+0bdu2Tp06pqamVlZWTZo0mTRpUlxc3GNfDoA/0egeWcsMAJWxatUq/UBa/fr1%0AX8zCNbkFAACxOI8dgHJLSEjYtm1bSkpKVlbW6tWrS6/lGhISor/xpJOAqCYAAMgTxQ5AuZma%0Amn7wwQf68f6CgoK3337bxMQkODh4+/bt+h1KTzKs1gAAIE9MxQKoiM8+++xJ57P9+OOPP//8%0Ac9UHAAAZotgBqKCIiIjFixdHRUXdunXLyMiobt26HTp0eOONN7p27WogAQBAbih2AAAAKsGV%0AJwAAAFSCYgcAAKASFDsAAACVoNgBAACoBMUOAABAJSh2AAAAKkGxAwAAUAmKHQAAgEpQ7AAA%0AAFSCYgcAAKASFDsAAACVoNgBAACoBMUOAABAJSh2AAAAKkGxAwAAUAmKHQAAgEpQ7AAAAFSC%0AYgcAAKASFDsAAACVoNgBAACoBMUOAABAJSh2AAAAKkGxAwAAUAmKHQAAgEpQ7AAAAFSCYgcA%0AAKASFDsAAACVoNgBAACoBMUOAABAJSh2AAAAKkGxAwAAUAmKHQAAgEpQ7AAAAFSCYgcAAKAS%0AFDsAAACVoNgBAACoBMUOAABAJSh2AAAAKkGxAwAAUAmKHQAAgEpQ7AAAAFSCYgcAAKASFDsA%0AAACVoNgBAACoBMUOAABAJSh2AAAAKkGxAwAAUAmKHQAAgEpQ7AAAAFSCYgcAAKASFDsAAACV%0AoNgBAACoBMUOAABAJSh2AAAAKkGxAwAAUAmKHQAAgEpQ7AAAAFSCYgcAAKASFDsAAACVoNgB%0AAACoBMUOAABAJSh2AAAAKkGxAwAAUAmKHQAAgEpQ7AAAAFSCYgcAAKASFDsAAACVoNgBAACo%0ABMUOAABAJSh2AAAAKkGxAwAAUAmKHQAAgEpQ7AAAAFSCYgcAAKASFDsAAACVoNgBAACoBMUO%0AAABAJSh2AAAAKkGxAwAAUAmKHQAAgEpQ7AAAAFSCYgcAAKASFDsAAACVoNgBAACoBMUOAGQh%0AKChIo9EkJiaKDgJAwSh2AFA+a9as0fwvY2PjOnXqDBky5OjRo2V/nPnz51PjAFQtE9EBAECR%0AOnfu3KVLF/3t/Pz8ixcvbtu2bevWrStWrBg9evQz756enj5nzpyWLVs2btz4OScFYEAodgBQ%0AET169Jg7d+6jW44cOeLv7//222+/9tpr5ubmT797TEzMcwwHwFAxFQsAVcPHx6d79+53796N%0Ai4vz8fExNjZOSUl5dIfMzExTU9OOHTv269dv4MCBkiT17t1bo9E8OoFrZGT0zTffuLq6mpub%0AN2jQ4IsvvtDpdKXfvXbt2rhx4xwdHc3MzOzt7QcMGBAdHV363ddff12j0eTk5MyePdvFxcXc%0A3NzZ2fn7779/9BEAqBvFDgCqjJ2dnSRJeXl5QUFBWq121apVj343JCSkuLh47NixH3300ahR%0AoyRJ+uSTT7Zs2dKsWbPSfb788ssNGzZMmjTpyy+/1O+wfv16/bdSUlLat28fHBw8YsSIpUuX%0Azpw58/Tp076+vqW90MzMTJKkoUOHPnjwYP369QcOHGjWrNnMmTNXrFjxIl48ADnQAQDKY/Xq%0A1ZIkffrpp3/aXlhY6OrqqtFo0tPTc3Nzq1ev7ubm9ugO3bt3t7CwuHfvnk6nmzdvniRJYWFh%0Apd+dMGGCJEldunQpLCzUbzl16pQkSQMGDNB/OWbMGEmSNm/eXHqX+Ph4Y2PjDh06PPoIw4cP%0AL93hypUrkiT169evql47AJljxA4AKqugoODcuXOBgYFJSUmBgYF169a1srIaPnz45cuXjx07%0Apt8nIyPj4MGDgwcPrl69+lMeatasWaampvrbrVq1MjY2vnHjhiRJOp1u69atderUGTRoUOnO%0ATZs27dixY1RUVGZmZulGff/Tc3V1tbKySk1NrcIXC0DOKHYAUBGfffZZ6elOLC0tW7RosXnz%0A5gEDBixZskS/Q1BQkCRJpdOgISEhJSUl48aNe/rDurm5ld7WaDQ2Njb5+fmSJN28efP+/fse%0AHh4ajebR/d3d3SVJunTpUumWBg0aPLqDqalpUVFRRV8lAIXhqFgAqIiuXbv6+fnpbxsZGdnZ%0A2XXp0sXLy6t0hzZt2rRq1Wrjxo0//vijpaXlxo0bnZ2du3fv/vSHfdLhtLm5uZIkWVtb/2m7%0ApaVl6Xf1Sgf8ABggih0AVISfn9+fTnfyVxMmTJg+ffquXbu6dOly6NChOXPmGBlVcJ7ExsZG%0A+t8Cp6ffUq1atYo9LACVYSoWAJ6XESNGWFpabtiwYcOGDVqtduzYsRV+qLp169aqVSshIUH3%0Av+cuiY+P12g0+glZAKDYAcDzUqNGjSFDhoSGhq5YsaJLly6PXmTC2NhYkiT9+rkyGjJkSHp6%0A+rZt20q3xMbGRkdH+/v716hRowpjA1AupmIB4DkKCgpau3ZtbGzsr7/++uh2V1dXSZLmz5+f%0AnJzs4+PTrl27Zz7UZ599tnPnzlGjRr311lvu7u5Xr179+eefbWxsFixY8LzSA1AaRuwA4Dny%0A8/Nr0KCBlZXVsGHDHt0+YMCAgICAc+fOffnll9euXSvLQ9WvXz86OvrVV19dvnz5hAkTfv75%0AZ39//xMnTrRo0eL5ZAegPBodl5oBgOcmJSWlUaNGEyZMWLx4segsANSPETsAeI5mzZolSdI7%0A77wjOggAg8AaOwCoeomJiXv27Nm2bduePXs+/fTTl19+WXQiAAaBYgcAVe/s2bPTp0+3t7f/%0A+uuv33//fdFxABgK1tgBAACoBGvsAKCs1q9fv379etEpAOCJKHYAUFbh4eHh4eGiUwDAE1Hs%0AAAAAVIJiBwAAoBIUOwAAAJWg2AEAAKgExQ4AAEAlKHYAAAAqQbEDAABQCYodAACASlDsAAAA%0AVMJEdAAAkIvCwsLc3NycnJyioqK8vLyHDx/m5+cXFBSU7nDjxg1Jkvbt21e6xcLCwtLS0tzc%0A3MrKytTU1MbGxtra2szMTEB6AJAkjU6nE50BAJ4vnU53+/bt27dvp6Wl3b59Oz09PT09/c6d%0AO/cecffu3by8vMfevXr16kZGRpIk6UuehYWFJElarfb+/fuP3d/KyqpmzZo1HmFvb1+vXr16%0A9erVrl3b0dGxdu3atWvX1mg0z+0VAzBQFDsA6lFcXJyamnr16tXk5GT9f/U3bt68WVxcLEmS%0Aubl5abVycHAoLV6lPcza2trW1laj0dSoUUOSpJo1az7zSe/evStJ0r1793Q63YMHD3Jzc0ub%0AYmlrzMjIKK2VDx8+lCTJxMSkbt26Li4uDRs2bNiwof6Gi4uLk5OTiQlzKQAqiGIHQKny8vIu%0AXLhw4cKF+Pj4CxcuJCQkXL58uaioyNjY2NHRsbQzNWzY0NHRsW7dunXr1rWzsxOdWsrMzLx5%0A8+bNmzfT0tKS/9/Vq1fT0tJKSkpMTU3d3NyaNm3apEmTZs2aNWnSpEmTJlZWVqJTA1AGih0A%0AxUhLSztz5syZM2dOnz4dFxd39epVnU5Xu3ZtfQHS/9fV1bVBgwampqaiw5ZbUVHR9evXk5KS%0ASqtqfHz87du3NRqNi4uLl5dX69atW7Vq1apVK0dHR9FhAcgUxQ6AfN2+ffv48eNRUVH6Pnf7%0A9m0rK6sWLVro+02zZs2aNm1aq1Yt0TGfo6ysrISEhPj4eP07cPbs2by8vNq1a+vfgQ4dOnTs%0A2LF27dqiYwKQC4odABkpKSk5f/78sWPHjh8/fvz48cTERBsbm7Zt27Zp00ZfZdzd3Y2NjUXH%0AFKakpOTixYv6knfq1KmTJ0/m5OQ0bty4Y8eOHTt27Ny5s4eHhyG/PwAodgAE02q1cXFxERER%0AERERR44cyc7ObtiwYadOnTp27NipUydPT08OJniS4uLic+fORUZGHj9+PDIyMjk5uVq1aj4+%0APv7+/v7+/l5eXvqDeQEYDoodADEuXbq0f//+iIiIAwcOZGZmNm3a1N/fv1u3bp06dapXr57o%0AdIqUnp4eGRl54MCBiIiIhIQEOzu7bt26+fv7d+/e/eWXXxadDsCLQLED8OIUFBQcPHhw586d%0AoaGhycnJL730kv//q1+/vuh0qnLjxo2I/3ft2rWGDRv26dOnX79+fn5++vPwAVAlih2A5y4l%0AJSU0NHTXrl379+8vKSnx9fXt27dvnz593NzcREczCJcvX9a//4cPHzY2Nu7evbv+/Xd2dhYd%0ADUAVo9gBeF6SkpKCg4NDQkJiYmLq1avXp0+fPn369OzZ08bGRnQ0A5WTk7N3797Q0NDQ0ND0%0A9PR27doFBAQMHTrU1dVVdDQAVYNiB6CKXbp0Sd/nTp8+7ebmNnTo0ICAgNatW3MFLfnQ6XSn%0AT58OCQkJDg6+fPly69at9Q2PpXiA0lHsAFSNtLS0tWvXrl279uzZs02bNh06dOjQoUNbtGgh%0AOhee4ezZs8HBwcHBwQkJCS1atBgxYsSIESM4BzKgUBQ7AJWSk5OzefPm1atXR0RENGzYcOTI%0Aka+++qqHh4foXCi38+fPb9q0ac2aNcnJyf7+/qNGjRoyZAjz5oCyUOwAVIRWq923b9/q1au3%0AbNliZmY2bNiwUaNGderUiflWpdPpdJGRkatXr964cWNhYeHgwYNHjRrVo0cPTokHKALFDkD5%0ApKenL1++/Ndff01NTe3Tp8/o0aP79u1rbm4uOheq2MOHD3ft2rVq1arQ0FAnJ6egoKBx48Zx%0AikFA5ih2AMpEq9VGRET88ssvW7durVOnzogRI6ZNm8b5MgzBrVu3VqxYsXTp0qtXr3br1m3S%0ApElDhgzhwmWAPFHsADxDVlbW0qVLlyxZkpqaOnDgwEmTJnXv3p2JOUOj1Wr379//yy+/bNu2%0AzcnJafLkyRMnTqxVq5boXAD+B8UOwBNduHBh4cKFq1evtrOze+ONN8aNG1enTh3RoSDYrVu3%0Ali9fvnjx4szMzFGjRs2YMaNJkyaiQwH4D/7NDeAxjh492r9//2bNmsXExPzrX/9KTEx8//33%0AaXWQJKlOnTrvv/9+cnLyunXrEhMTmzZt2qVLlx07djBMAMgBxQ7AfxUVFa1cudLDw8Pf39/G%0AxiYqKurkyZOjR482NTUVHQ3yYmRk1L9//7179544ccLZ2TkgIKB58+YrV64sKioSHQ0waEzF%0AApAkScrPz1+2bNk///nPu3fvvvHGG9OnT3dychIdCoqRmpq6aNGixYsX16xZ8913350wYYKl%0ApaXoUIAhotgBhi47O/u33377xz/+UVhYOG3atBkzZtSsWVN0KCiS/rP0zTffFBcXT506lc8S%0A8OJR7ADDde/evQULFvz000/VqlWbNWvWxIkTraysRIeC4uXl5S1duvS7777Lzs5+8803Z86c%0AWaNGDdGhAENBsQMMUXZ29sKFCxcsWFCjRo0PP/xw1KhRZmZmokNBVQoLC1evXv3VV1/du3dv%0A5syZM2bMqFatmuhQgPpR7ADD8vDhw5UrV3766acmJibvvvvulClTuGgEnp+ioqJ169bNnTv3%0AwYMH77333ptvvsmoMPBcUewAQ1FYWPjLL798/fXXWq12zpw5kydPtrCwEB0KBqGgoGDJkiXz%0A5s0zMjL64IMPJk2axAgx8JxQ7ACDEBIS8v7772dlZf3973+fPn26tbW16EQwOLm5uYsWLfrH%0AP/5Rq1at+fPnBwQEiE4EqBDnsQNULiYmpmvXrsOHD/f3979w4cLs2bNpdRDC2tp69uzZiYmJ%0AAQEBI0eO9Pb2Pnr0qOhQgNpQ7ADVSklJGT16tLe3t62tbUJCwpIlSxwcHESHgqGrWbPm/Pnz%0AL1265O7u7uvr279//ytXrogOBagHxQ5Qodzc3Dlz5ri5uV25ciUyMnLHjh2NGjUSHQr4L2dn%0A51WrVkVGRmZlZXl4eMyZMyc3N1d0KEANWGMHqE1wcPDMmTMlSfruu++GDh2q0WhEJwKeSKfT%0ABQcHz5o1S5KkBQsWDB06VHQiQNkYsQPU4/Lly3369Hn99dcHDx58/vz5V199lVYHmdNoNK++%0A+uqFCxfGjx8/cuRIf3//8+fPiw4FKBjFDlCDvLy8uXPnenp6FhQUxMbGLly4kJPBQkGsrKzm%0Azp37xx9/WFhYtGrVasaMGdnZ2aJDAYrEVCygeGFhYW+88YZOp1uwYAGnkIDShYSEzJw5U6PR%0ALF68uHfv3qLjAArDiB2gYBkZGSNHjuzfv/+QIUPi4+NpdVCBgICA+Pj4IUOG9O/ff+TIkRkZ%0AGaITAUpCsQOUatOmTR4eHmfPnj127NiCBQs4Ox1Uw9raesGCBSdPnrxw4YK7u/svv/wiOhGg%0AGBQ7QHmuXbvWu3fv0aNHz5gx49SpU97e3qITAVWvZcuWx48fnzVr1owZM3r37n3t2jXRiQAF%0AoNgBCrNs2TJPT8/c3NwzZ858+OGHpqamohMBz4upqemHH3545syZ3NxcT0/PZcuWiU4EyB0H%0ATwCKcfv27UmTJoWHh8+dO/e9994zMuIfZjAUOp1u6dKl77zzjq+v77Jly+rXry86ESBT/GEA%0AlCEkJMTDwyMpKSkqKmr27Nm0OhgUjUYzadKkkydP3rlzx8PDY+3ataITATLF3wZA7h48eDB5%0A8uTAwMAJEyacPHnSy8tLdCJAjKZNmx4/fvz9998fN27csGHDsrKyRCcCZIepWEDWjh8/Pnz4%0AcAsLi1WrVrVv3150HEAWoqOjR48eXVBQsG7duo4dO4qOA8gII3aATGm12vnz59NY9MIAACAA%0ASURBVPv6+vbo0eP06dO0OqBU+/btT58+3aNHD19f3/nz52u1WtGJALlgxA6Qo4yMjDFjxhw9%0AenTx4sUjRowQHQeQqZCQkKCgoNatW69Zs6ZevXqi4wDiMWIHyM6BAwe8vLxu3759+vRpWh3w%0AFAEBAbGxsfn5+V5eXrt37xYdBxCPYgfIiFar/eSTT3r27BkYGBgZGdm4cWPRiQC5e+mllw4e%0APDhy5Mh+/fp98sknTMvCwDEVC8hFVlbWiBEjoqKiVq5cOWDAANFxAIXZvn37mDFjOnTosHbt%0A2lq1aomOA4jBiB0gC7Gxse3atbt69WpkZCStDqiAAQMGxMTEpKWltWzZMiYmRnQcQAyKHSDe%0A2rVrO3fu3L59+5MnTzZt2lR0HECpGjduHB0d3b17d/0FKkTHAQQwER0AMGhFRUXvvPPOkiVL%0Avv3227ffflt0HEDxLCwsli9f7uXlNWXKlDNnznz//fdcTxkGhTV2gDBZWVlDhw6Nj4/fuHGj%0Ar6+v6DiAqhw+fHjYsGHNmjULDg5myR0MB1OxgBiJiYmdO3e+c+dOVFQUrQ6ocr6+vqdOnbp/%0A/3779u0TEhJExwFeEIodIMC+ffvat2/v4uJy9OhRFxcX0XEAdXJ0dDx06FDz5s29vb137dol%0AOg7wIlDsgBdt6dKlffr0GTVq1M6dO21tbUXHAdTMxsZmy5YtM2fOHDRo0E8//SQ6DvDccfAE%0A8OJotdqZM2cuXrz43//+9/jx40XHAQyCRqOZO3dugwYN3njjjStXrixYsMDIiEENqBYHTwAv%0AyMOHD0eNGrVv374tW7Z07dpVdBzA4Bw6dGjw4ME9evRYvXq1ubm56DjAc0GxA16Ee/fuDRo0%0A6NKlS2FhYV5eXqLjAAYqPj6+d+/ejo6OO3bssLOzEx0HqHoUO+C5S09P79OnT2FhYVhYWIMG%0ADUTHAQzajRs3+vTpU1xcHBYW5uzsLDoOUMVYZwA8XwkJCR06dLCwsDh06BCtDhCufv36Bw8e%0AtLOz69Chw9mzZ0XHAaoYxQ54jk6cONGlS5e2bdseOHDA3t5edBwAkiRJNWrUCA8P79ChQ7du%0A3U6cOCE6DlCVKHbA83Lo0KGePXsGBARs3LjRwsJCdBwA/2VhYbFx48aAgICePXseOnRIdByg%0AylDsgOdi9+7dvXv3Hj169JIlS4yNjUXHAfBnxsbGS5YsmThxYq9evbZv3y46DlA1jOfOnSs6%0AA6A2O3bsGDp06IwZMxYsWKDRaETHAfB4Go2mV69epqamU6dObdq0abNmzUQnAiqLExQDVWzd%0AunWjR4/++OOPP/nkE9FZADzb7NmzNRrN8OHDc3Jyxo4dKzoOUCkUO6AqLV++fOLEiQsXLpw2%0AbZroLADK6u9//7u1tXVQUJBOpxs3bpzoOEDFUeyAKrNy5cqJEyf++9//DgoKEp0FQPlMmzbN%0A3Nx84sSJRkZGY8aMER0HqCCKHVA1Nm7cGBQU9OOPP9LqAIUKCgrSaDRBQUHGxsYjR44UHQeo%0ACIodUAWCg4NHjhz5/fffT506VXQWABU3YcIErVY7btw4jUYzYsQI0XGAcqPYAZW1efPm4cOH%0Af/XVV9OnTxedBUBlTZw4MS8vb+zYsUZGRsOHDxcdBygfih1QKdu2bQsMDJw/f/6sWbNEZwFQ%0ANWbMmFFcXDxmzBgrK6uBAweKjgOUA8UOqLgDBw4EBgZ+8skntDpAZWbNmpWfnx8YGBgaGtqt%0AWzfRcYCy0uh0OtEZAEWKi4vz8/MbOXLkTz/9JDoLgOfi3Xff/eWXXyIiItq2bSs6C1AmFDug%0AIhITE7t06dKzZ8+VK1caGXFpPkCddDpdUFDQ9u3bDx8+3LRpU9FxgGej2AHllpaW1qVLl+bN%0Am2/ZssXEhPUMgJqVlJQMGzYsOjr66NGjL730kug4wDNQ7IDyyczM9PHxcXBw2L17t6Wlpeg4%0AAJ67/Pz8V155JSMj48iRI3Z2dqLjAE9DsQPKoaCgoEePHrm5uQcPHqxevbroOABekPv37/v5%0A+VlbW+/bt8/CwkJ0HOCJWBsElJV+tU1ycvL27dtpdYBBqV69emhoaEpKyujRo7Vareg4wBNR%0A7ICymjNnzvbt20NDQ52dnUVnAfCi1atXLzQ0dO/evR9++KHoLMATse4bKJNly5YtWLBgx44d%0AXl5eorMAEMPDw2Pz5s2vvPKKs7Mz1w+EPDFiBzxbeHj4lClTFi5c2KtXL9FZAIjUrVu3f/3r%0AX2+99daOHTtEZwEeg4MngGc4f/58x44dp0+f/vXXX4vOAkAWPvjgg0WLFh0/ftzDw0N0FuB/%0AUOyAp8nKyvL29m7RokVwcLBGoxEdB4As6HS6oUOHnj179sSJE7Vq1RIdB/gvih3wRCUlJf37%0A97969WpUVJStra3oOABkJCcnp1OnTnXq1AkLC+NE5ZAP1tgBT/T3v//9xIkTO3bsoNUB+BMb%0AG5vt27fHxcW9//77orMA/8U/MoDHW7NmzU8//bR79+5GjRqJzgJAjlxcXEJCQrp3796sWbPx%0A48eLjgNIEiN2wGPFxMRMnDjxn//8p7+/v+gsAOTLx8fnn//857Rp02JiYkRnASSJNXbAX2Vm%0AZrZu3drf33/58uWiswBQgHHjxkVERJw+fZoryUI4ih3wP3Q63eDBg5OSkqKioqysrETHAaAA%0ABQUFnTp1qlu37s6dO42MmAqDSHz+gP8xb968/fv3b9y4kVYHoIwsLCw2btwYGRn5zTffiM4C%0AQ8eIHfBfhw4d6tGjx7p164YOHSo6CwCF2bZtW0BAwO7du3v06CE6CwwXxQ74j1u3brVu3frV%0AV1/94YcfRGcBoEgzZszYsGHD6dOn69evLzoLDBTFDpAkSSopKenRo0d+fv7hw4fNzMxExwGg%0ASIWFhb6+vpaWlvv27TM2NhYdB4aINXaAJEnS/PnzY2NjN2zYQKsDUGFmZmYbNmyIjY2dP3++%0A6CwwUIzYAdKpU6c6duy4cuXK4cOHi84CQPFCQkICAwOPHDnSoUMH0VlgcCh2MHS5ubmtW7fu%0A1KkTZ60DUFXGjh179OjRM2fOVKtWTXQWGBamYmHo3nzzzeLi4oULF4oOAkA9Fi1aZGRk9Pbb%0Ab4sOAoNDsYNB27x58+rVq9esWWNrays6CwD1sLGxWbt27erVqzds2CA6CwwLxQ6GKy0tbeLE%0AiR9//HHHjh1FZwGgNu3atfvoo4+mTp2alpYmOgsMCGvsYLj69euXmZl59OhRzkoA4HkoKSnp%0A0qWLnZ3dzp07RWeBoWDEDgZq+fLl+/bt+/XXX2l1AJ4TY2PjFStWRERErFixQnQWGAqKHQzR%0AjRs3Zs2a9cUXX3h4eIjOAkDN3N3d586d+/bbb6emporOAoPAVCwM0eDBg9PT048dO8ZwHYDn%0ATavV+vr61qhRgwlZvACM2MHgrFixIiwsbNmyZbQ6AC+AkZHRr7/+GhERsXLlStFZoH6M2MGw%0ApKene3h4zJ49e/bs2aKzADAg33zzzTfffHP+/Pl69eqJzgI1o9jBsAQGBiYmJp44cYLhOgAv%0AUklJibe3d+PGjdevXy86C9SMYgcDsmfPnt69e0dGRnp7e4vOAsDgnDp1ytvbe9u2bX379hWd%0ABapFsYOhyM/P9/T07Nu3L1cPAyDKW2+9tWPHjj/++MPa2lp0FqgTB0/AUHz55Zd5eXmff/65%0A6CAADNdXX31VVFQ0b9480UGgWozYwSBcvHjRy8trzZo1Q4cOFZ0FgEHbtGnTyJEjz5w506xZ%0AM9FZoEIUO6ifTqfz8/OzsbHZtWuX6CwAIPXt2zcnJ+fgwYMajUZ0FqgNU7FQv/Xr10dHRy9a%0AtEh0EACQJElatGhRdHQ0h8fieWDEDiqXn5/ftGnTUaNGffHFF6KzAMB/fPTRRytXrrxw4QJH%0AUaBqMWIHlZs/f35xcTGnIwYgKx988IFGo/n2229FB4HaMGIHNUtJSWnSpMm///3vUaNGic4C%0AAP9j1apVU6ZMiY+Pd3FxEZ0F6kGxg5q99tpr169fj4yMZIUyALnR6XQ+Pj5OTk4stkMVothB%0AtSIjI318fLjOBADZOnXqVPv27Q8cOODr6ys6C1SCYgd10ul0HTp0cHd3X7VqlegsAPBEo0eP%0AvnjxYlRUFBMLqBIUO6hTcHDwiBEjLly40LBhQ9FZAOCJrl275u7uvnbt2oCAANFZoAYUO6hQ%0ASUmJp6dn7969v/vuO9FZAOAZZs6cuWvXrvPnz5uYmIjOAsXjdCdQoWXLlqWmpnKKEwCK8MEH%0AH9y6dWv58uWig0ANKHZQm/z8/C+++GL27Nm1a9cWnQUAns3e3v7dd9+dO3duXl6e6CxQPIod%0A1OaHH34oLCx86623RAcBgLJ65513tFrtjz/+KDoIFI9iB1W5f//+t99+++mnn1arVk10FgAo%0AK2tr648//vgf//jH/fv3RWeBslHsoCoLFy6sVq1aUFCQ6CAAUD4TJ06sUaMGg3aoJIod1OPB%0AgwcLFy788MMPzczMRGcBgPIxNTWdPXv2ggUL7t27JzoLFIxiB/X48ccfra2tx44dKzoIAFTE%0A+PHja9So8fPPP4sOAgWj2EElcnJyFi5c+MEHHzBcB0ChTE1N//73vy9YsCA7O1t0FigVxQ4q%0A8eOPP1paWo4bN050EACouAkTJlSrVm3RokWig0CpKHZQg+zs7AULFsyePdvc3Fx0FgCoODMz%0As/fee++7775j0A4VQ7GDGixdutTMzIyDYQGoQFBQkJmZ2dKlS0UHgSJR7KB4RUVFCxcunDFj%0ABsN1AFTA3Nz8rbfe+v777wsLC0VngfJQ7KB469evv3v37uTJk0UHAYCqMXXq1AcPHmzcuFF0%0AECiPRqfTic4AVEqrVq26deu2YMEC0UEAoMq88847+/fvj4uL02g0orNASSh2ULY9e/b07ds3%0AMTHxpZdeEp0FAKpMamqqq6vrrl27evbsKToLlIRiB2Xr2bNnnTp11qxZIzoIAFSxESNGZGRk%0A7NmzR3QQKAnFDgoWFxfXqlWrU6dOtWrVSnQWAKhiZ86cadOmzZkzZ7y8vERngWJQ7KBgEydO%0AvHz58sGDB0UHAYDnomvXru7u7r/88ovoIFAMjoqFUt27d2/dunXTpk0THQQAnpdp06atXbs2%0AKytLdBAoBsUOSvXbb7/Z2toOGjRIdBAAeF6GDBlSs2bNlStXig4CxaDYQZF0Ot2SJUumTJli%0AamoqOgsAPC8mJiYTJ078+eeftVqt6CxQBoodFCk8PDw5OXnChAmigwDA8zVp0qTr16/v3btX%0AdBAoAwdPQJH69+9vY2Ozbt060UEA4LkLDAzMy8vbvn276CBQAIodlCclJaVhw4YRERG+vr6i%0AswDAc3f48GF/f//k5GRnZ2fRWSB3TMVCeVauXNmoUSMfHx/RQQDgRfD19XVzc1u1apXoIFAA%0Aih0URqfTrVy5cvz48Vw/EYDhGDNmzLJly5hkwzMxFQuFOXjwYM+ePa9du1a/fn3RWQDgBbl5%0A86azs/O+ffu6du0qOgtkjWIHhRkzZkxWVtaOHTtEBwGAF6pfv3729vYrVqwQHQSyxlQslCQn%0AJ2fz5s3jxo0THQQAXrRx48YFBwc/ePBAdBDIGsUOSrJ+/XpLS8t+/fqJDgIAL1r//v2trKw2%0AbtwoOghkjWIHJVm9evXw4cPNzMxEBwGAF83MzGz48OGrV68WHQSyxho7KMaNGzecnZ0jIyO9%0Avb1FZwEAAaKiojp37nzt2jUnJyfRWSBTjNhBMdatW+fi4tK+fXvRQQBAjA4dOri6ujIbi6eg%0A2EEx1q9fHxgYyOnrABiyV199df369aJTQL6YioUyXLlyxc3NLS4uztPTU3QWABDm7NmzXl5e%0Aly5dcnNzE50FcsSIHZTh999/b9KkCa0OgIFr0aKFh4fHhg0bRAeBTFHsoAwbNmwYPny46BQA%0AIN5rr73GbCyehKlYKMDFixebNGmSkJDQpEkT0VkAQLALFy40bdr0woUL7u7uorNAdhixgwJs%0A2bKlSZMmtDoAkCSpSZMm7u7uW7duFR0EckSxgwJs27Zt0KBBolMAgFwMGjRo27ZtolNAjih2%0AkLtbt25FR0cPHDhQdBAAkIuBAweeOHEiPT1ddBDIDsUOcrdt2zYHBwfOSwwApby9vevUqbNz%0A507RQSA7FDvInX4e1siIzyoA/IeRkVH//v2ZjcVf8ccSspaTkxMRETFgwADRQQBAXgYOHLh/%0A//6cnBzRQSAvFDvI2oEDBzQajb+/v+ggACAv/v7+Go3mwIEDooNAXih2kLU9e/Z07drVwsJC%0AdBAAkBcLCwtfX9+9e/eKDgJ5odhB1sLDw//2t7+JTgEAcvS3v/0tPDxcdArIC8UO8nX16tXL%0Aly/36tVLdBAAkKNevXpdunQpKSlJdBDICMUO8rV7924nJ6dmzZqJDgIAcuTh4eHs7MxsLB5F%0AsYN8hYeHM1wHAE/Rs2dPZmPxKIodZKq4uPjAgQMssAOAp+jVq1dERERxcbHoIJALih1k6syZ%0AMw8ePPDz8xMdBADky9/f/8GDB7GxsaKDQC4odpCpw4cPN2vWrHbt2qKDAIB82dvbN23a9PDh%0Aw6KDQC4odpCpI0eO+Pr6ik4BAHLn6+t75MgR0SkgFxQ7yJFOpzt69KiPj4/oIAAgdz4+PocP%0AH9ZqtaKDQBYodpCjc+fOZWZmdunSRXQQAJC7rl27ZmVlnT9/XnQQyALFDnJ0+PDhRo0aOTs7%0Aiw4CAHLn6Ojo6urKMjvoUewgR0eOHGEeFgDKyNfXl2IHPYod5Oj48eOdOnUSnQIAlKFjx45R%0AUVGiU0AWKHaQnZs3b6akpLRr1050EABQhnbt2l2/fj09PV10EIhHsYPsxMTEWFpaenh4iA4C%0AAMrg6elpZWV16tQp0UEgHsUOshMTE9O6dWtTU1PRQQBAGUxMTFq2bBkTEyM6CMSj2EF2oqOj%0A27dvLzoFAChJ+/bto6OjRaeAeBQ7yItOpzt58iQL7ACgXNq1axcdHa3T6UQHgWAUO8hLUlJS%0AZmZm27ZtRQcBACVp165dVlZWUlKS6CAQjGIHeYmNjbW1tW3cuLHoIACgJI0bN7a1tY2NjRUd%0ABIJR7CAv586da968uUajER0EAJREo9F4eHj88ccfooNAMIod5OXcuXOenp6iUwCA8nh6ep47%0Ad050CghGsYO8UOwAoGIodpAodpCVvLy8K1eutGjRQnQQAFCeFi1aJCYm5ubmig4CkSh2kJHz%0A589rtVquOQEAFeDp6anVahMSEkQHgUgUO8jIH3/84ejoWKtWLdFBAEB5atas6ejoyGysgaPY%0AQUYuXrzIcB0AVJiHh8fFixdFp4BIFDvIyOXLl93c3ESnAAClaty4cWJiougUEIliBxmh2AFA%0AZbi5uV2+fFl0CohEsYNc6HS6pKQkrjkBABWmH7HjirGGjGIHuUhLS8vNzWXEDgAqzM3NLS8v%0A78aNG6KDQBiKHeTi8uXLxsbGLi4uooMAgFI1bNjQxMSE2VhDRrGDXFy+fNnFxcXMzEx0EABQ%0AKjMzswYNGlDsDBnFDnKRnJzs6uoqOgUAKFujRo2SkpJEp4AwFDvIRUpKSoMGDUSnAABlc3Z2%0ATk1NFZ0CwlDsIBcpKSlOTk6iUwCAsjk5OaWkpIhOAWEodpCL1NRUih0AVJKTkxMjdoaMYgdZ%0A0Ol0aWlpzs7OooMAgLLpp2I5lZ3BothBFm7fvv3w4UNG7ACgkpycnB4+fJiRkSE6CMSg2EEW%0A9BMHjNgBQCXpf5EyG2uwKHaQhRs3btjY2Nja2ooOAgDKVr16dRsbm7S0NNFBIAbFDrKQkZFR%0Au3Zt0SkAQA0cHBzu3LkjOgXEoNhBFjIyMhwcHESnAAA1cHBwYI2dwaLYQRYyMzPt7e1FpwAA%0ANbC3t8/MzBSdAmJQ7CALGRkZFDsAqBL29vaM2Bksih1k4c6dO0zFAkCVYI2dIaPYQRYYsQOA%0AqsKInSGj2EEWsrKyatWqJToFAKiBnZ0da+wMFsUOsvDgwQNOYgcAVaJatWrZ2dmiU0AMih1k%0AITs728bGRnQKAFADGxsbip3BothBPK1Wm5+fT7EDgCphY2OTl5en1WpFB4EAFDuIl5OTo9Pp%0AKHYAUCVsbGx0Ol1ubq7oIBCAYgfxcnJyJEmi2AFAldD/OtX/aoWhodhBPP1vn2rVqokOAgBq%0AoP91SrEzTBQ7iKf/7WNtbS06CACogX7EjuMnDBPFDuIVFhZKkmRubi46CACogZmZmSRJRUVF%0AooNAAIodxCsuLpYkycTERHQQAFAD/a9T/a9WGBqKHcTT//YxNjYWHQQA1IBiZ8godhCvuLjY%0AxMREo9GIDgIAaqDRaIyNjSl2holiB/GKioqYhwWAKmRiYsIaO8NEsYN4+hE70SkAQD1MTEwY%0AsTNM/DWFeLdu3crLy2vWrJnoIMAzcDJtKEV+fv7NmzdFp4AAFDvIgpGxsZNnG9EpgGeIO3Yo%0AOzOjt6+P6CDAM1xJTBQdAWJQ7CBe3bp1TUzNpnz+D9FBgGeIiQifP3XczEkT3Ru5is4CPM3a%0ALVvr1asnOgUEYI0dxDMxMSkpYS0IFKCdfy8TM7Ot4eGigwDPwNplg0Wxg3gmJiba4hLRKYAy%0Aady8ZciuMNEpgGcootgZKoodxNOP2Ol0OtFBgGfrPWJsTFxc8vUU0UGAJ9LpdFqt1tTUVHQQ%0ACECxg3j6f1ZqtQzaQQG69B1kbGLCbCzkrIjrNBowih3E+0+xYzYWCtGwafOQUGZjIV9cgNuQ%0AUewgnrm5uSRJRYUPRQcByqTnayOPnzp949Yt0UGAx9OP2DEVa5godhDP2tpakqSCvDzRQYAy%0A8R8SKGk0W8KYjYVM5eTmSpxJ21BR7CBetWrVJEkqyMsVHQQoEyMjowZuTUJCQ0UHAR4vJzdP%0AotgZKoodxNP/9smn2EE5ugcMP3wi+vadTNFBgMfIzs2R/v/fzDA0FDuIZ21trdFoCnJzRAcB%0AyuqV4aN1Ot32vXtFBwEeIzsn18jIyMrKSnQQCECxg3j6X0CM2EFBjExM6jdszJmKIU85ubnW%0A1tZGRvyJN0T81CELNjY2BbkcPAEl8Rv06v6jR+/evy86CPBn2bm5LLAzWBQ7yIKtrW0+U7FQ%0AlL6jxxeXlOzYu090EODPsnNyWGBnsCh2kAU7O7vse1miUwDlYGZuWbeBC2cqhgzdf5Bdo0YN%0A0SkgBsUOsuDg4PDgLsUOCuPTb3D4wUMPshlshrzczrxTp04d0SkgBsUOsuDg4JBNsYPS9B83%0ApbCoKOzAAdFBgP9x+06mg4OD6BQQg2IHWbC3t3+QxSnBoDBWNjYO9Z2YjYXcZGRmUewMFsUO%0AsmBvb89ULJSoc+8Bu/ZH5HJBPMhJRhYjdoaLYgdZcHBwYMQOSjRo4rS8/Pw9h4+IDgL81+07%0AmbVr1xadAmJQ7CAL9vb29yl2UCCb6jXs6tQL2cV1YyEjd7KYijVcFDvIQv369R/m5+VlPxAd%0ABCg37559du7b/7CwUHQQQJIkKTsnN7+gwN7eXnQQiEGxgyw4OTlJknTn5g3RQYByC5jy1v3s%0A7P1Hj4kOAkiSJF2/kSZJkrOzs+ggEINiB1lwcHCwsLDIvJkuOghQbjXsHWrYO4SEMhsLWbie%0AdsPc3Jw1dgaLYgdZ0Gg0jo6Od9IZsYMitfPvtS18b3FxsegggJRy44azs7NGoxEdBGJQ7CAX%0Azs7OmbcYsYMiBUx+K/Pu3YPHo0QHAaSUGzcaNGggOgWEodhBLpycnDLT00SnACrCwdGpWs1a%0AnKkYcnA9jWJn0Ch2kAtnZ2fW2EG5Wvv6b9m9u6SkRHQQGLrraWkcOWHIKHaQCxcXl1up10Wn%0AACooYPJbtzLuHDt5UnQQGLrU9Jv68wzAMFHsIBdubm4ZaanFRUWigwAV4eja2Nq2+ubQ3aKD%0AwKAVFxdfT0tzdXUVHQTCUOwgF25ubiUlxRk3UkUHASrIq7Nv8K5QnU4nOggMV3JKSmFRkbu7%0Au+ggEIZiB7lwdHS0trZOv5okOghQQUPfmJF282Z0bKzoIDBcF68kWVpaOjo6ig4CYSh2kAuN%0ARuPq6nqDYgfFeunlZpbWNhwbC4EuJSW9/PLLRkb8cTdc/OwhI25ubunXkkWnACquuXen4F1c%0AggLCXEpKfvnll0WngEgUO8iIm5sbU7FQtIDJM5Kvp8SejxcdBAbqUlISC+wMHMUOMuLu7p6a%0AdFl0CqDi3LxamVtacd1YiHLxShIjdgaOYgcZ8fT0zLyZnn3vruggQMU1a+PNMjsI8SA7J/32%0AbYqdgaPYQUY8PDyMjY2vX74gOghQcQPGT064nBh/ibFnvGhnExI0Go2Hh4foIBCJYgcZsbS0%0AbNSo0fVLFDsoWItOvqbm5gza4cWLi09wc3OzsbERHQQiUewgLy1atLh2MUF0CqBS3L3asMwO%0AL15cfLyXl5foFBCMYgd58fT0pNhB6fqNnRgXn3DxCod444WKi0+g2IFiB3nx9PS8dilBp9WK%0ADgJUXDv/XiamZlvDw0UHgQEpKSn54+JFih0odpAXLy+vh/l5N1OuiQ4CVErj5l4hu1hmhxfn%0AcvLVvPx8ih0odpCXhg0b2tnZJZ7japtQtldGjD159uz1tBuig8BQnE1IqFWrlpOTk+ggEIxi%0AB3nRaDTt2rWj2EHpfPoNNjI23hzGoB1ekOjY2LZt24pOAfEodpCd9u3bXz57RnQKoLIaNm3O%0ASU/wwkSdPtOhQwfRKSAexQ6y065du6T4cyXFRaKDAJXS87WRkSdP3bh1S3QQqF9RcfHpc394%0Ae3uLDgLxKHaQHW9v76KHD69xmmIonP+QQEmj2bqbY2Px3MXFxxc8fNi+fXvRQSAexQ6y4+Dg%0A4OLiwmwslM7IyKhBY3dmY/ECRJ064+bmZm9vLzoIxKPYQY68vb0vx1HsoHj+QwMPRZ3IyMwU%0AHQQqd+LMGeZhoUexgxx16dIl4dQJ0SmAyuo9fKxOp9u+Z5/oIFC5qNMUwnTevwAAIABJREFU%0AO/wHxQ5y1LVr15vXr95J5xxgUDYjE5P6DRtz3Vg8V7cy7ly5dq1jx46ig0AWKHaQo+bNm9vZ%0A2V04HS06CFBZfoNe3Xfk6N3790UHgWodiIysXr0615yAHsUOcqTRaLp06RIfEyU6CFBZfcdM%0AKC4p2blvv+ggUK2Dx6O6du1qbGwsOghkgWIHmfL19T0fc1x0CqCyzMws6ji7cGwsnp8Dkcf9%0A/PxEp4BcUOwgU127dk1LSryfeUd0EKCyfPoPCj94KDsnV3QQqFD67duXkpK6desmOgjkgmIH%0AmWrZsmX16tUZtIMKDBj3xsPCwrADB0QHgQpFHIusVauWp6en6CCQC4odZMrY2NjPzy/u2CHR%0AQYDKsrKxcajvxGwsnoeDkcf9/PyMjPhrjv/gowD56tWr15kjDHJADTr27h8acSC/oEB0EKhN%0AxLFI5mHxKIod5OuVV17JvJmemnhJdBCgsgYFTc3JzQ0/yAg0qtKFxCtJ16/36tVLdBDICMUO%0A8uXi4uLm5nbm6EHRQYDKsq1Rq1aduszGomqFRkS4urq6ubmJDgIZodhB1l555ZVYih1UoUPP%0APjv27issKhIdBOoRduBg//79RaeAvFDsIGu9evU6H3P8YUG+6CBAZQVMmXE/O3vfkaOig0Al%0AcvPyjpyI7t27t+ggkBeKHWTNz8/PSJLOn4gUHQSorBr2DjXsHbhuLKrK3sNHjIyNfX19RQeB%0AvFDsIGvW1tb+/v7R+8NFBwGqQNtuPbeF7y0uLhYdBGoQduBgjx49LC0tRQeBvFDsIHeDBg2K%0A2R+u02pFBwEqK2DK25l37x6KOiE6CBRPp9OFHTj4yiuviA4C2aHYQe4GDhz44G7mpbjTooMA%0AlVXb0alajZocG4vKi4mLS01P58gJ/BXFDnJXp06dDh06RO/fLToIUAVa+fpvDgsrKSkRHQTK%0AFhIa1qFDB2dnZ9FBIDsUOyjAwIEDo/aw5Bxq8Oobb9/KuBN58pToIFC2rbv3BAQEiE4BOaLY%0AQQGGDBly8/pVLkEBFajfsJG1bXVmY1EZcfEJl5KSBg8eLDoI5IhiBwVo3Lixh4dH1F4G7aAG%0AXp18Q0LDdDqd6CBQqpDQ0NatW7u6uooOAjmi2EEZXnvttcM7NotOAVSBoVNnpKanx8TFiQ4C%0ApQoJDWMeFk9CsYMyvP766zeSr1y7mCA6CFBZL73czNLahtlYVMyFxCvxly4PGTJEdBDIFMUO%0AytCoUaO2bdse2bVFdBCgCjT37hSyi2KHivh961YvL68mTZqIDgKZothBMYYPH35kxxZWJkEF%0ABk6YeuXatdjz8aKDQGF0Ot3azVtHjhwpOgjki2IHxQgMDLx7++alWM4TAcVr2qa9uaUl141F%0AeR2LOXk1NTUwMFB0EMgXxQ6KUa9ePR8fnyM7mY2FGjRt471p5y7RKaAwazZv6d69u5OTk+gg%0AkC+KHZTk9ddfj9y9o6S4SHQQoLIGjJty8UpSwuVE0UGgGIVFRcG7QkeNGiU6CGSNYgclee21%0A14ry804e2Cc6CFBZXp19Tc3NOTYWZbdz3/78hw85LzGejmIHJbG1tR06dGhEyHrRQYAq4O7V%0AhmV2KLs1IZsHDx5sY2MjOghkjWIHhRk/fvzpIxF30m+IDgJUVp/RE2LPx1+5dk10ECjAzYyM%0Anfv2jx49WnQQyB3FDgrj6+vbyNX18I4Q0UGAyvLu0dvE1IwT2qEslm/Y6OTs3KNHD9FBIHcU%0AOyiMRqMZO3bsvk2/c0I7qEAjjxYss8Mz6XS639ZvnDhxopERf7XxDHxEoDxjx469cyM14eQJ%0A0UGAyur1+piYuLjraSwtwNPsPXzkamrqmDFjRAeBAlDsoDz169fv06dP+PpVooMAleXbf4iR%0AsfHmMAbt8DS/rP194MCB9evXFx0ECkCxgyJNnTr1ePiurFs3RQcBKkWj0bg08WA2Fk9xK+PO%0A9j17J02aJDoIlIFiB0Xq1atX40au+zatFR0EqKyew0ZGnjx1MyNDdBDI1G8bNnDYBMqOYgdF%0A0mg0U6ZM2bNhDVehgNJ1DwiUNJotYbtFB4EcFRcXL161ZvLkyRw2gTLigwKlmjBhQnFBXtQe%0A5rCgbEbGxs6NX2Y2Fo8VvCs08969oKAg0UGgGBQ7KFW1atVGjBgR9vty0UGAyvIfEnjweFRG%0AZqboIJCdhct+Gzt2rJ2dneggUAyKHRRs2rRpF05FX70QLzoIUCm9Xx+r1em27+EiyPgfMXFx%0AJ87ETp8+XXQQKAnFDgrWvHnz7t27b/ttseggQKUYm5o6ujTiurH4k++WLO3Tp0/Tpk1FB4GS%0AUOygbO+9996x0P9r777DojoTPY4PXUAQMaigBOxGjcaaqIgVFbE3FHtvETVEJWqMxq7YxYYd%0AVEBFUCliFOyIFWsEsRAUa0C6tLl/eDc3m5tEROBl3vl+nn322SUzzi9bzDfnzDnnyKtn8aKH%0AAJ+kdc++v5w9l/j2reghKCmePn/uFxQ8ZcoU0UOgYgg7qLaOHTvW/7Je4J5toocAn6Tr0NE5%0AubmBJ0+JHoKSYv2OXTVr1eIuJ/hYhB1UnouLS6iPV0pSoughQMHpltKvYGnFtbF4Lyk5ebOn%0Al4uLi4aGhugtUDGEHVSeo6NjxfJmoT6eoocAn8TGoWdIWHhKaproIRDPfdduYxOTQYMGiR4C%0A1UPYQeVpa2tPmzYtcM+2rMxM0VuAgusxamJmVlZwWJjoIRAsPSNj7fadM2bM0NXVFb0Fqoew%0AgwxGjRqlpcwLO+wjeghQcAalS5uZV+JsLLbu3aeprT1q1CjRQ6CSCDvIoHTp0lOnTvXbuj47%0AK0v0FqDgWnTuFnQqLINjz2osOydntce2adOm6evri94ClUTYQRJTpkzJe5d5ys9b9BCg4HqO%0AnZSalhZ6+ozoIRBml++Bt6lp48ePFz0EqoqwgySMjY2nTp3qt2UdB+2guoxNTE0rVORsrNrK%0AzslZ5r7J2dm5TJkyordAVRF2kAcH7SCBb+y6HD3xS1Z2tughEGCnj+/rpKSpU6eKHgIVRthB%0AHhy0gwR6j5uclJx88tx50UNQ3DLfvVu4dr2Li4upqanoLVBhhB2kwkE7qLqyZhXKlDPjubFq%0AaLOnV0ZWFs8Qwyci7CAVY2NjFxeXgxtXv8vMEL0FKKAmbTv4h4Tm5OSIHoLik5aevtR9o6ur%0Aq7GxsegtUG2EHWQzbdo0A12dY7u2ih4CFFC/CdPeJCaeuRQpegiKz9rtOzS1dSZMmCB6CFQe%0AYQfZ6Ovrz5kz57CH+9s3r0VvAQrCrFJlI5OyXBurPpKSk1du8Zg7d66BgYHoLVB5hB0kNHr0%0A6CpWn/ttXS96CFBADW3bHQ4OycvLEz0ExWHJBncTU9ORI0eKHgIZEHaQkJaW1oIFC0L27Xoe%0A91j0FqAg+k2YmvDy5YUrV0UPQZF7FPfbuu07ly5dypNhUSgIO8ipd+/ezZo29dmwUvQQoCAs%0AqlQzNDLmbKw6cF2ytGGjRn379hU9BJIg7CCtpUuXnj12OPZ2lOghQEHUb2F7MDBIqVSKHoIi%0AdPHqtYOBQW5ubhoaGqK3QBIa/K4BifXv3/9mzMNF+4/wmyZUzsM7N6f36RwZeKRpgwait6BI%0AKJVKm159qtb+wtPTU/QWyIMjdpDZypUr42N+PXvUT/QQ4KNVrVtf39DwUCBnY6W1zz/g+p27%0ACxcuFD0EUiHsIDNLS8vvv/9+9/IF6akporcAH61usxZ8zU5W6RkZs5Yu++6776ysrERvgVQI%0AO0hu5syZJqUNDm/dIHoI8NF6jJ744PHjqLv3RA9B4Vu83j1XoTFz5kzRQyAbwg6S09fXX7Zs%0A2ZGdmxOePBK9Bfg4dRp/rVdKn+fGyifm0SO3zVtWrVplZGQkegtkw8UTUAtt2rRJ09D9YfNu%0A0UOAj/PzqIHZr57dOfWL6CEoTF2GDMvW0j5x4oToIZAQR+ygFjZs2BB1PjwiNFD0EODjdB85%0A/m50zL2YB6KHoND4HDl68vyF9et5NA6KBGEHtVCvXj0XF5dtC+akJSeL3gJ8hK9attbR1eMS%0ACmmkpKa5/LxwxowZtWvXFr0FciLsoC7mzp1ralzae91y0UOAj1Pzq0Z8zU4a81at1tLVdXV1%0AFT0E0iLsoC709fU3btwYvG/X/Rs8fxOqpMuQUTfu3I198kT0EHyqa7dur9uxc8OGDYaGhqK3%0AQFqEHdRIx44dBzg6bvlpRm5OtugtQH59Y9dFW0fHLyhE9BB8kpycnDEzZvbt27dbt26it0Bm%0AhB3Uy+rVq5NfPj+220P0EOAjVKvbgK/ZqbolGzY+eZawdu1a0UMgOcIO6qVChQorV670Xu/2%0A9CGXGUJldHIaGnnjRtzTZ6KHoIB+fRC7eP2G9evXly9fXvQWSI772EEdOTg4xDx9vnhfgKaW%0AlugtQL70r/f5yh9nTxk1UvQQfLS8vDzbPv1Mylc4duyY6C2QH0fsoI48PDxexz0K2LFZ9BAg%0Av6xq1eFsrIpas2377eiYzZv5DQfFgbCDOrKwsFi9erXP+hVxMb+K3gLkS8f+g89fvvL81SvR%0AQ/Bxoh8+/HHFSjc3t8qVK4veArXAqVior969e0fdf7DU95iWto7oLcAH5OXlOX5p5b7w5/FD%0ABovegvzKycmx6dW3jJlZSEiIhoaG6DlQCxyxg/pyd3dPev7Uf9tG0UOAD9PU1LSsXpOzsapl%0A/uo1sb/9tmvXLqoOxYawg/oyNzd3d3f32bAq5uZ10VuAD2vXe0DYhYuv3rwRPQT5cuHK1SUb%0ANm7atMnc3Fz0FqgRwg5qbcCAAYMHOa12mZiemiJ6C/ABnQcOy1Mqj544KXoIPiwtPX34NJcR%0AI0b07dtX9BaoF8IO6s7d3b2Mvt72hT+KHgJ8gLauroV1VZ4bqxIm//hTrobGqlWrRA+B2iHs%0AoO4MDQ337dt3Icj/7LHDorcAH9C6R9+T586/TeEAc4m2aN36Xb4H1q1bZ2RkJHoL1A5hByga%0AN248b968rfN/eBkfJ3oL8G+6DRuTlZ199MQvoofgHz2Mi1u+aYu5ufmoUaNCQ0NFz4HaIewA%0AhUKhmDlz5jdNm6z5flJuTrboLcA/0i2lX8HSyo9rY0uq7JycQd86N27S5OHDh+PHj+/SpcuU%0AKVOysrJE74IaIewAhUKh0NTU9PT0TEqI37NioegtwL+xcegZEn46NS1N9BD8je/m//zo6bO9%0Ae/fq6enNmzfv+PHjBw8ebNGiRUxMjOhpUBeEHfC/LCwsvL29Q/buvBByVPQW4B/1GDUx4927%0A4LBw0UPwVwcDgzbt8dq7d+8f9zdp3779jRs3Klas2Lhx461bt4qdBzVB2AH/p02bNvPnz3ef%0A9V18LH97jRLKoHRpM3ML7lRc0sQ+eTL6+xnz589v3779n39uZmZ29OjRBQsWODs79+/fPykp%0ASdRCqAkeKQb8F6VS2bt372t3fl16IFCvlL7oOcDf2L1sftgBr5dR10vp6YneAoVCocjIzGzZ%0As3f5SpWDgoI0Nf/+iMm1a9cGDhyYlZW1d+/eFi1aFPNCqA+O2AH/RUNDY8eOHdq5WZvmfC96%0AC/D3eo39NiU17Xj4adFD8L/GznB9k5zi6en5T1WnUCgaNWp05coVW1tbe3v7vLy8/Pyy2tra%0AGv8xZ86cwtsLmRF2wF+VLVvWx8cn8kRQ8N6dorcAf8O4bDnT8hU5G1tCrNzicTAo+NChQ2Zm%0AZv/+SiMjo927dz98+PBf+u/PpkyZMmXKFHt7+8KYCXWhLXoAUBI1adJk69atI0eNrlytxpff%0A2IieA/xVM7vOR4/6ZWVn6+roiN6i1k6eO++6ZKmHh0eTJk3y+ZZy5crl85UrV65UKBTe3t7B%0AwUQ88osjdsDfGzp0qPPkb92mjH0e91j0FuCv+o6fkpScfOr8edFD1NqT+KcDJn47derU4cOH%0AF+fnRkZG9urV67PPPtPV1bW2th4yZMjjx4/f/yEbGxtNTc1nz579+fXx8fGampqtW7f+4Nsh%0AAcIO+EcrVqywbdliyYRh6SnJorcA/6WsWYUy5T47FMiBHGEyMjN7jxnboGHDJUuWFOfnXr16%0AtXXr1pGRkVOmTHF3dx84cGBAQMDXX3/95s0bhULh5OSkVCr9/Pz+/JaDBw8qlcrBgwd/8O2Q%0AAGEH/CMtLa39+/cb6+msd52izN+XnYFi07iNXUDoiZycHNFD1FFeXt7QKdOS0tJ9fHy0tYv1%0AS02RkZF16tTZu3fvjz/+OGbMmCVLlixevPjly5f79+9XKBT9+vXT1tY+dOjQn9/i6+urp6fX%0Ar1+/D74dEiDsgH9jbGx86NCh+1ci9q9bIXoL8F/6jnd+9ebNmUuRooeoo1lLl584d/7IkSP5%0A/8JcYZkwYcLVq1fbtGmjUCiys7MzMzPr1KmjUCjen041MzPr0KHD2bNnX758+f718fHxERER%0ADg4OJiYmH3w7JEDYAR9Qu3bt/fv3B2xzDzvsI3oL8H8qWFoZmZTl2tjit32/zyqPbQcOHKhb%0At66QAZ6enq1bty5btqyurq6+vv77WyL/cex24MCBubm5/v7+7//tn8/D5uftUHWEHfBh9vb2%0AmzZt2vTjjKjz3DkMJchXrdr6BQXn86ZoKBRhFy5OnDV73bp1dnZ2QgbMmjVr6NCh6enpq1ev%0ADg8Pv3jx4rZt2/78gl69eunr6/9xNtbX17ds2bIODg75fDtUHbc7AfJl9OjRsbGxK5zHLNzr%0Ab127jug5gEKhUPQe++20o34Xr15r2TS/99rAp7gbHdN79Njvp08fP358sX3o+wdEvb/1XWZm%0A5po1aywtLcPCwkqXLv3+BW/fvv3z642MjBwcHPz9/RMTE9PS0iIiIsaMGaOrq5vPt0PVccQO%0AyK/Fixf37d1r0dhBrxOeffjVQNH7vEZtAyNjzsYWj4SXL7sMHWbXqdOCBQuK7lPWr19ft27d%0AsLCw//vchASFQmFqaqpQKJ4/f56RkdGkSZM/skyhUJw+/dczCU5OTjk5OYGBgX85D5vPt0Ol%0AEXZAfmloaGzbtq3hl/UWjhmUlswNUFAi1G9u4xcczFO/i9rblBT7wUMrW1nv2bMnn8+NKJiy%0AZcvevXt3xYoV78+wZ2VleXl5KRQKW1tbhUJRoUIFDQ2NP1/ocOPGjT179igUiszMzD9+2KVL%0AlzJlygQHB/v7+1tZWdnY/O9d1vP5dqg0rXnz5oneAKgMLS2tbt26ee3aGRH+S8suPbS0tEQv%0AgrqraGl1cNsmhw7tKlWsKHqLtDIyMx2GjkjLzg4NDTUyMirSz/riiy8CAwPPnj0bEBAQFRU1%0Aa9asW7du9evXz9nZWaFQ6OjoXLly5cyZM8+fP09NTfX19Z00adKuXbt8fHwSEhLMzc2rVq2q%0Aq6urra0dHR0dGBj44MGDCRMmvL88Iv9vL9I/QRQ1wg74OPr6+l27dt20dvXtq5HNOzkU6d+7%0AAx9kWr7ikR2bjQ0NO7Ti2XdFIjc3d+CkyXdiH548ebJi0dezlpaWo6Njbm5uVFTU6dOn9fT0%0AXF1dV61a9cdvNXZ2dk+fPg0MDAwICMjJydm6dev7bjt16lRYWNiIESPen2Y1MDDYunVrXl7e%0Ali1b/vwQ23y+HapLgwP4QAHExMS0atWq1tc2zkvXatB2EGrx+KFvHz+IOcc3pQqfUqkcPX3G%0A0ZNhZ86cqV27tug5wIfxFySgIGrUqHH8+PFbZ09tX/Sj6C1Qd73GfPvg8eOb9+6JHiKh6QsX%0AHQwKCQ4OpuqgKgg7oIAaNGgQGBh4xt/XZ8NK0Vug1r5o3EyvlD7Xxha6RevWu+/29Pf3b9y4%0AsegtQH4RdkDBNW/e3MfH5/CWdcd2e4jeArVWu3GzQ4GEXWFy27x1/uq13t7ebdu2Fb0F+AiE%0AHfBJHBwc9uzZ47liQZDXDtFboL66jxh3Jzr6XswD0UMksXb7jh+WLtuzZ0+PHj1EbwE+Dk+e%0AAD7VgAEDNDU1398CtMvgkaLnQB19ZdNGR1fPLzh4do3JoreoPI99+79fsGj37t0DBgwQvQX4%0AaByxAwpB//79vby89iybH7x3p+gtUFM1GjTka3afbvt+n4mz5uzcudPJyUn0FqAgOGIHFI7+%0A/fv/8ege+0EjRM+B2ukyeJTblDEP4+Kqfv656C2qymPf/gk/zN6xY8cfz+ACVA5H7IBC4+jo%0AuH379l1Lfjq+f7foLVA7zTs5aGvr+AWFiB6iqtx37Znww2wPD4+hQ4eK3gIUHEfsgMI0dOhQ%0ADQ2NkSNHZmak9xg5QfQcqJeq9eofCgr6fvxY0UNUz7KNm+Ysd9u2bdvw4cNFbwE+CUfsgEI2%0AZMiQgwcP+qxd7rVykegtUC+dBw67dP1G3NNnooeomGUbN811W+Xt7U3VQQKEHVD4evTocfjw%0A4eN7d3r8PEuZlyd6DtRF6x59NbW0/I8fFz1EZSiVyu/mL/h5zbqAgIA+ffqIngMUAsIOKBL2%0A9vYhISEXjvmtc52Sm5sjeg7UhVWtL7hTcT7l5uaOneG6dd/+I0eOdO7cWfQcoHAQdkBRadWq%0A1cmTJ+9eOL36u4nZWVmi50AtdOg36PyVKy9evRY9pKTLfPfOccIkv+Ohp06dat++veg5QKEh%0A7IAi1KRJk/Dw8Ljb1xeMdkpLThY9B/Kz6+ukVCoPh3Bt7L9JfPu2k9OQizeiTp061axZM9Fz%0AgMJE2AFFq27dupGRkTpZ6bOcur9OeCp6DiSnqa1tWb0Wdyr+F89evGjbz/FNampERESDBg1E%0AzwEKGWEHFDkLC4uwsLDqlS1c+3d9dPe26DmQXNve/cMvRrz+/XfRQ0qi2/fvf9OtZ9nyFc6d%0AO2dpaSl6DlD4CDugOJiYmBw/ftzerv2cwb2unw0TPQcys3cakZuXd/TEL6KHlDhhFy7a9OzT%0ArHnz4OBgExMT0XOAIkHYAcVEV1fXy8tr0oTxSycOD/c/IHoOpKWtq2thXZWzsX+xy/dA50FD%0ARo0Z4+vrW6pUKdFzgKLCkyeA4qOhoeHm5mZtbT1t2rT42OhB037Q0ORvrlD4bLv1PrRxdVJy%0Asomxsegt4imVyvmr1yxat2HlypXOzs6i5wBFS0OpVIreAKidEydOODo6Vvmy4bSVGw2M+Esv%0ACllWZoZTw+qe69YM6tVT9BbBUtPSBjtPPRN52dfXt0OHDqLnAEWOowWAAHZ2dpGRkRmvEmY7%0A9XwZHyd6DmSjW0q/QuXPDwUGiR4iWHxCgm2ffndiH164cIGqg5og7AAxqlevHhER8WXNajP6%0A2t++dF70HMimpUPP46fPpKWnix4izLnIy406O5SraB4ZGVm7dm3Rc4BiQtgBwhgbG/v7+w8f%0AMnjBaKfgvTtFz4FUeo6ckJ6ZGRwWLnqIGOt37mrvOLD/gAHBwcFly5YVPQcoPoQdIJK2tva6%0Adeu2btmy123h2unfvstQ3+MrKFwGxsZm5hZqeG1sRmbmSJfpMxYtcd+4ccOGDdraXCMI9ULY%0AAeKNGDHiwoULT+9GTe/TOf5BtOg5kETzTl2P/XIyIzNT9JDiE/Po0ddde5y8GHHmzJnRo0eL%0AngMIQNgBJcJXX3117dq1Zg2+dHXseiHkqOg5kEGvcZNT09JOnDkrekgxOXril2YO3S2rVr1x%0A40bTpk1FzwHEIOyAksLY2PjQoUM/zJyxxmXinuULcnOyRS+CajM2MS1bvoI6nI3NzsmZsWhx%0Ar9Fjv/v++2PHjvGlOqgz7mMHlDihoaFDhgwpU7HSVDf3ip9bi54DFbZ1/g+RQf4voq7pyPtV%0As9gnT5wmOT9+9szT07Njx46i5wCCccQOKHE6dux469atGpXNXXraea9bLnoOVFi/iVMT3749%0AdV7a++kcDAxqYt/VqFy569evU3WAgrADSqby5cv7+fmZlTM9tHndupnOmelpohdBJZU1q1Cm%0A3GeHAiU8G5uRmTll7ryBkyZPmTYtNDTUwsJC9CKgRCDsgBJqzpw57969CwwMjL99fXrvTrF3%0AbopeBJXUuI2d//HQ3Nxc0UMK09Wbt77qaB94+syFCxfmzZunyTOXgf/g/wxASRQaGrpq1aod%0AO3Z07tz52rVr7Wxa/ODY7YD7qtzcHNHToGJ6j/321Zs3Zy5Fih5SOLJzcuavWtO8e8+mzZtf%0Au3aNq1+BvyDsgBLn5cuXw4cPd3FxcXBwUCgUxsbGnp6e3vv3/bJ/1/TenR7duyN6IFSJuVWV%0A0mVMDgXJ8NzYO9HRLbr3WrNj5wZ3dy8vL2NjY9GLgBKHsANKFqVSOWrUKAsLi4ULF/755337%0A9r1z506jOrV/GND1sId7nlxn1lCkvmrV9lBgcF5enughBZeXl7d2+47GnR3MKlW6ffv22LFj%0ARS8CSijCDihZVq5cGR4evnfvXl1d3b/8ofdXVHhs2XJsu/uPQ3o/j3ssYiBUT59xk5+/ehVx%0A7broIQX0MC6ubb8BP61as279+qCgoEqVKoleBJRchB1Qgly9enX27NkbN26sVavWP71m2LBh%0At27d+vyzstO6tzu8dQP3McYHfV6jtoGRsSreqTgnJ2f5xs312tnpm5hwoA7ID25QDJQUaWlp%0AjRs3btCggY+PT35ef+DAgYkTJxqamo1fsLxmg8ZFPQ8qbYXz6IS7UY8untfQ0BC9Jb8ib9wY%0AO8M1/sVLNze3YcOGqdByQCCO2AElxcSJE3Nycjw8PPL5+n79+t2/f79Tm1azBvbYPHdGempK%0Akc6DSuszzvlJ/NOrt26JHpIvaenprouXtujRu2bdenfv3h0+fDhVB+QTYQeUCG/evPH39/f2%0A9v6oC/1MTU23bNkSHBQUe+XCtG5tL58KLbqFUGlV69YvZWCoEncqPnrilzpt2x8IOR4YGOjr%0A61u+fHnRiwBVQtgBJUK5cuWSkpKaNGlSgPd26tTp1q1bIwYPcnMevWjckGePHxb6PEigbtNv%0ASvjX7B48ftxt+Mg+Y8c7DRl6+/btTp06iV4EqB7CDigpPuVkk4Eb/TI5AAAQmUlEQVSBwfLl%0Ay2/fvl1eX2dq17Y7Fv3ImVn8Rc/RE2MePbp5757oIX8jNS3thyXL6rWzS8vNu3r16pIlS/T1%0A9UWPAlQSYQcUMi8vL43/R09Pr2rVqmPGjHn06FHRfXStWrWCg4MP+x26c/aks71tuP8Bro7C%0AH+o0ba5bqpRfcIjoIf9FqVQeOBZYt10HT/+ArR4eJ0+e/PLLL0WPAlQYV8UChczLy2vIkCEt%0AW7a0sbH544eJiYmXL1++fv16mTJlzp07V69evSLdkJ6evmzZshUrVljX+XK467zqX35VpB8H%0AVfHzyAG5b17cOllSvot59eYt57k/Xb9zd8aMGTNmzDAwMBC9CFB52qIHAHLq0KHDvHnz/vJD%0ANze36dOnz5o168iRI0X66QYGBvPnzx8+fPj06dNdHbu2tO/mNNW1gqVVkX4oSr6uw8YuGjf4%0AfuzDWtWqil3yKO63OctXeB852rt3730HD1lZ8T9OoHBwKhYoPs7Ozrq6uufPny+ej6tSpcrB%0AgwcjLl7USk2abG+7ee6Mt29eF89Ho2Rq1Lqdjq6u2OfGvklMdF28tE7b9rEJz0+dOnXgwAGq%0ADihEhB1QfJRKZV5enqGhYXF+aLNmzcLDww8e8I2LujzZ3uawh3tWZmZxDkCJUqN+I1HXxqZn%0AZCzbuKlai1b+J0/t8fS8ePFi69athSwBJEbYAcVn2bJlOTk5dnZ2xf/RPXv2vH37ttuyZSe8%0Atk3q2DzIa0d2Vlbxz4Bw9oNHXLt1+1Hcb8X5oVnZ2Zv2eNawab1u157lbm63b9/u168f9xwG%0AigIXTwCF7P3FE61bt27Tps0fP0xKSrp06VJERET16tXDw8MFPsU8NTV1w4YNbm5uCh3dPuOc%0A2/d10tbRETUGQvSvZ7XUdcb344vjuatZ2dnb93svdd+YmpHp4uIydepUrpAAihRhBxSy92H3%0A/39evnz50aNHu7i4mJqaFv+qv0hNTXV3d1++fLmmXqnuI8Z3HDBUR1dX9CgUkx8cu5pqKS8e%0A8S/ST8nKzvYOODJ/1ZrXSUkTJkxwdXU1MTEp0k8EoOBULFBEfvrpJ+V/pKenW1tbZ2RkTJgw%0AoSRUnUKhKF269MyZMx8+fDh5/Di/jauc7VsF793Jd+/URKcBQy9dvxGfkFBEv/67rKyNu/dU%0Ab2k77eeFI8eO/e2335YuXUrVAcWDsAOKnL6+/po1a1JSUiZPnix6y38pU6bM3LlzHz16NGns%0AaP9Nq8e1a3pw05rUt0mid6Fo2fboq6mpeTjkeKH/yolv3y5ev8H66xZzV60ZN3Hi48ePZ8+e%0A/VGPPwbwiQg7oDj06NHD3t7e39/f379oz38VgImJydy5c+Pj49evXnUl6PC4tk13LPrxdcIz%0A0btQVDQ1Na1q1zkUWJjXxj6Jf+q6eGmVb1pu9fad6uISGxs7e/ZsIyOjQvwIAPlB2AHFZO3a%0AtXp6epMnT05JKYlPcdXT0xs6dOjdu3c9tmyOuxE5qWPz9a5TYu/cFL0LRaJ9H6dzly+/eFUI%0A9zW8cefuoG+dq9vYhl6M2Lh584MHD2bOnFmmTJlP/5UBFABhBxSTGjVquLi4xMfHz549W/SW%0Af6StrT148OCoqKgAf3+dtKSZfe1nDex+LjAgNydb9DQUpo79BymVSv/jBT8bm52T43PkqG2f%0Afg072b9KSw8KCrp27ZqTk5O2Ng80AkQi7IDiM3v2bEtLS3d398jISNFb/o2GhkaXLl1CQ0Pv%0A37/fqVULj5+mj23T1Gvlot9fPBc9DYVDU1u7crWaBbtT8bMXL+atWm3VrPmo6TO/aPBVVFRU%0AaGiokLszAvj/uN0JgA94+/bt9u3bN27cGPfbb1/bdenQz6ne1y25u6yqO7Jz876Vi5/fuGqa%0Av+tVlUrlmUuX3Hft8Q85XqVq1QkTJgwfPpxrXYGShrADkC95eXlBQUEeHh5BQUGfWVRu12dA%0A216OpuUriN6FAsrKynRqUG3HyhXD+/f791c+ff58z8FDO30OPIyLc3BwmDRpkp2dHWUPlEyE%0AHYCPk5CQsGvXrh07djx69LhR63bt+zo1sm2rpc3jK1SPs32rhtWsj+7a8bd/NCs7+3j4ac9D%0AfodDjpubmzs5OY0bN65KlSrFPBLARyHsABSEUqkMDw/ftm2bn5+fTin9FvbdW3XtVbtRUw7k%0AqJCDm9b4bVrzMuq6sVHpP36oVCojb9zY6+e/zz8gMyurb9++I0aMsLW15b9ZQCUQdgA+ydu3%0AbwMCAg4cOBASEmJiVv7rDvZtevWvWudL0bvwYe8y0gc1quG1fq1Tzx4KhSLq7j3vgCM+R48+%0AiX/asmXLYcOG9e/fn3vRAaqFsANQOJ49e+bt7b1v376rV69a1fqieUeHZnb2VjW/EL0L/2ai%0AXfN6VpVbNWvmfeTIrw9imzVr5ujo2L9//8qVK4ueBqAgCDsAhezXX3/19fX18/OLioqq+Ln1%0ANx27fGPXpXr9hpzLKzmUeXnRN69fPnX81CHvt29e169f39HRccCAAVWrVhU9DcAnIewAFJWH%0ADx/6+fkdPnw4IiLCxKx803adGtm2+/Kblnr6BqKnqamszMybF89ePnX8yqkTyYlvvv766+7d%0Au9vY2NjY2IieBqBwEHYAilxCQkJAQEBAQMDp06dzcnPrNPmmYau2DW3bVa5WQ/Q0tRD/IPrG%0A+dNRF87cuXRBU0PRoUOH7t27d+vWrUIF7lYDyIawA1B8MjIywsPDQ0JCgoODY2JizCwqf2XT%0Apt7XLes2+6asGZFRmJJ/f3Pz4rmo8+FRF868eZ5Qo0aNjh07duzYsUOHDgYGHDEFpEXYARAj%0ANjY2JCTkxIkTZ86cSUxMrFS1et2mzes2a0HkFdjrhGd3r0T8eu3y3csR8bHRJiYm7dq1e99z%0A1tbWotcBKA6EHQDB8vLyoqKiTp8+HRYWdvbs2cTERIsq1Wo2aFSjfsOaXzW2qvWFlhbPlf97%0Aubk58Q9ioqOu3rsaefdyxKtn8aampi1btrS1tbW1tW3cuLGWlpbojQCKFWEHoAR5H3lnz569%0AdOnSpUuXYmNjdUuVqla3fvX6DWvWb2j9RT3zz601NDVFzxRGmZf37PHD2NtRD25HPbh14/G9%0AO+8yMywtLVu1amVjY9OqVau6dety9TGgzgg7ACXXq1evIiMj30fe5cuXExMT9fQNPq9Z27pW%0AnSpf1LWqVefzmrUNSst8B92UpMS46HtxMfd/i7kfF/Pr4/v3MlJTzMzMmjZt2uQ/zM3NRc8E%0AUFIQdgBUxpMnT27evBn1H7GxsXl5eeUqmltYV7OwrmpuVaVS1eoWVaqZVaqsimdvc7KzX8bH%0AJTx59Py3JwmPHz599CAu+n7S65daWlpVq1atX79+nTp16tev37RpUysrK9FjAZRQhB0AVZWW%0Alnbnzp179+5FR0dHR0fHxMRER0dnZGRo6+iUq2jxmXklM4tKZhaVPzOv9Jm5xft/LmVgKHq1%0AIiUpMfHVi9fPnv7+8sXvLxLevEh4ER/3Iu7J6+fP8nJz9fX1q1evXq1atZo1a9arV69u3bp1%0A6tQpVaqU6NUAVANhB0AeSqUyLi4uOjr6yZMncXFx7/85Li4uPj4+KytLoVDo6OmVMS1XppxZ%0AmXKfGZctV8a0nFFZUwMjI33D0vqGpfUNDfVLGxkaGesbltbS0VEoFIZGxh/8ylr2u3fv3mWm%0ApyTnZGVlpKdlpqVmZ2WlJSenJP2e+jYpJSnx//6R+PvvL59nZWYqFIpSpUpVqlTJwsLC0tLS%0A2tq6WrVq73uuUqVKxfAfFABZEXYA5KdUKhMSEhISEl6+fPnq1atXr149f/78/b94/fp1cnJy%0ASkpKSkpKcnLyP/0K+oal/7jCNE+pTE/5x1cqFAp9ff3SpUuXK1euXLlypqam5f6jfPnyFStW%0AtLS0NDc3NzMzK+Q/SQAg7ADgz5KSklJSUtLS0tLS0hQKRW5u7h+1l5iYqFAoDA0NdXV1//wW%0AIyOjUqVKGRkZGRoa6unpmZiYFP9sAHiPsAMAAJCE+t4OCgAAQDKEHQAAgCQIOwAAAEkQdgAA%0AAJIg7AAAACRB2AEAAEiCsAMAAJAEYQcAACAJwg4AAEAShB0AAIAkCDsAAABJEHYAAACSIOwA%0AAAAkQdgBAABIgrADAACQBGEHAAAgCcIOAABAEoQdAACAJAg7AAAASRB2AAAAkiDsAAAAJEHY%0AAQAASIKwAwAAkARhBwAAIAnCDgAAQBKEHQAAgCQIOwAAAEkQdgAAAJIg7AAAACRB2AEAAEiC%0AsAMAAJAEYQcAACAJwg4AAEAShB0AAIAkCDsAAABJEHYAAACSIOwAAAAkQdgBAABIgrADAACQ%0ABGEHAAAgCcIOAABAEoQdAACAJAg7AAAASRB2AAAAkiDsAAAAJEHYAQAASIKwAwAAkARhBwAA%0AIAnCDgAAQBKEHQAAgCQIOwAAAEkQdgAAAJIg7AAAACRB2AEAAEiCsAMAAJAEYQcAACAJwg4A%0AAEAShB0AAIAkCDsAAABJEHYAAACSIOwAAAAkQdgBAABIgrADAACQBGEHAAAgCcIOAABAEoQd%0AAACAJAg7AAAASRB2AAAAkiDsAAAAJEHYAQAASIKwAwAAkARhBwAAIAnCDgAAQBKEHQAAgCQI%0AOwAAAEkQdgAAAJIg7AAAACRB2AEAAEiCsAMAAJAEYQcAACAJwg4AAEAShB0AAIAkCDsAAABJ%0AEHYAAACSIOwAAAAkQdgBAABIgrADAACQBGEHAAAgCcIOAABAEoQdAACAJAg7AAAASRB2AAAA%0AkiDsAAAAJEHYAQAASIKwAwAAkARhBwAAIAnCDgAAQBKEHQAAgCQIOwAAAEkQdgAAAJIg7AAA%0AACRB2AEAAEiCsAMAAJAEYQcAACAJwg4AAEAShB0AAIAkCDsAAABJEHYAAACSIOwAAAAkQdgB%0AAABIgrADAACQBGEHAAAgCcIOAABAEoQdAACAJAg7AAAASRB2AAAAkiDsAAAAJEHYAQAASIKw%0AAwAAkARhBwAAIAnCDgAAQBKEHQAAgCQIOwAAAEkQdgAAAJIg7AAAACRB2AEAAEiCsAMAAJAE%0AYQcAACAJwg4AAEAShB0AAIAkCDsAAABJEHYAAACSIOwAAAAkQdgBAABIgrADAACQBGEHAAAg%0ACcIOAABAEoQdAACAJAg7AAAASRB2AAAAkiDsAAAAJEHYAQAASIKwAwAAkARhBwAAIAnCDgAA%0AQBKEHQAAgCQIOwAAAEkQdgAAAJIg7AAAACRB2AEAAEiCsAMAAJAEYQcAACAJwg4AAEAShB0A%0AAIAkCDsAAABJEHYAAACSIOwAAAAkQdgBAABIgrADAACQBGEHAAAgCcIOAABAEoQdAACAJAg7%0AAAAASRB2AAAAkiDsAAAAJEHYAQAASIKwAwAAkARhBwAAIAnCDgAAQBKEHQAAgCQIOwAAAEkQ%0AdgAAAJIg7AAAACRB2AEAAEiCsAMAAJAEYQcAACAJwg4AAEAShB0AAIAkCDsAAABJEHYAAACS%0AIOwAAAAkQdgBAABIgrADAACQBGEHAAAgCcIOAABAEoQdAACAJAg7AAAASRB2AAAAkiDsAAAA%0AJEHYAQAASIKwAwAAkARhBwAAIAnCDgAAQBKEHQAAgCQIOwAAAEkQdgAAAJIg7AAAACRB2AEA%0AAEiCsAMAAJAEYQcAACAJwg4AAEAShB0AAIAk/gcrr7Daq2aGpwAAAABJRU5ErkJggg=="/>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51" name="AutoShape 7" descr="data:image/png;base64,iVBORw0KGgoAAAANSUhEUgAAA0gAAANICAMAAADKOT/pAAADAFBMVEUAAAABAQECAgIDAwME%0ABAQFBQUGBgYHBwcICAgJCQkKCgoLCwsMDAwNDQ0ODg4PDw8QEBARERESEhITExMUFBQVFRUW%0AFhYXFxcYGBgZGRkaGhobGxscHBwdHR0eHh4fHx8gICAhISEiIiIjIyMkJCQlJSUmJiYnJyco%0AKCgpKSkqKiorKyssLCwtLS0uLi4vLy8wMDAxMTEyMjIzMzM0NDQ1NTU2NjY3Nzc4ODg5OTk6%0AOjo7Ozs8PDw9PT0+Pj4/Pz9AQEBBQUFCQkJDQ0NERERFRUVGRkZHR0dISEhJSUlKSkpLS0tM%0ATExNTU1OTk5PT09QUFBRUVFSUlJTU1NUVFRVVVVWVlZXV1dYWFhZWVlaWlpbW1tcXFxdXV1e%0AXl5fX19gYGBhYWFiYmJjY2NkZGRlZWVmZmZnZ2doaGhpaWlqampra2tsbGxtbW1ubm5vb29w%0AcHBxcXFycnJzc3N0dHR1dXV2dnZ3d3d4eHh5eXl6enp7e3t8fHx9fX1+fn5/f3+AgICBgYGC%0AgoKDg4OEhISFhYWGhoaHh4eIiIiJiYmKioqLi4uMjIyNjY2Ojo6Pj4+QkJCRkZGSkpKTk5OU%0AlJSVlZWWlpaXl5eYmJiZmZmampqbm5ucnJydnZ2enp6fn5+goKChoaGioqKjo6OkpKSlpaWm%0Apqanp6eoqKipqamqqqqrq6usrKytra2urq6vr6+wsLCxsbGysrKzs7O0tLS1tbW2tra3t7e4%0AuLi5ubm6urq7u7u8vLy9vb2+vr6/v7/AwMDBwcHCwsLDw8PExMTFxcXGxsbHx8fIyMjJycnK%0AysrLy8vMzMzNzc3Ozs7Pz8/Q0NDR0dHS0tLT09PU1NTV1dXW1tbX19fY2NjZ2dna2trb29vc%0A3Nzd3d3e3t7f39/g4ODh4eHi4uLj4+Pk5OTl5eXm5ubn5+fo6Ojp6enq6urr6+vs7Ozt7e3u%0A7u7v7+/w8PDx8fHy8vLz8/P09PT19fX29vb39/f4+Pj5+fn6+vr7+/v8/Pz9/f3+/v7////i%0AsF19AAAACXBIWXMAABJ0AAASdAHeZh94AAAgAElEQVR4nO3dCXwU9d348V+yu0nIwRHuKxwF%0ADxChiCgPSqmIDwICFUWoIChCW7Eg2jbaitT4WKhWaiv2Kfi0SmmlKopglRZESlU8MH8vvEiR%0AcsghEq5gQpLd+e9uQjh3Mrvzm/nN8Xm/Xk8ySWZ+831oPmZ3M9kVGgDThOoBAC8gJEACQgIk%0AICRAAkICJCAkQAJCAiQgJEACQgIkICRAAkICJCAkQAJCAiQgJEACQgIkICRAAkICJCAkQAJC%0AAiQgJEACQgIkICRAAkICJCAkQAJCAiQgJEACQgIkICRAAkICJCAkQAJCAiQgJEACQgIkICRA%0AAkICJCAkQAJCAiQgJEACQgIkICRXeEaIzMQfproM5CEkGz0mov6vZvuJ2PZjRo9MJqTSBwa1%0AzgjlX/jj/9S3DOQhJBvFQxpes321sZB2B8QnWlIhrWsqamU9f+rXCMkyhGSjeEhZZbHNilxj%0AIf1WJBlSabSjrO/ee9eV6ULkfXnKFwnJMoRko2hI7YR4Nrb5khBtjYTUP9mQ/ihE8P3YxrJo%0AqL865YuEZBlCslE0pKsD4obY5vdFYERtSAfvv6hJqMUVf6yOffAHIS7V/nV545xLVkc/GlZz%0AG21GrIAGxz9dG8SNQnSPr7so+uH+2nPMFqJTzdb/PLRsS/RdZMkVzYN5fX9brZ0Q0qff65KZ%0A1+c3VbHtqgWDmgeb9/nFXlv+DbyKkGwUDWn8xSI/9i3dTvS7piak99rW3qXp91X0o78Kcd4/%0AMmIfBl4+OaQmtZ9epR0L4vXoh5/F1r1WiGuPneN3QqSvPPGk19cuPzxyPKRns2o+d1m5plUO%0ArN2h87/t+5fwHkKyUTSkMdGfGK9oWrEQs0fFQyqNdtTpf58vDAoxTIt/q7fu2OuuK6Lf2H01%0A7aPl0fd/efXz2Keb1X76Qq0uiG5CzIm+q2wkxN+OneOzQDS2oQs+itR+/EI0rN99+Ifo8k/X%0AHfd5AyF+/NmGbwlxl6b9rxDnLFn/99FCfMv2fxAPISQbRUMa/XbsB0zsBtjbI+Mh3StEwy+i%0AX1scbeSd+Le6uLQ8/nMkvVLTdom6+0hiQEXdp2uDeKgmqzVCtKiqO8kvan6+NLlq4aHYh/OH%0ADYueT4vejryh7rhbhRgYfbc3V+SVa5OEeCj6QeW4W+eGbf8X8Q5CslEspEhb0VHTvinaRmpC%0A6inEpNjXqpsIUVRTTPQnlvZy9P1/Tg7p2Ke31AWxN3pjb5umzRRi5glnWXlpWk1LjR8//skf%0ACnFF3XHfEOJn5VEDhHhZmy5EwZ922/VP4FmEZKNYSNotQry/XYhpWjykSLDmB4Km9RNiXE0x%0AsZ8kJdH3H54c0gmfPnZfZ4wQv9G0rkK8e9J5dvzpe+fHY4o9QLh6ZOfMeFeDjh0XSRd1fqO9%0Amx17/43Jz1bb+4/hMYRko3hIq4T41e+EWF0TUln0m3hB/IuXx39XeyyR7aeFdOKnj324KnbH%0AZpMQ559+ru0/jd5Z6hZ/8EHknNuz2QkhlR3vSMzWtLXdazY7rrfpn8GTCMlG8ZAqG4uho0Xj%0AyuM/kR6Mf/EiIa5PNqRIRxH48qFTfl9UWfs4w/3Rfb8+HP15892vtdjPweM/kaKJPXzCAZH1%0ARUMaRXduXmb5v4B3EZKN4iFp3xV5+bFmau4j9Yr3E/32zxPil8mGpBVF1/i2COyqO8Xmq88J%0Arq7Z/GN03/J/iZrbfYNOCEk7K/6Ax0mql0fvo71k7f/7nkZINqoJ6enY7ahnjoUUTSFne/Rr%0AC4VI++y0YnZH372qJQ5pR0D0D4krj5+iPF+IDh/GtvZ8U4hztdXRA97WtI+id4sG1B33QyHa%0AHInG890b79zx9S8mjYg/WneFEMvs/MfwGEKyUU1Ih6P3/bMOHwtpfzshujz67I+jn7xZO62Y%0A6pAQlz79j4Qh1fzK9q8nnCN2nyit3/jrB8Z+fft/2hfRgq76cEXbs4Vo+Mae2uM2NxCi/4v/%0AuFqI7tWxH4mjX3rnX/eGROYem/89vISQbFQTkja05nevI0+5suHqcu20kLQrY18Zljik2BV1%0AjcpPPMkvgsceSAjco8V/+kS12dIm9sjCseOeqXkcT7SN3mz8sF3t7ul/sOvfwYsIyUa1IT1W%0AU9DIY9fa/c+FjUKtv7MivsupIe0Y1Tir0/2JQ6pqXvOT7ASbf/ZfzUMZzfvf+Wnso8pfdmvQ%0A9uYvtNVnB9v9te64j2/qlJl93s9KY9u77+vTMpR9ztT3Lf7/3tsIyd12R2/BvaZ6CBCS200R%0A4gLVM0AjJFdb/KvvRG/qrax/R1iOkFzsW7HHCKaqngIxhORi12QGz36IS7YdgZAACQgJkICQ%0AAAkICZCAkAAJCAmQgJAACQgJkICQAAkICZCAkAAJCAmQgJAACQgJkICQAAkICZCAkAAJCAmQ%0AgJAACQgJkICQAAkICZCAkAAJCAmQgJAACQgJkICQAAkICZCAkAAJCAmQgJAACQgJkICQAAkI%0ACZDAhpDeewdwlfeS/y63PqQNAnCZDUl/m1sf0uviqOXnACQ6Kl5P+hhCAk5BSIAEhARIQEiA%0ABIQESEBIgASEBEhASIAEhARIQEiABHaHFNm8+rnn1myrZy9CgsvYG1LpHS1qLvArKPpabz9C%0AgsvYGtLOTqLrpNkPPHD3uDaiZ6nOjoQEl7E1pMmhp2u3qh9Nm6GzIyHBZWwNqdVNx7eva6+z%0AIyHBZWwNKXT/8e2fZ+jsSEhwGVtD6jDm+PbIjjo7EhJcxtaQZqQ9WFGzVXaPKNTZkZDgMraG%0AtL+3yBs06dZpEwdmi0sP6+xISHAZe3+PdHRer0Ds10ihixdW6+1HSHAZ2y8RKt9UXFxypkzC%0Aa1fXeZiQ4Eg7dyb4gopr7ao/eP0M1wh93rxJnWxRZvIcgAUOdf1pgq/YG9Lr06JvFreM3rjr%0AuU5vv98LvXtQgCLjuxxM8BVbQ1qbkRvRnhG5194yOD3zHZ0dCQlOtDCzONGXbA1pYIsSTevU%0AIXYz880GV+nsSEhwoI3Z8xN+zdaQGv5I0w6I38S3pzTW2ZGQ4Dxl3UYn/qKtIeXM0rSKtGfj%0A2/dm6exISHCeiQX7En/R1pD6dz2iaf/1o9hmRc+eOjsSEhxnSWi9zldtDekF0fsfVcWtFx2p%0AfPMysUBnR0KC02zKm6f3ZXsf/n4sRzTo1kEEAiLt9ojOfoQEhynvNVTvO9buX8jufvC/O+Rl%0ANr1gesKHEeMICQ4zpd1e3a8781mECAnO8lTwNf0dCAmoV0nDufXsQUhAfSp6DwnXswshAfWZ%0A1nJXfbsQElCPpYGX692HkAB9W/OL6t+JkABdlf0G6v45dw1CAnTNbPGFgb0ICdDzYmCVkd0I%0ACdCxvdksQ/sREpBYVf8BVYZ2JCQgscL8rcZ2JCQgoZXpyw3uSUhAIrtb6T2x9kkICUggPKiv%0A4ScqJSQggVlNthjel5CAM1sbXGZ8Z0ICzmhP65lJ7E1IwJmEB/dJ5pUcCAk4k6JGm5PZnZCA%0AM1gXfDKp/QkJON2+gmnJHUBIwGkiI3p8ndwRhAScZm7uJ0keQUjAqd7KWJzsIYQEnKK045Sk%0AjyEk4GSRUd2PJH0QIQEnm5fzUfIHERJwkg0ZT6RwFCEBJzrQeWwqhxEScKJxXQ+lchghASeY%0An/VuSscREnDcBw0WpnYgIQF1Dp8zJsUjCQmoM77LwRSPJCTgmIWZ+q9trIOQgFobs+enfCwh%0AATXKuo1O/WBCAmpMLNiX+sGEBMQtCa03cTQhATGb8uaZOZyQgKjyXkMjZo4nJCBqSru9po4n%0AJEDTngq+Zm4BQgK0koZzTa5ASEBF7yFhk0sQEjCt5S6zSxASfG9p4GXTaxAS/G5rfpH5RQgJ%0APlfZb2C1+VUICT43s8UXElYhJPjbi4FVMpYhJPja9mazpKxDSPCzqv4DqqQsREjws8L8rXIW%0AIiT42Mr05ZJWIiT41+5WhbKWIiT4VnhQ36Oy1iIk+NasJlukrUVI8Ku1wWXyFiMk+NSe1jMl%0ArkZI8Kfw4D7S7iBphAS/Kmq0WeZyhARfWhd8Uup6hAQ/2lcwTe6ChAQfiozo8bXcFQkJPjQ3%0A9xPJKxIS/OetjMWylyQk+E5pxynS1yQk+E1kVPcj0hclJPjNvJyP5C9KSPCZDRlPWLAqIcFf%0ADnQea8WyhAR/Gdf1kBXLEhJ8ZX7Wu5asS0jwkw8aLLRmYUKCjxw+Z4xFKxMSfGR8l4MWrUxI%0A8I+FmcVWLU1I8I2N2fMtW5uQ4Bdl3UZbtzghwS8mFuyzbnFCgk8sCa23cHVCgj9syptn5fKE%0ABF8o7zU0YuX6hARfmNJur6XrExL84Knga9aegJDgAyUN51p8BkKC91X0HhK2+BSEBO+b1nKX%0A1acgJHje0sDLlp+DkOB1W/OLrD8JIcHjKvsNrLb+LIQEj5vZ4gsbzkJI8LYXA6vsOA0hwdO2%0AN5tly3kICV5W1X9AlS0nIiR4WWH+VntOREjwsJXpy206EyHBu3a3KrTrVIQEzwoP6nvUrnMR%0AEjxrVpMttp2LkOBVa4PL7DsZIcGj9rSeaePZCAneFB7cx7Y7SBohwauKGm2283SEBE9aF3zS%0A1vMRErxoX8E0e09ISPCgyIgeX9t7RkKCB83N/cTmMxISvOetjMV2n5KQ4DmlHafYfk5CgtdE%0ARnU/YvtJCQleMy/nI/tPSkjwmA0ZTyg4KyHBWw50HqvitIQEbxnX9ZCK0xISPGV+1rtKzktI%0A8JIPGixUc2JCgoccPmeMojMTEjxkfJeDis5MSPCOhZnFqk5NSPCMjdnzlZ3b7pAim1c/99ya%0AbfXsRUhIXlm30epObm9IpXe0EHEFRbp/LkJISN7Egn3qTm5rSDs7ia6TZj/wwN3j2oiepTo7%0AEhKStiS0XuHZbQ1pcujp2q3qR9Nm6OxISEjWprx5Kk9va0itbjq+fV17nR0JCUkq7zU0ovL8%0AtoYUuv/49s8zdHYkJCRpSru9Ss9va0gdTvi188iOOjsSEpLzVPA1tQPYGtKMtAcrarbK7hF6%0AL7hBSEhKScO5iiewNaT9vUXeoEm3Tps4MFtcqpcKISEZFb2HhBWPYO/vkY7O6xWI/RopdPHC%0Aar39CAnJmNZyl+oRbL9EqHxTcXHJmZ7d/PPmTepkCyV/nAV3Whp4WfUISq61O/r2K5+f/tnw%0A2tV1ZvATCYZtzS9SPYLNId33Suzt75tEb9xdoPt3jNy0g2GV/Qbq3k+wh60hxR+p+5vI/M73%0A+otG/9bZkZBg2MwWX6geQVMRUtdGH0ffPpt2o86OhASjXgysUj1CjO0hfSl+Gt8e1VZnR0KC%0AQdubzVI9QpztIW0TNc9vfndIZ0dCgjFV/QdUqZ4hzvaQqhvNiW/flK+zIyHBmML8rapHqGFv%0ASOM2lOy9q0vsGc4/yblKZ0dCgiEr05erHqGWvSHVWKppf8lJf1tnR0KCEbtb6V2xaStbQ3r8%0A17NnTBw1cI2mPdr2Bb0dCQkGhAf1PdM1Mkooehahw/rXGBISDJjVZIvqEerwdFxwq7XBZapH%0AOI6Q4FJ7Ws9UPcIJCAnuFB7cxzF3kDRCglsVNdqseoQTERJcaV3wSdUjnISQ4Eb7CqapHuFk%0AhAQXiozoofuc1/YjJLjQ3NxPVI9wCkKC+7yVsVj1CKciJLhOaccpqkc4DSHBbSKjuh9RPcNp%0ACAluMy/nI9UjnI6Q4DIbMp5QPcIZEBLc5UDnsapHOBNCgruM6+rIZ+ElJLjK/CzdpxZVhpDg%0AJh80WKh6hDMjJLjI4XPG1L+TEoQEFxnf5aDqERIgJLjHwsxi1SMkQkhwjY3Z81WPkBAhwS3K%0Auo1WPUJihAS3mFiwT/UIiRESXGJJaL3qEXQQEtxhU9481SPoISS4QnmvoRHVM+ghJLjClHZ7%0AVY+gi5DgBk8FX1M9gj5CgguUNJyreoR6EBKcr6L3EP2XL1GPkOB801ruUj1CfQgJjrc08LLq%0AEepFSHC6rflFqkeoHyHB4Sr7DaxWPUP9CAkON7PFF6pHMICQ4GwvBlapHsEIQoKjbW82S/UI%0AhhASnKyq/4Aq1TMYQkhwssL8rapHMIaQ4GAr05erHsEgQoJz7W5VqHoEowgJjhUe1Peo6hmM%0AIiQ41qwmW1SPYBghwanWBpepHsE4QoJD7Wk9U/UISSAkOFN4cB/X3EHSCAlOVdRos+oRkkFI%0AcKR1wSdVj5AUQoIT7SuYpnqE5BASHCgyosfXqmdIDiHBgebmfqJ6hCQREpznrYzFqkdIFiHB%0AcUo7TlE9QtIICU4TGdX9iOoZkkZIcJp5OR+pHiF5hASH2ZDxhOoRUkBIcJYDnceqHiEVhARn%0AGdf1kOoRUkFIcJT5We+qHiElhAQn+aDBQtUjpIaQ4CCHzxmjeoQUERIcZHyXg6pHSBEhwTkW%0AZharHiFVhATH2Jg9X/UIKSMkOEVZt9GqR0gdIcEpJhbsUz1C6ggJDrEktF71CCYQEpxhU948%0A1SOYQUhwhPJeQyOqZzCDkOAIU9rtVT2CKYQEJ3gq+JrqEcwhJDhAScO5qkcwiZCgXkXvIWHV%0AM5hESFBvWstdqkcwi5Cg3NLAy6pHMI2QoNrW/CLVI5hHSFCsst/AatUzmEdIUGxmiy9UjyAB%0AIUGtFwOrVI8gAyFBqe3NZqkeQQpCgkpV/QdUqZ5BCkKCSoX5W1WPIAchQaGV6ctVjyAJIUGd%0A3a0KVY8gCyFBmfCgvkdVzyALIUGZWU22qB5BGkKCKmuDy1SPIA8hQZE9rWeqHkEiQoIa4cF9%0APHMHSSMkqFLUaLPqEWQiJCixLvik6hGkIiSosK9gmuoR5CIkKBAZ0eNr1TPIRUhQYG7uJ6pH%0AkIyQYL+3MharHkE2QoLtSjtOUT2CdIQEu0VGdT+iegbpCAl2m5fzkeoR5CMk2GxDxhOqR7AA%0AIcFeBzqPVT2CFQgJ9hrX9ZDqEaxASLDV/Kx3VY9gCUKCnT5osFD1CNYgJNjo8DljVI9gEUKC%0AjcZ3Oah6BIsQEuyzMLNY9QhWISTYZmP2fNUjWIaQYJeybqNVj2Ad8yHFXtum4s3/F5E0UBwh%0AedHEgn2qR7CO2ZCqb7lG07Z0FuISmd/6hORBS0LrVY9gIbMhzRG3a9rQtB/ckj5H3lCE5EGb%0A8uapHsFKZkM672pN25E2WdNu6iVvKELynvJeQ6Xe+ncasyHl/l7T/iBe1rRHG8sbipC8Z0q7%0AvapHsJTZkPKiIY3LOapp83PkDUVInvNU8DXVI1jL9E2772q7c78T3ZhytrSZCMlzShrOVT2C%0AxcyG9AvRr434p6YtyvixvKEIyWMqeg8Jq57BYmZDKp/UoNFvo+9b9yiVNhMhec20lrtUj2A1%0AWVc2vCH1JXUJyVOWBl5WPYLlJIR0aON+ScPUISQv2ZpfpHoE65kO6Z8XCLFS066S+t8cQvKQ%0Ayn4Dq1XPYD2zIb2Vkfff0ZC+bJXxjryhCMlLZrb4QvUINjAb0rCC7btiP5H2FIw0dGxk8+rn%0AnluzrZ69CMk7XgysUj2CHcyG1HSOFg9J+0UTA0eW3tFCxBUU6b4YASF5xvZms1SPYAuzIQX/%0AXBvS46H6D9zZSXSdNPuBB+4e10b01Hu4nJC8oqr/AKmP5zqW2ZDa/aw2pBs71H/g5NDTtVvV%0Aj6bN0NmRkLyiMH+r6hHsYTakqU2KYyGV/lTcUv+BrW46vn1de50dCckjVqYvVz2CTcyGtKt9%0AsLfo1StTFOyu/8DQ/ce3f56hsyMhecPuVoWqR7CL6d8j7flBUyFEsx/sMXBghxOe1GxkR50d%0ACckTwoP6HlU9g10kXNkQ2V1i4KdRzIy0BytqtsruEXr/rSIkT5jVZIvqEWxjJqTtJ6v/wP29%0ARd6gSbdOmzgwW1yqlwohecHa4DLVI9jHTEjiZEbONq9XILZr6OKFuleNEJIH7Gk9U/UINjIT%0A0nUnM3Zw+abi4pIz3XIuvWVqnUsJyfXCg/v45g6SJvEJIsuS+YuTg4Wnvzo8IXlLUaPNqkew%0Ak7SQ/tI6iRW2ixd0v85NO9dbF3xS9Qi2Mh3S3kfumBH1vbZ59R84+Zhx4orJk3V2JCS321cw%0ATfUI9jIb0pbmtQ81BO81cKDRBycIyeUiI3roXpXsPWZDuj5v/hrxf3+/s+3fDRw4M9Dr7/tj%0APhJ/3a/3Z7WE5HJzc0+/E+xtZkMquFMrF29o2rv5Rp63bEOvtB8c0LiP5HVvZSxWPYLdzIYU%0AWhhdYl10Y9YgI4dWzW3QZikheVxpxymqR7Cd2ZDy79O03MejG0saGTv434PEVdsIycsio7of%0AUT2D7cyGNLLtWq1fn+i3/ZQWRg9/PD93NiF52Lycj1SPYD/TT36SdYH2R9H+O73E9YaP3zNW%0AEJJ3bch4QvUICpj+PdI7v9MidzUQaSOSebGBl+74WPfrhOReBzqPVT2CCnKubCjfIve3BoTk%0AXuO6HlI9ggpmQ4o/N/qXS5+Q+5f5hORa87PeVT2CEuZCWtcr9gSrqxoKEfytxKEIybU+aLBQ%0A9QhqmAqpOFss1rTDzbJ+dF+bdJ5pFdrhc8bUv5MnmQppXPDF6NsF4hFN+yykdxFqsgjJpcZ3%0AOah6BEVMhdRhROztyIzYVT/DzpI3FCG51MLMYtUjqGIqpMzZ0TeR/AGx7duzpc1ESC61MXu+%0A6hGUMRfSr6JvNoq7Ytuzg/KGIiRXKus2WvUI6pi7aRd73djfiJdi299vKm8oQnKliQX7VI+g%0AjqmQhnWu1ip75MR+GVvd/hKJUxGSCy0JrVc9gkKmQnpaDJx/lZge3Qr/SDwocSpCcp9NefNU%0Aj6CSqZDC1wghLohdETJMdJH5rU9IrlPea2hE9QwqmbuyIfLK/OXxl7/53hADT7RqHCG5zpR2%0AyVy17D2Sno5L8qvtEpLbPBU08lQDHibtee2kIiSXKWk4V/UIihESzKvoPSSsegbFCAnmTWuZ%0AzBNWexIhwbSlgZdVj6AcIcGsrflFqkdQj5BgUmW/gZIftHUjQoJJM1t8oXoEByAkmPNiYJXq%0AEZyAkGDK9mazVI/gCIQEM6r6D6hSPYMjEBLMKMyX+0RsrkVIMGFl+nLVIzgEISF1u1sVqh7B%0AKQgJKQsP6ntU9QxOQUhI2awmW1SP4BiEhFStDS5TPYJzEBJStKf1TNUjOAghITXhwX24g3Qc%0AISE1RY02qx7BSQgJKVkXfFL1CI5CSEjFvoJpqkdwFkJCCiIjesh9sVPXIySkYG7uJ6pHcBhC%0AQvLeylisegSnISQkrbTjFNUjOA4hIVmRUd2PqJ7BcQgJyZqX85HqEZyHkJCkDRlPqB7BgQgJ%0AyTnQeazqEZyIkJCccV0PqR7BiQgJSZmf9a7qERyJkJCMDxosVD2CMxESknD4nDGqR3AoQkIS%0Axnc5qHoEhyIkGLcws1j1CE5FSDBsY/Z81SM4FiHBqLJuo1WP4FyEBKMmFuxTPYJzERIMWhJa%0Ar3oEByMkGLMpb57qEZyMkGBIea+hEdUzOBkhwZAp7faqHsHRCAlGPBV8TfUIzkZIMKCk4VzV%0AIzgcIaF+Fb2HhFXP4HCEhPpNa7lL9QhOR0hy3XjRX7334sRLg/9UPYLjEZJUC7Im53T4lceu%0AkP68cZHqEZyPkGT6MPtR7eDD7fOm/0f1JBJV9htYrXoG5yMkicrOvSb27ujTfdOHe+dympkt%0AvlA9ggsQkkQ31F3V+erwtAsWeeO/4y8GVqkewQ0ISZ7HT7yqs2R6dueHy9QNI8v2ZrNUj+AK%0AhCTNZ3m/PunjL+e2aTR9u6JhZKnqP8B7j0JagZBkKe857NSrOisWdc+49m0l08hSmL9V9Qju%0AQEiy3Nz+q9M/GVk9PK3/CvdeNr0yfbnqEVyCkCRJeFXne1Ozuj7s0pe3292qUPUIbkFIcpQ0%0A/GXCr+2and9ithv/CCE8qO9R1TO4BSFJUdH7Sr2rOg8vODtzgvteC2VWky2qR3ANQpLilrb1%0A/MQJr7g8/fIV9gwjy9rgMtUjuAchyfBMYE39O70zIdhrUaX1w8iyp/VM1SO4CCFJsDX/PkP7%0AbSls3Gq2W57SKjy4D3eQjCMk8yr7fdvo1UAHHy7InfqppdPIUtRos+oR3ISQzLutxU7jO1ev%0AuDh9uAue/2Bd8EnVI7gKIZn2t2Sv6nz12sAFixx+4c2+gmmqR3AXQjJrW9N7kj7m39OzO809%0AYMEwskRG9HDp75BVISSTqvoPSOXPJfbObdtw+jbp08gyN/cT1SO4DCGZ9JPmO1I78Oii80LX%0Avil3GFneylisegS3ISRzXko38VvWV4en9X/agX/+V9pxiuoRXIeQTNnR7E5Tx78/NavLw0ck%0ADSNLZFR3p43kfIRkRviyi8xeqrB7dtPmhc56UoR5Oe67LFA5QjLjbhlXdVYsOjdzwkbz68iy%0AIeMJ1SO4ECGZ8ErweSnrhFdcLhzz538HOo9VPYIbEVLq9rS+XdpaxROCPReUS1vOhHFdD6ke%0AwY0IKWXhwRfKvKpz5+wmLWef4a/VbTY/613VI7gSIaXs3safy13w0MMdcqcq/kXoBw0Wqh3A%0ArQgpVesCS6SvGV7RL334aunLGnf4nDEKz+5mhJSiL9veasm670wI9FZ3Rev4Lh57AQDbEFJq%0AIledb9VVnZun53Scu9+ixfUtzCxWcl4PIKTUzMm18M/zDjzcLm+6gidm3Jg93/6TegQhpeTN%0A0J8tXf/ooh7pw9+w9BSnK+s22uYzegghpaK041TLz2H/Fa0TC9zyfBIOREgpiIw8z46rOjdN%0Ab/ANG69oXRLyzms62Y+QUvBQzsf2nGjP7GaNpqf4907J2pQ3z54TeRMhJe/tjEW2natiUbeM%0ACR/YcKLyXkMdcrGfOxFS0vZ3mmTn6cKrh9txReuUdm58dnLnIKSkjT3L7qs6350QOsviF7RI%0A+GIaMIaQkvVI1nv2nzT+ghYWXtFa0nCudYv7AiEl6f0Gjyk57+EFZ2VOsOoxjoreQ/ReTAP1%0AI6TkHD5b2VWd4RX9rbqidQgtkBMAABGbSURBVFrLXZas6yOElJzrlV7V+c6E4DcteEGLpYGX%0Apa/pN4SUlAWqr+r8vLBR69mlctfcml8kd0E/IqRkfJj9qOoRtIMPt8+b/h+JC1b2G+jA59Zz%0AG0JKQtm516geIaby6b7pw5P/ny2RmS2c9Wxg7kRISbjBMVd1vjo87YJFcn6OvJjsi2ngTAjJ%0AuMeddFVnyfTszg+XmV9ne7NZ5hcBIRn3Wd6vVY9wki/ntmk4fbvJRar6D3D4KzW5BCEZVd5z%0AmNOu6qxY1D3j2rdNLVGYr+Avcb2IkIy6ub36J507TWT18DQzV7SuTF8ucRo/IySDHHtV53tT%0As7qmekXr7laFcofxL0IypqThL1WPkFDsitbCJF4Puk54UF+ZzxXra4RkSEXvK518VefhBWdn%0ATkj+tVhmyXgxDcQRkiG3tHX4n72FV1yefnmSd5bWBpdZNI0PEZIRzwTWqB6hfu9MCPZK5orW%0APa1nWjeM7xCSAVvz71M9giFbChu3mm304ovw4D7cQZKHkOpX2e/bbrmq89DDBblTjT0HbFGj%0AzRYP4yuEVL/bWqTykJgi4RUXpw838Ej9uuCT1g/jI4RUr7+57arOV68NXFDfC1rsK5hmzzB+%0AYXdIkc2rn3tuzbZ69nJSSNua3qN6hKT9e3p2J90XtIiM6GHtsxL5jr0hld7RQsQVFOn+7+ig%0AkKr6D3DLHaQTHXi4bcPpif97NTdX8SsDeo6tIe3sJLpOmv3AA3ePayN66v29tINC+klzm54y%0AWLaji84LXfvmmb/2VsZie4fxPltDmhx6unar+tG0GTo7Oiekl9JXqB4hdYle0KK04xT7h/E4%0AW0NqddPx7eva6+zomJB2NLtT9QimvD81q8tpL2gRGdXdvte48AtbQwrdf3z75xk6OzolpPBl%0AF8l/8it77Z7dtHnhyU/KMC8n+cvyUA9bQ+pwwpMrjuyos6NTQrrbC1d1Viw6N2PCxuMfb8h4%0AQt0wnmVrSDPSHqyo2Sq7R+j9JYxDQnol+LzqEaQIr7j8+AtaHOg8Vu003mRrSPt7i7xBk26d%0ANnFgtrhULxVnhLSn9e2qR5Dm/00I9VxQHtsa19XuF9PwBXt/j3R0Xq9A7NdIoYsX6v5yxhEh%0AhQdf6KWrOnfObtJy9lfa/Kx3VU/iSbZfIlS+qbi45EzfoOG1q+vMcEJIRY0/Vz2CXAd/1SFn%0ActYC1WN4k5Jr7ao/3lB+2ic/b96kTrZQf/Pjn8GlqkeQruqvF92oegaPsjek16/tOapYKzlP%0AiDzdJ9F2wE27L9veqnoEuIitIb0ZEiHRcHP/nOuvzhV6VwyoDyly1flc1QnjbA1peOi56h09%0Axgde1bTPci7X2VF9SHNyjf15HBBna0hNx0ffrBEDYtuTmujsqDykN0N/VjsAXMbeS4RmR9+U%0Aie/Htn8a1NlRdUilHacqPT9cx9aQOt0Qe9sofh3odS11dlQcUmTkeVzViaTY+2cUma8e23wj%0ANFpnR8UhPZRj1cuHw6tsDamkSdpdNVvjQ0G9V1FQG9LbGYsUnh2uZO/vkT6+/O6ajR7tdV8F%0AQWlI+ztNUndyuJSiZxGq51VLlYY09iz1l1XAbXg6rlM9kvWesnPDtQjpFO83eEzVqeFihHSy%0Aw2ePqX8n4FSEdLLruxxUdGa4GiGdZEFmsZoTw+UI6UQfZuv+dQeQCCGdoOzca1ScFh5ASCe4%0AocDoq3QBJyOk4x4PrVdwVngCIdX5LO/X9p8UHkFIx5T3HJbci4IDxxHSMTe3/8r2c8IzCKnW%0AU0EDL7wKJEBINUoa/tLmM8JTCCmuoveVYXvPCG8hpLhb2u6194TwGEKKeSawxtbzwXMIKWpr%0A/n12ng4eREiaVtnv27ovMgPUi5A07bYWO208GzyJkLS/BVbZdzJ4FCFta3qPbeeCZ/k+pKr+%0AA7iDBNN8H9JPmu+w61TwML+H9FK63gueAQb5PKQdze6050TwOH+HFL7sokpbTgSv83dIdzfZ%0AYst54Hm+DumV4PN2nAY+4OeQ9rS+3YazwBd8HFJ48IVHrT8L/MHHId3b+HPrTwKf8G9I6wJL%0ALD8HfMO3IX3Z9larTwEf8WtIkavO/9riU8BP/BrSnNxPLT4DfMWnIb0Z+rO1J4DP+DOk0o5T%0ALV0fvuPLkCIjzzti5frwH1+G9FDOx1YuDx/yY0hvZyyycHX4kg9D2t9pknWLw6d8GNLYsw5Z%0Atzh8yn8hPZL1nmVrw7d8F9L7DR6zamn4mN9COnz2GItWhq/5LaTruxy0aGX4ms9CWpBZbM3C%0A8Dl/hfRh9qOWrAvf81VIZedeY8WygL9CuqFgnxXLAr4K6fHQegtWBTRfhfRZ3q/lLwrE+Sek%0A8p7DItIXBWr4J6Sb238lfU2glm9Ceir4muwlgTp+Camk4S8lrwicwCchVfS+Mix3ReBEPgnp%0AlrZ75S4InMQfIT0TWCN1PeAUvghpa/59MpcDTuOHkCr7fbta4nLA6fwQ0m0tdkpcDTgDH4T0%0At8AqeYsBZ+T9kLY1vUfaWkACng+pqv8A7iDBcp4P6SfNd8haCkjI6yG9lL5C0kqADo+HtKPZ%0AnXIWAnR5O6TwZRdVSlkI0OftkO5uskXKOkA9PB3SK8HnZSwD1MvLIe1pfbuEVQADPBxSePCF%0AR82vAhjh4ZDubfy5+UUAQ7wb0rrAEgmTAIZ4NqQv294qYxLAEK+GFLnq/K+ljAIY4dWQ5uR+%0AKmUSwBCPhvRm6M9yJgEM8WZIpR2nSpoEMMSTIUVGnndE1iiAEZ4M6aGcj2VNAhjixZDezlgk%0AbRLAEA+GtL/TJHmTAIZ4MKSxZx2SNwlgiPdCeiTrPYmTAIZ4LqT3GzwmcxLAEK+FdPjsMVIn%0AAQzxWkjXdzkodRLAEI+FtCCzWO4kgCHeCunD7EclTwIY4qmQys69RvYkgCGeCumGgn2yJwEM%0A8VJIj4fWS58EMMRDIX2W92v5kwCGeCek8p7DIhaMAhjhnZBubv+VBZMAhngmpKeCr1kxCWCI%0AV0IqafhLSyYBDPFISBW9rwxbMwpghEdCuqXtXmsmAQzxRkjPBNZYNAlgiCdC2pp/n1WTAIZ4%0AIaTKft+utmwUwAgvhHRbi52WTQIY4oGQ/hZYZd0kgCHuD2lb03ssnAQwxPUhVfUfwB0kKOf6%0AkH7SfIeVkwCGuD2kl9JXWDoJYIjLQ9rR7E5rJwEMcXdI4csuqrR4FMAId4d0d5Mt1g4CGOPq%0AkF4JPm/1JIAhbg5pT+vbLZ8EMMTFIYUHX3jU8kkAQ1wc0r2NP7d8EMAY94a0LrDE8jkAg1wb%0A0pdtb7V8DMAot4YUuer8ry0fAzDKrSHNyf3U8ikAw+wOKbJ59XPPrdlWz171hvRm6M8mhgBk%0Aszek0jtaiLiCIt0bZvWFVNpxasozABawNaSdnUTXSbMfeODucW1Ez1KdHesJKTLyvCOpzgBY%0AwdaQJoeert2qfjRths6O9YT0UM7HqY4AWMLWkFrddHz7uvY6O+qH9HbGolQnAKxha0ih+49v%0A/zxDZ0fdkPZ3mpTqAIBFbA2pw5jj2yM76uyoG9LYsw6lOgBgEVtDmpH2YEXNVtk9olBnR72Q%0AHsl6L9XzA1axNaT9vUXeoEm3Tps4MFtcqncvSCek9xs8lurpAcvY+3uko/N6BWK/RgpdvFD3%0AObQSh3T47DEJvgIoZPslQuWbiotLzvR3RJ83b1InW5QlOPynXbmDBAdSdq1d6ZZTPhFeu7rO%0AwyLRn+zt5Gm+4UT2hvT+0A6XPFpzo65Qb5XXE4YEOJKtIb2WKbJD4lvxi4MICV5ia0jDQssi%0AFfNCF8buABESvMTWkNqPj71dkzG0mpDgLfZeIlTzAix/EtMJCd5ia0jtRtS8v0s8QEjwFFtD%0Amp72SPypuiMTxW0/JCR4iK0hfVUgLo9vRKYLQUjwEHt/j7T3lttqt579BiHBQ5z5LEKEBJch%0AJEACQgIkICRAAkICJCAkQAJCAiQgJEACQgIkICRAAkICJCAkQAJnhrRBAC6zIelvc+tD0t57%0AJ4EhAxY72gDmM8Xx8w1J9J2ZwhNp2xBSQpMc/koUzGeOr+YjpMSYzxxfzUdIiTGfOb6aj5AS%0AYz5zfDUfISXGfOb4aj5CSoz5zPHVfISUGPOZ46v5CCkx5jPHV/MRUmLMZ46v5iOkxJjPHF/N%0ApzKkqVMVntwA5jPHV/OpDKm0VOHJDWA+c3w1n8qQAM8gJEACQgIkICRAAkICJCAkQAJCAiQg%0AJEACQgIkICRAAkICJCAkQAJCAiQgJEACQgIkICRAAoUhVd6ZfoG6s9er9I6CjI4j31A9RkKb%0Ap3TOaDbyLdVj6JopJqseIZHHa1934j5J66kL6ePeeU4OaV9HMWzW9cGsD1QPksCnTTPGz74+%0AFFqvehAdGwLODenXYlxhzCuS1lMW0sEGfUoyHRzSNPFI9O2zYqjqQRIYnLYu+vY5MUb1IIlV%0A9erp3JBmp/AaSHqUhbTvjkrNySHdNqgy+jbSoIPqQRK4+67Y2+pQT9WDJDY3baVzQ5ohSqSu%0Ap/TBBieHVKMi1F/1CLp2iFGqR0jo3w1+sN+5IU0Ue6u375W3HiHp+k38Bp5THVl7fp7cGygy%0ADWp9wMEhjRI/ayLEWX+RtR4h6flnxiVVqmdIrJEQ4zerHiKhx8VSzcEhDRSd5/zprobi95LW%0AIyQdT2b23qd6Bh13Tv2v9EucWtKe/OGak0Nas7Qs+vajzPyjctYjpIQi94ghh1QPUY+1OeeH%0AVc9wZmNztzo6pFrfEW/LWYiQEoncJH5YrXqIen1XfKx6hDN6Sczavn37R2Lc9oOqR9H1PSHp%0AF0mElMgM8QvVI+jYcf6E+PurJf86RJY7xDGFqkc5o8O/ezL+/hIh6bYxISXwrJihegRd7TLe%0AjL79LDe3XPUkZ/TxCzF/FVe88InqUc4o3DY3Ntjz4puSFlQW0j8LCwsDraJvvlI1gb5viB/G%0ALyEpdOgzwS8LhMb+bFKOmK96ED0Ovo+0PC1n8qzvpDUslrSespDmHPvRL/cXzNLU3TTZonqS%0ABN4c1TzQ+PIVqsfQ5eCQtPVXNg62uUHadx9/RgFIQEiABIQESEBIgASEBEhASIAEhARIQEiA%0ABIQESEBIgASEBEhASIAEhARIQEiABIQESEBIgASEBEhASIAEhARIQEiABIQESEBIgASEBEhA%0ASIAEhARIQEiABIQESEBIgASEBEhASIAEhARIQEiABIQESEBInjLZqS+A6HmE5HSLhfh77eYM%0AIaoS7jcnlhAhqUJITrdYBMbWbFW1CCQOaadYqRGSOoTkdItFv6z98a0XxDcTh7SckJQiJKdb%0ALO4Vv49vXVMwNh7Sfya1CTW96q3o1jhx+CcdMtrNi2jDYi/A/mo0pM1zO2W0L4ooHdmPCMnp%0AFosXOl0c29if+ePrYiFta5H74yfub5v5qqZNFP/9/Tdev0L8UXtjgrhn2b5oSDd+c84D7cWT%0Aqqf2HUJyumhIPxefRjd+Lz6MhzRRPBf96OPAxbFbcuOim5vFcE2bU3vT7pJKTSsWI9TO7EOE%0A5HTRkLak3Rnd6HeBFgsp0qhl/IbbJeKraDfxB/Syex0PaVn0bSTQR+HA/kRIThcNSRvYNqyV%0AiN/GQ9opLot/frJYH/2/j2ObjbofD2njsU/AVoTkdLGQFkV/8swK7Y2HVCKuin/+VrH62IN0%0AJ4ZU9wnYipCcLhbSkbyxkY6jtHhIu2p/It0o3iQk5yAkp4uFpN2Y86/YvZ/4gw35reP3kS5K%0A209IzkFIThcP6V9iQLPK2pBujj+g8G7aoJO6eSD+WB4hqUJIThcPSfuG+KFWG9IXrXJ/uuje%0AFnnvn9TNUtH3obcJSRlCcrqakO4T72i1IWnbbmwdbDE29njdCd1Ujm7Q5BlCUoaQAAkICZCA%0AkAAJCAmQgJAACQgJkICQAAkICZCAkAAJCAmQgJAACQgJkICQAAkICZCAkAAJCAmQgJAACQgJ%0AkICQAAkICZCAkAAJCAmQgJAACQgJkICQAAkICZCAkAAJCAmQgJAACQgJkICQAAn+P6oCBZGs%0AZWNJAAAAAElFTkSuQmCC"/>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52" name="AutoShape 8" descr="data:image/png;base64,iVBORw0KGgoAAAANSUhEUgAAA0gAAANICAMAAADKOT/pAAAC/VBMVEUAAAABAQECAgIDAwME%0ABAQFBQUGBgYHBwcICAgJCQkKCgoLCwsMDAwNDQ0ODg4PDw8QEBARERESEhITExMUFBQVFRUW%0AFhYXFxcYGBgZGRkaGhobGxscHBwdHR0eHh4fHx8gICAhISEiIiIjIyMkJCQlJSUmJiYnJyco%0AKCgpKSkqKiorKyssLCwtLS0uLi4vLy8wMDAxMTEyMjIzMzM0NDQ1NTU2NjY3Nzc4ODg5OTk6%0AOjo7Ozs8PDw9PT0+Pj4/Pz9AQEBBQUFCQkJDQ0NERERFRUVGRkZHR0dISEhJSUlKSkpLS0tM%0ATExNTU1OTk5PT09QUFBRUVFSUlJTU1NUVFRVVVVWVlZXV1dYWFhZWVlaWlpbW1tcXFxdXV1e%0AXl5fX19gYGBhYWFiYmJjY2NkZGRlZWVmZmZnZ2doaGhpaWlqampra2tsbGxtbW1ubm5vb29w%0AcHBxcXFycnJzc3N0dHR1dXV2dnZ3d3d4eHh5eXl6enp7e3t8fHx9fX1+fn5/f3+AgICBgYGC%0AgoKDg4OEhISFhYWGhoaHh4eIiIiJiYmKioqLi4uMjIyNjY2Ojo6Pj4+QkJCRkZGSkpKTk5OU%0AlJSVlZWWlpaXl5eYmJiZmZmampqbm5ucnJydnZ2enp6fn5+goKChoaGioqKjo6OkpKSlpaWm%0Apqanp6eoqKiqqqqrq6usrKytra2urq6vr6+wsLCxsbGysrKzs7O0tLS1tbW2tra3t7e4uLi5%0Aubm6urq7u7u8vLy9vb2+vr6/v7/AwMDBwcHCwsLDw8PExMTFxcXGxsbHx8fIyMjJycnKysrL%0Ay8vMzMzNzc3Ozs7Pz8/Q0NDR0dHS0tLT09PU1NTV1dXW1tbX19fY2NjZ2dna2trb29vc3Nzd%0A3d3e3t7f39/g4ODh4eHi4uLj4+Pk5OTl5eXm5ubn5+fo6Ojp6enq6urr6+vs7Ozt7e3u7u7v%0A7+/w8PDx8fHy8vLz8/P09PT19fX29vb39/f4+Pj5+fn6+vr7+/v8/Pz9/f3+/v7///9osWa/%0AAAAACXBIWXMAABJ0AAASdAHeZh94AAAgAElEQVR4nO3deXxU9b3/8c+QTAiEEIGCLLJWavVa%0AWawVUSw2rVXUgmJR3IjgVtGmltpoRVFUsFBttWJdakX51brh1qveyw9x3yBXqXVFtBcsValB%0AZQ9JzuOeMzPZyMxBmXfOmUNezz8m35n5zplvdF7MmTPDYA6ArFnYCwB2BYQECBASIEBIgAAh%0AAQKEBAgQEiBASIAAIQEChAQIEBIgQEiAACEBAoQECBASIEBIgAAhAQKEBAgQEiBASIAAIQEC%0AhAQIEBIgQEiAACEBAoQECBASIEBIgAAhAQKEBAgQEiBASIAAIQEChAQIEBIgQEiAACEBAoQE%0ACBASIEBIwXrQLC/sNXw195m1D3sNEUBIWauaU9qrIN71gAv/8SUm+4R0m5mtSw5LzX6oWl7m%0AO7M/JsfzvfFtmWYS0pdCSNl6upulFD7knf8oz97KPDunQjo6OT6OkLJHSFmqcjsqPOmKi49s%0AZ1b8iXvBDRaZkAo3eMMtnQgpe4SUpT+Z5S/3Bm4i9hv358FRCWkPswe84WNmfQgpW4SUpRlm%0AA5Ojq6598APnqOReXrlzidmB3qUN5dyxf8cuY5Y+lDh7utl/JC68032UpuJJF9LnVx/YJd7j%0A8D/VeGe22+LtZodu++nXejjOtltKu+d3//astQ2Lcm//g8TgLjfzT9JM8O7suDw7zRueY3k/%0ASoZU95fDu+cXf+eGmqabT4VUNdjsnHT3hQRCytJNZu0ebzybMaRpicvbT0+cfd4dvuNd+mOz%0AH9fftGVIr/VJvfo66N9Oi5DuNtvvWm9YPTo1a9B79ZtyKyj4whu4L3/GpJvg3dkpI6yrl8we%0AdtDxyZBOTs07uq7J5pMhVR9mdkxN2k3BQ0hZeifPfbSNueWNuuTZNx52H2V/fvb97R/2L7sX%0Af2/hI0fkJ8/uYzbb/VFdYvbX+i21CKnK7WjgHx6qcG9zlNMiJPcBPqBvfOhezh/MvvmXF54Y%0Ab/bd+k2tKzC71/25ucjs7nQTvDub4D6ZPuk4lWYzxiVCetT9M+Gm12/PT9y2YfPJkM4wO2Cj%0Ak3ZT8BBStmYl/4jucsytieeAf1nyNdJ2D/szzbq7L+23fTN51v2z/gD3x2KzHtvqN3SbNeWG%0AdIVZ53+6Vyxwzy5LF5INXu0OysyudX9UTzzvmtr6bY01O9X94VZdvDHtBPfOxr/iPXN6+6av%0AjE2EdONRR7nnHXc/77Qmm0+ENNd9Dvo4w33BQ0hZe3xULPnY3+0OJ2NIe5tN9s5emTy71n3K%0AWOU4F5hd0LCdFiENMSvzrqjpYjYzbUh3e+d/atbvro+ar+kes241icf9pPQTvJDq+tgAxxlm%0AferGNj3YcL7Z4U0274X0SDvr9k6m+4KHkAQ+vOvs/RIxPZAxpA7JfTlnYeol0wSz6x3HfQH/%0AasNWvJD69k8o9EKqy0/+8e84B5lNTBtS4iH9akfvrr8+5YGaxhVt6mT2jFPzNbNF6Sd4ITnn%0Ami1fbTbVSYW0aOyg9omKS5ts3h20c7e277ZM9wUPIYms/pX7YmmfTCHVWSIcx3kiFdJ/e68y%0A3nVf0DduYfvXSBvc87ckzn4/8d5py5DykrtXS/4j+SQ24IXGjZ1sdqGzxKx3bfoJiZDcRfzm%0AJq+1ZEju0Ir2HvK1+pCSm78v9RR5bcb7gkNIAtWp4wxXu4+vTU1DGupdekvyYe8+x8zyzt6b%0ACqlugOV9cm3ynaeU7UPynpHmJs4eaHZyiy02eX+n7oWZR5RY8lVYyl/N9nLKzX6RYUIipOrd%0AbMx42606GdJ699nmpE2O9zxV2mTzXkil7u9W/M9M9wWHkLK18rhv5i9KDv/kPrw2N4Q026yH%0AV9jZyYf9Nyz5ps3F9W8rzXQfu4dZ3r8aN9XiqN3QRD9uqcVmv26xxe3eKK152H0l9VjD2epu%0AZu/0N3stw4RESM5JVtzVu49ESM9YckeztEVI7etqh5udmOm+4BBStjZ3Nev/ujf6eJjZ3o7z%0AkftwfNZJHmp71HHe6ph82E8y263KcdbvUR/Sh3l2cNyObLKpFiG5rRV5x81uNYu902KL9Y/0%0ATbPKfpTYBzvc7MHGrbm5ubt338o0IRnSvd5e2n2pkBa541cc5412ZoduF5LjPOteuTjTfYGQ%0Asua9sIgddMrJowss8XHqmrjZqHv/y1kZczM4+xddRyYf9k+51+5/z50HuC/b2yVvmHjr9p4m%0AW2oR0jq3uj3nPXBhe7Mz3Au322LDI9194hr/2LJnrohb+48bt/ZU4qXMrzNNSIa03t104fpU%0ASP90Czrm9Uf67GXW+cWPtwvJOzqyd3WG+wIhZW9Wfv0R67zLvPNHesOjvE/eeAY/53bm7ZCd%0AnjhbdKN7kjxE4H02r2Rzkw35fLLhuMS85ltseKS/vkdqVrvbm2ytzrttu9WZJiRDcsYk3+tN%0AHmw4PzGp9we93dMZ24f0vx3MrslwXyAkgZWXjOweL+h+8EVvJ85+OG63woFXu09NswcX9Dnr%0A4w/dR91G9+Laa/cq6HH8399wzybeuHW2dU8+0TRI91m7qw4oifc69pHkpc232Pga6aMrv717%0AvOM3z1rebFk/d6cdlnFCKqTbkse9kyFV/3qfDn3O+KezaK/8Pe7ZPiTnUvePgVUZ7guEFJqP%0A3H3B58JeBFQIKSxnui+awl4DZAgpFAt+c6y75/X4jiciIggpFN/1XrCfFfYqoENIoTi+ff5e%0A1/L56V0IIQEChAQIEBIgQEiAACEBAoQECBASIEBIgAAhAQKEBAgQEiBASIAAIQEChAQIEBIg%0AQEiAACEBAoQECBASIEBIgAAhAQKEBAgQEiBASIAAIQEChAQIEBIgQEiAACEBAoQECBASIEBI%0AgAAhAQKEBAgEENJry4BIee2rP8pbP6SlBkTM0q/8MG/9kJ63ra1+H4DQVnv+K9+GkIDtEBIg%0AQEiAACEBAoQECBASIEBIgAAhAQKEBAgQEiAQdEh1KxctXLh41Q5mERIiJtiQqqb1SH7Ar9/M%0ATX7zCAkRE2hIawba4LIZc+ZMn9jbhlT5TCQkREygIU2J35sa1cyLlftMJCRETKAh9ZzcOD6h%0Ar89EQkLEBBpS/OrG8eUFPhMJCRETaEj9JzSOxw7wmUhIyEXLK8aMqVie9qpAQyqPzd2SHG24%0AzCp8JhISctDsPO+Ic97sdNcFGtK64VZcWnbe1EmjO9qo9T4TCQm55776b2e4P82Vwb6PtPW6%0AoYmo4yNurfGbR0jIPcPqQxqe5srAPyK0+d3KyhXpMqldsqjB7wgJuWZ9w/cFxTa0vDbwkLat%0Afuv9z9Jd8X73Lg06WpqlAmFa0/jNW2taXhvwrt2NIwq8hfSe9JLvvJvN7xUUEILqwvqOCqtb%0AXhtoSJ9/xzrsNyK+58nDYnah30RCQu4ZXx/S+DRXBhrSBfYzd6/urf7XO/8YZ3f4TCQk5J63%0AS5IdlbyT5spAQ9rjqMSP/9d5g1Ozf7pDH/UICTmocl+vo30r010X7EeEZiZ+vGXPOc4VHXwm%0AEhJyUW3l/PnLatNeFWhIvZIfEbrfnnacn3bzmUhIiJhAQ5oUu63Ocf7Wv2iD88puR/hMJCRE%0ATKAhfdDVeh+6T8xudGriRa/4TCQkREyw7yOtPKHY8kc96Y5++brfPEJCxAT+yYYN6V+rNUdI%0AiJjc/DouQkLEEBIgQEiAACEBAoQECBASIEBIgAAhAQKEBAgQEiBASIAAIQEChAQIEBIgQEiA%0AACEBAoQECBASIEBIgAAhAQKEBAgQEiBASIAAIQEChAQIEBIgQEiAACEBAoQECBASIEBIgAAh%0AAQKEBAgQEiBASIAAIQEChAQIEBIgQEiAACEBAoQECBASIEBIgAAhAQKEBAgQEiBASIAAIQEC%0AhAQIEBIgQEiAACEBAoQECBASIEBIgAAhAQKEBAgQEiBASIAAIQEChAQIEBIgQEiAACEBAoQE%0ACBASIEBIgAAhAQKEBAgQEiBASIAAIQEChAQIEBIgQEiAACEBAoQECBASIEBIgAAhAQKEBAgQ%0AEiBASIAAIQEChAQIEBIgQEiAACEBAoQECBASIEBIgAAhAQKEBAgEHVLdykULFy5etYNZhISI%0ACTakqmk9LKHfzE1+8wgJERNoSGsG2uCyGXPmTJ/Y24ZU+UwkJERMoCFNid+bGtXMi5X7TCQk%0AREygIfWc3Dg+oa/PREJCxAQaUvzqxvHlBT4TCQkRE2hI/Sc0jscO8JlISIiYQEMqj83dkhxt%0AuMwqfCYSEiIm0JDWDbfi0rLzpk4a3dFG+aVCSIiYYN9H2nrd0DzvbaT4iFtr/OYREiIm8I8I%0AbX63snLF1jRXVJ17VoNRhIRoCeWzdtV/X7alxYWEhAgLNqTFowcc+ZLzRG+zzvP85rFrh4gJ%0ANKQX8q1zu6IXOvc9bUIXe9xnIiEhYgIN6Ziey51PDus3ZJO7IzfgCJ+JhISICTSkble6J0tt%0Avje+qqvPREJCxAQaUv5d7ska+09vfHu+z0RCQsQEGtLuM9yTp+x6b/yr3X0mEhIiJtCQTuz6%0A5Na/fWvvfh86zptdjveZSEiImEBDeqvYzLq+2b/jYQfl573sM5GQEDHBvo/0+sQDy952Xv9O%0AzAY95DePkBAx4XyL0PpP/K8nJEQMX8cFCBASIEBIgAAhAQKEBAgQEiBASIAAIQEChAQIEBIg%0AQEiAACEBAoQECBASIEBIgAAhAQKEBAgQEiBASIAAIQEChAQIEBIgQEiAACEBAoQECBASIEBI%0AgAAhAQKEBAgQEiBASIAAIQEChAQIEBIgQEiAACEBAoQECBASIEBIgAAhAQKEBAgQEnLH8oox%0AYyqWh72KnUJIyBmz88yVNzvsdewMQkKuuM9S7g97JTuBkJArhtWHNDzslewEQkKOWF/fkcU2%0AhL2Wr46QkCPWNIRka8Jey1dHSMgR1YX1HRVWh72Wr46QkCvG14c0PuyV7ARCQq54uyTZUck7%0AYa9kJxASckblvl5H+1aGvY6dQUjIHbWV8+cvqw17FTuFkAABQgIECAkQICRAgJAAAUICBAgJ%0AECAkQICQAAFCAgQICRAgJECAkAABQgIECAkQICRAgJAAAUICBAgJECAkQICQAAFCAgQICRAg%0AJECAkAABQgIECAkQICRAgJAAAUICBAgJECAkQICQAAFCAgQICRAgJECAkAABQgIECAkQICRA%0AgJAAgaBDqlu5aOHCxat2MIuQEDHBhlQ1rYcl9Ju5yW8eISFiAg1pzUAbXDZjzpzpE3vbkCqf%0AiYSEiAk0pCnxe1Ojmnmxcp+JhISICTSknpMbxyf09ZlISIiYQEOKX904vrzAZyIhIWICDan/%0AhMbx2AE+EwkJERNoSOWxuVuSow2XWYXPREJCxAQa0rrhVlxadt7USaM72ii/VAgJERPs+0hb%0Arxua572NFB9xa43fPEJCxAT+EaHN71ZWrtia5or3u3dp0NG+yOY+gKAFGtIHn/pcWbtkUYNy%0AnpEQLYGGZIVXpXsuaoldO0RMsCENyNt7yZeZSEiImGBDqlg6zEqf3fFEQkLEBBySU/Pb7nbo%0AnZ/tYCIhIWKCDslxNszuZnkHTLnqBp+JhISICT4kx9m44JgiM7+tEBIiJoyQvLt99Z6bfCYS%0AEiImpJB2gJAQMYGG1H76l5xISIgYvkUIECAkQICQAAFCAgQICRAgJECAkAABQgIECAkQICRA%0AgJAAAUICBAgJECAkQICQAAFCAgQICRAgJECAkAABQgIEsg/J+4eOtrz0P3WiBSUQEiIm25Bq%0Azj3ecT4YZHaI8qFPSIiYbEOabT93nDGxn5zbbrZuUYSEqMk2pH2Pc5wPY1McZ/JQ3aIICVGT%0AbUidbnac2+3/O8683XSLIiRETbYhFbshTSza6jg3FukWRUiImqx37U5yPup0rDs4cy/ZmggJ%0AkZNtSLPsoN72lOPcWXChblGEhKjJNqTNZR1KvH8yrNe3qmRrIiREjuqTDS9uy34tjQgJEZNt%0ASHfVD6qOVywnhZAQMdmGFPtN8uczfZWfwCMkREy2IR1nF9Y5Ts2leUW36RZFSIiabEOqvcBO%0A2/bBSPv2u7o1ERIiJ/uDDb/PO7ik3UXVqgUlEBIiRnDU7pEie0i0mnqEhIjJJqTVKQ8VH+79%0AEK6KkBAx2YRkzQlXRUiImGxCOqE54aoICRHDdzYAAtmG9PDfdWtpREiImGxDKrxGt5ZGhNRa%0A1vMftnVkG9L3j6zVLaYBIbWKzTMGxWKDZmwOex27omxD+mjiEXcvW5GgWxQhtYqNI5OHV0du%0ADHslu6BsQ+Lwd3RcUv9/6pKwV7ILyjakE06dPCVFtyhCag11PetD6in9Nk94ZIe/N/wr67U0%0AIqRWsLZx52Ft2GvZ9chC+nOvrNfSiJBaASG1pqxDWvv7aeWus/sUy9ZESK2icdeuF7t2ctmG%0A9EH31P+c/Ct0iyKkVsHBhlaUbUgnF9+42P74xEV9ntCtiZBaB4e/W1G2IfW7yNlsLzrOq12f%0A0y2KkFoHb8i2nmxDit/qbuJpd3BpqWxNhNR6+IhQK8k2pK5XOk6nO9zBX0pkayIkRE62IY3t%0As8Q56Nvuw/7MHrpFERKiJtuQXi7c3/mT9T12qJ2sWxQhIWqyfh9p2U1O3cUdLPYj5Zt8hISI%0A0XyyYfMHmxSLaUBIiBj+qjkgkFVI25oRroqQEDFZhcTXcQFJ2YWUN+xEvo4LyDKkn/Ww/he2%0AxtcIERIiJruDDdsePb697X+D/K+3EBIiJuujdutuPsji4x7kX6NAm6Y4/L3i0gH2tfOXaRaU%0AQEiIGM37SHVPH8pRO7RlipBqnzixyPacqVlQAiEhYrIP6e2L+ljx6c+oFpRASIiYLENad/MI%0Ai42+U/13lwkJEZNVSE+cWGgDL/9AuZ4kQkLEZPnJhoOu+Ouj9YSrIiREDJ+1AwSyCmlBM8JV%0AERIihr+PBAgQEiBASIAAIQEChAQIEBIgQEiAACEBAoQECBASIEBIgAAhAQKEBAgQEiBASIAA%0AIQEChAQIEBIgQEiAQNAh1a1ctHDh4lU7mEVIiJhgQ6qa1iP5jUP9Zvr+682EhIgJNKQ1A21w%0A2Yw5c6ZP7G1DqnwmEhIiJtCQpsTvTY1q5sXKfSYSEiIm0JB6Tm4cn9DXZyIhIWICDSl+deP4%0A8gKfiYSEiAk0pP4TGsdjB/hMJCRETKAhlcfmbkmONlxmFT4TCQkRE2hI64ZbcWnZeVMnje5o%0Ao/xSISRETLDvI229bmie9zZSfMStNX7zCAkRE/hHhDa/W1m5YmuaK2qXLGpQTkiIljA+a1fz%0At+fTfEbo/e5dGnS0L7K8DyBQwYb0/FT3ZMHu7s7dkKf95rFrh4gJNKQlBZ3qnPus04/P/UG7%0A9st8JhISIibQkEb3WOE4A/uvcYcvdTjGZyIhIWICDanzLxznM7s+MT5zN5+JhISICTSkoksd%0AZ0vsgcT4ikKfiYSEiAk0pIMHb3Sckb/whluGDPGZSEiImEBDetSG/9e2yl53bqx+6Xt2i89E%0AQkLEBHv4+7Yi67BPf8vLs9jP63zmERIiJuA3ZD+a+8P+xe277f/TSt9phISI4VuEAAFCAgQI%0ACRAgJECAkAABQgIECAkQICRAgJAAAUICBAgJECAkQICQAAFCAgQICRAgJECAkAABQgIECAkQ%0AICRAgJAAAUICBAgJECAkQICQAAFCAgQICRAgJECAkAABQgIECAkQICRAgJAAAUICBAgJECAk%0AQICQAAFCAgQICRAgJECAkAABQgIECAkQICRAgJAAAUICBAgJECAkQICQAAFCAgQICRAgJECA%0AkAABQgIECAkQICRAgJAAAUICBAgJECAkQICQAAFCAgQICRAgJECAkAABQgIECAkQICRAgJAA%0AAUICBAgJECAkQICQAAFCAgQICRAgJECAkAABQgIECAkQICRAgJAAAUICBAgJECAkQICQAAFC%0AAgQICRAgJECAkAABQgIECAkQICRAgJAAAUICBIIOqW7looULF6/awSxCQsQEG1LVtB6W0G/m%0AJr95hISICTSkNQNtcNmMOXOmT+xtQ6p8JhISIibQkKbE702NaubFyn0mEhIiJtCQek5uHJ/Q%0A12ciISFiAg0pfnXj+PICn4nRDWl9VBeO7AQaUv8JjeOxA3wmRjSkzTMGxWKDZmwOex0IXqAh%0AlcfmbkmONlxmFT4ToxnSxpHJQ5IjN4a9EgQu0JDWDbfi0rLzpk4a3dFG+aUSzZAusZRLwl4J%0AAhfs+0hbrxua5z3S4iNurfGbF8mQ6nrWh9SzLuy1IGiBf0Ro87uVlSu2prmi6tyzGoyKYkhr%0ArcHasNeCoIXxWbutrzz5fstLCQkRFmhIVz7pnd7cxX2o7f+q38SI79r1YteuzQk0pMSRur9a%0A+2PPPthK3vOZGMmQONjQlgUf0uCSN93TB2Kn+0yMZkgc/m7DAg/pE/tVYjyuj8/EaIbEG7Jt%0AWOAhrbIFifH0uM/EiIbk8BGhNivwkGpKZifGk7v6TIxuSGijgg1p4tIVay/e03sJ8VbRMT4T%0ACQkRE2xISfc7zp+L2r3iM5GQEDGBhnTHb2eUTxo3erHjzOvzqN9EQkLEhPQtQutrfa8mJEQM%0AX8cFCBASIEBIgAAhAQKEBAgQEiBASIAAIQEChAQIEBIgQEiAACEBAoQECBASIEBIgAAhAQKE%0ABAgQEiBASIAAIQEChAQIEBIgQEiAACEBAoQECBASIEBIgAAhAQKEBAgQEiBASIAAIQEChAQI%0AEBIgQEiAACEBAoQECBASIEBIgAAhAQKEBAgQEiBASIAAIQEChAQIEBIgQEiAACEBAoQECBAS%0AIEBIgAAhAQKEBAgQEiBASIAAIQEChAQIEBIgQEiAACEBAoQECBASIEBIgAAhAQKEBAgQEiBA%0ASIAAIQEChAQIEBIgQEiAACEBAoQECBASIEBIgAAhAQKEBAgQEiBASIAAIQEChAQIEBIgQEiA%0AACEBAoQECBASIEBIgAAhAQKEBAgQEiBASIAAIQEChAQIBB1S3cpFCxcuXrWDWYSEiAk2pKpp%0APSyh38xNfvMICRETaEhrBtrgshlz5kyf2NuGVPlMJCRETKAhTYnfmxrVzIuV+0wkJERMoCH1%0AnNw4PqGvz0RCQsQEGlL86sbx5QU+EzOFVLts/vxltTt790CrCTSk/hMax2MH+EzMEFLlvt6B%0Ain0rd/b+gdYSaEjlsblbkqMNl1mFz8T0Ib1dkjzkV/LOzi4AaCWBhrRuuBWXlp03ddLojjbK%0A71VQ+pCOs5TxO7sAoJUE+z7S1uuG5nklxEfcWuM3L21I1YX1IRVW7/QKgFYR+EeENr9bWbli%0Aa5or3u/epUFH29BywhprsCabFQB64XzW7vOKt1pcVrtkUYPfWZrU1jd0FEuTGRCmcEJabY/6%0AXv98upCc4fUhDc96AYBWsJ9sqDfRDp8yxWdi+pDuqw/p/p1dANBKAg3JmvGZmD4kZ3biSEXe%0A7J29f6C1BBrSBXlDn1jnecPuWbfOZ2KGkJzlFWPGVCzf2bsHWk2wr5GWDo395DNnZ18jATkr%0A4IMN267p0Pt+QsIuJ/Cjdu+V2jGrCAm7mBAOf9/RtdMMQsKuJYz3kT4+0QgJu5Zw3pB9bNqb%0AvtcTEiImN7+Oi5AQMYQECBASIEBIgAAhAQKEBAgQEiBASIAAIQEChAQIEBIgkJshLTUgYpZ+%0A5Yd564fkvLYsgyMOXZDTDmV9Wcn59R2R6ZH52ld/lAcQUkZlZSHe+ZfA+rLTptZHSJmxvuy0%0AqfURUmasLzttan2ElBnry06bWh8hZcb6stOm1kdImbG+7LSp9RFSZqwvO21qfYSUGevLTpta%0AHyFlxvqy06bWR0iZsb7stKn1hRnSWWeFeOdfAuvLTptaX5ghVVWFeOdfAuvLTptaX5ghAbsM%0AQgIECAkQICRAgJAAAUICBAgJECAkQICQAAFCAgQICRAgJECAkAABQgIECAkQICRAIMSQqi9q%0At394975DVdP6FQwY+2LYy8ho5ZmDCr429uWwl+HrApsS9hIyuSP1705cKdpeeCG9Obw4l0P6%0AdIAddenJ+YV/C3shGbzdreCUGSfH4y+EvRAfS/NyN6Tf2sQKz5Oi7YUW0ucdvr2ifQ6HNNV+%0A754+YGPCXkgGP4g97Z4utAlhLySzbUOH5G5IM3bi30DyE1pIn06rdnI5pJ+VVrundR36h72Q%0ADKZf7J3WxIeEvZDMrok9nrshldsK6fZCPdiQyyElbYkfHPYSfH1o48JeQkbvdfjJutwNaZKt%0ArVm9Vrc9QvJ1fWIHL1dtXLJfsXYHRam012c5HNI4u6SL2Tf+rNoeIfl5quCQbWGvIbMSs1NW%0Ahr2IjO6w+50cDmm0DZp918Wd7WbR9gjJx93th38a9hp8XHTWyHaH5GpJH3c92snlkBbfv8E9%0AfaN9162a7RFSRnWX2RFfhL2IHVhStF9t2GtI78RO/5vTIaUca69oNkRImdRNtvNrwl7EDp1k%0Ab4a9hLQes0tXr179hk1c/XnYS/F1toneSCKkTMptVthL8PHhfqcmfh4nfjtEZZrVqwh7KWmt%0Av+nuxM9DTLRvTEgZPGDlYS/B1x4FL7mn73TqtDnslaT15qOee+zwR98Keylp1fbp5C3sIRsm%0A2mBoIT1VUVGR19M9+XdYK/D3dTs/8RGSihz9JvgH8+InXlJWZDeGvRA/Ofwa6eFY0ZRLj411%0ArhRtL7SQZtc/9WvfYJZp2DX5IOyVZPDSuO55u33/kbCX4SuHQ3JeOHK3/N6nyR59/DUKQICQ%0AAAFCAgQICRAgJECAkAABQgIECAkQICRAgJAAAUICBAgJECAkQICQAAFCAgQICRAgJECAkAAB%0AQgIECAkQICRAgJAAAUICBAgJECAkQICQAAFCAgQICRAgJECAkAABQgIECAkQICRAgJCiI+/A%0AsFeAjAgpN9Ted9SAwsJBp7zmnZmd/h9kTBfSApuRHKy3Ia22OOwYIeWGCdZ/2tzpR+YVPeM4%0Aa+zxtHMIKYcRUk540tiyE18AAAOcSURBVL67zfv5iA11nIcJKXoIKSfcaDcmBwsW1R7l/Vvq%0AzzpH2Tr3/DYrdU//c3hh9ynr3JAOabfKm/Xv/BGpG24X0j/Kese7HfOyO2py8xPs4+8XPuxs%0AmbNf507fmlMb7G/WVhBSTnjYxm6rH794ql324KdNS3gur/es204ZFT/QmW9XeVNusZtTk5uH%0AtKpHpwvnX92n/bPNQjrVTjpy1uvO6XbSH24+1qYG/Ku1EYSUE6qH2dAb3qhLnpmd2LVrUsKR%0A9oo7PNcOdDaWDPZmlBZ+lrph85Am2UJ3+GbeiGY3n2yHe09DHQ/y5l0wvibA36vtIKTc8PnU%0ADmbdxt2+0WkZUm2Hr3tTXnVDcs6x5xznk7yJ9bdbYA2GOHUluydaPMT+3TSkKfZn79KS3h8H%0A/3u1GYSUKzY8UjEybt0XtQzpQ/uBN2GzF9IyO8Nx/mD/XX+rBbb/2QlT3JDW2PcSF06xF5qH%0AtMy79HrrfOqfPgz+F2sbCCmXVN3QvmRti5DetWMS18a8o3bDOm9yDuvbcMSg2a7ditTE82xR%0A85CS70stHldksTH/CPD3aUMIKbdMs/ubhbTRLWF18hlpvfeM5Nxo9/2r3SUN85uF9K/UM9Lp%0A9lKTmzeE5DhbFk2K7bk1sF+mLSGkXFBzztGp55grbX4qpHH2iXv6d7eEbQV7elc9nwhpXYfj%0Af2eNn3xofrCha6/Ea6QDY+ua3LxJSK6f2MsB/EJtDyHlhB/aLxMH097bI/8fzpzEsbef2NPu%0A6S+9EkYnjtqdlAjJObnj0EMab9g8pDPsQXf4aqy02c2TIb3Y+05v3lT7n+B+rTaEkHLCqkHW%0A95wZ044uiP3Wce6371z7ivOi7f/kSxePKnZLeCzW46K5R3+vJBHSErM/Nt6weUj/7NnpV3de%0A0aN4udP05smQtu1bcOa8mya3O6QuhN9v10dIueGLa0Z2zevwjclL3XH1+A5d7nOc+ft02P2s%0Az3p7Tz/3fKug++R1fYclpvbr+EXj7bb7ZMOq03vl9zjxTe+Cxpundu0+/dnXO5YMmbU+yF+r%0A7SCkqFkVPyfsJaAlQoqaH8ffCXsJaImQImXFvMPr9+WQUwgpUh6IdZ/FwYJcREiAACEBAoQE%0ACBASIEBIgAAhAQKEBAgQEiBASIAAIQEChAQIEBIgQEiAACEBAoQECBASIEBIgAAhAQKEBAgQ%0AEiBASIAAIQEChAQIEBIgQEiAACEBAoQECPwfir9DA4J/pvUAAAAASUVORK5CYII="/>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53" name="AutoShape 9" descr="data:image/png;base64,iVBORw0KGgoAAAANSUhEUgAAA0gAAANICAIAAAByhViMAAAACXBIWXMAABJ0AAASdAHeZh94%0AAAAgAElEQVR4nO3deXxU9b34/xNCFhbZLLVENpUUUavUAC5I3epyXXGDWsWFYlWkKhb8Yguy%0AKNpetbXiRpWq4IIiKFhqXaoIFcpSkbqisgkWUQElgCEkzPeP+f3mkS9LMiJkznx8Pv+anDlM%0A3pP7uN7XPfM588lJJBIRAADZr06mBwAAYNcQdgAAgRB2AACBEHYAAIEQdgAAgRB2AACBEHYA%0AAIEQdgAAgRB2AACBEHYAAIEQdgAAgRB2AACBEHYAAIEQdgAAgRB2AACBEHYAAIEQdgAAgRB2%0AAACBEHYAAIEQdgAAgRB2AACBEHYAAIEQdgAAgRB2AACBEHYAAIEQdgAAgRB2AACBEHYAAIEQ%0AdgAAgRB2AACBEHYAAIEQdgAAgRB2AACBEHYAAIEQdgAAgRB2AACBEHYAAIEQdgAAgRB2AACB%0AEHbAd9Szzz6bk5OTk5NTt27dXf7iEyZMKCkpqVevXv369ffbb7+vv/56l/+Kb+/pp59O/gUK%0ACwszPQuwawg7oAZr16697bbbfvrTnxYVFRUUFOTn5++5555dunS5/vrrly1blunp4mj27Nk9%0AevR44403ysrKvv7668WLF1dWVm73zAcffDCnijFjxmx7ziOPPFL1nAcffHA3jw9ksV3//6cC%0AIZk+ffrZZ5+9evXqqgfXrFmzZs2auXPnjho1avz48WeeeWamxounhx56KPmgcePGw4YN23PP%0APQsKCtL5h88+++wvfvGLrQ5OmTJlF88HhEvYATu0du3aVNUVFhaeffbZ7du3Lysre/PNN194%0A4YUtW7aUlZX16tVr0aJFzZs3z/SwMfLxxx8nH/zsZz+79tpr0/+HL7/88oYNGxo0aJA6smnT%0AphdffHEXzweES9gBO/Tss88mq65u3bqzZ88++OCDqz511llnRVFUWlo6duzYX//61xmbMn7K%0Ay8uTDxo2bJjmP2nZsuWKFSvKyspeeOGFs88+O3X8lVdeWb9+fRRFe++99yeffLLLRwUCY40d%0AsEOpJXStWrWqWnVRFHXv3v3mm2++4447nnnmmXPOOSd5cMyYMcl1YAceeGAURU899dRRRx3V%0AuHHjRo0anXDCCTNnzqz6Cn/5y1+SJx999NEVFRXXXHNN8+bN99prr9QJCxcuvOKKK4qLiwsL%0ACxs1atS5c+e77rqroqKi6oskEonx48efdNJJ3//+9/Py8ho1anTYYYeNGjVq2zVtDz/8cKdO%0AnRo0aNCsWbNTTz113rx5OTk53+ivsW7dultuueXwww9v1qxZfn7+XnvtddJJJz300ENVf9cV%0AV1yRk5Pzj3/8I/njHXfckXyPyTirRpcuXXJzc6Momjx5ctXjyc9hc3NzS0pKtv1X6bz9Gv/O%0AW1m7du0Pf/jD5D+58sorkwcrKir+/Oc///SnP03+ou9///udO3e+9dZbv/jii+rfF1DbEgA7%0AcO+99yb/Q1GnTp3nn3++xvMfffTR5PlFRUW33XbbVv+1qVu37gsvvJA6+fHHH08eP/jgg++4%0A447k49zc3OSzEydO3O6tmscdd9zXX3+depELLrhgu/9lO+2007Zs2ZI6bdsLigUFBYMHD97q%0Al1bjzTff3Hvvvbf7u4444ogvvvgiedrll1++3XNKS0u3+7IPPPBA8oQLL7zw8MMPj6KoWbNm%0AFRUVqRNatmyZ/BXnnntu8swHHnjgG739av7OEyZMSP01kieXl5cfe+yxyYOnn356cpLy8vJj%0Ajjlmu79o3333/eijj2r86wG1RtgBO7Rw4cLkZaRkCpxyyimjR49+5513qjZTVU8++WQqFAoK%0ACi6++OInnnjilltuSX0i2aZNm/Ly8uTJqapo27Ztq1at8vLyOnbs2L59+0QisXjx4nr16iWf%0AHThw4MKFC+fOnXv00Ucnj9xwww3JV3juueeSR+rUqXPvvfe+9dZbY8aMSX13yVNPPZU8bfbs%0A2akQOe644yZNmjRlypSTTz45dWaNYbdmzZpU1e2zzz733Xffs88++3/+z/9JvcKpp56aPPOj%0Ajz6aMWNGp06dksd/9rOfzZgxY8aMGZWVldt95VTY9ejRY+jQocnHr7zySvLZf//738kjQ4cO%0A7d69+1Zhl+bbr+bvvG3Y9enTJ3mkc+fOGzZsSB687777kgf333//J554YubMmX//+99Tl2mP%0APvro6v96QG0SdkB1brnllm2v0zRt2vT000//85//vG7duqonp0IhiqLevXunjo8fPz51PHXR%0ArurJxcXFy5cvT53fr1+/5PFjjjkmdfDzzz9PBuIee+yRvGh39913n3rqqaeeeuo111yTOu2M%0AM85I/tuLLrooeeSyyy5LHmnevPn69euTBzdv3rz//vunGXbDhw9PntmoUaNPPvkkdXzcuHGp%0AtzBv3rzU8eOPPz558Ne//nX1r5wKu3POOWfOnDnJx6m3k0q9OXPmpG49ToVdmm+/mr/zVmGX%0Ausi67777rlq1KnXaJZdckjx+xx13pA6Wl5eff/75/fr1+93vfrejbAVqn7ADavD8889369Zt%0AuyvSmjRp8tBDD6XOrNoQb775Zur45s2b99hjj+TxYcOGbXvy448/XvU37rfffsnjv/3tb7+u%0A4ic/+Uny+Msvv7yjaX/1q18lzznxxBOTRzp06JA8UrU1E4nETTfdlGbYHXLIIckzL7nkkqrH%0AKyoqmjZtmnxqxIgRqeM7F3ZbtmxJXhds27Zt8tkf//jHURTtvffeW7Zs2Tbs0nz71fydq4bd%0AlClT6tSpE0XRnnvuuXDhwqqnXX311cnTWrduPXbs2E8//bT6NwVkkJsngBqcfPLJ06dPX758%0A+dixYy+//PKDDz44FXlffvnlpZdeOmnSpK3+SV5e3o9+9KPUj3Xr1m3Xrl3y8Xa/0/i4445L%0APU4kEkuWLEk+HjlyZL0qpk+fnjz+zjvvJB+8/PLL3bt332+//QoLC5Pr/UeNGpV8KnUDwdKl%0AS5MPiouLq/7S5B0eNUokEqlfV/VNRVGUm5ubuuz33nvvpfNq1cjJyUnW29KlS//zn/+sWLFi%0A/vz5URR17959R/d5pPP2q6r6d65q8+bNP//5z7ds2RJFUYsWLfbdd9+qz1566aX169ePoujj%0Ajz++6KKLfvCDH7Rr165Pnz6TJk3a0RcvA5ki7IC07L333r169br//vsXLFjw8ccf/+Y3v0kt%0AvxsyZMhWJzdo0CB5+afqkeSDjRs3bnVybm5u1a/B27hxY7IwqrFmzZooiu67774TTjhh8uTJ%0Aixcvrlu3bocOHQ455JDvfe97Vc9MJBKp7bySdZKy1Y87snHjxtStuNt+fUnqfZWWlqbzatVL%0ALaR76aWXUkvoUge3ks7br2qrv3NVW7ZsSd23+/bbb991111Vn+3YsePUqVOrdvCiRYvGjBlz%0AzjnntGvXbtasWWm/P2C3E3ZADTZv3pxIJKoeadmy5ciRI0eMGJH88d13391qL9Rtt0bdsGFD%0A8kHVb99Nqlu3btUKrF+/fioZ77zzzu1+1jBs2LD169cPGDAgedrPf/7zzz///N13333zzTd7%0A9OhR9cWrboSamiFp3bp16bz9+vXrp+5I2PafpHqucePG6bxa9Y455pgmTZpEUfTKK68kvzOl%0ASZMmqbtGqkrz7Ve11d95K8cff/zIkSOTj4cNG/bf//53q8HeeuutmTNnjhgx4uSTT0692aVL%0Al5555plb/WGBDBJ2wPYtXrz4nHPO6dChQ/369VNfzFZVixYtUo+3+qxw06ZNH330UerHioqK%0ADz/8MPm4bdu21f/enJyc1Bq71Gey25o/f37q4t/AgQNTd9EuXLhwqzNbt26dfPD+++9v9QrV%0AT5Ka56CDDko+fvPNN6s+tXnz5nfffTf5eKvv+ds5eXl5p5xyShRFM2bMePXVV6MoOvXUU/Py%0A8rY9M/23n46CgoKXXnpp0KBBhx56aBRFpaWl235BTE5OzhFHHDFkyJDnn39+9erVkydPTq4v%0A/Pzzz1MfkQMZJ+yA7SsqKpo2bdr7779fUVHRp0+ft99+u+qzn332WWo5V4cOHbb9zrmq+9lP%0AmTIl9UnfUUcdVeOvPumkk5IPJkyYkMqXysrKCy64oHfv3jfccMMnn3yyadOm1PmbN29OPnj3%0A3XeTPVT14BFHHJEaY+3atcnH69evr3pPa/VSW0E8++yzK1asSB1/+OGHk1fscnJydvSB6TeV%0AfJ3S0tLkx807etn0336acnJy6tSp86c//Sn54/jx41955ZUoir7++utbb7310ksvPfPMM1Mf%0Akefm5p5xxhmdO3fedhggw2rxRg0gy6S+oDj6/y/YXHjhhRdccMExxxyTn5+feurBBx9Mnp+6%0Ay7Ju3bp5eXlDhw599dVX77333j333DN5vH379qlv3932S9RSFi1alLoE1bVr16lTp1bdaOvA%0AAw+sqKj45JNPUh8snn766W+99daUKVP23nvv9u3bJw82atRo1qxZq1atmjZtWmrUkpKS8ePH%0AP/LII507d04tmKtTp071f4e1a9cmvyg4iqJ27drdc889EydOHDhwYEFBQfJgnz59qp6/c3fF%0AJo+UlpamXrawsDD1zcZb3RWb/tuv5u+83adSH+Z26NAh+aWDHTt2TA35t7/9bd68edOnTx8+%0AfHjyUmJBQUHV70YBMkvYAdW55ZZbUivMtpWbm3vjjTemTk6FQtOmTQcNGrTVyYWFha+//vq2%0AJ28bHMlnU31T1d577/3ee+8lz0l9tUdKUVHRkiVLioqKUkeGDh2aSCQuvfTSrc5s0KDB3Xff%0Anfqxxm9iq2bnibPPPrvqZhiJbxd2iUQi+WlsVOV7jxPbhF36b/+bht2yZctSVf273/0ukUi8%0A9dZbqa7dSp06dcaMGVP9ewRqk49igerccMMNCxcu/O1vf3vkkUc2b948Ly8vPz+/efPmXbt2%0AHTRo0DvvvJP68t6qysvLb7311tGjR3fs2LGwsLBp06ZnnHHG7NmzjzzyyDR/77nnnjt//vze%0AvXvvs88+BQUF9evXP+igg37729++9dZbqW8YueOOO37/+98fcMAB9erV23vvvfv06TN37ty2%0Abds+8sgj7du3r1u3bsuWLZNfYvfggw/ecccd7du3z8/P//73v3/uuefOnj07tXdWtM19Fds6%0A5JBD3n333Ztvvrlz586NGzfOy8tr0aLFWWedNWXKlB3tfrbTzjrrrOSD6j/eTf/tfyOtW7dO%0A3ZZx0003LV++/KCDDpo3b95NN93UqVOnvfbaKy8vr379+vvvv/8vf/nL5P+MduI9ArtJTuL/%0AvdkNYKc9/fTT5513XhRFBQUFZWVlmR4H4DvHFTsAgEAIOwCAQAg7AIBACDsAgEC4eQIAIBCu%0A2AEABELYAQAEQtgBAARC2AEABELYAQAEQtgBAARC2AEABELYAQAEQtgBAARC2AEABELYAQAE%0AQtgBAARC2AEABELYAQAEQtgBAARC2AEABELYAQAEQtgBAARC2AEABELYAQAEQtgBAARC2AEA%0ABELYAQAEQtgBAARC2AEABELYAQAEQtgBAARC2AEABELYAQAEQtgBAARC2AEABELYAQAEQtgB%0AAASibqYHyA4LFiyoqKjI9BQAQCzUrVv3kEMOyfQU2yHsajZv3rzOnTtnegoAIEbmzp3bqVOn%0ATE+xNWFXs/Ly8iiKNm3alJ+fn+lZAIAMKy8vLygoSOZB3FhjBwAQCGEHABAIYQcAEAhhBwAQ%0ACGEHABAIYQcAEAhhBwAQCGEHABAIYQcAEAhhBwAQiOzbUiyRSCxZsmTx4sWlpaVRFDVu3Li4%0AuLhVq1aZngsAIMOyKezWrl07cuTIcePGffbZZ1s91bp16z59+gwYMKBevXoZmQ0AIOOyJuxW%0ArlzZtWvXJUuWFBcXn3LKKW3atGnQoEEURevWrVu0aNFrr7124403Tpw48dVXX23atGmmhwUA%0AyICsCbshQ4asWLHiqaeeOu+887Z9trKycvTo0f369Rs+fPidd95Z++MBAGRc1tw8MXXq1F69%0Aem236qIoys3N7du3b48ePSZNmlTLgwEAxETWhN3q1av322+/6s/p0KHDqlWramceAIC4yZqw%0AKyoqWrBgQfXnzJ8/v6ioqHbmAQCIm6wJu+7du0+YMOH222/ftGnTts9u2LBh6NChkydP7tmz%0AZ+3PBgAQBzmJRCLTM6Tlyy+/PP74499444099tijS5curVq1atiwYSKRWL9+/bJly+bMmbNx%0A48Zu3br97W9/a9iw4a791TNnzuzateumTZvy8/N37SsDAFmnvLy8oKDg9ddfP/LIIzM9y9ay%0A5q7YJk2azJo165577hk7duy0adMqKytTT+Xl5ZWUlPTu3bt37965ubkZHBIAIIOyJuyiKMrP%0Az+/fv3///v3LysqWL1+e3HmiUaNGrVu33ulraVu2bJk+fXpFRUU157zzzjs79+LAVlauXJnV%0A/wu1Zs2aKIqaNWuW6UF23oEHHtiiRYtMTwHsLtkUdil169atV69eZWVlQUFBs2bNvs0npMuW%0ALevRo0f1YZdc1bd582YfxcK3NGbMmD/84Q+ZnmLnbdy4MYqi+vXrZ3qQnXfdddcNHjw401MA%0Au0vWrLGLoqi8vPyBBx549NFH33jjjfLy8tTxoqKiE0444corrzzssMN2x+8dPXr0FVdcUVpa%0AustX7wHZ5dJLL42i6KGHHsr0IEAmxXmNXdbcFbtu3bpu3br169dvwYIF+++//+GHH56Xl9eu%0AXbsLLrhgr732Gjt27OGHH3799ddnekwAgIzJmrAbNmzYnDlzrr322pUrVy5YsGDWrFn/+c9/%0ANm/e3KVLlzfeeGPJkiXdu3e/7bbbHn744UxPCgCQGVkTdhMmTDj11FP/+Mc/Nm7cOHlk//33%0AHzly5JAhQzZs2NCmTZunn366pKRk1KhRmZ0TACBTsibsVq1ate0SupKSknXr1r355ptRFOXm%0A5p5xxhnvvfdeJqYDvhPatGnTpk2bTE8BsENZc1fs9773vbfffnurg8nvTUh9p93q1auz+m41%0AIOaGDRuW6REAqpM1V+xOPPHECRMmPPjgg6nbeN96661f//rXDRo0KCkpiaJo7ty5Y8eO7dy5%0Ac0bHBADImKwJu2HDhjVt2vSyyy5r2bLl0UcffeCBBx5yyCHLli37/e9/36BBg8rKyq5du27e%0AvHnEiBGZnhQAIDOyJuzatm07d+7cnj17lpaWTp8+/YMPPjjqqKNeeeWVq666Koqi3Nzc/v37%0A/+tf/3LFDth9Vq5cuXLlykxPAbBDWbPGLoqifffdd/z48VEUbdiwoV69enXq/D9V+vvf/z5D%0AcwHfFUOGDImi6MEHH8z0IADbl01hl9KgQYNMjwB8F6Vu1QKIp6z5KBYAgOoJOwCAQAg7AIBA%0AZOUaO4CMsO0EEHPCDiBddp4AYs5HsQAAgRB2AACBEHYA6bLzBBBz1tgBpMvOE0DMCTuAdNl5%0AAog5H8UCAARC2AEABELYAQAEwho7gHTZeQKIOWEHkC47TwAx56NYAIBACDsAgEAIO4B02XkC%0AiDlr7ADSZecJIOaEHUC67DwBxJyPYgEAAiHsAAACIewAAAJhjR1Auuw8AcScsANIl50ngJjz%0AUSwAQCCEHQBAIIQdQLrsPAHEnDV2AOmy8wQQc8IOIF12ngBizkexAACBEHYAAIEQdgAAgbDG%0ADiBddp4AYk7YAaTLzhNAzPkoFgAgEMIOACAQwg4gXXaeAGLOGjuAdNl5Aog5YQeQLjtPADHn%0Ao1gAgEAIOwCAQAg7AIBAWGMHkC47TwAxJ+wA0mXnCSDmfBQLABAIYQcAEAhhB5AuO08AMWeN%0AHUC67DwBxJywA0iXnSeAmPNRLABAIIQdAEAghB0AQCCssQNIl50ngJgTdgDpsvMEEHM+igUA%0ACISwAwAIhLADSJedJ4CYs8YOIF12ngBiTtgBpMvOE0DM+SgWACAQwg4AIBDCDgAgENbYAaTL%0AzhNAzAk7gHTZeQKIOR/FAgAEQtgBAARC2AGky84TQMxZYweQLjtPADEn7ADSZecJIOZ8FAsA%0AEAhhBwAQCGEHABAIa+wA0mXnCSDmhB1Auuw8AcScj2IBAAIh7AAAAiHsANJl5wkg5qyxA0iX%0AnSeAmBN2AOmy8wQQcz6KBQAIhLADAAiEsAMACIQ1dgDpsvMEEHPCDiBddp4AYs5HsQAAgRB2%0AAACBEHYA6bLzBBBz1tgBpMvOE0DMCTuAdNl5Aog5H8UCAARC2AEABELYAQAEwho7gHTZeQKI%0AOWEHkC47TwAx56NYAIBACDsAgEAIO4B02XkCiDlr7ADSZecJIOaEHUC67DwBxJyPYgEAAiHs%0AAAACIewAAAJhjR1Auuw8AcScsANIl50ngJjLvrBLJBJLlixZvHhxaWlpFEWNGzcuLi5u1apV%0ApucCAMiwbAq7tWvXjhw5cty4cZ999tlWT7Vu3bpPnz4DBgyoV69eRmYDAMi4rAm7lStXdu3a%0AdcmSJcXFxaecckqbNm0aNGgQRdG6desWLVr02muv3XjjjRMnTnz11VebNm2a6WGBMCW3nWjR%0AokWmBwHYvqwJuyFDhqxYseKpp54677zztn22srJy9OjR/fr1Gz58+J133ln74wHfBXaeAGIu%0Aa77uZOrUqb169dpu1UVRlJub27dv3x49ekyaNKmWBwO+OyorK20+AcRZ1oTd6tWr99tvv+rP%0A6dChw6pVq2pnHgCAuMmasCsqKlqwYEH158yfP7+oqKh25gEAiJusCbvu3btPmDDh9ttv37Rp%0A07bPbtiwYejQoZMnT+7Zs2ftzwYAEAdZc/PEsGHDZsyYMXDgwBEjRnTp0qVVq1YNGzZMJBLr%0A169ftmzZnDlzNm7c2K1bt8GDB2d6UiBYdp4AYi5rwq5JkyazZs265557xo4dO23atKrrl/Py%0A8kpKSnr37t27d+/c3NwMDgmEzc4TQMzlJBKJTM/wjZWVlS1fvjy580SjRo1at26dn5+/cy/1%0A8ccfn3DCCRUVFdWcs27dui+++KK0tLRhw4Y791tgV7n99tvvu+++TE8BGXPllVcOGDAg01Pw%0AXVdeXl5QUPD6668feeSRmZ5la1lzxa6qwsLC4uLi5OPNmzd/8MEHZWVlBx10UEFBwTd9qRYt%0AWgwZMmTjxo3VnDN9+vTHHntsJ2eFXeqdd97ZK3fxJT/J9ByQCQ9Pj955551MTwGxlk1h98or%0Ar9x0001Lly7t0KHD0KFDDzvssBdeeKF3797//e9/oyhq1KjRrbfe2rdv32/0mnl5eRdeeGH1%0A5yQSCWFHfLRvEf3yuEwPAZkw68NMTwCxlzVhN2vWrJNOOqmioqJRo0YvvPDC9OnTX3rppR49%0AejRu3Piiiy4qKyt76aWXrrrqqn333ffkk0/O9LAAABmQNV93cuutt37ve99bsGDBV1999emn%0An3bp0uVnP/vZPvvss3DhwkceeeTJJ59ctGhR27Zt//SnP2V6UgCAzMiasJs5c+ZVV1118MEH%0AR1HUvHnz//3f//3444/79+9fr1695AlNmzbt06fPnDlzMjomAEDGZE3YffXVV1W/QWrvvfeO%0Aoqh58+ZVz2nRosW6detqezIAgHjImrDbc889Fy1alPrxgw8+iKLoo48+qnrOokWL9txzz9qe%0ADAAgHrIm7I499thRo0a9+uqr5eXlb7311q9+9asOHTrccccdn3zySfKE995777777uvWrVtm%0A5wQAyJSsuSt26NChU6dOPe64/+9rHpo1a/bPf/7zf/7nf374wx8edthhZWVlc+fOTSQSAwcO%0AzOycAACZkjVX7Pbff/+ZM2eef/75hx122CWXXDJz5swOHTr89a9/Peigg6ZNmzZr1qzWrVtP%0AnDixS5cumZ4UACAzsuaKXRRFBx100OOPP77VkdmzZ69fv/7rr7/e6kYKAIDvmmwKux1p2LCh%0AXVwBALLmo1gAAKon7AAAAiHsAAACIewAAAIh7AAAAiHsAAACIewAAAIh7AAAAiHsAAACIewA%0AAAIh7AAAAiHsAAACIewAAAIh7AAAAiHsAAACIewAAAIh7AAAAiHsAAACIewAAAIh7AAAAiHs%0AAAACIewAAAIh7AAAAiHsAAACIewAAAIh7AAAAiHsAAACIewAAAIh7AAAAiHsAAACIewAAAIh%0A7AAAAiHsAAACIewAAAIh7AAAAiHsAAACIewAAAIh7AAAAiHsAAACIewAAAIh7AAAAiHsAAAC%0AIewAAAIh7AAAAiHsAAACIewAAAIh7AAAAiHsAAACIewAAAIh7AAAAiHsAAACIewAAAIh7AAA%0AAiHsAAACIewAAAIh7AAAAiHsAAACIewAAAIh7AAAAiHsAAACIewAAAIh7AAAAiHsAAACIewA%0AAAIh7AAAAiHsAAACIewAAAIh7AAAAiHsAAACIewAAAIh7AAAAiHsAAACIewAAAIh7AAAAiHs%0AAAACIewAAAIh7AAAAiHsAAACIewAAAIh7AAAAiHsAAACIewAAAIh7AAAAiHsAAACIewAAAIh%0A7AAAAiHsAAACIewAAAIh7AAAAiHsAAACIewAAAIh7AAAAiHsAAACIewAAAIh7AAAAiHsAAAC%0AIewAAAIh7AAAAiHsAAACIewAAAIh7AAAAiHsAAACIewAAAIh7AAAAlE30wN8Y4lEYsmSJYsX%0ALy4tLY2iqHHjxsXFxa1atcr0XAAAGZZNYbd27dqRI0eOGzfus88+2+qp1q1b9+nTZ8CAAfXq%0A1cvIbAAAGZc1Ybdy5cquXbsuWbKkuLj4lFNOadOmTYMGDaIoWrdu3aJFi1577bUbb7xx4sSJ%0Ar776atOmTTM9LABABmRN2A0ZMmTFihVPPfXUeeedt+2zlZWVo0eP7tev3/Dhw++8887aHw8A%0AIOOy5uaJqVOn9urVa7tVF0VRbm5u3759e/ToMWnSpFoeDAAgJrIm7FavXr3ffvtVf06HDh1W%0ArVpVO/MAAMRN1oRdUVHRggULqj9n/vz5RUVFtTMPAEDcZE3Yde/efcKECbfffvojHyIAABqg%0ASURBVPumTZu2fXbDhg1Dhw6dPHlyz549a382AIA4yJqbJ4YNGzZjxoyBAweOGDGiS5curVq1%0AatiwYSKRWL9+/bJly+bMmbNx48Zu3boNHjw405MCAGRG1oRdkyZNZs2adc8994wdO3batGmV%0AlZWpp/Ly8kpKSnr37t27d+/c3NwMDgkAkEFZE3ZRFOXn5/fv379///5lZWXLly9P7jzRqFGj%0A1q1b5+fn79xrbty48f7779+8eXM158yePXvnXhwAoDZlTdgtXbq0UaNGzZo1i6KosLCwuLh4%0Al7zsV1999cwzz3z99dfVnPP5559HUZRIJHbJbwQA2E2yJuz22WefwsLCwYMHDxw4cKevz22r%0ARYsWM2bMqP6c0aNHX3HFFTk5ObvqlwIA7A5Zc1dsFEU/+MEPhg4d2rFjx2nTpmV6FgCA2Mmm%0AsOvZs+e//vWvwsLCY4899qc//ek///nPTE8EABAj2RR2URR16tRp7ty5f/zjH//zn/9069bt%0A6KOPHjt27FdffZXpuQAAMi/dNXaVlZWpbxLZtGnTm2++mZ+f37Fjx9pfeZabm3vttddedtll%0Ao0aNuv322y+++OLc3NxDDz304IMP3meffRo1avSrX/2qlkcCAIiDmsOusrLy6quv/uyzzyZM%0AmBBF0dKlS48//vjFixdHUXTUUUc9//zzDRs23O1jbqNBgwaDBg26+uqrJ02a9NRTT73yyitz%0A585NPiXsAIDvppo/ir3tttvuvffe1q1bJ3+86qqrlixZcuWVV/bt23fmzJl33333bp6wOvXr%0A17/wwgunTJmyZs2a+fPnjx8//t57783gPAAAGVTzFbvHHnvs7LPPvuOOO6Io+uSTT55//vne%0AvXsn+6msrOzJJ58cNGjQbh+zJsnPhTt27JjpQQAAMqbmK3ZLly498cQTk49feOGFRCJx/vnn%0AJ38sKSlZunTp7huuqoKCgry8vNr5XQAA2ajmK3ZVb494+eWXGzRo0K1bt+SPiUSi+s24dqGy%0AsrLa+UUAAFmq5it2bdq0mT59ehRFq1ateu6550488cTUxg8LFixo2bLl7h0QAID01Bx2P//5%0Azx9//PEjjzzy0EMPXb9+/TXXXJM8Pnbs2EceeeSMM87YzRMCAJCWmj+K7d+//wcffPDkk0/m%0A5+ffddddRx99dPL4oEGD2rdvf8MNN+zmCQEASEvNYVdYWPjQQw899NBDWx2fNGlSp06d6tZN%0A9yuOAQDYrWr+KHbcuHHbPX744YeXlpaed955u3okAAB2Rs1hd/HFFye/xG4rM2bMOOSQQ55+%0A+undMBUAAN9YzWF31llnDRgw4Prrr08kEskjlZWVN95447HHHrtmzZoHHnhgN08IAEBaal4h%0AN2HChAEDBtx2222rVq0aM2bMihUrLrjggpkzZ3bq1Onxxx8vLi6uhSkBAKhRzWFXp06dP/zh%0AD/vuu++11167aNGit99+u7S0dNCgQSNGjLAVBABAfKR7T2u/fv3atGlz/vnnb9iw4dlnnz3z%0AzDN361gAAHxT2w+7FStWbHvwxz/+8WOPPdarV6977723pKQkddzmEwAAcbD9sGvVqlU1/+bF%0AF1+sekLqpgoAADJo+2HXs2fPWp4DAIBvafthN378+FqeAwCAb6nm77GbMmXKO++8UwujAADw%0AbdQcdj179vzrX/9aC6MAAPBt1Bx2Rx111GuvvbZly5ZamAYAgJ1W8/fYPfroo/379z/11FMv%0AuuiiH/7wh40bN97qhHbt2u2e2QAA+AZqDrsf/OAHyQd///vft3uCrzsBAIiDmsOuZ8+e+fn5%0AeXl5OTk5tTAQUL2Jc6Lp72d6CMiEz9dF5+yb6SEg3moOu2q++mTDhg2lpaW7dB6gBqVlUWlZ%0ApocAIJZqvnmiGpMnTz700EN31SgAAHwbNV+xi6Loiy++GD9+/NKlSysqKlIHy8rK/vrXv65f%0Av363zQZsxx6FUfNGmR4CMuHzdZmeAGKv5rBbunRply5dPv/88+3847p1hwwZshumAnbonC7R%0AQ5dnegjIhEtHZ3oCiL2aw27w4MFlZWV33313hw4djj/++AcffLBly5bTpk0bN27cmDFjTjrp%0ApFqYEgCAGtUcdjNmzLjqqquuuuqqsrKyKIoOPPDAww8//KSTTurZs+fxxx8/ZcqUrl277v45%0AAQCoQc03T6xcuXLfffeNoqhOnTpRFJWXlyePd+zY8aqrrho6dOhunQ8AgDTVHHZ77LHHqlWr%0AoijKz89v2LDh4sWLU08dcMAB8+bN243TAQCQtprDrlu3bvfff/+0adOiKPrRj350zz33pO6E%0AfeWVVwoKCnbrfAAApKnmsPvNb36zevXqAQMGRFF02WWXzZs374ADDjj77LN//OMfP/DAAyec%0AcMLuHxIAgJrVfPNEly5d/vnPf86ZMyeKoksuueTDDz+88847n3nmmZycnDPOOOPOO+/c/UMC%0AAFCztL6guKSkpKSkJIqinJycW2655cYbb/z000/32muvevXq7ebxAABIV1pht5XCwsK2bdvu%0A6kkAAPhWdhh2VXcPq+El6u5MHQIAsGvtsMny8vLSfIlEIrGLhgEAYOdVd7EtNzf34IMPbt++%0AvXQDAIi/HYbdtdde+/jjj8+fP3/NmjU9evS4+OKLDzzwwNqcDACAb2SH32P3xz/+8ZNPPnnu%0Auec6d+581113HXTQQZ06dRo1atQXX3xRm/MBAJCm6r6guG7duqeddtqECRM+/fTT+++/Pz8/%0A/+qrry4qKjrrrLOeffbZzZs319qUAADUqOadJ6IoatKkyeWXXz5z5swPP/xw0KBBb7755lln%0AnVVUVHT11Vf/+9//3t0jAgCQjrTCLqVdu3YjRoxYvHjxa6+9dsABB4waNapTp067aTIAAL6R%0Ab/YVdFu2bHnppZcefvjh5557bsOGDe3atbvooot202QAAHwj6YbdwoULH3744XHjxn3yySd7%0A7LFHjx49Lr300m7duu3W4QAASF8NYffll18++eSTDz/88L/+9a+cnJyjjz76lltuOffcc+vX%0Ar1878wEAkKYdht0LL7zw8MMPP/vss2VlZfvss8+wYcMuvvhiW8QCAMTWDsPu5JNPzs3N7dKl%0Ay8knn1xSUpJIJN5+++2333572zNPO+203TkhAABpqe6j2MrKylmzZs2aNav6l7DhGABAHOww%0A7MaNG1ebcwAA8C3tMOwuvPDC2pwDAIBv6Zt9QTEAALEl7AAAAiHsAAACIewAAAIh7AAAAiHs%0AAAACIewAAAIh7AAAAiHsAAACIewAAAIh7AAAAiHsAAACIewAAAIh7AAAAiHsAAACIewAAAIh%0A7AAAAiHsAAACIewAAAIh7AAAAiHsAAACIewAAAIh7AAAAiHsAAACIewAAAIh7AAAAiHsAAAC%0AIewAAAIh7AAAAiHsAAACIewAAAIh7AAAAiHsAAACIewAAAIh7AAAAiHsAAACIewAAAIh7AAA%0AAiHsAAACIewAAAIh7AAAAiHsAAACIewAAAIh7AAAAiHsAAACIewAAAIh7AAAAiHsAAACIewA%0AAAIh7AAAAiHsAAACIewAAAIh7AAAAiHsAAACIewAAAIh7AAAAiHsAAACUTfTA3xjiURiyZIl%0AixcvLi0tjaKocePGxcXFrVq1yvRcAAAZlk1ht3bt2pEjR44bN+6zzz7b6qnWrVv36dNnwIAB%0A9erVy8hsAAAZlzVht3Llyq5duy5ZsqS4uPiUU05p06ZNgwYNoihat27dokWLXnvttRtvvHHi%0AxImvvvpq06ZNMz0sAEAGZE3YDRkyZMWKFU899dR555237bOVlZWjR4/u16/f8OHD77zzztof%0ADwAg47Lm5ompU6f26tVru1UXRVFubm7fvn179OgxadKkWh4MACAmsibsVq9evd9++1V/TocO%0AHVatWlU78wAAxE3WhF1RUdGCBQuqP2f+/PlFRUW1Mw8AQNxkTdh17959woQJt99++6ZNm7Z9%0AdsOGDUOHDp08eXLPnj1rfzYAgDjImpsnhg0bNmPGjIEDB44YMaJLly6tWrVq2LBhIpFYv379%0AsmXL5syZs3Hjxm7dug0ePDjTkwIAZEbWhF2TJk1mzZp1zz33jB07dtq0aZWVlamn8vLySkpK%0Aevfu3bt379zc3G/6yqWlpRUVFdWcsHHjxp2ZGHaPTRXR2g2ZHuK7aksiiqKoTk6m5/iu2lQR%0AFWR6Boi5rAm7KIry8/P79+/fv3//srKy5cuXJ3eeaNSoUevWrfPz83fuNRctWlRcXJxIJGo8%0AM51zYHcrLCx8eGb0xMxMzwEZcsXBhZkeAWItJ6t7pbKy8t133y0tLW3VqtVO7yr2zjvvlJWV%0AVXPCpEmTbrnlltLS0oYNG+7cr4BdZf369QsXLsz0FN9dN910UxRFQ4YMyfQg313t27f3n2Iy%0Arry8vKCg4PXXXz/yyCMzPcvWsumK3cyZMx9//PG77747+eOjjz46YMCA1PebHHLIIXfddddP%0AfvKTb/qyBx54YPUnzJs375u+JuwmDRs2LCkpyfQU31333XdfFEUtWrTI9CAA25c1YTdt2rST%0ATjopPz9/1KhROTk5Tz/9dK9evRo2bHjeeec1b978ww8//Mc//nHiiSe+/vrr/s8esJtIOiDm%0Asibshg8f3qRJk9dffz0nJyeKouuvv75NmzazZs1K/Xd29uzZxx577PDhw6dMmZLRSQEAMiNr%0AvsfujTfeuOiii9q1axdF0VdffbVkyZLrrruu6v/3fNhhh1144YUzZszI3IwAAJmUNWFXWVlZ%0Ar1695OPCwsKcnJyWLVtudU7Lli2rvw0C4NsYNmzYsGHDMj0FwA5lTdh17Nhx/Pjxya+UKygo%0AOOKII2bNmlX1hE2bNk2aNKl9+/YZGhAI37Jly5YtW5bpKQB2KGvCbtCgQR9++GG3bt1efPHF%0AioqKUaNGPfbYY2PHjt24cePmzZtnz559yimnLFiwoG/fvpmeFAAgM7Lm5onTTjvtgQceuPba%0Aa0866aR69erts88++fn5F198ce/evaMoqqyszMnJue666y677LJMTwoAkBlZE3ZRFPXp0+f0%0A008fN27cyy+//P77769Zs6agoKBhw4Zt27bt2rXrxRdffOihh2Z6RgCAjMmmsIuiaK+99how%0AYMCAAQMyPQjwXbQTu1ED1KYsCzuADEpuKQYQW8IOIF12ngBiLmvuigUAoHrCDgAgEMIOIF12%0AngBizho7gHTZdgKIOVfsAAACIewAAAIh7AAAAmGNHUC67DwBxJywA0iXnSeAmBN2AOmy8wQQ%0Ac9bYAQAEQtgBAARC2AGky84TQMxZYweQLjtPADHnih0AQCCEHQBAIIQdAEAgrLEDSJedJ4CY%0AE3YA6bLzBBBzwg4gXXaeAGLOGjsAgEAIOwCAQAg7gHTZeQKIOWvsANJl5wkg5lyxAwAIhLAD%0AAAiEsAMACIQ1dgDpsvMEEHPCDiBddp4AYk7YAaTLzhNAzFljBwAQCGEHABAIYQeQLjtPADFn%0AjR1Auuw8AcScK3YAAIEQdgAAgRB2AACBsMYOIF12ngBiTtgBpMvOE0DMCTuAdNl5Aog5a+wA%0AAAIh7AAAAiHsANJl5wkg5qyxA0iXnSeAmHPFDgAgEMIOACAQwg4AIBDW2AGky84TQMwJO4B0%0A2XkCiDlhB5AuO08AMWeNHQBAIIQdAEAghB1Auuw8AcScNXYA6bLzBBBzrtgBAARC2AEABELY%0AAQAEwho7gHTZeQKIOWEHkC47TwAxJ+wA0mXnCSDmrLEDAAiEsAMACISwA0iXnSeAmLPGDiBd%0Adp4AYs4VOwCAQAg7AIBACDsAgEBYYweQLjtPADEn7ADSZecJIOaEHUC67DwBxJw1dgAAgRB2%0AAACBEHYA6bLzBBBz1tgBpMvOE0DMuWIHABAIYQcAEAhhBwAQCGvsANJl5wkg5oQdQLrsPAHE%0AnLADSJedJ4CYs8YOACAQwg4AIBDCDiBddp4AYs4aO4B02XkCiDlX7AAAAiHsAAACIewAAAJh%0AjR1Auuw8AcScsANIl50ngJgTdgDpsvMEEHPW2AEABELYAQAEQtgBpMvOE0DMWWMHkC47TwAx%0A54odAEAghB0AQCCEHQBAIKyxA0iXnSeAmBN2AOmy8wQQc8IOIF12ngBizho7AIBACDsAgEAI%0AO4B02XkCiLnsW2OXSCSWLFmyePHi0tLSKIoaN25cXFzcqlWrTM8FhM/OE0DMZVPYrV27duTI%0AkePGjfvss8+2eqp169Z9+vQZMGBAvXr1MjIbAEDGZU3YrVy5smvXrkuWLCkuLj7llFPatGnT%0AoEGDKIrWrVu3aNGi11577cYbb5w4ceKrr77atGnTTA8LAJABWRN2Q4YMWbFixVNPPXXeeedt%0A+2xlZeXo0aP79es3fPjwO++8s/bHAwDIuKy5eWLq1Km9evXabtVFUZSbm9u3b98ePXpMmjSp%0AlgcDvjtyc3NtPgHEWdZcsVu9evV+++1X/TkdOnR45plnamce4DvIzhNAzGVN2BUVFS1YsKD6%0Ac+bPn19UVFQ78wDfQXaeAGIuaz6K7d69+4QJE26//fZNmzZt++yGDRuGDh06efLknj171v5s%0AAABxkDVX7IYNGzZjxoyBAweOGDGiS5curVq1atiwYSKRWL9+/bJly+bMmbNx48Zu3boNHjw4%0A05MCAGRG1oRdkyZNZs2adc8994wdO3batGmVlZWpp/Ly8kpKSnr37t27d2/rmoHdJ7nthM0n%0AgNjKmrCLoig/P79///79+/cvKytbvnx5cueJRo0atW7dOj8/f+dec/Xq1ddcc015eXk15yxe%0AvDiKokQisXO/AgiGnSeAmMumsEspLCwsLi6Ooqi8vHzBggXLly9v27btPvvssxMvVbdu3WbN%0Amm133V7KXnvtFUVRQUHBzk0LAFA7sibsbr755q5dux577LGpI6NHj77hhhvWrl2b/LGkpOTB%0ABx/s2LHjN3rZxo0b33XXXdWfM3PmzL/97W/fdGAAgFqWNXfFDhky5IUXXkj9OHXq1CuuuGLj%0Axo1nnXXW5Zdf3rVr13//+9/HHHPMokWLMjgkAEAGZc0Vu63079+/cePGs2bN6tChQ/LIpEmT%0Azj333JEjR/7lL3/J7GxAqNyeBcRcVobd559//uGHH/7mN79JVV0URWefffaZZ5754osvZnAw%0AIGx2ngBiLms+iq2qrKwsiqKqVZd00EEHffbZZ5mYCPhOaNGihc0ngDjLyrArKipq3LjxihUr%0Atjr+3//+d4899sjISAAAGZdNYffxxx/Pmzfvo48+Wrt2bd++fceMGbNx48bUs++///6TTz7Z%0AtWvXDE4IAJBB2bTG7oknnnjiiSeqHnn++efPOeecKIoef/zxX/7yl19//fWQIUMyNB0QPjtP%0AADGXNWH30EMPfVnFV1999eWXXzZt2jT57JdfftmkSZPx48d37tw5s3MCAbPzBBBzWRN2l1xy%0ASTXPXnTRRVdccUWdOtn0yTIAwK6VNWFXvYYNG2Z6BACADHOJCwAgEIFcsQOoBXaeAGJO2AGk%0Ay84TQMwJO4B02XYCiDlr7AAAAiHsAAACIewA0jVs2DDbTgBxZo0dQLrsPAHEnCt2AACBEHYA%0AAIEQdgAAgbDGDiBddp4AYk7YAaTLzhNAzAk7gHTZeQKIOWvsAAACIewAAAIh7ADSZecJIOas%0AsQNIl50ngJhzxQ4AIBDCDgAgEMIOACAQ1tgBpMvOE0DMCTuAdNl5Aog5YQeQLjtPADFnjR0A%0AQCCEHQBAIIQdQLrsPAHEnDV2AOmy8wQQc67YAQAEQtgBAARC2AEABMIaO4B02XkCiDlhB5Au%0AO08AMSfsANJl5wkg5qyxAwAIhLADAAiEsANIl50ngJizxg4gXXaeAGLOFTsAgEAIOwCAQAg7%0AAIBAWGMHkC47TwAxJ+wA0mXnCSDmhB1Auuw8AcScNXYAAIEQdgAAgRB2AOmy8wQQc9bYAaTL%0AzhNAzLliBwAQCGEHABAIYQcAEAhr7IDac/PNN//hD3/I9BQ7b+PGjVEUTZ48OdOD7Lzrrrtu%0A8ODBmZ4C2F2EHVB7fvGLXxx++OGZnmLnrVmzJoqiZs2aZXqQnXfggQdmegRgNxJ2QO1p0aKF%0AzRsAdh9r7AAAAiHsAAACIewAAAIh7AAAAiHsAAACIewAAAIh7AAAAiHsAAACIewAAAIh7AAA%0AAiHsAAACIewAAAIh7AAAAiHsAAACIewAAAIh7AAAAiHsAAACIewAAAIh7AAAAiHsAAACUTfT%0AA2SB/Pz8KIoKCgoyPQgAEBfJPIibnEQikekZssCCBQsqKioyPQUAEAt169Y95JBDMj3Fdgg7%0AAIBAWGMHABAIYQcAEAhhBwAQCGEHABAIYQcAEAhhBwAQCGEHABAIYQcAEAhhBwAQCGEHABAI%0AYQcAEAhhBwAQCGEHABAIYQcAEAhhBwAQCGEHABAIYQcAEAhhBwAQCGEHABAIYQcAEAhhBwAQ%0ACGEHABAIYQcAEAhhBwAQCGEHABAIYQcAEAhhBwAQCGEHABAIYQcAEAhhBwAQCGEHABAIYQcA%0AEAhhBwAQCGEHABAIYQcAEAhhBwAQCGEHABAIYQcAEAhhBwAQCGEHABAIYQcAEAhhBwAQCGEH%0AABAIYQcAEAhhBwAQCGEHABAIYQcAEAhhBwAQCGEHABAIYQcAEAhhBwAQCGEHABAIYQcAEAhh%0ABwAQCGEHABAIYQcAEAhhBwAQCGEHABAIYQcAEAhhBwAQCGEHABAIYQcAEAhhBwAQCGEHABAI%0AYQcAEAhhBwAQCGEHABAIYQcAEAhhBwAQCGEHABAIYQcAEAhhBwAQCGEHABAIYQcAEAhhBwAQ%0ACGEHABAIYQcAEAhhBwAQCGEHABAIYQcAEAhhBwAQCGEHABAIYQcAEAhhBwAQCGEHABAIYQcA%0AEAhhBwAQCGEHABAIYQcAEAhhBwAQCGEHABAIYQcAEAhhBwAQCGEHABAIYQcAEAhhBwAQCGEH%0AABAIYQcAEAhhBwAQCGEHABAIYQcAEAhhBwAQCGEHABAIYQcAEAhhBwAQCGEHABAIYQcAEAhh%0ABwAQCGEHABAIYQcAEAhhBwAQCGEHABAIYQcAEAhhBwAQCGEHABAIYQcAEAhhBwAQCGEHABAI%0AYQcAEAhhBwAQiP8LBESr1heceYIAAAAASUVORK5CYII="/>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54" name="AutoShape 10" descr="data:image/png;base64,iVBORw0KGgoAAAANSUhEUgAAA0gAAANICAMAAADKOT/pAAAC/VBMVEUAAAABAQECAgIDAwME%0ABAQFBQUGBgYHBwcICAgJCQkKCgoLCwsMDAwNDQ0ODg4PDw8QEBARERESEhITExMUFBQVFRUW%0AFhYXFxcYGBgZGRkaGhobGxscHBwdHR0eHh4fHx8gICAhISEiIiIjIyMkJCQlJSUmJiYnJyco%0AKCgpKSkqKiorKyssLCwtLS0uLi4vLy8wMDAxMTEyMjIzMzM0NDQ1NTU2NjY3Nzc4ODg5OTk6%0AOjo7Ozs8PDw9PT0+Pj4/Pz9AQEBBQUFCQkJDQ0NERERFRUVGRkZHR0dISEhJSUlKSkpLS0tM%0ATExNTU1OTk5PT09QUFBRUVFSUlJTU1NUVFRVVVVWVlZXV1dYWFhZWVlaWlpbW1tcXFxdXV1e%0AXl5fX19gYGBhYWFiYmJjY2NkZGRlZWVmZmZnZ2doaGhpaWlqampra2tsbGxtbW1ubm5vb29w%0AcHBxcXFycnJzc3N0dHR1dXV2dnZ3d3d4eHh5eXl6enp7e3t8fHx9fX1+fn5/f3+AgICBgYGC%0AgoKDg4OEhISFhYWGhoaHh4eIiIiJiYmKioqLi4uMjIyNjY2Ojo6Pj4+RkZGSkpKTk5OUlJSV%0AlZWWlpaXl5eYmJiZmZmampqbm5ucnJydnZ2enp6fn5+goKChoaGioqKjo6OkpKSlpaWmpqan%0Ap6eoqKipqamqqqqrq6usrKytra2urq6vr6+wsLCxsbGysrKzs7O0tLS1tbW2tra3t7e4uLi5%0Aubm6urq7u7u8vLy9vb2+vr6/v7/AwMDBwcHCwsLDw8PExMTFxcXGxsbHx8fIyMjJycnKysrL%0Ay8vMzMzNzc3Ozs7Pz8/Q0NDR0dHS0tLT09PU1NTV1dXW1tbX19fY2NjZ2dna2trb29vc3Nzd%0A3d3e3t7f39/g4ODh4eHi4uLj4+Pk5OTl5eXm5ubn5+fo6Ojp6enq6urr6+vs7Ozt7e3u7u7v%0A7+/w8PDx8fHy8vLz8/P09PT19fX29vb39/f4+Pj5+fn6+vr7+/v8/Pz9/f3+/v7////RE6r4%0AAAAACXBIWXMAABJ0AAASdAHeZh94AAAYB0lEQVR4nO3deZzkdX3n8W/PwZwMMBzCDDchgCeX%0AEYywHEoUVEYxgih3FCMkmICJBAgiCqJhMRog8WCFoKwmgOCybBAhY4TITdCoi4hmvEYWxzCc%0Aw0z/Hvurqu6e7t7uXqDePVXd/Xz+UfWrX/3q2x+KenUd3TNTKqBtpdMDwGQgJAgQEgQICQKE%0ABAFCggAhQYCQIEBIECAkCBASBAgJAoQEAUKCACFBgJAgQEgQICQIEBIECAkChAQBQoIAIUGA%0AkCBASBAgJAgQEgQICQKEBAFCggAhQYCQIEBIECAkCBASBAgJAoQEAUKCACFBgJA66ZpSptdn%0AXyll1vCrhu3rO3IsI63yXLzQ2zGYkMbXZ0opK0a9dhxDanzh8tnW9n9rbH/mud2OF0ZI4+s5%0AhfTgRRd9avhVw/a9sJDe2Np+q5DGnZDG13MK6Tl4YSHNfryx+fR8IY07IY2vToa0ZSn/2Ni8%0AoZTFQhpnQhpffSF9rpR9qqWv3XDea25q7b9sj7kbHXzntYPfIx1Yyuua111eyoxfDTy8hxx5%0ARimvauzs76r3SwdtOmP93/nr1dUIIb11ejm6sfneMv3NrZAGH16PtO+zf7zJZv23+/WOpby3%0Aqp792wM3nbHpnuc9sg7unMlESOOrL6SrSnnp/1qv8Qpr+tcbu09tbJZZZw4OqX5kr/dY48r6%0ALc3BA1kMPXJ4SO8sLW/sHSGkd+1VFjaS2bLs/bZWSIMP/2IpL7+wsUzrdqv2L+VNq6tV+/Ud%0Asv0P1+XdNPEJaXz1hVQ/WLfYdtfTD6ov/U6999v1+QFXX/f6GYNDWlGH9uX60lPzSvlifxbD%0AjhwW0vWlTLv4gc/NaN7w/wnp7WeX8o2quruUs5c0Qxp++LZbzdx1p77b/UEpr3yiqi4pZecv%0A3XbjYaX8l3V/Z01kQhpfa0Mq+zzVfEqYtqqq3l3Kpo/XL6N2HvLx96GlHFWffbWU9Z/o3zfs%0AyGEhffqQQ06pz+oXbkePENJhd5RSX13ndMehzZCGH152XNb/1T9RPwctry8cW8qF9dmqd5z8%0AsTXr8G6a+IQ0vgaFVD85VF+vz39cVbuUcnzj2nOHhFS//tt4dfOxfMzAvmFHDn9p1/JHpRw0%0AUki9i8u2VbVbWdx76OAPGwYOr5/4+r76ddPKxj9oXPjjUra+/JfjeY9MUkIaX4NCarz/ebA+%0Af6Cq5pRyfuPaq4eE9OT8UpZWqzcp5aaBfcOOHB7STYduP6v5lubAkUKq3lfK/ctKOanqC2nY%0A4aVZTL0xrf7KL322ceHeuY2rdzjhH1evq3tokhDS+FobUvNBvqwZUm99+snGxRuH/mZD/cLv%0AA9UtpSxa079v+JHDQrq4vnreLq/YZLSQ/qmUv7q40WUrpOGHT2++evtK38cLFzZvd8tLWpe2%0AvW1d3UWTg5DG14ghVbNLOa9x8ctDQ/paKTtVp5Ry2tp9w46sQ9q1cfFvmxdX1k8fRz5ZNZ54%0ARg5p1Ybl4MPKhqtaIY1yeCOkAz9avzH7WfNi720ffv0GpfXWjOdMSONr5JB+u7R+wnP60JBW%0AbVzKD7Yp5b61+4YdeX4pm/XW5yc2Ly6tV7u3av4EauSQqiPL+gvLO6tWSKMc3tjoXbN7KUcM%0A3Hj1Vzcq5YZxvmsmFyGNr5FDOqaUDX9dP6NsOeyXVus+6pd3L6vW7ht25BX17a+vqu/NbV68%0Aqb50R1V9d1op+44c0pcbr9K+0hfSKIe3Nr5ZX3lz9eR5x765+XrvoFKuWWd30mQgpPE1cki3%0A1md7XPWFV9bv8adVgx7TtzbfnlxQrd037MiHeup3OSeetvDVzZB+VifxpgeuW7xTKQtuXz5S%0ASCtnlTJ7ZV9Ioxzet/H2UnZZVe1a3+yGu5aeM7PMWr4u76cJT0jja+SQquOaxcz7dH2yZlBI%0AvYvrHdMaP9wZ2Df0yOq9zYs7/kspPb3ND7Jrix5eVJ+ePVJI1cGlHFL1hTTK4X0bP5lTyseq%0AB7bs++hh2ufW2X00KQhpfI0S0poLd1pvs7d957utT8XXJvCn9Y79m1v9+4YeWa0+f8f1Fr9n%0A+U/ri0/Ub6ouePGcxX/ws+qmnWZsedWIIX2m9bl3K6SRD+/fOKvu9T+qX56754tmzt35Pfev%0Am/tn0hASBAgJAoQEAUKCACFBgJAgQEgQICQIEBIECAkChAQBQoIAIUGAkCBASBAgJAgQEgQI%0ACQKEBAFCggAhQYCQIEBIECAkCBASBAgJAoQEAUKCACFBgJAgQEgQICQIEBIECAkChAQBQoIA%0AIUGAkCBASBCwDkK67y6YUO57/o/y8Q/pzgITzJ3P+2E+/iF9qzwz7l8Dgp4p33retxESDCMk%0ACBASBAgJAoQEAUKCACFBgJAgQEgQICQIEBIECAkChAQBQoIAIUGAkCBASBAgJAgQEgQICQKE%0ABAFCggAhQYCQIEBIECAkCBASBAgJAoQEAUKCACFBgJAgQEgQICQIEBIECAkChAQBQoIAIUGA%0AkCBASBAgJAgQEgQICQKEBAFCggAhQYCQIEBIECAkCBASBAgJAoQEAUKCACFBgJAgQEgQICQI%0AEBIECAkChAQBQoIAIUGAkCBASBAgJAgQEgQICQKEBAFCggAhQYCQIEBIECAkCBASBAgJAoQE%0AAUKCACFBgJAgQEgQICQIEBIECAkChAQBQoIAIUGAkCBASBAgJAgQEgQICQKEBAFCggAhQYCQ%0AIEBIECAkCBASBAgJAoQEAUKCACFBgJAgQEgQICQIEBIECAkChAQBQoIAIUGAkCBASBAgJAgQ%0AEgQICQKEBAFCggAhQYCQIEBIECAkCBASBAgJAoQEAUKCACFBgJAgQEgQICQIEBIECAkChAQB%0AQoIAIUGAkCBASBAgJAgQEgQICQKEBAFCggAhQYCQIEBIECAkCBASBAgJAoQEAUKCACFBgJAg%0AQEgQICQIEBIECAkChAQBQoIAIUGAkCBASBAgJAgQEgQICQKEBAFCggAhQYCQIEBIECAkCBAS%0ABAgJAoQEAUKCACFBgJAgQEgQICQIEBIECAkChAQBQoIAIUGAkCBASBAgJAgQEgQICQKEBAFC%0AggAhQYCQIEBIECAkCBASBAgJAoQEAUKCACFBgJAgQEgQICQIEBIECAkChAQBQoIAIUGAkCBA%0ASBAgJAgQEgQICQKEBAFCggAhQYCQIEBIECAkCBASBAgJAoQEAUKCACFBgJAgQEgQICQIEBIE%0ACAkChAQBQoIAIUGAkCBASBAgJAgQEgQICQKEBAFCggAhQYCQIEBIECAkCBASBAgJAoQEAUKC%0AACFBgJAgQEgQICQIEBIECAkChAQBQoIAIUGAkCBASBAgJAgQEgQICQKEBAFCggAhQYCQIEBI%0AECAkCBASBAgJAoQEAUKCACFBgJAgQEgQICQIEBIECAkChAQBQoIAIUGAkCBASBAgJAgQEgQI%0ACQKEBAFCggAhQYCQIEBIECAkCBASBAgJAoQEAUKCACFNFmu+dsZRH7q501NMWUKaJH6+V2l4%0Aw392epApSkiTw+pXlpY3d3qSKUpIk8PVpd8dnR5lahLS5PC+gZDO7/QoU5OQJocjBkI6rdOj%0ATE1CmhxOGQjpE50eZWoS0uRw40BID3R6lKlpooW0cuW4f/HnYdWjkWWefaTtJXpf19fRce2P%0As3xN+2vUHnk2ssyjqyLL/OapyDKjPv4mVEhPnb19T8/2Z2fukvZdtuvM8qITftHuMtfuNass%0APPyHba7ym9c0O1rydJvr3HPIgjJv/1vbXKX64eELy6y9r213mV+c8KIyc9fL2l3mN+/fqkzf%0A+aLVbS4z1uNvIoX0xKtb33Rf/cS4D/BcvLc1zRYPtbfMR1rLLLirvWUum95cZtb/bG+ZG2Y1%0Al5l+WXvL3Lmg9V/1kfaW+eEWrWX+sL1lfrVza5lD2ytpzMffRArpjP63AWeM+wDPwfX90xzQ%0A1jJ3T+tbZpe2/i8vm9O3zGaPtbPMY5v1LTN3WTvLrN6lb5lp97SzTHVA/338tbaWOaZ/mUva%0AWmbMx98ECql38/7/kM17x32C/78lA2/v23pKOnlgmaXtLPOxgWWubGeZvx9Y5oJ2lvnngWVO%0AbmeZhwaWWdLOMitn9S+zRzvLjP34m0AhPTJwt5b235y3b8eBaa5vZ5n9B5Zp69vlUQPL/EU7%0Ay5w+sMzR7Sxz8cAy+7ezzHUDy+zYzjL3Diwzp51lxn78CemF6q6Qjs6E9BdCGtWkCWntU+sW%0A3fXS7kftLBN6aXfBwDJtvbS7cmCZtl7aLR1Ypite2s3uXyb00m6kx98ECsmHDWPwYcMYfNgw%0AlI+/x+Dj79H5+HuYSfoD2b0TP5Ctbt1/XllwyL3tLnPPIRv4gewoJssPZBv8itDo1iyPLONX%0AhMYwOX5FCLqVkCBASBAgJAgQEgQICQKEBAFCggAhQYCQIEBIECAkCBASBAgJAoQEAUKCACFB%0AgJAgQEgQICQIEBIECAkChAQBQoIAIUGAkCBASBAgJAgQEgQICQKEBAFCggAhQYCQIEBIECAk%0ACBASBAgJAoQEAUKCACFBgJAgQEgQICQIEBIECAkChAQBQoIAIUGAkCBASBAgJAgQEgQICQKE%0ABAFCggAhQYCQIEBIECAkCBASBAgJAoQEAUKCACFBgJAgQEgQICQIEBIECAkChAQBQoIAIUGA%0AkCBASBAgJAgQEgQICQKEBAFCggAhQYCQIEBIECAkCBASBAgJAoQEAUKCACFBgJAgQEgQICQI%0AEBIECAkChAQBQoIAIUGAkCBASBAgJAgQEgQICQKEBAFCggAhQYCQIEBIECAkCBASBAgJAoQE%0AAUKCACFBgJAgQEgQICQIEBIECAkChAQBQoIAIUGAkCBASBAgJAgQEgQICQKEBAFCggAhQYCQ%0AIEBIECAkCBASBAgJAoQEAUKCACFBgJAgQEgQICQIEBIECAkChAQBQoIAIUGAkCBASBAgJAgQ%0AEgQICQKEBAFCggAhQYCQIEBIECAkCBASBAgJAoQEAUKCACFBgJAgQEgQICQIEBIECAkChAQB%0AQoIAIUGAkCBASBAgJAgQEgQICQKEBAFCggAhQYCQIEBIECAkCBASBAgJAoQEAUKCACFBgJAg%0AQEgQICQIEBIECAkChAQBQoIAIUGAkCBASBAgJAgQEgQICQKEBAFCggAhQYCQIEBIECAkCBAS%0ABAgJAoQEAUKCACFBgJAgQEgQICQIEBIECAkChAQBQoIAIUGAkCBASBAgJAgQEgQICQKEBAFC%0AggAhQYCQIEBIECAkCBASBAgJAoQEAUKCACFBgJAgQEgQICQIEBIECAkChAQBQoIAIUGAkCBA%0ASBAgJAgQEgQICQKEBAFCggAhQYCQIEBIECAkCBASBAgJAoQEAUKCACFBgJAgQEgQICQIEBIE%0ACAkChAQBQoIAIUGAkCBASBAgJAgQEgQICQKEBAFCggAhQYCQIEBIECAkCBASBAgJAoQEAUKC%0AACFBgJAgQEgQICQIEBIECAkChAQBQoIAIUGAkCBASBAgJAgQEgQICQKEBAFCggAhQYCQIEBI%0AECAkCBASBAgJAoQEAd0Z0p0FJpg7n/fDfPxDqu67a3wd85Irusipszo9wWCXlPM6PcJgWxzX%0A6QkG2+f1oz2k7nv+j/J1ENJ4O/O1nZ5gsK/N6/QEgz1a7u/0CIPtdGmnJxjs2GODiwkpTEhj%0AEFI3E9LohDQGIQ0lpNEJaQxCGkpIoxPSGIQ0lJBGJ6QxCGkoIY1OSGMQ0lBCGp2QxiCkoYQ0%0AOiGNQUhDCWl0QhqDkIY65+BOTzDYP23U6QkGe6zne50eYbCXfb7TEwz2nvcEF5sEIT3+y05P%0AMNiahzs9wRAPdXqAIZZ11R8E+PWvg4tNgpCg84QEAUKCACFBgJAgQEgQICQIEBIECAkChAQB%0AQoIAIUGAkCBASBAgJAgQEgRM3JAu6/uHA86tt1ecss3MLU74eUfnuWHf+Rvsf0vVHdPM6v9n%0AFR7uinG+967NZ2yy5NuNzS6Y5sfHL5q59Z8+lp1m4oZ0UXnHnzd8o6qe2b0c9tHjZ26X/BOP%0Az9fnyw5nnrbpet/qjmnObN41f77t7Ee7YZzvrL/wLy8/d/MZN3fFnfOjTXp+/8OvL3utik4z%0AcUM6e+0/YvNfywX16X8vp3ZumuXzd3u8qh6c/76umKbPXdM/0hXjHFnq73bV/WW/rpjmiPKZ%0A+vSU8jfRaSZuSKeUB/s3d13/6cbZb23W27FpPlFubJz1dsc0Lat32+WZrhjnVWVV42zBtl0x%0AzYJFja+9Ys5e0WkmbkjHlEdWL3uksfXU9AObe44tnfurPn5vzqrq6f/slmlaLiq3dMc4x5QH%0A6tNHpr2hG6Z5vOzbPH/5equT00zckJaUMzYq5bevrKr/XVp/QdnZ5aaOTbPNi+/53Z6yw2Xd%0AMU3T45s2HibdMM6/b/SKb/7ingPn/ms3TLNmxoub53uVZclpJm5I+5Xtz7/89AXl0uruclJz%0AzyfK1R2bZv1ttjj1Hz65dbmyK6Zp+lhZWp92xTjff3EpZevbumOafXr+rTHSzPK95DQTN6Sb%0A/6F+d199d9bCZ+4uJzf3fLxc07FpZpUv1Kc/n7/56m6YpuHJTfZtnHXDOP++3VYXXv+5l2xw%0AU1dM842y7TXfv2r7HcqPktNM3JD6vKXc8WA5prl5Zvl6x8bYePoTjbPfL//WDdM0/H0z7aob%0Axtlr7k/r0ycWL17VDdNUn5pbyvyL3llWJKeZ8CGdWL7xzIz9mpvvKD/p2Bh7TG9+MPW+8q1u%0AmKbhTdNXNM66YJyVPfs3z48u3+mCaWqP3br0sWr3LaL3zYQNaeXFX2yev6Y8VL1qbuPpYM2i%0ArTo3zsnlXxtnB5X/6IZpas/M27O10flxflX2bp6/vdzVBdNU1erGyU96jo7eNxM2pDWL5zf+%0Afvhry25V9XflQ/XmJeWczo1zV88BT1fVndNe3hXT1O4tJ7Q2umCc7Wb+oD5dsXDB090wzZ/N%0AvKN++Ly13B69byZsSNVXe+adcNZbehbcXX+L2acces4RPS97ooPjvL/ses6756x3S3dMU1VX%0AlY+0NrpgnKunbXzG5z+6XeN3CbpgmvvnbnjKOXuWD1TRaSZuSNVtb9hwxqKjm7/esPK0bWYu%0APunRTk7Te+krZm9w8B1dMk3j2+wn+7a6YJzblmw6Y6PX/o8umeb231s4e/fWPzCTm2YChwTd%0AQ0gQICQIEBIECAkChAQBQoIAIUGAkCBASBAgJAgQEgQICQKEBAFCggAhQYCQIEBIECAkCBAS%0ABAgJAoQEAUKCACFBgJAgQEgQICQIEBIECAkChAQBQoIAIUGAkCBASJPB4WVZp0eY6oTU9a4o%0A5ca+zVNKeXakQ4TUcULqeleU6Ue0tp7dbLqQupSQut4VZe/ZK5pb15fdhNSlhNT1rijnlEub%0AW2/b+ohmSN9esvHMbd71cNUoaPlrZ3+1FdKat/ZcUT398ZcvmP+yj6/p5MBTkpC63hXl+u32%0AamysmPWBwxsh3TV70Yf/7oPrb/Z/quqocuQbznugFdKflL+qquPKkZdc+pZyUqeHnnKE1PXq%0AkD5Uvl9vXFoeaIZ08e631Jc+VT5VVceXgxpPPo2QPl0+UG/N3btxkz85bHUHB56ShNT16pAe%0A7vlgvbH3HtXh/e+RVj11czm1qk4oVzYu1SFdN/3o3nprg0XLOzfpVCakrleHVO23eE31YPnr%0AvpAu33fDUjulEdJdjUMOL9fO+91mYp8sC476/E87Ou/UJKSu1wjpC+XG6qyZj7RCOr3sedmt%0At3+2FdKDjUMOL+uXDR5uHn3zknml5+Afd3LgKUlIXa8R0hPrH9G77ZKqGdJTc7ZaWe++cUhI%0Ar7t22qv73hc9fdMxPb/1TAcHnpKE1PUaIVXHzVtarmmF9HB5S2P36UNCWlZ9sJw1cJM/LN/u%0A0LBTlpC6XjOkpWXfTVa1QnqyZ7d6772Ly4lDQlq15/Sl1e2LvtC4fFK5p6MjT0FC6nrNkKod%0Ayh9VrZCqN5YTv3TWRjfM2PKLjw8KqfrBvK1WPPvS9d79NxcfP+01vZ2deeoRUtdrhXRu8/O5%0AZki/OnLTDQ74ZnXO/M1/MTik6rPlbdWj799h7gavOG9lRyeeioQEAUKCACFBgJAgQEgQICQI%0AEBIECAkChAQBQoIAIUGAkCBASBAgJAgQEgQICQKEBAFCggAhQYCQIEBIECAkCBASBAgJAoQE%0AAUKCACFBgJAgQEgQICQIEBIE/F8+gL+FSiV3jAAAAABJRU5ErkJggg=="/>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55" name="AutoShape 11" descr="data:image/png;base64,iVBORw0KGgoAAAANSUhEUgAAA0gAAANICAMAAADKOT/pAAADAFBMVEUAAAABAQECAgIDAwME%0ABAQFBQUGBgYHBwcICAgJCQkKCgoLCwsMDAwNDQ0ODg4PDw8QEBARERESEhITExMUFBQVFRUW%0AFhYXFxcYGBgZGRkaGhobGxscHBwdHR0eHh4fHx8gICAhISEiIiIjIyMkJCQlJSUmJiYnJyco%0AKCgpKSkqKiorKyssLCwtLS0uLi4vLy8wMDAxMTEyMjIzMzM0NDQ1NTU2NjY3Nzc4ODg5OTk6%0AOjo7Ozs8PDw9PT0+Pj4/Pz9AQEBBQUFCQkJDQ0NERERFRUVGRkZHR0dISEhJSUlKSkpLS0tM%0ATExNTU1OTk5PT09QUFBRUVFSUlJTU1NUVFRVVVVWVlZXV1dYWFhZWVlaWlpbW1tcXFxdXV1e%0AXl5fX19gYGBhYWFiYmJjY2NkZGRlZWVmZmZnZ2doaGhpaWlqampra2tsbGxtbW1ubm5vb29w%0AcHBxcXFycnJzc3N0dHR1dXV2dnZ3d3d4eHh5eXl6enp7e3t8fHx9fX1+fn5/f3+AgICBgYGC%0AgoKDg4OEhISFhYWGhoaHh4eIiIiJiYmKioqLi4uMjIyNjY2Ojo6Pj4+QkJCRkZGSkpKTk5OU%0AlJSVlZWWlpaXl5eYmJiZmZmampqbm5ucnJydnZ2enp6fn5+goKChoaGioqKjo6OkpKSlpaWm%0Apqanp6eoqKipqamqqqqrq6usrKytra2urq6vr6+wsLCxsbGysrKzs7O0tLS1tbW2tra3t7e4%0AuLi5ubm6urq7u7u8vLy9vb2+vr6/v7/AwMDBwcHCwsLDw8PExMTFxcXGxsbHx8fIyMjJycnK%0AysrLy8vMzMzNzc3Ozs7Pz8/Q0NDR0dHS0tLT09PU1NTV1dXW1tbX19fY2NjZ2dna2trb29vc%0A3Nzd3d3e3t7f39/g4ODh4eHi4uLj4+Pk5OTl5eXm5ubn5+fo6Ojp6enq6urr6+vs7Ozt7e3u%0A7u7v7+/w8PDx8fHy8vLz8/P09PT19fX29vb39/f4+Pj5+fn6+vr7+/v8/Pz9/f3+/v7////i%0AsF19AAAACXBIWXMAABJ0AAASdAHeZh94AAAeyklEQVR4nO3de5xUdf3H8c+yNxZYLupS3ARB%0ABbUUL8VPFNQwFQFBzQzT5BKoqZE/KjXMzVQszfxJBJl5i7ziJbAyorQwQIEKf4p4oxQIQX9C%0AishlL9/f95wzMzt7GdzLe2dmd1/PP+acM3PmnK/ncV7MmbOLmAPQZJbpAQCtASEBAoQECBAS%0AIEBIgAAhAQKEBAgQEiBASIAAIQEChAQIEBIgQEiAACEBAoQECBASIEBIgAAhAQKEBAgQEiBA%0ASIAAIQEChAQIEBIgQEiAACEBAoQECBASIEBIgAAhAQKEBAgQEiBASIAAIQEChAQIEBIgQEiA%0AACEBAoQECBBSs3vCLLcJb59vVigbC5oLITXG1ptH9CjI3+cz33qzHis3f0h3WiCn66ALHt7T%0AhD2hCQipEf6yr8W0/3WwvDnX1qZeuz4h7WUL9Q4ptP/TH7erho+gmd7YuhBSw231HbU/77qr%0AR7YzK37HPzHLmhrSXrZQz5BOHzvmuI5+2u6Jj9tXg0fQTG9sXQip4e42y3shmPGJ2I/89Lgm%0Ah7SXLdQzpG1+uusnRWYdNn7czho6gmZ6Y+tCSA1XanZANHfDrU/8y42KLqqmuRlmQ4JnE+Xc%0Ac3SHbqev/HV88ZWLDiwsPub2Mj97l9kwt+Tkrh2PX+yXEltwZXeMKMkrOWbmu1V78yEVuceH%0AdS4+8Rm/NNHssPDp+3xf22KrxENy7vc5ZpfU2NcvzA51Dx/XufjkpeE6lQ+eUpJX/NlZ5dE4%0Ahpd9fb/uiRGEA5s/uKjvjD3u5TFdO37+pfoOvY0jpIab4y+gnqpaTBnS9PD5wmtii4+1j1b8%0A3E7nHjL71KKCYCn3j0lb2HNi7KtO/zcSm/chdZobPtnuN84t9dNXg6fPMTsnvkpVSO4Ms+6V%0A1ff1K7Oet4RLeYuCVb4c28dov94DZoff6geRGEEwsEdygvlL/7lfMCn5T/2G3tYRUsO9mutP%0AotPvWFMZLa5Z4M+k+5/9Z82Qng/OvMcXnpYXLf7TX3Z969WVJ5hdHdbRo9/gq0/xq3w2aQs+%0AmEEPLvv92WYnJPYWXNoVf/XBm7uY9dnt3KFmN/ln9/jF38RXSQrpXj/7cvV9Pew3UHjhgzM7%0AmfXd49yTvsg5L97lR/VIuPF+ffIHD0yMIBhY7zMu81svHNlz2hD/7G31G3pbR0iNMDP6Y7jb%0AmJ9/ECy+bdHXhBohTfF/nH/or9YGRYuXmZ3oJ+92suKdwdlow3aGnw7t9lRtYYLZrX6yZ/xl%0AP6iI7yxY9WI/fdRPf+ec//z4jF/6k//kKYuvkhTScj/7dO19TXLhR4n5j6TZo0YFnx/+o+sr%0A0cYP2pD03xA84T/pHgvuSK5zuweajanf0Ns6QmqMp4blRC11vcelDOmQ6Px110eLA8xm7PSG%0Am/0xPBuDG9V/9NM3q7bwdbP9f7m5+r6CVV/00/LOZtf6s9lfVa137gqzKxKrJIX0op9dUHtf%0Aq/1LZcVm30u853KzU6KNP+Bc9ZBW+JQLzcb7xW+aDa7f0Ns6Qmqcjb+86PAwpsdShlQUXYS5%0Ax8PFynaWcHt4NgafZq9HlcS38I8OwcsDJj9WXrUnv2p++PF0lNkEP/li8H53kNk/EqskhbTE%0Azy6pta9oA0eaTfSTxWP7F4YvjYi6CcNNDukjP+0dDd5//g2o39DbOkJqvA3fyQ1uiKUIqTI8%0A7bzfh4sfVp2MVpq4p72hxtn4zGHRGv2WJfbiV+0azhxvdq6f/CH4AvWa2eFVA0kKaVbwOVFr%0AX8kbmOOf7HjIEfvFQ8oNI0sKKRyY/xCa6yc/CUKq39DbOEJqjD2x+ww3hn9+J4U0OHj2jugT%0Aqb3ZzGDxkagrH93/JDaQ8mysXPb90/w3/fDbVdWq4e6OjC4VK/tZ7ju3Rj/AikkKaahZ/xT7%0Aijaw3X/onec/c74WDyl6bW8h1XPobRshNdi6swblLY5m7/Zn0c7EuXRTdOvZXRSFdHD4dd65%0AqxOLVTeJ93o2li/oFt5XSKwavhZ8xfl+8MT3ze48yXLfrhpRVUgPWPhFqua+7PVgA52CDQTX%0AfsFF4Yj6h9SAobddhNRgO/cx6xt8/Xdb/J/xhzi32Z9Lz/rFeX76pHNrO0TlXOgvqbY6t713%0AtOi/3ffc4Ss5b+JVG2uejbEtfDRzwhnhhdYpZonf9Ak6CO4rPBz7ku825tpx+TYyaUTxkMrn%0AFvjPsq2192VXuehO3NNucXQ3YY3/3jM8KaT4f0OdIdVj6G0eITVc8C0j59jzv3xi8GPJX/gT%0ALN9s2COL3Loc/+3jom/uMzQq58/+1aMfuu8z/oOgnV9cV2R23G8XnWV2WHnNszG+hcFmZ/9u%0A1ZLr8q1wS3xvPqDcgisW3NrZbGB0DyL8IehDSQOKftdu7IjgJ6j5f6pjX3n5pc/M2TfcwL99%0AQWNeXNhroFnn5VsSIcVHUGdI9Rl6W0dIjTAzL/7dO/faYHlkMDvKuYvD5w76q+8suMSbGC52%0AnO0fgs+Z+dG9Muu1ttb1UXwLL/aObbfdXYmd/cpfMN4YPtk++hWf8Ff8uuxMGk/Sb3/3jj4d%0Aauyr21VVG7g8nO35r57BrYOqX+SLjaDOkOoz9LaOkBpj3YyhJfkFJcdd9Uq4uHFc1/YH3Oj/%0AdL7poIJeU7ds9GeWvxJyFbcOLOj+hZfWWHS/2L086YDCDp+a4S+9ap2N8S1svv6YT+R3GDT1%0Ahap9/cJskLtncPtuZ6yOPVNWYvbV5OHEQsrvMXJuvK/q++ro7gg2EG51zw8PLer11X+7xQPz%0Aej9UFVJsBHWHVJ+ht3GE1PJs9peUf63/6vwV23QgpJZniv/u1YDVCSkdCKmFmfejM/011VMf%0Av2ICIaUDIbUwJwTfhqY25B2ElA6E1MJ8oTBv4K0VH79eFUJKB0ICBAgJECAkQICQAAFCAgQI%0ACRAgJECAkAABQgIECAkQICRAgJAAAUICBAgJECAkQICQAAFCAgQICRAgJECAkAABQgIECAkQ%0AICRAgJAAAUICBAgJECAkQICQAAFCAgQICRAgJECAkAABQgIECAkQSENIq1cBLcrqhp/lzR/S%0ASgNamJUNPs2bP6SltrvZ9wEI7balDX4PIQE1EBIgQEiAACEBAoQECBASIEBIgAAhAQKEBAgQ%0AEiBASIAAIQEChAQIEBIgQEiAACEBAoQECBASIEBIgAAhAQKEBAgQEiBASIAAIQEChAQIEBIg%0AQEiAACEBAoQECBASIEBIgAAhAQKEBAgQEiBASIAAIQEChAQIEBIgQEiAACEBAoQECBASIEBI%0AgAAhAQKEBAgQEiBASIAAIQEChAQIEBIgQEiAACEBAoQECBASIEBIgAAhAQKEBAgQEiBASIAA%0AIQEChAQIEBIgQEiAACEBAoQECBASIEBIgAAhAQKEBAgQEiBASIAAIQEChAQIEBIgQEiAACEB%0AAoQECBASIEBIgAAhAQKEBAgQEiBASIAAIQEChAQIEBIgQEiAACEBAoQECBASIEBIgAAhAQKE%0ABAgQEiBASIAAIQEChAQIEBIgQEiAACEBAoQECBASIEBIgAAhAQKEBAgQEiBASIAAIQEChAQI%0AEBIgQEiAACEBAoQECBASIEBIgAAhAQKEBAgQEiBASIAAIQEChAQIEBIgQEiAACEBAoQECBAS%0AIEBIgAAhAQKEBAgQEiBASIAAIQEChAQIEBIgQEiAACEBAoQECBASIEBIgAAhAQKEBAgQEiBA%0ASIAAIQEChAQIEBIgkK6Q1tqpzk23hOP2ujYhoYVJa0gLpnn72mX+8fa9rk1IaGHSGlLoMNv5%0AsWunCmnhOYMGnbOwEbsHmldLCqlySuGEuXMnFE6pbMQAgObUkkKaU7wimKwontuIAQDNqSWF%0AdPAN0fSGgY0YANCcsjWkt8pdxaZN1R5esb9Fr66yV2q/ygMPmXx4K0tDWv6R27VqVbWHRbY2%0Avq1FtV/lgYdMPizP0pDquLQrL54fzTzSubwRIwCaUbZe2tX1HWnSMbuCya5jJjViAEBzakkh%0Abeo9fOnu3UuH99nUiAEAzaklheTWj87Jy8sZvb4R+weaVYsKybmtS5a814i9A82shYUEZCf+%0AGgUgQEiAACEBAoQECBASIEBIgAAhAQKEBAgQEiBASIAAIQEChAQIEBIgQEiAACEBAoQECBAS%0AIEBIgAAhAQKEBAgQEiBASIAAIQEChAQIEBIgQEiAACEBAoQECBASIEBIgAAhAQKEBAgQEiBA%0ASIAAIQEChAQIEBIgQEiAACEBAoQECBASIEBIgAAhAQKEBAgQEiBASIAAIQEChAQIEBIgQEiA%0AACEBAoQECBASIEBIgAAhAQKEBAgQEiBASIAAIQEChAQIEBIgQEiAACEBAoQECBASIEBIgAAh%0AAQKEBAgQEiBASIAAIQEChAQIEBIgQEiAACEBAoQECBASIEBIgAAhAQKEBAgQEiBASIAAIQEC%0AhAQIEBIgQEiAACEBAoQECBASIEBIgAAhAQKEBAgQEiBASIAAIQEChAQIEBIgQEiAACEBAoQE%0ACBASIEBIgAAhAQKEBAgQEiBASIAAIQEChAQIEBIgQEiAACEBAoQECBASIEBIgAAhAQKEBAgQ%0AEiBASIAAIQEChAQIEBIgQEiAACEBAoQECBASIEBIgAAhAQKEBAgQEiBASIAAIQEChAQIEBIg%0AQEiAACEBAoQECBASIEBIgAAhAQKEBAgQEiCQrpDmWcK7frFy/tgeBSVH37C59ksBQkILk76Q%0AhkyL+dC5bSdbhzGXjR9gJUtqvhQiJGSn7dtTvJC+kEqTlk63se/4ScXc3G5barwUIiRkoZ2l%0A/XNy+pfurOu1jIT0lB1VFs3dOGIZIaFl2DG096wVK2b1GrqjjhczEtJ4eyzVSxFCQvaZsX/w%0Ald693WdGHS9mJKT+Oe+neilCSMg6lZ+8I5r52Scra7+a/rt2pc517JrypchSe2m3K3v1VR54%0AyJqH5+zF6Ox80Z6r/epLaQvp2OmRRc4VF6d8iZB4yNKHbAmptGphYOIHRrVeinBph6yTuLS7%0Ao0dGL+1KqxYm2t2xucoXCAktRPbdbFhi/T6I5mbbbEJCy7BjaO+fZNftb3euDXnDT8puz+2x%0AlZDQQmTHD2QTvwf0B9/2OMs76aJz+1r/12q+FCIkZKcs+BWhhOuD5YVn9cwvHjLnozpecoSE%0AFoe/RgEIEBIgQEiAACEBAoQECBASIEBIgAAhAQKEBAgQEiBASIAAIQEChAQIEBIgQEiAACEB%0AAoQECBASIEBIgAAhAQKEBAgQEiBASIAAIQEChAQIEBIgQEiAACEBAoQECBASIEBIgAAhAQKE%0ABAgQEiBASIAAIQEChAQIEBIgQEiAACEBAoQECBASIEBIgAAhAQKEBAgQEiBASIAAIQEChAQI%0AEBIgQEiAACEBAoQECBASIEBIgAAhAQKEBAgQEiBASIAAIQEChAQIEBIgQEiAACEBAoQECBAS%0AIEBIgAAhAQKEBAgQEiBASIAAIQEChAQIEBIgQEiAACEBAoQECBASIEBIgAAhAQKEBAgQEiBA%0ASIAAIQEChAQIEBIgQEiAACEBAoQECBASIEBIgAAhAQKEBAgQEiBASIAAIQEChAQIEBIgQEiA%0AACEBAoQECBASIEBIgAAhAQKEBAgQEiBASIAAIQEChAQIEBIgQEiAACEBAoQECBASIEBIgAAh%0AAQKEBAgQEiBASIAAIQEChAQIEBIgQEiAACEBAoQECBASIEBIgAAhAQKEBAgQEiBASIAAIQEC%0AhAQIEBIgQEiAACEBAoQECBASIEBIgAAhAQKEBAikL6TK+WN7FJQcfcPmYKFi/qh+7dv3P3+1%0An59nCe/G1iUktDBpC2nbydZhzGXjB1jJEr/0Res7/ZZrRuZ2XBKENGRazIexlVtsSO8tWfJe%0ApseATEhbSKfb2Hf8pGJubrct7mk7oSx4cqENDkIqrblyCw1p/eicvLyc0eszPQ6kX7pCesqO%0AKovmbhyxzM222dHCvMUVrSekTb2HL929e+nwPpsyPRKkXbpCGm+PJS0tsLFliYVWE9KkY3YF%0Ak13HTMr0SJB26Qqpf877SUt7jrTBs9ZURgutJaTy4vnRzCOdyzM7EqRfukLq2LXa4vuXFpnt%0AO+6uHS75rl1p/OWltvwjt2vVqhb1sMjWRqNfa4syPRYe0v2wPE0hFRfXeOLDhVcOzbeSxUFI%0Ax06PLKoK6a1yV7FpU4t6eMX+Fo1+lb2S6bHwkO6Ht9IU0sDEz4iSbJ1V2OXdVnNp5w6+IZre%0AMDCz40AGpOvSbqLdHZurfCHp6en2aOsJaU7ximCyonhupkeCtEtXSEus3wfR3GybXX7x6Ipo%0A4Xq7t/WEVDmlcMLcuRMKp1RmeiRIu7T9QPZcG/KGn5TdnttjqzvVvh3e2Hqjd96brSck5xae%0AM2jQOQszPQpkQNpC2jHO8k666Ny+1v8159b3tz4Xl04fXZBzW7VfEfpDbOWWGhLarDT+9vfC%0As3rmFw+Z81Ew/8EPhu6TW3TwpJWu2i+tXh9blZDQwvDXKAABQgIECAkQICRAgJAAAUICBAgJ%0AECAkQICQAAFCAgQICRAgJECAkAABQgIECAkQICRAgJAAAUICBAgJECAkQICQAAFCAgQICRAg%0AJECAkAABQgIECAkQICRAgJAAAUICBAgJECAkQICQAAFCAgQICRAgJECAkAABQgIECAkQICRA%0AgJAAAUICBAgJECAkQICQAAFCAgQICRAgJECAkAABQgIECAkQICRAgJAAAUICBAgJECAkQICQ%0AAAFCAgQICRAgJECAkAABQgIECAkQICRAgJAAAUICBAgJECAkQICQAAFCAgQICRAgJECAkAAB%0AQgIECAkQICRAgJAAAUICBAgJECAkQICQAAFCAgQICRAgJECAkAABQgIECAkQICRAgJAAAUIC%0ABAgJECAkQICQAAFCAgQICRAgJECAkAABQgIECAkQICRAgJAAAUICBAgJECAkQICQAAFCAgQI%0ACRAgJECAkAABQgIECAkQICRAgJAAAUICBAgJECAkQICQAAFCAgQICRAgJECAkAABQgIECAkQ%0AICRAgJAAAUICBAgJECAkQICQAAFCAgQICRAgJECAkAABQgIECAkQICRAgJAAAUICBAgJECAk%0AQICQAAFCAgQICRAgJECAkAABQgIECAkQyM6QVhrQwqxs8Gne/CG51atSOG34vKw2nPE1SdaP%0A77RUZ+bqhp/laQgppQkTMrjzemB8TdOmxkdIqTG+pmlT4yOk1Bhf07Sp8RFSaoyvadrU+Agp%0ANcbXNG1qfISUGuNrmjY1PkJKjfE1TZsaHyGlxviapk2Nj5BSY3xN06bGR0ipMb6maVPjy2RI%0AU6dmcOf1wPiapk2NL5Mhbd2awZ3XA+NrmjY1vkyGBLQahAQIEBIgQEiAACEBAoQECBASIEBI%0AgAAhAQKEBAgQEiBASIAAIQEChAQIEBIgQEiAQCZC2jp9/4J+Y5f7uXti//P/6zMwitTWTelf%0AsN/Y54PZbdP65veYvCnTI6quanzZefwCV9jkYJKVxy8QjU94/DIQ0nv9bNR3v5zX/n+du83G%0AXxl4Ov2jSO2VfQvOL/1yfv4y53YfZWffOCn/gKz6q55J48vK4xdYmRueqFl5/AKx8QmPXwZC%0AutR+4h8fs9OdK23EP0TT7D6f8xf/+Lh90bkf2w/97MM2PdNjSpY0vqw8fl7Z4CPCEzUrj5+r%0AGp/w+GUgpG+M2OMfK4v6OjfNXk///j/ONVcHj+X5Rzg3uHhXMH9g98rMDqmapPFl5fHzfpDz%0AVHiiZuXxc1XjEx6/jN1s2JV/nHMX2rvlG97N1BD2aqONcztzR4TzE2xdhkdTWzC+bD1+bxRd%0Asi04UbP1+MXHpzx+GQvp9uACb5zN6GZ28P2ZGkRKO545vHile82i//NZqS3O8HhqisaXrcdv%0ARI//hCdqth6/+PiUxy9TIf254Pgy5060/jf98urO9rMMjSKVLmbn+z9E/2aXhou32OMZHlAN%0AsfFl6fG7xx514YmapccvMT7l8ctQSA8UHvWen/zp0Q/945rCfbLsHz6/aurQdsev8yfCZeHi%0AzfZEhgdUQ2x82Xn8tuwz2sVDysbjVzU+5fHLSEiV19ppHyQtn2krMjGMvXqm4+EVr9uF4fw1%0A9sfMDqYOwfji89l1/L7U6a3YiZqdx69qfHGK45eJkCon2eXlyU9cZFn3gxDnzrOXd+edGM6O%0At7cyPJg6+PHFZ7Pq+P3Ovrthw4Y1Nn7D+1l5/JLGF39KcfwyEdI0mxnNbJ/zQDg9Ppvu6mw8%0A/IJwepatdEM67PBzFT37ZHZI1SSNLyuP33SLuzIrj1/S+JTHLwMhPWbTYnMVvTqt9ZNf25Hp%0AH0VqvQue84+vduq00/3cvudn59p1mR5TsqrxZeXxe/nJwEN2ypNrs/L4JY1PefwyENIAuzz8%0AvYwrt7oFOR0nf/fMnM5/S/8oUnsiN/9LMyZ0tNnOlQ+zsdd9KefTOzI9pmRJ48vK4xeKvoNk%0A5fELReMTHr8MhJT4aP2Xc8tGds3r+ZUs+/H8c+NKcruevDCY3f7Nvvm9Ln0v0yOqLml8WXn8%0AArEv81l5/AKx8emOH3+NAhAgJECAkAABQgIECAkQICRAgJAAAUICBAgJECAkQICQAAFCAgQI%0ACRAgJECAkAABQgIECAkQICRAgJAAAUICBAgJECAkQICQAAFCAgQICRAgJECAkAABQgIECAkQ%0AICRAgJAAAUICBAgJECCkrHKubWjI6vf3yv1mQ9bPHdKw4aDeCCkN5lnhq9HcgCP2vmbDQvpP%0AUZeZi+MLFfNH9Wvfvv/5q4OFm+r+1xz3ElKKd6CeCCkN5pmNiOa0Ia20r1UtfNH6Tr/lmpG5%0AHZc4t8meqvMNqUNK9Q7UEyGlwTwbZvPCOW1Iz9qVifmn7YSyYLrQBju3oMEhpXoH6omQ0mCe%0A/bpv963BXBDSKNvm58qCD6nxtm1q96Ihz++Y1rPjscG/UX+urfvvngUDfxqsu/lr++fvN3ZF%0A+OyWk9sviG/tzQk98/cd87xzpwb/NPxFsWdn2+zYzhZXjApeeDZ5R+63R7UvmbwtDKlqu+Nt%0A+7f7FvT+caWLvWPXzYd37vTpmyvSdWBaEUJKg3n224U2NZirEdKFdvJ1f7+3/f6jr1z1aNdP%0A7AmSGTVs5rX97U7n3unb5cp5M3sX/tm5C+y8kTNfjG1sffdO37r3xl6Fz7plM+2sJ1bHnl5g%0AY8vi+1t+gV37xHvJO/prbs+Zd54/LH9Ite1eaKdevHzpKXZ3/B0T7by5PzvTLk3v4WkVCCkN%0A5tmTbmzOMlcrpMl2iQu+3XzBP06zpUFIw/zHwZsFBzh3Sd5K/+z64mOcm2SnVH1IXGiP+8eX%0Ac/+r+qXdniNt8Kw1ldHCTeGFWtKORlrwCfQ1G1Jtu5NtvJ9dZ6Pj7+hwbPDuK84ub/5j0toQ%0AUhoEIa3v+OmyOkIKbrrNCL9AzbFHg5DuD95wkq2v3O+otwOn2na/2v2JbVV2+URYy/H2f9VC%0Acu9fWmS277i7drjaIVUUDQhW+YcPqfp2fx883WFw/B1dem5Jx/FojQgpDYKQ3C12cx0hvexn%0AS+1p/3inPRiEFF7BTbZnN1vcGr+4KrGtTfY5F62yrHpIzn248Mqh+VayuHZIG+3zwQo7fUjV%0Atxvs3nU5LP6O263zBXdvbP4D0goRUhqEIZUd3uHN2iEFP70p9V/zEyG9Fbzhclv8ug1+KrIt%0AtlrkdRsTTi/zH2Y1QgpsnVXY5d1aIb0We1POEFfHdqtCcn8a19FyTn+zOQ9GK0VIaRCG5Jbl%0AjHEHJULakSKkV4I3TLalm4Pb2DHJIb0d+0SaaM/VFZJz0/0lYnJIwY42RJ9I28NPpFrbTQrJ%0AuV2LL8w5cLfuv72tIKQ0iEJyU+zxw3xI4+wdv/BSipCeCNY80d52+7UPMnDBuskhuX16hN+R%0AhuRsSw6p/OLRsfsR19u9sSyqdlRWcGDw0tLgZkPt7VYLybvEnm+Oo9C6EVIaxELaWtL70COC%0A8/QvfuHbKUIKrsE2FBwarPYdP/vOJ0fXCOmrYWv/yBlR/a7dqfbt8F7bG73z3nQ3h3f2knZ0%0AYnjX7rzwrl2t7QYhhe9Y3vO+YPlS+3uzH5JWh5DSIBaSu8/Mh7Tcjn76uauHFdcd0inj7rjt%0AkGB2y/428d6Z++f/oUZI//5kp+/cd1334heqh7S+v/W5uHT66IKc25x71D5764rkHf0up/tV%0At4z+XJchdW03CCl8R9mnCqb8dM6kdsdXpvPotA6ElAbxkNxJQUju3kOLPjH1Pz2PryOksbb1%0AGz0KDrknWPntS/rkdT0juMqqFpJbP7FHXvcvBffbqn1H+uAHQ/fJLTp4UvBToj1nF3Wbn7wj%0A99CnC0ombetzZF3bDUKK3vHeNwZ06HLEzO3NfDxaI0ICBAgJECAkQICQAAFCAgQICRAgJECA%0AkAABQgIECAkQICRAgJAAAUICBAgJECAkQICQAAFCAgQICRAgJECAkAABQgIECAkQICRAgJAA%0AAUICBAgJECAkQICQAAFCAgQICRAgJEDg/wHqNm4YJ6PScQAAAABJRU5ErkJggg=="/>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48" name="AutoShape 4" descr="data:image/png;base64,iVBORw0KGgoAAAANSUhEUgAAA0gAAANICAIAAAByhViMAAAACXBIWXMAABJ0AAASdAHeZh94%0AAAAgAElEQVR4nO3deXxU5aH4/xOyQjCQKqiBgBpSRb2WimAtolx3UBQX5GcVqnlx1SLWy/2C%0AirIIlVLXS1W0tNp6waplR0WxbigCLlWgKEprSBEUg0WQnUCY7x/zvfNLA8SAmMk8vN9/nTnz%0AZOaZmdPy8cw5Z9JisVgEAEDqa5DsCQAAsH8IOwCAQAg7AIBACDsAgEAIOwCAQAg7AIBACDsA%0AgEAIOwCAQAg7AIBACDsAgEAIOwCAQAg7AIBACDsAgEAIOwCAQAg7AIBACDsAgEAIOwCAQAg7%0AAIBACDsAgEAIOwCAQAg7AIBACDsAgEAIOwCAQAg7AIBACDsAgEAIOwCAQAg7AIBACDsAgEAI%0AOwCAQAg7AIBACDsAgEAIOwCAQAg7AIBACDsAgEAIOwCAQAg7AIBACDsAgEAIOwCAQAg7AIBA%0ACDvgG0yfPj0tLS0tLS0jIyPZc9lrkydPjk8+Jycn2XMB+M4JO6i/1q5de88995x11lkFBQXZ%0A2dlZWVkHH3xwx44db7755uXLlyd7dvyLRx99NO1fNWjQID8/v23btn369Jk4ceL27duTPUcg%0AfMIO6qk33nijuLj45ptvfuWVV1atWlVRUbF9+/avvvrq3Xffveeee4455pgZM2ZUHV9eXp6R%0AkZGWlvbxxx8na87fXhivIi4Wi61bt+7jjz+eMGFCr1692rRp89prryV7UrWSQp9CCk0V6kbq%0AfbECB4K1a9decskla9asiaIoJyfnkksuOfroo7du3bpw4cIXX3xx586dW7du7d27d2lpabNm%0AzeJ/MnHixMrKyqTOej8I41V069YtMzNz586dX3311cKFCzdt2hRF0aeffnrWWWdNmTKlR48e%0AyZ7gN0ihTyGFpgp1Q9hBfTR9+vR41WVkZLz99tsnnHBC1bsuvvjiKIo2bNgwfvz4//N//k98%0A/Z/+9KekTHX/CuNV/PGPf2zatGl8edu2bb/73e9uvvnmLVu27Ny588orr/zb3/7WokWL5M6w%0AZin0KaTQVKFu+CoW6qPEIXSFhYVVqy6Koh49etx555333XfftGnTLr300iiKLrjggrS0tLlz%0A58YHtG3bNi0t7T//8z+jKBoyZEj8eK8f/ehHVR+khvMhHn/88ZNOOik3N/d73/ve+eef/5e/%0A/CUtLW1P81y6dOn1119fXFyck5OTl5fXoUOHBx54YMeOHYkBv//97+NPdNppp0VRNGfOnLPP%0APjs/P79x48adO3d++eWXEyNreBVRFO3YseO3v/3tWWed1bx588zMzObNm3fo0GH06NH//Oc/%0Aa/mWNmjQIIqiadOmnXbaaU2aNMnLy/v3f//32bNnJwaUlJTEp3r88cdX+9vx48cnzsBYt25d%0ALZ8xLjs7u3///tOmTYu/jZs3bx41alTVAd/4Hj722GPxZz/uuOOiKJo4ceKpp54afwlnn332%0AvHnzqj1jLBZ7+umnzz333Ph7lZeXd/LJJz/44INV92wlPpfTTz99x44dN910U7NmzQ499NAa%0APoVqH+XkyZN/+MMfNmrU6IgjjhgyZEj8CMKPPvrowgsvjH++55xzzocfflhtbnW2wcCBKwbU%0APw8//HD8f6ENGjR44YUXah58/vnn7/o/7ZtuuikWi91+++3xmyeffHLVP5k2bVp8fXp6etX1%0Aif1/CdnZ2UOGDNnt4ClTpuz2VNMzzjhjy5Yt8TFPP/10fOXxxx//4osvZmVlVR2Znp7+8ssv%0Af+OrqKio6NKly27/H+yoo4765JNPanhzJk2aFB/ZuHHjRx55pNqfN2jQ4LnnnouPTCRCFEVL%0Aly6t+iA9e/aMr+/Zs+eenuh3v/td4s/Xrl2764ALL7wwfm/z5s137txZ+/fwiSeeiK8sKCi4%0A5557qo3MyMh48cUXqz7RlVdeudv36oILLkg875NPPhlfecIJJ9x3333x5fT09Bo+haof5cSJ%0AE6vl/g033LBs2bJDDjmk6spmzZqtW7eu7jcYOJAJO6iPli5dmp6envjHrFu3buPGjfvwww8T%0A/zBX9eGHH1Y9keKPf/zjnDlzli1bFtvLsHv77ber/ls7derUZ5555rzzzkvs1as6eNmyZQ0b%0ANoyvHzRo0NKlS999993TTz89vmbw4MHxYYmuOvzww4844oh27doNHjz4nHPOSTxRx44dv/FV%0AJILsmGOOeeqpp+bNmzdr1qz43sooik4//fQa3snEBLKzsw866KC+ffs+9dRTd999d5MmTeLr%0ACwsLt23bFh987LHHxleOHj068QgVFRWJwYkK3NU3ht3jjz+eGLBkyZLav4eJbxuzs7Ozs7N/%0A+tOfPvXUU7/85S8bN24cX9+6deuKior44GeffTa+skGDBg8//PDixYsfe+yxxCc4ceLEam/L%0AEUccUVhYmJmZ2a5du6OPPrqGT6HqR9myZcsLL7ywf//+iXcmOzu7a9euBQUFN91008knn5x4%0AhP/+7/+u+w0GDmTCDuqpX/7yl9Eu8vPzu3fv/tvf/nb9+vVVB69atSox5qOPPkqs36uw+4//%0A+I/4ymbNmm3cuDG+cvv27cccc8yug/v37x9f2aVLl8TKL7/8Ml4bBx10UHwfTOLf6SiKOnfu%0AnNgxk9ir1KBBg0SU7OlVXH311fGV9913X2JlRUXFFVdc0b9//1/96leVlZV7ehurTuD6669P%0ArJ88eXJi/fPPPx9fmdh31aFDh8TIV155Jb6yefPm27dv39MTfWPYzZ8/PzHg1Vdf3bf3sKSk%0AJDEysXMriqLETruHHnro/PPPP//886vuu0rsLOzTp8+ub0txcfGKFSsSg/f0KVT9k8SeyylT%0ApiRW5uTklJaWxmKxbdu2HX300fGV3bt3j4+syw0GDmSOsYN6avDgwS+88ELnzp2rfue1du3a%0AZ5999tprr23VqlXVPUD7xZtvvhlf6N69e25ubnw5IyNjt1/tvfDCC/GFTp06bf1fjRs3PvHE%0AE6Mo2rBhQ9VvNuNGjBiR+CbummuuiS/s3Lnz888/r3lieXl58YVf//rXEyZMKC8vj6IoMzPz%0AySeffPDBB2+55Zb48XPf6IYbbkgs9+jRI/Gwb731VnyhT58+8e/+3n333RUrVsRXPvfcc/GF%0AK6+88ttcojmxgy2Kog0bNkT79B7+/Oc/TyxfeumlBx10UHw5UY033HDDc88999xzz40ZMyYx%0AsnXr1vGFL774YteJjRgxomXLlnv1WgYNGhRf6N69e3Z2dnz54osvPuqoo6IoysrK6t69e3xl%0A4m2syw0GDmTCDuqv884774033lixYsX48eOvu+66E044IRF569atu+aaa6ZOnbofn+4f//hH%0AfKG4uLjq+vgx+1XFYrGysrL48qhRoxpW8cYbb8TX73rg/EknnZRYTqRG9L+VU4NrrrmmUaNG%0AURR9+umnffr0Oeyww9q0adO3b9+pU6fW/lIXmZmZiW9aoyhKT09v06ZNfPnTTz+NLxxyyCGJ%0Aa5Ekdmomwq5Pnz61fK7dWrt2bWI5Pz9/H97DzMzMf/u3f0vczMjISLyEqhesfvnll3v06FFU%0AVJSTkxM/EeHBBx+M37Xbt+uMM87Y29eSOL8kMzMzccGdqmf5HH744fGF+IdbxxsMHMiEHdR3%0ALVq06N27929+85tFixZ9+umnt912W+Lwu6FDh+6vZ4nFYlu2bIkvxysqodrNKIo2b968c+fO%0Amh/wq6++qnozfohb4uZe/cBXu3btZs6cWbUvS0tLH3vssUsvvbRNmzZVv+KsQW5ubrUde4nX%0AlXjhURT17ds3vhCP5r///e9///vfoyg64YQT2rVrV/s572rhwoWJ5VatWu3De7jrS0jsWN28%0AeXN84ZFHHjn77LNnzJixbNmyjIyMtm3b/uAHP6h2TkNV6enpiTKrpezs7MTRcvGb8YXEFV6i%0AKKp20kMdbzBwIBN2UH/Fj+iquqZly5ajRo0aOXJk/OaSJUuqRkkNtm3bVvXm6tWrqw2o+muq%0A8QvqJqxfv77a4EaNGiXicsyYMbs9zuOOO+6ozcRqqUuXLosXL543b97IkSPPO++8xDH7//jH%0APy666KJqE96t+NFaVdck/iqRR1EUnXXWWUcccUQURW+++eaXX36ZOBfhW+6ui6IocUjcUUcd%0A1bp16314D3f9rKu9hI0bNw4cODC+5ic/+cmXX365ZMmShQsXXn755XuaVUZGRi2/yP426n6D%0AgQOWsIN6Z9myZZdeemnbtm0bNWqUOHK/qsT3XFEU1XCRuajKcV2ff/551ax5//33dx3cqlWr%0A+EK1X2dasGBBtZFpaWlFRUXx5cRXbN+1tLS0U045ZejQoS+88MKaNWtmzJiRn58fRdGXX36Z%0A+DqvBtu2bVu6dGni5o4dOz755JP4crzkEs9SUlISRVFlZeWMGTPi38Omp6fv6RoitRQ/mTe+%0AfNVVV0X79B5u27YtMef4S4jvTUy8hAULFiR23Q0aNCixX63qC0+KpGwwcGASdlDvFBQUzJ49%0A++OPP96xY0ffvn0/+OCDqveuXr06cchU27Zt47vZquZd1Wv2Jg6KX7169cyZM+PL8V8v3fV5%0ATznllPjCM888kzggbOPGjbsdfO6558YXJk2alIiJysrKK6+8sqSkZPDgwZ999tleveo9vYot%0AW7aMHj36mmuuueiiixJf56Wnp1944YUdOnSI36y2P3JPfvvb3yaWp06dmjhU69RTT606rKSk%0AJL576fHHH4+fUHLOOeccdthhe/ty4iorK3/zm98kTuxt1qxZ4iK6+/AePvbYY4nlZ555ZuPG%0AjVVfQtX3IX7F4CiKlixZkviN2sTKGuxpW/qW6myDgQPdtz+xFtjvEhcojv53T9VVV1115ZVX%0AdunSperRS48++mh8/I4dOzIzM+MrO3fuPHHixPj1L0pLSxP/+OXm5l533XUDBw783ve+9+Mf%0A/zi+suoVTKr+DEP79u2ffvrp//mf/+nQoUNit1+DBg0Sg0tLSxM7hDp16jRz5swXX3zxkksu%0Aia857rjjduzYEfvXy8hVfYGJkyWjKFq8eHHNryJxcNull176/PPP/+Uvf3njjTdGjBgRH5yd%0AnV1eXr6ndzJxEbj09PSsrKwBAwbMmDHjvvvuS5wSe/TRR8enWlW1i98+/fTT3/iRVb3cSbdu%0A3S666KKLLrrozDPPrHp8W2Zm5iuvvLLP72FGRkZmZubw4cNfe+21hx9++OCDD672Ej777LPE%0A96rdu3dfvHjxM88806JFi8TFR/Ly8ubPn19eXr6nz6WGT2FPf5LYFffII48kVib+26OoqKju%0ANxg4kAk7qKd++ctf1nBxjfT09GHDhlUd37Vr16oDzj///Pj666+/vtrfFhcXJ65skpaWVvWi%0Ax4mLSiTk5uY+9NBDiZtVrxg3adKkxIHzVbVo0SJxUbG9+nd6T69i8eLFe7oeR4MGDR577LEa%0A3sbEzzY0b9682m95RVGUk5Mzd+7cXf8qcUpsFEVNmjRJXE2tBlXDbrdatmw5Z86can+1V+9h%0Afn7+rbfeWvNLuPHGG6sNKCgoKCsrKygoSKwZPnx4DWG3p0/hW4bd3r7Yb7PBwIFM2EH9VVpa%0Aevvtt//4xz9u1qxZZmZmVlZWs2bNOnXqdOutt3788cfVBq9cubJHjx5NmzbNyck58sgjR40a%0AFV+/Y8eO0aNHFxcXZ2VltWjR4tprry0vL1+5cmXi38JNmzYlHqSysvK+++47+uijs7Kymjdv%0Aftlll33wwQdVr0NR7cLIS5YsKSkpOfLII7Ozsxs1anT88cfffvvtX331VWLA3v47vadX8cUX%0AX/ziF7846aSTDj300MzMzEaNGh1zzDHXXnvtokWLan4PH3300fizHHPMMbFY7A9/+EO7du1y%0AcnLy8/MvvPDChQsX7vavtm/fnjhXtG/fvjU/Rdxuwy4zM/Pwww/v2rXrI488sqc6rP17mJub%0AG4vFxo0bV/UlVHsHKioq7rrrrmOPPbZhw4YtWrTo27fvZ599FovFXnrppaOPPjojI6Nly5ZP%0AP/10zWG320/h24fdXr3Yb7nBwAErLfavp4kBUF5e3qpVq4qKiiiK3nzzzU6dOiVxMpMnT47/%0AWG12dvbWrVuTOBOg/nPyBEB1Q4cOjVdd+/btk1t1AHtl338eByAwTzzxRHl5+dy5cxPH2N15%0A553JnRLAXhF2AP/Po48++vrrryduXnvtteedd14S5wOwt4QdwP/TrFmz7OzsysrKoqKia6+9%0ANnHBOYBU4eQJAIBAOHkCACAQwg4AIBDCDgAgEMIOACAQwg4AIBDCDgAgEMIOACAQwg4AIBDC%0ADgAgEMIOACAQwg4AIBDCDgAgEMIOACAQwg4AIBDCDgAgEMIOACAQwg4AIBDCDgAgEMIOACAQ%0Awg4AIBDCDgAgEMIOACAQwg4AIBDCDgAgEMIOACAQwg4AIBDCDgAgEMIOACAQwg4AIBDCDgAg%0AEMIOACAQwg4AIBDCDgAgEBnJngBQ75SXl69cuTLZsyDFtGzZ8tBDD032LOBAlxaLxZI9B6B+%0A6dq166xZs5I9C1LMeeed98ILLyR7FnCgs8cOqK6iouLMaweedf0tyZ4IKePl39xV8cn7yZ4F%0A4Bg7AIBQCDsAgEAIOwCAQAg7AIBACDsAgEAIOwCAQAg7AIBACDsAgEAIOwCAQAg7AIBACDsA%0AgEAIOwCAQAg7AIBACDsAgEAIOwCAQAg7AIBACDsAgEAIOwCAQAg7AIBACDsAgEAIOwCAQAg7%0AAIBACDsAgEAIOwCAQAg7AIBACDsAgEAIOwCAQAg7AIBACDsAgEAIOwCAQAg7AIBACDsAgEAI%0AOwCAQAg7AIBACDsAgEAIOwCAQAg7AIBACDsAgEAIOwCAQAg7AIBACDsAgEAIOwCAQAg7AIBA%0ACDsAgEAIOwCAQAg7AIBACDsAgEAIOwCAQAg7AIBACDsAgEAIOwCAQAg7AIBACDsAgEAIOwCA%0AQAg7AIBACDsAgEBkJHsCey0Wi5WVlS1btmzDhg1RFDVp0qS4uLiwsDDZ8wIASLJUCru1a9eO%0AGjVqwoQJq1evrnZXq1at+vbtO3DgwIYNGyZlbgAASZcyYbdq1apOnTqVlZUVFxd369atdevW%0Aubm5URStX7++tLT09ddfHzZs2JQpU1577bX8/PxkTxYAIAlSJuyGDh26cuXKiRMn9uzZc9d7%0AKysrx40b179//xEjRowZM6bupwcAkHQpc/LEzJkze/fuvduqi6IoPT29X79+l19++dSpU+t4%0AYgAA9UTKhN2aNWuKiopqHtO2bdvy8vK6mQ8AQH2TMmFXUFCwaNGimscsWLCgoKCgbuYDAFDf%0ApEzY9ejRY9KkSffee++2bdt2vXfTpk3Dhw+fMWNGr1696n5uAAD1QcqcPHHHHXfMmTNn0KBB%0AI0eO7NixY2FhYePGjWOx2MaNG5cvX/7OO+9s3ry5c+fOQ4YMSfZMAQCSI2XCrmnTpvPnzx87%0Aduz48eNnz55dWVmZuCszM7N9+/YlJSUlJSXp6el7+8irVq3asmVLzWOysrJatmy515MGAKhD%0AKRN2URRlZWUNGDBgwIABW7duXbFiRfyXJ/Ly8lq1apWVlbVvj1laWtqmTZtvHJaWllZRUZGR%0AkUpvFwBwoEnJUsnJySkuLk7cXL9+/bBhw66++upjjjlmbx+qqKjo008/3b59ew1j3n///Z49%0Ae+7cuXNf5goAUFdSMuyqWb9+/V133XXqqafuQ9hFUfSNvzP7xRdf7NO8AADqVMqEXd++ffd0%0A1+bNm6MoevDBB6dPnx5F0aOPPlp30wIAqDdSJuwee+yxmgf8+c9/ji8IOwDgwJQy17EbMGBA%0Aenp6u3btZs2atfZfffjhh1EUPf300/GbyZ4pAEBypEzY3X///W+99VYURV27dr3tttvS0tKa%0A/q+8vLwoinJzc+M3kz1TAIDkSJmwi6LopJNOevfdd0ePHv34448fe+yxU6ZMSfaMAADqkVQK%0AuyiKMjIybrnllsWLF7dt2/ayyy678MILV6xYkexJAQDUCykWdnFFRUUvv/zyH/7wh7lz5x57%0A7LHOlgAAiFI07OKuvvrqjz766IILLhgxYkSy5wIAkHwpc7mT3WrevPlTTz3Vp0+fV155paio%0AKNnTAQBIptQOu7iuXbt27do12bMAAEiyFP4qFgCAqo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MpI9%0Agb0Wi8XKysqWLVu2YcOGKIqaNGlSXFxcWFiY7HkBACRZKoXd2rVrR40aNWHChNWrV1e7q1Wr%0AVn379h04cGDDhg2TMjcAgKRLmbBbtWpVp06dysrKiouLu3Xr1rp169zc3CiK1q9fX1pa+vrr%0Arw8bNmzKlCmvvfZafn5+sicLAJAEKRN2Q4cOXbly5cSJE3v27LnrvZWVlePGjevfv/+IESPG%0AjBlT99MDAEi6lDl5YubMmb17995t1UVRlJ6e3q9fv8svv3zq1Kl1PDEAgHoiZcJuzZo1RUVF%0ANY9p27ZteXl53cwHAKC+SZmwKygoWLRoUc1jFixYUFBQUDfzAQCob1Im7Hr06DFp0qR77713%0A27Ztu967adOm4cOHz5gxo1evXnU/NwCA+iBlTp6444475syZM2jQoJEjR3bs2LGwsLBx48ax%0AWGzjxo3Lly9/5513Nm/e3Llz5yFDhiR7pgAAyZEyYde0adP58+ePHTt2/Pjxs2fPrqysTNyV%0AmZnZvn37kpKSkpKS9PT0JE4SACCJUibsoijKysoaMGDAgAEDtm7dumLFivgvT+Tl5bVq1Sor%0AK2vfHnPFihXnnHNORUVFDWO2bt0aRVEsFtu3p6jm/vvvHzt27H55KA4cJ5988pNPPpnsWQBQ%0A36VS2CXk5OQUFxfHlysrK//2t79t2rTp+OOPz8nJ2duHOuywwwYPHhxPtz0pLS29++6709LS%0A9nG6/2rx4sU7Gh/c/sL/b788GgeCfyx4+9133032LABIAakUdvPmzRszZszf/va3I488cujQ%0AoSeeeOInn3xy8cUXf/DBB1EUHXTQQb/61a/69eu3V4+ZmZnZp0+fb3zeu+++e9/nvYtmRxR1%0AvOQbnhQS0tIa/HXp+8meBQApIGXC7u233+7Spcv27dszMzMXLVr06quvLliw4Oqrry4rK7vy%0Ayiu3bNny5z//+YYbbigsLOzevXuyJwsAkAQpc7mTO++8M4qiqVOnbtmyZeXKla1btx4+fPhb%0Ab701a9asJ554YsqUKe+9915ubu4DDzyQ7JkCACRHyoTd/Pnze/XqdfHFF6enp7do0WLMmDFP%0APPFEp06dTj311PiA73//+z179nzvvfeSO08AgGRJmbBbv3591Z8UO/nkk6MoOvbYY6uOKSgo%0AiJ8qCwBwAEqZsGvZsmVZWVniZm5ubpMmTZo2bVp1TGlp6cEHH1znUwMAqBdSJuzOOOOMP/3p%0AT2+++WZizbp160aPHp24+dZbb02dOjXxzSwAwIEmZcLu1ltvbdSo0WmnnXbbbbftem/v3r1P%0AO+20WCx2yy231P3cAADqg5QJuzZt2sydO/fMM8/c7Y+GLVq06LDDDpsyZUqHDh3qfm4AAPVB%0AylzHLoqitm3bvvTSS7u9a9asWQUFBXU8HwCAeiVl9tjVTNUBAAQSdgAACDsAgEAIOwCAQAg7%0AAIBACDsAgEAIOwCAQAg7AIBACDsAgEAIOwCAQAg7AIBACDsAgEAIOwCAQAg7AIBACDsAgEAI%0AOwCAQAg7AIBACDsAgEAIOwCAQAg7AIBACDsAgEAIOwCAQAg7AIBACDsAgEAIOwCAQAg7AIBA%0ACDsAgEAIOwCAQAg7AIBACDsAgEAIOwCAQAg7AIBACDsAgEAIOwCAQAg7AIBACDsAgEAIOwCA%0AQAg7AIBACDsAgEAIOwCAQAg7AIBACDsAgEAIOwCAQAg7AIBACDsAgEAIOwCAQAg7AIBACDsA%0AgEAIOwCAQAg7AIBACDsAgEAIOwCAQAg7AIBACDsAgEAIOwCAQAg7AIBAZCR7AgCw1wYNGrRw%0A4cJkz4IUc9VVV/30pz9N9iy+W8IOgNQzffr09ENbH1Z8XLInQspY+uZLs2fPFnYAUB8dd8YF%0AHS6+KtmzIGVs/Gp1sqdQFxxjBwAQCGEHABAIYQcAEAhhBwAQCGEHABAIYQcAEAhhBwAQCGEH%0AABAIYQcAEAhhBwAQCGEHABAIYQcAEAhhBwAQCGEHABAIYQcAEAhhBwAQCGEHABAIYQcAEAhh%0ABwAQCGEHABAIYQcAEAhhBwAQCGEHABAIYQcAEAhhBwAQCGEHABAIYQcAEAhhB9f53ZQAABVp%0ASURBVAAQCGEHABAIYQcAEAhhBwAQCGEHABAIYQcAEAhhBwAQCGEHABAIYQcAEAhhBwAQCGEH%0AABAIYQcAEAhhBwAQCGEHABAIYQcAEAhhBwAQCGEHABAIYQcAEAhhBwAQCGEHABAIYQcAEAhh%0ABwAQCGEHABAIYQcAEAhhBwAQCGEHABAIYQcAEAhhBwAQiIxkT2CvxWKxsrKyZcuWbdiwIYqi%0AJk2aFBcXFxYWJnteAABJlkpht3bt2lGjRk2YMGH16tXV7mrVqlXfvn0HDhzYsGHDpMwNACDp%0AUibsVq1a1alTp7KysuLi4m7durVu3To3NzeKovXr15eWlr7++uvDhg2bMmXKa6+9lp+fn+zJ%0AAgAkQcqE3dChQ1euXDlx4sSePXvuem9lZeW4ceP69+8/YsSIMWPG1P30AACSLmVOnpg5c2bv%0A3r13W3VRFKWnp/fr1+/yyy+fOnVqHU8MAKCeSJmwW7NmTVFRUc1j2rZtW15eXjfzAQCob1Im%0A7AoKChYtWlTzmAULFhQUFNTNfAAA6puUCbsePXpMmjTp3nvv3bZt2673btq0afjw4TNmzOjV%0Aq1fdzw0AoD5ImZMn7rjjjjlz5gwaNGjkyJEdO3YsLCxs3LhxLBbbuHHj8uXL33nnnc2bN3fu%0A3HnIkCHJnikAQHKkTNg1bdp0/vz5Y8eOHT9+/OzZsysrKxN3ZWZmtm/fvqSkpKSkJD09PYmT%0ABABIopQJuyiKsrKyBgwYMGDAgK1bt65YsSL+yxN5eXmtWrXKysrat8f86quvhgwZUjUTd+WE%0ADAAgJaRS2CXk5OQUFxfvun7t2rVff/31EUccUfuHSktLS0tL228zAwBInlQKu7/+9a+DBw/+%0A8MMPCwsLr7jiiuuuu67aF6933XXXXXfdFYvFav+Y+fn5Y8eOrXnMvHnzZsyYsS8zBgCoQykT%0AdnPnzj3zzDO3bdvWqFGjzz///M0335w4ceK0adP8gBgAQFzKXO5k9OjRO3funDZt2saNGzds%0A2HD//ffPmzfv3HPP3bRpU7KnBgBQL6RM2P31r3/t1atXjx490tLSsrOzBwwYMGvWrEWLFl1+%0A+eU1n/oAAHCASJmw++KLL4466qiqa84444xHH330+eef/6//+q9kzQoAoP5ImWPsDj300IUL%0AF1Zb2bt3748++mj06NEtW7YcNGhQUiYGAFBPpEzYXXLJJQ8++OBDDz103XXXZWZmJtaPGjXq%0A888/v/nmmz///HPfyQIAB7KUCbthw4ZNnz79xhtvnDFjxksvvZRYn5aW9oc//KFJkyZjxoxJ%0A4vQAAJIuZY6xO/jgg997771+/fodf/zx1e5KS0v79a9/PWXKlKKioqTMDQCgPkiZPXZRFB1y%0AyCE1XEz4kksuueSSS+pyPgAA9UrK7LEDAKBmwg4AIBDCDgAgEMIOACAQwg4AIBDCDgAgEMIO%0AACAQwg4AIBDCDgAgEMIOACAQwg4AIBDCDgAgEMIOACAQwg4AIBDCDgAgEMIOACAQwg4AIBDC%0ADgAgEMIOACAQwg4AIBDCDgAgEMIOACAQwg4AIBDCDgAgEMIOACAQwg4AIBDCDgAgEMIOACAQ%0Awg4AIBDCDgAgEMIOACAQwg4AIBDCDgAgEMIOACAQwg4AIBDCDgAgEMIOACAQwg4AIBDCDgAg%0AEMIOACAQwg4AIBDCDgAgEMIOACAQwg4AIBDCDgAgEMIOACAQwg4AIBDCDgAgEMIOACAQwg4A%0AIBDCDgAgEMIOACAQwg4AIBDCDgAgEMIOACAQwg4AIBDCDgAgEMIOACAQwg4AIBDCDgAgEMIO%0AACAQwg4AIBDCDgAgEMIOACAQwg4AIBDCDgAgEMIOACAQwg4AIBDCDgAgEMIOACAQwg4AIBDC%0ADgAgEMIOACAQwg4AIBDCDgAgEMIOACAQwg4AIBDCDgAgEMIOACAQwg4AIBDCDgAgEMIOACAQ%0Awg4AIBDCDgAgEMIOACAQwg4AIBDCDgAgEMIOACAQwg4AIBDCDgAgEMIOACAQwg4AIBDCDgAg%0AEMIOACAQwg4AIBDCDgAgEMIOACAQwg4AIBDCDgAgEMIOACAQwg4AIBDCDgAgEMIOACAQwg4A%0AIBDCDgAgEMIOACAQwg4AIBDCDgAgEMIOACAQwg4AIBDCDgAgEMIOACAQwg4AIBDCDgAgEBnJ%0AnsBei8ViZWVly5Yt27BhQxRFTZo0KS4uLiwsTPa8AACSLJXCbu3ataNGjZowYcLq1aur3dWq%0AVau+ffsOHDiwYcOGSZkbAEDSpUzYrVq1qlOnTmVlZcXFxd26dWvdunVubm4URevXry8tLX39%0A9deHDRs2ZcqU1157LT8/P9mTBQBIgpQJu6FDh65cuXLixIk9e/bc9d7Kyspx48b1799/xIgR%0AY8aMqfvpAQAkXcqcPDFz5szevXvvtuqiKEpPT+/Xr9/ll18+derUOp4YAEA9kTJht2bNmqKi%0AoprHtG3btry8vG7mAwBQ36RM2BUUFCxatKjmMQsWLCgoKKib+QAA1DcpE3Y9evSYNGnSvffe%0Au23btl3v3bRp0/Dhw2fMmNGrV6+6nxsAQH2QMidP3HHHHXPmzBk0aNDIkSM7duxYWFjYuHHj%0AWCy2cePG5cuXv/POO5s3b+7cufOQIUOSPVMAgORImbBr2rTp/Pnzx44dO378+NmzZ1dWVibu%0AyszMbN++fUlJSUlJSXp6ehInCQCQRCkTdlEUZWVlDRgwYMCAAVu3bl2xYkX8lyfy8vJatWqV%0AlZW1b49ZUVHx5JNPVlRU1DCmtLR03x4cAKAupVLYJeTk5BQXF++6fs2aNWvXrm3Tpk3tH6q8%0AvPzuu+/e7XF7CVu3bo2iKBaL7e08AQDqUkqG3Z7cc889d911114VWGFh4ZIlS2oeM2/evE6d%0AOqWlpX272QEAfLdS5qxYAABqJuwAAAKRMl/FnnTSSd845rPPPquDmQAA1E8pE3YLFiyIoigz%0AM7OGMTt27Kir6QAA1Dsp81XsoEGDcnNzP/jgg617NnDgwGRPEwAgaVIm7H7xi1+0adPmiiuu%0A2L59e7LnAgBQH6VM2GVmZv7xj3/88MMPb7vttmTPBQCgPkqZY+yiKGrbtu0XX3xRw4F0Xbt2%0Abdq0aV1OCQCg/kilsIuiKC8vr4Z7Tz/99NNPP73OJgMAUK+kzFexAADUTNgBAARC2AEABELY%0AAQAEQtgBAARC2AEABELYAQAEQtgBAARC2AEABELYAQAEQtgBAARC2AEABELYAQAEQtgBAARC%0A2AEABELYAQAEQtgBAARC2AEABELYAQAEQtgBAARC2AEABELYAQAEQtgBAARC2AEABELYAQAE%0AQtgBAARC2AEABELYAQAEQtgBAARC2AEABELYAQAEQtgBAARC2AEABELYAQAEQtgBAARC2AEA%0ABELYAQAEQtgBAARC2AEABELYAQAEQtgBAARC2AEABELYAQAEQtgBAARC2AEABELYAQAEQtgB%0AAARC2AEABELYAQAEQtgBAARC2AEABELYAQAEQtgBAARC2AEABELYAQAEQtgBAARC2AEABELY%0AAQAEQtgBAARC2AEABELYAQAEQtgBAARC2AEABELYAQAEQtgBAARC2AEABELYAQAEQtgBAARC%0A2AEABELYAQAEQtgBAARC2AEABELYAQAEQtgBAARC2AEABELYAQAEQtgBAARC2AEABELYAQAE%0AQtgBAARC2AEABELYAQAEQtgBAARC2AEABELYAQAEQtgBAARC2AEABELYAQAEQtgBAARC2AEA%0ABELYAQAEQtgBAARC2AEABELYAQAEQtgBAARC2AEABELYAQAEQtgBAARC2AEABELYAQAEQtgB%0AAARC2AEABELYAQAEQtgBAARC2AEABELYAQAEQtgBAARC2AEABELYAQAEQtgBAARC2AEABELY%0AAQAEQtgBAARC2AEABELYAQAEQtgBAARC2AEABELYAQAEQtgBAARC2AEABCIj2RPYa7FYrKys%0AbNmyZRs2bIiiqEmTJsXFxYWFhcmeFwBAkqVS2K1du3bUqFETJkxYvXp1tbtatWrVt2/fgQMH%0ANmzYMClzAwBIupQJu1WrVnXq1KmsrKy4uLhbt26tW7fOzc2Nomj9+vWlpaWvv/76sGHDpkyZ%0A8tprr+Xn5yd7sgAASZAyYTd06NCVK1dOnDixZ8+eu95bWVk5bty4/v37jxgxYsyYMXU/PQCA%0ApEuZsJs5c2bv3r13W3VRFKWnp/fr1++NN96YOnXq3obdp59+umPHjhoGfP7553v1gN9o26aN%0AX322fP8+JgHbtG5N3T/plvXrbKXU3pb163Lq/Ek3rVtjK6X2tm3aGH2v7rfTupYyYbdmzZqi%0AoqKax7Rt23batGl79bClpaXFxcWxWKzmYWlpaQ0a7J8ziPPy8j545fEPXnluvzwaB4gTTzyx%0ALp8uLy/v1acfnff0o3X5pKS6Hj161OXT5eXlvfjgnS8+eGddPimp7oyf/zzZU/jOpX1j09QT%0ARxxxxMknn/ynP/2phjE9evRYtGhRWVnZXj3y+vXrKysrax6zc+fOgw8+eK8edk927NgRP58X%0Aaq9hw4Y5OXX3H5oVFRWbNm2qs6cjDLm5uVlZWXX2dFu3bt2yZUudPR1hOOiggzIyUmaX1r5J%0AmZfXo0ePBx54oEOHDjfeeGN2dna1ezdt2nT33XfPmDHjlltu2dtHzsvL209zrJWMjAynd1DP%0AZWVl1eW/0LAPcnJy6vK/diBVpMweu3Xr1p155pnvv//+QQcd1LFjx8LCwsaNG8disY0bNy5f%0Avvydd97ZvHlz586dn3/++caNGyd7sgAASZAyYRdFUUVFxdixY8ePH7948eKqX55mZma2b9++%0ApKSkpKQkPT09iTMEAEiiVAq7hK1bt65YsSJ+pFpeXl6rVq18bQQAkJJhBwDArvbPJTwAAEg6%0AYQcAEAhhBwAQCGEHABAIYQcAEAhhBwAQCGEHABAIYQcAEAhhBwAQCGEHABAIYQcAEAhhBwAQ%0ACGEHABAIYQcAEAhhBwAQCGEHABAIYQcAEAhhBwAQCGEHABAIYQcAEAhhBwAQCGEHABAIYQcA%0AEAhhBwAQCGEHABAIYQcAEAhhBwAQCGEHABAIYQcAEAhhx3clFotNnjy5R48eBQUF2dnZzZs3%0AP+mkk0aNGlVeXl512M6dOydPnnzBBRcceeSRDRs2bNiwYVFRUe/evRctWpQY88QTT6TV6J//%0A/Gedvz5S215tVLXZmG2l1L2PP/44LS3tvPPOi98cOHBgzRvhqaeemtwJUwcykj0BwrRu3bqe%0APXu+/PLLjRo1OvPMM1u3br1mzZp33nlnyJAhv/71r6dMmdK5c+f4yCuuuGLixImtW7e+7LLL%0ADjvssK+//vq999576qmnpk2b9sILLySGRVF08skn/+hHP9rt0zVs2LAuXhXBqc1GVfuNuZYP%0ACN+R0047bceOHYmbTzzxxJo1a/r375+enh5fc9RRRyVpatShGHwHunXrFkXRRRddtHr16sTK%0AysrKRx55JD09PT8/v7y8PBaLvfrqq1EUnX766du3b6/6588880wURe3atYvfnDBhQhRFw4cP%0Ar8NXQOBqv1HVcmO2lVL3PvrooyiKzj333N3ee9xxx0VRtGXLljqeFclljx3736xZs55//vkT%0ATzxx8uTJGRn//zbWoEGD66+//quvvnr11VdLS0ubN2++ZMmSKIp69uxZdVgURd27d58wYcJh%0Ahx22c+fOBg0cMEDS1H5jTuIkARL8k8n+N378+CiKbr/99mq5Fnfbbbe9/PLLp5xyShRFhYWF%0AURS99NJLVb8+iLvqqqvOOussVUdy1X5jBqgP/KvJ/vf222+npaWdddZZ3ziya9euP/zhD2fM%0AmNGhQ4cHH3xwyZIlsVisDmYItVT7jRmgPhB27H/l5eVNmjTJy8v7xpGZmZmzZ8++4YYbli5d%0A+vOf//y4445r1qzZxRdf/Pvf/37z5s3VBo8YMWK353ndcccd38nL4ADwjRtV7TfmWj4gwHfK%0AMXbsfw0aNKisrKzl4Ly8vIceeuiuu+569dVX586dO2fOnJkzZ06fPv3WW2998sknq+4pOeWU%0AU3784x/v+gi7XQm18Y0b1V5tzLV5QIDvlLBj/ysoKFi6dOk///nPQw45pJZ/kpub27179+7d%0Au0dRtHbt2ieeeGLQoEGXXXbZJ598kniQc845x24P9q9v3Kj2dmO2lQLJ5atY9r/4zolnn312%0At/fGYrG//vWvNfx5fn7+jTfe2L9//6+//vr111//TqYItfMtN2aAOibs2P+uueaaKIpGjhy5%0AYcOGXe99+OGHf/CDH4wdO7aysvJnP/tZ9+7dd+7cueuwpk2bRlG0cePG73q2UINabsx1Pi+A%0A3RN27H+dO3fu1avXP/7xj7PPPru0tDSxfseOHQ888MBNN910+OGH/+QnP0lPTy8rK3vuuecG%0ADx5c7TCm0tLScePGZWRkdOnSpa5nD1XUcmNO4gwBqnKMHd+J3//+99u2bZs+ffoxxxzTuXPn%0A73//++vWrXvrrbeWL19+1FFHzZo1Kz8/P4qi3/3ud126dLn77rufeuqp888//9BDD924cePS%0ApUv//Oc/b9++/f7772/dunXiMWfNmrVu3brdPt35559/9tln19FrIyC12ahquTHX/gEBvjvC%0Aju9Eo0aNpk2b9uyzzz7++ONvvfXWm2++mZOTc+yxx95yyy1XX3114kczCwsLFy5c+PDDDz/z%0AzDMTJ078+uuvs7KyCgsLr7rqqp/97GcnnXRS1cd8++2333777d0+3SGHHOKfTPZBbTaqWm7M%0AtX9AgO9OmuvBAgCEwTF2AACBEHYAAIEQdgAAgRB2AACBEHYAAIEQdgAAgRB2AACBEHYAAIEQ%0AdgAAgRB2AACBEHYAAIEQdgAAgRB2AACBEHYAAIEQdgAAgRB2AACBEHYAAIEQdgAAgR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fi/+dpnIAKjn5YAAAAASUVORK5CYII="/>
          <p:cNvSpPr>
            <a:spLocks noChangeAspect="1" noChangeArrowheads="1"/>
          </p:cNvSpPr>
          <p:nvPr/>
        </p:nvSpPr>
        <p:spPr bwMode="auto">
          <a:xfrm>
            <a:off x="155575" y="-13577888"/>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58" name="AutoShape 14" descr="data:image/png;base64,iVBORw0KGgoAAAANSUhEUgAAA0gAAANICAIAAAByhViMAAAACXBIWXMAABJ0AAASdAHeZh94%0AAAAgAElEQVR4nOzde5zOdf74//dljPMxOQyR4xapKIVKREvYT0mtdKCD2titrdbK1n5qsx1s%0A27ZbK+xWSumgk4i2dlNtkuSsQiehJCmRcR4z1/eP6/e7bvMZzEGuuXi53/+6rtf1nut6es2k%0Ah/d1mFg8Ho8AADj4lUn3AAAA7B/CDgAgEMIOACAQwg4AIBDCDgAgEMIOACAQwg4AIBDCDgAg%0AEMIOACAQwg4AIBDCDgAgEMIOACAQwg4AIBDCDgAgEMIOACAQwg4AIBDCDgAgEMIOACAQwg4A%0AIBDCDgAgEMIOACAQwg4AIBDCDgAgEMIOACAQwg4AIBDCDgAgEMIOACAQwg4AIBDCDgAgEMIO%0AACAQwg4AIBDCDgAgEMIOACAQwg4AIBDCDgAgEMIOACAQwg4AIBDCDgAgEMIOACAQwg4Oac8/%0A/3wsFovFYhUqVEjXw5XyDGl5xP3iueeeO/HEEytWrFipUqVmzZpt27Yt3RPtwUG6txAMYQfh%0AePjhh2P/V5kyZWrWrNmyZcuBAwc+++yzOTk56Z6RffTee+/169dvwYIF27dv37Zt2+eff56b%0Am7vHIwv8GIwbN273Yx577LH8xzz88MMpHh8oJWXTPQCQQvF4fOPGjRs3bvzoo48mTJjQqFGj%0A8ePHn3HGGckD2rRp87e//S2KorJl9+Vvg2+++aZBgwa5ubnLli07+uijizz+Rz7cPtjjhKU/%0Axo/36KOPJi5Ur179tttuq1WrVvny5YvzhZMnTx40aFCBxZdeemk/zwccGA6av9SAEunVq1dm%0AZmZeXt7333+/aNGiLVu2RFH0xRdfnHnmmS+88EKfPn0ShzVv3vz666/f50d59tln93beaI9+%0A5MPtgz1OWPpj/HhffPFF4kL//v1LNPz06dO3bNlSuXLl5MqOHTv+85//7Of5gAODp2IhTE8+%0A+eTkyZNfeumlmTNnrl+/ftSoURUrVoyiKC8v7+KLL/7qq6/2y6M888wz++V+UufAn7CYdu7c%0AmbhQpUqVYn7JEUccEUXR9u3b//3vf+dff+ONNzZv3hxFUYMGDfbrjED6CTsIX/ny5a+55poX%0AX3wxFotFUbR169Y777wzcdPeXuq+a9euBx988Mwzz6xTp05mZmadOnVOOumkkSNHfvfdd4kD%0Afvazn8VisXfeeSdxtWXLlrFYLHEm6ZFHHkncZ+fOnXft2nXdddfVrl27bt26hTxcQpkyZaIo%0AevHFF08//fTq1atXq1btjDPO+O9//5v/mP/93/9N3EOHDh3yr0+ePDmxnnx2tZAJCxlj06ZN%0Ad911V4cOHQ477LBy5crVrVu3R48ejz76aIHTfsk/4+mnnx5F0dtvv/3Tn/60Zs2aVapU6dSp%0A0/Tp04v+rhT74QYPHhyLxV5//fXE1XvvvTfx0Ik4K8TJJ5+ckZERRdGUKVPyryeeh83IyDjx%0AxBN3/6p4PD5x4sQePXokvvXVqlVr3779qFGj8o9UyLd4jzZs2PCTn/wk8SVDhgxJLBb5Mwbs%0AizgQioceeij5n/aGDRt2P+Dss89O3FqnTp28vLx4PP7cc88lVsqXL588bOfOnV26dNnj3xhN%0Amzb97LPP4vF47969d7/1uuuui8fjTz31VOLqcccdd++99yYuZ2Rk7O3hkotVqlQZO3Zsgfss%0AU6bMtGnTkgf//ve/T6y3b98+/x/txRdfzP9AhU+4xzHi8fiiRYv2dhKrY8eO3333XfLIiRMn%0AJtZbt27973//u1y5cvkPzsjImD59epHfr2I+3NVXX73HY7Kzswv/MbjkkksS+XvYYYft2rUr%0AeUDiTF7Hjh3PP//8xJEPPfRQ8taLL754jw/3s5/9LPEzU9Jv8c6dO5Mv6/yf//mfxCTF+RkD%0A9oEzdnAI6du3b+LCunXrPvroo70dNm7cuMR5sqOPPvrpp5+eNWvWq6++et5550VR9Pnnnyde%0Aif/nP/85/3mgJ5988u23377uuuuiKMrMzEwsbtq06b777svMzGzTpk3z5s2LHC8nJ+fGG2+8%0A8sorn3766T//+c/Vq1ePoigvL2/IkCHJJyKLr5AJ92jDhg29e/dOPEndpEmTsWPHTp48efjw%0A4YlTgO++++6ll16aPDhxJiyKovXr11999dWtWrW66aabunfvnljMzc29+eabCx+v+A83bNiw%0At99+u127domr/fv3f/vtt99+++1KlSoV/hA7d+7s0aNHFEXff//9jBkzEosLFixYvXp1FEXd%0Au3fftWtXgS+ZNm3ak08+GUVRmTJlxowZ88EHH4wbNy4x0rRp055//vnEYSX6Fv/yl7988803%0Aoyg66aSTJk6cmNi64vyMAfvAmyfgEHLUUUclL69du7Zly5Z7POy9995LXLjqqqv69++fuNy1%0Aa9dLL720Vq1aRxxxRF5eXqtWrQ477LDkl5xwwgm7vyt25cqVLVq0+PzzzxOniIq0Y8eOyy+/%0APHnSrmnTpolTSl9++eXrr7/es2fPYv0h/3/FmTC/UaNGJTKrWrVqM2fOrF+/fhRF55xzTuvW%0ArQcMGBBF0csvvzx//vwCT19+/fXXnTp1+s9//pN4VveSSy5JhNG8efNycnKSAfRjHq5Zs2bN%0AmjVLZG4URQ0aNDjttNOKswO5ubm9e/ceMWJEFEVTpkxJnDZLvh+2d+/eixYtKvAlq1atSpzp%0AbN68eeI509atW0+ZMiXxVdOmTfv5z3+e//giv8V/+ctfEp+l0rRp02nTpiVjtDg/Y4mn5oES%0A8Z8NHELyv+4+Ozt7b4dVq1YtceH++++fMGHCN998E0VRZmbmU089NWrUqOHDhxf//7gjRowo%0AZtUl/OpXv0pe7tOnT3KS2bNnF/9O9s2kSZMSF/r27ZvIrIQLL7ywZs2aicv/+te/dv/CESNG%0AJF+rd/nllycu5OXlrVmzJhUPVyLt2rVLPNubPHmZSLQGDRokTwHm96tf/WratGnTpk277777%0AkotHHnlk4sLatWt3/5JCvsVTp04dPnx4FEW1atV65ZVX6tSpk7xpP/6MAfn5LwcOIRs2bEhe%0ATtbD7i6//PLEmZUvvvhi4MCB9erVa968+ZVXXjlp0qQSfbhJFEVdu3Yt/sGZmZmtWrVKXs3I%0AyEg+u5f8sI8UicfjS5YsSVw+9thj89+UkZGRPNW3bNmy3b82fyElGygqNJ1/zMOVSCwWO+ec%0Ac6IoWrly5fvvv7969eqFCxdGUdSnT5/EO2l2N3369D59+jRr1qxChQqJtzuMGjUqcdMev/t7%0A+xbn5ORcdNFFeXl5URRlZWU1bdo0/6378WcMyE/YwSEk/1NvjRo12tthbdq0efnll4855pjk%0AyvLly8eNG3feeec1b9783XffLebDZWRk1K5du/jjVa5cucB5muQzd6n+9Vlbt25NvuBs988T%0ASX4I3O6tVr58+apVqyavFvP3aO3zw+2D5GcWvvbaa1OnTi2wWMDYsWN/+tOfTpky5fPPPy9b%0AtmzLli2PP/74ww8/fG93Xsi3OC8vL/m+3Q8//PDvf/97/lv3188YUICwg0NI8r2cTZs2zX9u%0AaXddunT54IMPZs2a9cc//vGss85KvsBr5cqV55xzTuLjjotUtmzZEj2htm3btng8nn8l+UD5%0AP183YceOHfmvrlu3rvgPtLtKlSolPydl06ZNBW5NBlZyH36k0ny4Ll261KhRI4qiN954I/GZ%0AKTVq1OjcufPuR27evPm3v/1t4vJFF1307bffLl26dNGiRf369dvbnRf+Le7WrVvyg3Vuu+22%0AAs9N75efMaAAYQeHisR7DxOXL7nkkiKPj8ViHTt2vOWWW1555ZX169dPmTIl8eztt99+m3yL%0A5f61Y8eOjz/+OHl1165dn332WeJy48aNExeS57fWrFmTvwIXLFjwYx46Fou1bt06cbnAWwpy%0AcnKWLl2auHzcccf9mEdJy8NlZmb26tUriqK333478e7U3r177/FdHQsXLty6dWvi8rBhwxKf%0AaB1FUf5vSvGVL1/+tdde+93vfnfCCSdEUZSdnT106NACx5T+zxgET9hB+HJzc//xj39cdtll%0Aiau1a9cu5HdSbdu2beTIkZdffvk555yTeIFUFEUZGRlnn332SSedlLiaOFuW/0Va++tDZR98%0A8MHk5UmTJiXPXSXfB5p8nf66detefvnlxOXEb8Ld/d5KNGHys2AmT56c+ECQhPHjxyfGiMVi%0Ae3sGcx+U5sMl7ic7O/v777+P9v48bP6ToDk5OYkLS5cuTeRg/sViisViZcqUuf/++xNXJ06c%0A+MYbb0Ql+RkDSsrHnUCYLr744sRZmc2bNy9evDiZNZmZmRMnTizknRMVK1Z89tlnE6eR+vXr%0AN2jQoDp16mzduvXNN99M/A++fPnyp5xyShRFhx9+eGZmZuJ/9jfffPO1115bvXr15Ge5FV/+%0A/7WPHj06iqIuXbp89tlnic/piKLoqKOOSvyChyiKTjnllFgsljhX179//0suuaRq1aqPPPJI%0AmzZtkucjk0o04bXXXvvggw+uXr16y5YtZ5xxxg033FCvXr3Zs2cnXxw2aNCgn/zkJyX90+1N%0AaT5cz549y5cvn0ilChUqnHXWWXs8rFWrVmXKlEl8O26//fa77rprxYoVQ4YMadGiReKk3aJF%0Ai2bPnl3gbRBFOu200/r16/fss89GUXTNNdcsXry4+D9jQIml9eORgf0p/2+e2KMjjjji7bff%0Azv8le/wdDB988MHePsCiTJky48aNSx5Z4LPlevfuvbf7LOThnnjiicRinTp1ki/JSqpQocI7%0A77yT/04GDx5c4JgWLVrMnDkzcTkWiyV/QUJJJyzkV0H07ds38RLAQv4g8Xj8yy+/TH7JBx98%0AUPj3q/gPF4/Hu3Xrlrhp6NChhd9t8sfgvPPOSy4mno1N7kBC4g2zUb7fPHHttdcWmKR+/for%0AVqzI/4Esf/jDH0r6LV61alXyid0//elP8ZL8jAEl4qlYCFxmZmZWVlbPnj3Hjh376aefFuez%0AbVu3bj1v3rzbb7+9Xbt2devWzczMrFSp0tFHH/2LX/xi4cKFV1xxRfLIhx56qE+fPjVq1KhQ%0AoUKTJk327SzL9u3bExcOO+ywm2+++dFHH23Tpk2FChVq1qx59tlnz549u8DdPvDAAyNHjmzR%0AokW5cuUaNGjwi1/8YubMmckX4cXj8fxvoS3RhMcff/zSpUvvuOOOk046qXr16omtO/fcc196%0A6aUXXnihmO94Lb7SfLhzzz03caHwp3fvvffeu+++u1WrVhUrVmzQoMGVV145d+7cxo0bP/bY%0AY0cddVTZsmWPOOKIvX2udSEaNWqUfFvG7bff/uWXXxb/Zwwokf/vGQ0AAA52ztgBAARC2AEA%0ABELYAQAEQtgBAARC2AEABELYAQAEQtgBAARC2AEABELYAQAEQtgBAARC2AEABELYAQAEQtgB%0AAARC2AEABELYAQAEQtgBAARC2AEABELYAQAEQtgBAARC2AEABELYAQAEQtgBAARC2AEABELY%0AAQAEQtgBAARC2AEABELYAQAEQtgBAARC2AEABELYAQAEQtgBAARC2AEABELYAQAEQtgBAARC%0A2AEABELYAQAEQtgBAARC2AEABELYAQAEQtgBAARC2AEABELYAQAEQtgBAARC2AEABELYAQAE%0AQtgBAARC2AEABELYAQAEQtgBAARC2AEABELYAQAEQtgBAARC2AEABELYAQAEQtgBAARC2AEA%0ABELYAQAE4qAPu9zc3GXLls2bN2/79u3pngUAIJ0OprCbNWtWv3792rRpc+655y5YsCCKos8+%0A+6xNmzatWrU66aST6tSpM2bMmHTPCACQNrF4PJ7uGYrlvffe69SpU05OTmZmZk5OTrVq1RYu%0AXDhw4MBFixb16dNn27Zt//nPfzZv3vzSSy/9z//8T7qHBQBIg4PmjN0dd9wRRdGkSZO2bdu2%0AevXqI4888g9/+MPs2bNfffXVJ5544oUXXpg/f37lypX//ve/p3tSAID0OGjO2B1++OE9e/ac%0AMGFC4uobb7zRrVu3008//a233koec/nll0+ZMuX7778v/t3m5eXNmDFj165dhRwTj8fXrVt3%0A8cUX79vkQNLXX3+9ZMmSdE9xSDvmmGOysrLSPQWQKmXTPUBxbdq0qVmzZsmr7du3j6KoVatW%0A+Y+pX79+dnZ2ie521apV/fr1Kzzsdu3alZ2d3a9fv8zMzBLdOVDALbfcMn7C+PKVyqd7kEPU%0Ajq07Lhtw2cMPP5zuQYBUOWjC7ogjjlixYkXyauXKlatXr16jRo38xyxfvrxWrVolutsmTZqs%0AW7eu8GNmzZp16qmnHiynNuFAlpube+L5J170wEXpHuQQ9dQ1T+Xm5qZ7CiCFDprX2HXt2vWZ%0AZ56ZOXNmcmXjxo0jR45MXp09e/akSZNOO+20dEwHAJB+B03Y/e53v6tUqdLpp59+8803737r%0AgAEDTj/99Hg8Pnz48NKfDQDgQHDQhF3z5s3feeedbt26ZWRk7H7r4sWL69Wr98ILL5x00kml%0APxsAwIHgoHmNXRRFLVu2fO211/Z406uvvlq/fv1SngcA4IBy0JyxK5yqAwAIJOwAAB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RB2AACBEHYAAIEQdgAAgRB2AACBEHYAAIEQdgAA%0AgRB2AACBEHYAAIEQdgAAgRB2AACBCCrsNmzYsHLlynRPAQCQHgdT2L3//vu9e/du3Lhxp06d%0AxowZk5ubW+CAu+++u0mTJmmZDQAg7cqme4Dieuedd7p167Zjx45KlSqtWbNm5syZzz777Isv%0AvlizZs10jwYAcEA4aM7YjRw5Mi8v78UXX9y8eXN2dvZf//rXWbNm9ejRY8uWLekeDQDggHDQ%0AnLF7//33L7jggj59+kRRVL58+RtuuOH444/v2bNnv379XnrppYyMjH2+5yVLlmzfvr2QAz7+%0A+ON9vnMONJs3b/YNTaP169dHVdM9xCEsd1fu+uz18+fPT/cgh6itW7dGUVSpUqV0D3LoOuqo%0Ao6pUqZLuKVLroAm7tWvXNm3aNP9K165dH3744YEDB/7mN7+5//779+1uly9ffuyxx8bj8SKP%0ALM4xHPiGDRv2j3/8I91THNJOvujkdI9w6Ppy4ZfzP50/derUdA8C6TF48OCxY8eme4rUOmjC%0Arm7duosWLSqwOGDAgGXLlo0cOfKII44YNmzYPtxts2bNfvjhh127dhVyzJw5c84666xYLLYP%0A98+BZvv27Secd8L595yf7kEOUfeecW+6Rzik5eXm+flPo3vPuPfIdkfa/3R5ftjzhT9BF4aD%0AJuz69u07atSoBx544Oqrr87MzEyu33nnnWvWrLnxxhvXrFmz+/tki6Nq1SKeGSryAA4uZcuX%0ArVTDUyHpEcvwD6Q08/OfRrGMmP1Po7LlD5rm+TEOmj/krbfeOnny5GuvvXbKlCmvvfZacj0W%0Aiz366KPVq1e/77770jgeAEDaHTTviq1Vq9b8+fN/+ctftm7dusBNsVjs/vvvf+GFF5o1a5aW%0A2QAADgQHzRm7KIoOP/zw0aNH7+3Wvn379u3btzTnAQA4oBw0Z+wAACicsAMACISwAwAIhLAD%0AAAiEsAMACISwAwAIhLADAAiEsAMACISwAwAIhLADAAiEsAMACISwAwAIhLADAAiEsAMACISw%0AAwAIhLADAAiEsAMACISwAwAIhLADAAiEsAMACISwAwAIhLADAAiEsAMACISwAwAIhLADAAiE%0AsAMACISwAwAIhLADAAiEsAMACISwAwAIhLADAAiEsAMACISwAwAIhLADAAiEsAMACISwAwAI%0AhLADAAiEsAMACISwAwAIhLADAAiEsAMACISwAwAIhLADAAhE0WHXsWPHf/7znz/88EMpTAMA%0AwD4rOuzmzZs3ePDgrKysiy666LXXXsvLyyuFsQAAKKmiw27t2rX//Oc/TznllGeffbZ79+6N%0AGzf+3//9388++6wUhgMAoPiKDrtatWr94he/mD59+tdffz127NjmzZuPHDmyRYsWnTp1Gjdu%0AXHZ2dilMCQBAkUrw5onatWsPHjz4jTfeWL169d/+9rfs7Owrr7yyXr16Q4YM+eSTT1I3IgAA%0AxVHid8Vu27btnXfemTlzZiLmDj/88HHjxrVu3XrEiBHxeDwFEwIAUCwlCLt33nnnqquuqlev%0A3s9//vN//etfffv2ffPNN1etWrV8+fKzzz77tttuGzFiROoGBQCgcGWLPOLLL798/PHHH3vs%0AsU8//TSKorZt2w4aNOjiiy+uUaNG4oCGDRs+99xz3bt3Hzt27G233ZbScQEA2Juiw65x48Z5%0AeXnVq1cfPHjwlVdeeeKJJ+5+TCwW69Onz+uvv56CCQEAKJaiw+7UU08dNGhQv379KlasWMhh%0APXr0eOGFF/bfYAAAlEzRYTdjxowoipYsWVK3bt3DDz88sbhkyZKdO3e2bds2eVjz5s2bN2+e%0AoikBAChS0W+eyMnJGTRoUOvWrT/88MPk4ptvvnnCCSdcfvnlubm5qRwPAIDiKjrsRo0a9cgj%0Aj/Tu3fvII49MLv70pz+94IILxo8f/8ADD6RyPAAAiqvosBs/fvzPfvazadOmNWnSJLl41FFH%0ATZw4sVevXsIOAOAAUXTYffbZZ2ecccYeb+rSpcuqVav290gAAOyLosOuWrVqK1eu3ONNK1eu%0APOyww/bzRAAA7JOiw653797jxo3717/+lX8xJyfnoYceevDBB7t3756y2QAAKIGiP+7kjjvu%0AeOWVV3r37t2oUaOjjjqqfPnyGzduXLp06ffff5+VlXXHHXeUwpQAABSp6DN2WVlZCxcuHDx4%0A8JYtW1577bVp06bNnDkzIyPjqquumjt3bqNGjUphSgAAilT0GbsoiurWrTt27NgxY8Z8/fXX%0A27Ztq1evXuXKlVM9GQAAJVKssEuIxWL169dP3SgAAPwYRYddPB5//vnnH3/88dWrV+fk5Ox+%0AQP7fSAEAQLoUHXb33nvvsGHDoiiqVKlSZmZm6kcCAGBfFB12999/f48ePcaMGdO0adNSGAgA%0AgH1TdNh98803zz//vKoDADjAFf1xJ3Xr1o3H46UwCgAAP0bRYXfhhRdOmDChFEYBAODHKPqp%0A2FtvvfX888+/+OKLBw4c2KhRo93fP9G8efPUzAYAQAkUHXZVq1ZNXHjqqaf2eIAnagEADgRF%0Ah92FF15Yrly5smVL8FHGAACUvqJzbW8n6gAAOKAU/eaJpOzs7CVLlmzcuDF10wAAsM+KFXZv%0AvfVWu3btqlWr1rp169mzZycWzz777Ndffz2VswEAUAJFh92cOXO6d+/+ySef9OjRI7n47bff%0Azp07t1evXvPnz0/leAAAFFfRYffHP/6xXr16S5cuHT9+fHKxdu3aixcvrlev3u23357C6QAA%0AKLaiw2727NlDhgw54ogjCqzXqVNn8ODBM2bMSM1gAACUTNFh98MPPzRs2HCPN2VlZW3evHl/%0AjwQAwL4oOuzq1au3bNmyPd40Y8aM+vXr7++RAADYF0WHXa9evcaMGbNgwYL8ixs2bPj973//%0A6KOP9u7dO2WzAQBQAkWH3YgRI6pUqdK+fftEw910001t27bNysq66667GjVqdOutt6Z+SAAA%0Ailasp2LnzZt31VVXrVq1KoqiRYsWLVq0qGrVqkOGDJk7d27dunVTPyQAAEUr1m+ArVOnzpgx%0AY0aPHr1u3brs7OyqVavqOQCAA02xwi4hFovVrVtX0gEAHJiKDrszzzyzkFt37tzpo+wAAA4E%0ARYddIb8QtmrVqlWrVt2v8wAAsI+KDrucnJwCKzt37lyxYsX48ePnzJkzderU1AwGAEDJFP2u%0A2LK7qVSp0jHHHHPPPfeccsopw4cPL4UpAQAoUtFhV4hzzjnnpZde2l+jAADwY/+S7b8AAB64%0ASURBVPyosMvOzt64ceP+GgUAgB+j6NfY7THdcnJylixZcuONNzZp0iQFUwEAUGJFh13NmjUL%0AuXXChAn7bxgAAPZd0WGX+BWxBWRmZmZlZZ133nndunVLwVQAAJRY0WE3bdq0UpgDAIAf6Ue9%0AeQIAgANH0Wfs2rRpU758+VgsVpy7mz179o8eCQCAfVF02K1du3bTpk3btm1LXI3FYvF4PHG5%0AYsWKO3fuTOF0AAAUW9FPxS5btuzEE0/81a9+tWDBgm3btuXl5f3www9vvfVW3759O3Xq9P33%0A3+/KpxQmBgBgj4oOu6FDhzZv3vyBBx5o27ZthQoVoiiqVq3a6aef/sILL5QpU2bo0KGpHxIA%0AgKIVHXbTpk3r1KnTHm8688wz/UoxAIADRNFht2nTprVr1+7xpnXr1v3www/7eyQAAPZF0WHX%0AqlWr0aNHv/feewXW33nnnUceeeToo49OzWAAAJRM0e+Kve222/r27duhQ4cmTZo0a9asYsWK%0A27Zt+/zzzz///PNYLPaPf/yjFKYEAKBIRYfd2Wef/frrr48cOfKtt95asWJFYrFcuXJdu3a9%0A6aabzjzzzBRPCABAsRQddlEUde7cuXPnznl5eV9//fXWrVsrVqyYlZWVkZGR6uEAACi+YoVd%0AwpYtWzZu3NigQYMaNWqkbiAAAPZNsX5X7FtvvdWuXbtq1aq1bt06+UvDEk/RpnI2AABKoOiw%0AmzNnTvfu3T/55JMePXokF7/99tu5c+f26tVr/vz5qRwPAIDiKjrs/vjHP9arV2/p0qXjx49P%0ALtauXXvx4sX16tW7/fbbUzgdAADFVnTYzZ49e8iQIUcccUSB9Tp16gwePHjGjBmpGQwAgJIp%0AOux++OGHhg0b7vGmrKyszZs37++RAADYF0WHXb169ZYtW7bHm2bMmFG/fv39PRIAAPui6LDr%0A1avXmDFjFixYkH9xw4YNv//97x999NHevXunbDYAAEqg6LAbMWJElSpV2rdvn2i4m266qW3b%0AtllZWXfddVejRo1uvfXW1A8JAEDRivVU7Lx586666qpVq1ZFUbRo0aJFixZVrVp1yJAhc+fO%0ArVu3buqHBACgaMX6zRN16tQZM2bM6NGj161bl52dXbVqVT0HAHCgKTrsXnrppWbNmh1zzDGx%0AWKxu3bqSDgDgwFT0U7EXXHDBtGnTSmEUAAB+jKLD7rTTTnvrrbfy8vJKYRoAAPZZ0U/FPvHE%0AEzfccEPv3r0HDhz4k5/8pHr16gUOaN68eWpmAwCgBIoOu3r16iUuvPrqq3s8IB6P78+JAADY%0AJ0WH3QUXXFCuXLnMzMxYLFYKAwEAsG+KDruJEyeWwhwAAPxIe33zxAMPPDBz5swCi4sWLfrq%0Aq69SPBIAAPtir2F37bXXPv/88wUW27ZtO3LkyBSPBADAvij6404AADgoCDsAgEAIOwCAQAg7%0AAIBACDsAgEAIOwCAQBT2AcWzZ8++7bbbCizOmTOnwOLuxwAAUPoKC7v33nvvvffeK7A4d+7c%0AuXPn5l8RdgAAB4K9ht2ECRNKcw4AAH6kvYbdJZdcUppzAADwI3nzBA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IKu/Xr13/22WfpngIAID2C%0ACrt77rmnRYsW6Z4CACA9ggo7AIBDmbADAAhE2XQPUFzt2rUr8pivvvpqH+45Ozt7165dhR+w%0AD3e7N3l5eT/88MN+vENKZOfOnekeAQBS5aAJu4ULF0ZRlJmZWcgxhffZHi1fvrxFixbxeLzI%0AI4tzTHEMHTr0vvvu2y93xb45+aKT0z0CAKTEQRN2w4YNGzNmzIIFC5o3b763Y373u9/dfffd%0AJbrbZs2affDBB9u3by/kmPfff/+KK66IxWIluue92bhx4zE9jjlr+Fn75d4oqXEDxqV7BABI%0AlYMm7G6//fb//Oc/F1544axZswo/b1dSxxxzTOEH7NixYz8+XBRFlWtVbtim4f69T4qpbPmD%0A5mceAErqoHnzRGZm5pNPPrlkyZKbb7453bMAAByIDqazFy1btly7dm0hL6Tr2bNnjRo1SnMk%0AAIADx8EUdlEUVatWrZBbO3fu3Llz51IbBgDggHLQPBULAEDh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Mqme4ASi8fjK1as+Pzzz7Ozs6Moql69eosWLRo2bJjuuQAA0uxgCrsN%0AGzbceeedEyZMWLduXYGbGjVqdOWVV/72t7+tWLFiWmYDAEi7gybsvv7661NPPXXFihUtWrTo%0A1avXkUceWbly5SiKNm3atHz58rfeeuvWW2994YUX3nzzzZo1a6Z7WACANDhowu6WW25ZvXr1%0As88++/Of/3z3W3Nzc//5z39ec801I0aMuO+++0p/PACAtDto3jzx8ssvDxgwYI9VF0VRRkbG%0AL3/5y379+k2aNKmUBwMAOEAcNGfs1q9f36xZs8KPadmy5Ysvvliiu12xYkX79u137dpVyDGJ%0AW2OxWInueW8yMjLmPz//w399uF/ujZLatmnbhtUb7H+62P/0sv/pZf/Ta8fWHccOODbdU6Tc%0AQRN29evXX7x4ceHHLFy4sH79+iW62yOPPPLZZ58tPOzi8fi6desyMzNLdM97c/vtt/fv33+/%0A3BX74Pvvv4+i6LDDDkv3IIco+59e9j+97H/aHXPMMekeIeUOmrDr06fP3//+95NOOunaa68t%0AX758gVu3bNny5z//ecqUKcOHDy/R3ZYpU6ZLly77bcpiyMrKysrKKs1HBAAOEbF4PJ7uGYpl%0A48aN3bp1W7BgQdWqVU8++eSGDRtWqVIlHo9v3rx51apVc+bM2bp1a6dOnf71r39VqVIl3cMC%0AAKTBQRN2URTt3Llz9OjRjz/++AcffJCbm5tcz8zMPPHEE6+44oorrrgiIyMjjRMCAKTRwRR2%0ASdu3b//yyy8Tv3miWrVqjRo1KleuXLqHAgBIs4My7AAA2N1B8zl2AAAUTtgBAARC2AEABELY%0AAQAEQtgBAARC2AEABELYAQAEQtgBAARC2AEABELYAQAEQtgBAARC2AEABELYAQAEQtgBAARC%0A2AEABELYAQAEomy6BzjkdOzYcfbs2emeAgAOOR06dHj33XfTPUVqCbvS1rRp09q1a//hD39I%0A9yCHqBEjRkRRZP/Txf6nl/1PL/ufXiNGjKhatWq6p0g5YVfaypUrV6tWrRNPPDHdgxyiatWq%0AFUWR/U8X+59e9j+97H96JfY/eF5jBwAQCGEHABAIYQcAEAhhBwAQCGEHABAIYQcAEAhhBwAQ%0ACGEHABAIYQcAEAi/eaK0lStXLt0jHNLsf3rZ//Sy/+ll/9PrENn/WDweT/cMh5YNGzZEUVSz%0AZs10D3KIsv/pZf/Ty/6nl/1Pr0Nk/4UdAEAgvMYOACAQwg4AIBDCDgAgEMIOACAQwg4AIBDC%0ADgAgEMIOACAQwg4AIBDCDgAgEMIOACAQwg4AIBDCDgAgEMIOACAQwg4AIBDCDgAgEMKuNPzm%0AN7+JxWJXXnll/sWNGzdef/31jRs3LleuXP369a+88sqvv/46XRMGZvz48bE9ueOOO5LH2P9U%0Ae+WVVzp37ly1atUaNWp07dr1v//9b/5b7X/qVKhQYY8//7FYbOXKlYlj7H9KffTRRwMGDMjK%0AysrMzKxdu/a55547Z86c/AfY/5RatWrVoEGDGjRoUK5cuSOPPHLo0KHZ2dn5Dwh7/8ume4Dw%0AzZs37+9//3uBxZ07d3br1m3BggXnnXfeCSecsHz58scff/yNN96YP39+zZo10zJnSDZu3BhF%0A0YUXXtioUaP866eeemrigv1PtUcfffSKK65o1qzZ9ddfv3379scee6xHjx5vvvnmKaecEtn/%0AFBs2bFhOTk6BxWeeeWbt2rXVqlWL7H+KLVmypGPHjpmZmddcc03z5s1XrVo1evToU0899d//%0A/nfXrl0j+59iK1asOPnkk9evX3/++ecfe+yxs2bN+utf/zpr1qwZM2ZkZmZGh8L+x0mlnJyc%0ANm3aHH/88VEUDRo0KLn+17/+NYqiu+++O7nyzDPPRFE0dOjQdIwZmj/84Q9RFM2dO3dvB9j/%0AlPrmm2+qVKnStm3bzZs3J1Y+/fTTKlWq/PKXv0xctf+lbN68eRkZGXfccUfiqv1PqYsuuiiK%0AojfeeCO5snjx4iiKunTpkrhq/1Oqf//+URQ99NBDyZXrrrsuiqLRo0cnrga//8Iutf70pz/F%0AYrFXXnmlQNi1adOmatWq27dvz39w8+bN69Spk5eXV+pjhibxn/Gnn366twPsf0rdc889URS9%0A+uqr+Rfzb6z9L027du1q27Zty5Ytd+zYkVix/ynVvn37KIp27tyZf7FatWqNGzdOXLb/KVWt%0AWrX69evn38kNGzZUrFixQ4cOiavB77/X2KXQ8uXLR4wYMXjw4A4dOuRf3759+wcffHDyySeX%0AL18+//ppp522bt26FStWlO6YAUo8FVujRo3c3NzVq1d/9913+W+1/6k2ffr0ihUrJp512rFj%0Ax6ZNm6IoisViiVvtfykbNWrUwoULx4wZU65cucj+p97RRx8dRdHHH3+cXPnuu+82b97csmXL%0AyP6n2JYtWzZt2tS8efPkXzhRFNWoUaNFixYLFizIzc09FPZf2KXQ1VdfXaNGjZEjRxZY//LL%0AL3Nzcxs2bFhg/cgjj4yi6PPPPy+l+cL1ww8/RFF033331a5du2HDhrVr1z7qqKOeeuqpxK32%0AP9U++uijJk2afPjhh6eddlrFihWrV6/evHnz8ePHJ261/6Vpy5Ytd911V7du3bp06ZJYsf+p%0ANnz48Jo1a15yySUzZ85cu3btwoUL+/fvX6FChcRLROx/SlWsWLFs2bIF/jEfRVGlSpV27tz5%0A9ddfHwr7L+xSZfz48a+//vqoUaOqV69e4KbE23MqV65cYL1KlSrJW/kxEmfsnn766RtvvPHx%0Axx+/6aab1q5de/HFF//zn/+M7H/qff/991u2bOndu3eHDh2ee+65+++/Pycn5/LLL0+0tf0v%0ATQ888MC3336bSIoE+59qLVu2fPfdd3Nycjp16pSVlXXCCSd8+umn06dPTzxFa/9TqkyZMh07%0Adly2bNkHH3yQXPz444/nz58fRdHmzZsPhf0Xdimxbt26oUOH/uxnPzvvvPP2dkz+E8UJ8Xh8%0Aj+uU1C233PL888+///77v/vd7wYMGHDXXXe9++675cuXv/nmm3fu3Jk4xv6nzs6dO1etWvWn%0AP/3pL3/5y3nnnffrX/969uzZVapUGTp0aG5ubuIY+18Ktm3b9pe//OX000/v1KlTgZvsf+os%0AW7asZ8+e2dnZ995779SpU8eNG1e1atWePXtOnz49eYz9T50RI0bE4/Gzzz578uTJH3/88TPP%0APNOrV6/EJyQkn34Ne/993ElKXHfddTt37hw9evQeb0184sDu/zJIvBSpatWqqR4veIlXd+XX%0AqlWrXr16vfjii4sXL068od3+p06VKlV27dp1/vnnJ1eysrJ69uz53HPPLV261M9/qZk0adJ3%0A3303aNCg/Iv2P9WuuOKKb7755pNPPmnQoEFipX///j/5yU8uu+yyFStW2P9UO+OMM0aNGjV8%0A+PBzzz03iqIqVarcfvvt8+bNW758ec2aNRP/tgx7/52x2/9eeeWViRMn3nDDDWXKlFm9evXq%0A1avXrFkTRdHWrVtXr169adOmRo0alS1bdtWqVQW+cPny5VEUtWjRIg1DHwLq1KkTRdHmzZvt%0Af6o1btw4iqLER0Yl1a5dO4qi7Oxs+19qnnnmmYyMjLPPPjv/ov1Pqc2bN7/33nvt27dPVl0U%0ARZUqVerWrdtXX331ySef2P9ScM0116xdu/a///3vjBkz1qxZc/311y9btiwrK6tGjRqHxP6n%0A8R25oRo6dGghGz58+PB4PN6+fftKlSpt2bIl+VW5ubn169dv2LBh+gYPRHZ29pgxY5566qkC%0A66eddloURcuXL4/b/xS75pproiiaPXt2/sXu3btHUfTFF1/E7X+p2LFjR+XKldu1a7f7TfY/%0AddatWxdFUceOHQus9+vXL4qiefPmxe1/6u3atSv/1VWrVsVisYEDByauBr//ztjtf4MGDZr6%0Af02cODGKou7du0+dOvWyyy5LHLN169bEx30lPPjgg2vWrCnwa8fYB5UqVbrzzjt/8YtffPTR%0AR8nFKVOmzJw5s23btk2bNo3sf4pddtllsVjs5ptv3rFjR2Jl3rx506dPP+644xJvRrP/pWDp%0A0qVbtmxJfDp6AfY/dWrXrt2kSZN58+Z98sknycWNGzdOnz69WrVqrVu3jux/ig0fPrxixYpz%0A585NXM3Ly7vhhhvi8fiQIUMSK+Hvf7rL8pCwYcOG6P9+QPGuXbsSL2c+55xzRowY0b9//1gs%0Aduyxx+b/NwT7bMqUKbFYrHLlyoMGDbrlllvOPffcWCxWrVq1+fPnJw6w/6l2/fXXR1HUpk2b%0AESNGXHXVVRUrVixXrtybb76ZuNX+l4LEvyeTv20iP/ufUpMmTSpTpkytWrV+//vfP/LII3fe%0AeWeTJk2ifL/5wP6n1OLFiytVqlSjRo3rrrtuxIgR7dq1i6Jo2LBhyQOC339hVxp2D7t4PJ6d%0Anf3b3/72yCOPzMzMbNCgwa9+9av169ena8LwzJo1q2fPnjVq1Chbtmz9+vUHDhxY4BdR2P+U%0AysvL+8c//nH88cdXqFChevXqvXr1mjNnTv4D7H+qjR07Noqi+++/f4+32v+UmjVrVp8+fWrX%0Arl22bNmaNWueeeaZL7/8cv4D7H9Kvfvuuz169DjssMMqVKhwwgknPPLIIwUOCHv/Y/F4PC1n%0ACgEA2L+8xg4AIBDCDgAgEMIOACAQwg4AIBDCDgAgEMIOACAQwg4AIBDCDgAgEMIOACAQwg4A%0AIBDCDgAgEMIOACAQwg4AIBDCDgAgEMIOACAQwg4AIBDCDgAgEMIOACAQwg4AIBDCDgAgEMIO%0AACAQwg4AIBDCDgAgEMIOACAQwg4AIBDCDgAgEMIOACAQwg4AIBDCDgAgEMIOACAQwg4AIBDC%0ADgAgEMIOYP/o379/LBZbvXp1ugcBDl3CDgjcE088EYvFYrHYv//97z0ecP311ycO2LVrVynP%0ABrB/CTvgkJCRkTF+/Pjd13ft2vX0009nZGSU+kQA+5+wAw4JJ5988uTJkzdu3Fhg/dVXX123%0Abt1xxx2XlqkA9i9hBxwSzjrrrO3btz/zzDMF1h977LFGjRodddRRBdbnzJlz7rnnHn744eXK%0AlWvcuPGAAQNWrlyZvDXxcrp169b99Kc/rVix4ksvvbT7I+bl5Z133nllypR54oknoijasWPH%0APffcc/zxx1evXr1q1arHHXfcPffck5eXt5//nMChTdgBh4QTTjihSZMmBZ6N3bhx49SpUy+4%0A4IJ4PJ5/ff78+Z07d54zZ8511103evToCy+8cMqUKe3bt1+/fn3igHLlykVRdMMNN2RmZt56%0A661Nmzbd/RF/+9vfTpo06Z577rnkkkuiKBoyZMiNN97YunXru++++y9/+Uvz5s1vvPHGX//6%0A1yn68wKHprLpHgCglFx66aW33Xbbxx9/nDw/98wzz+zYsWPgwIF33HFH/iPnzJnTqlWre++9%0At0uXLomVBg0aXHvttU8//fQ111wTRVFmZmYURd99990rr7xSpswe/oU8evTov/3tb8OGDRs6%0AdGjysTp27Pjkk08mrl599dW/+c1vvvjii9zcXK/wA/YXZ+yAQ8Wll14ai8Xyn7R77LHHTjzx%0AxNatWxc4csiQIfPnz09UXU5Ozvbt21u1ahVFUfLZ2FgslrjDPVbd1KlTr7vuuoEDB959993J%0AxczMzFWrVq1bty658te//vX5559XdcB+JOyAQ0Xjxo07d+48YcKExCvbPvvss3fffffSSy/d%0A48ETJkzo3LlzzZo1y5UrV7FixW7dukVRVODzUHZ/ZV4URfPnz7/wwgs7dOgwbty4RP8l/PGP%0Af1yzZk2LFi0GDhz46KOPfvXVV/vzzwYQRZGwAw4pl19++VdfffXaa69FUfT4449nZmZeeOGF%0Aux928803Dxw4cOvWrX/729/++9//vvvuuw8//PDuh1WvXn33xQEDBmzZsuXDDz8s8EnFv/71%0Ar19//fWuXbtOmjTpiiuuaNiwYe/evVetWrWf/mQAUSTsgEPK+eefX7Vq1fHjx8fj8QkTJvTu%0A3fvwww8vcMz27dvvu+++hg0bvvnmm5dddlnnzp07dOhwxBFHFPMhOnToMHny5Ozs7Isvvjg3%0ANzf/TV27dn3xxRfXr1//2muvDRw48JVXXjnzzDN37ty5f/5sAMIOOKRUqlTp/PPPnzp16syZ%0AM1euXLnH52HXrl27bdu2du3aValSJbn41ltvFfMh/l879+vSahQGcPx9QRlWEQxGwTxk0YHB%0AIoPZtWgYvAwsgsJAgyJ2wTzGYKwtiMMm+BPDhGEw2fYPCCIYDcJFrvdy5f4I99nnkw/ncNqX%0AA8+p1+tLS0tbW1s3Nze7u7ufF+RyuYWFhUajkWXZ4+Njv9//vbsAfCbsgOGytrb28vKyvb09%0AMTFRKpU+L5icnEzT9OOvdf1+v9lsJkny+vr6xVP29vYKhcLBwcHl5WWSJLe3t1NTU++bfPM+%0AePE+YAvwV/juBBguxWJxenr64uJifX39h1E1NjZWKpVOTk6yLJufn394eDg6Omq1WuVyudvt%0Attvtcrn8y1NGR0dbrdbs7OzKysr9/X2hUBgfH69UKldXV/l8Pk3TXq/XaDTm5uby+fw/uCUw%0ApLzYAUNndXU1SZKfzcMmSVKv15eXlzudTpZl19fXx8fHi4uLOzs7T09PGxsbz8/PXzllZmbm%0A8PBwMBhUKpWRkZHz8/NqtXp2dra5uVmr1e7u7vb3909PTz9OzgL8ofS7/9YBAPhPebEDAAhC%0A2AEABCHsAACCEHYAAEEIOwCAIIQdAEAQwg4AIAhhBwAQhLADAAhC2AEABCHsAACCEHYAAEEI%0AOwCAIIQdAEAQwg4AIAhhBwAQhLADAAhC2AEABCHsAACCEHYAAEEIOwCAIIQdAEAQwg4AIAhh%0ABwAQhLADAAhC2AEABCHsAACCEHYAAEEIOwCAIIQdAEAQb18ICe4tk5ZvAAAAAElFTkSuQmCC"/>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59" name="AutoShape 15" descr="data:image/png;base64,iVBORw0KGgoAAAANSUhEUgAAA0gAAANICAIAAAByhViMAAAACXBIWXMAABJ0AAASdAHeZh94%0AAAAgAElEQVR4nOzdd1wUZ+LH8Vl6EwtgAwyiBBUROzYQUc/YC8Zg7IolamKiyRlTTdVcLiYm%0A5jxjjD02sAtiwY4IFtAIFgQVEBXBQpWy+/tj78d5iYWmz8zs5/1HXsswu/vdZQNfn+eZGY1O%0Ap5MAAACgfEaiAwAAAKBqUOwAAABUgmIHAACgEhQ7AAAAlaDYAQAAqATFDgAAQCUodgAAACpB%0AsQMAAFAJih0AAIBKUOwAAABUgmIHAACgEhQ7AAAAlaDYAQAAqATFDgAAQCUodgAAACpBsQMA%0AAFAJih0AAIBKUOwAAABUgmIHAACgEhQ7AAAAlaDYAQAAqATFDgAAQCUodgAAACpBsQMAAFAJ%0Aih0AAIBKUOwAAABUgmIHAACgEhQ7AAAAlaDYAQAAqATFDgAAQCUodgAAACpBsQMAAFAJih0A%0AAIBKUOwAAABUgmIHAACgEhQ7AAAAlaDYAQAAqATFDgAAQCUodgAAACpBsQMA2dm0aVObNm0s%0ALS2trKwaNWqUn58vOhEAZaDYAcrz66+/av7fvXv3RMdRs0ff6kdZWlq+9NJLw4YN27NnT5U/%0A6YkTJ4YNG3b69OmCgoL8/PykpKSSkpIqfxYAqmQiOgAAKE9BQcH169evX7++adOm8ePH6/tf%0AVT348uXL9TeqV68+d+5cOzs7c3PzqnpwAOpGsQOAMunVq5eJiYkkSVqtNi0t7Y8//tBqtZIk%0A/fbbbx4eHjNnzqyqJ7p+/br+RmBg4Ntvv11VDwvAEFDsAKBM1q9fX6NGjdIvz507171794yM%0ADEmSvv/++yosdoWFhfobNjY2VfWYAAwEa+wA9dPpdOvXr+/Vq1ft2rVNTU1tbW29vb1/+umn%0AR1du/fbbb/rVY76+vpIkHTlypGfPnjVr1rSxsfHx8dm3b99fH3b58uVt27a1tra2s7Pr16/f%0AyZMnk5OTS1ehFRQU6Hf76KOP9Fs6dOjw6N23bt2q364fBitX2nIF0Lt48eKUKVPc3NwsLCxs%0AbW3btWv3448/FhcXV/hd9fT0nDVrlv52ampqamrqo29j165di4uLZ8yY4eDgUKdOnTLGmDJl%0Aikaj2b9/v/7L7777Tv9oOTk5ZXwVlQwgVeiTkJaWNnPmzGbNmllbW1taWnp4eLz//vv6yvuo%0AsvwIiouLf/nllx49euh/+rVr127Xrt28efPu3LlTrp8OYLh0AJRm6dKlpf8L371795n7jxgx%0A4rH/+/fr10+r1er3Wb9+vX5j8+bNw8PDzczMHt3T2Nh43759jz7mO++886dHMzc3//nnn//6%0Au+XDDz/Ub/H29n70EbZs2VL64OVNW64AOp0uJCTEwsLir4/p7++fn59f4bd6w4YNpd89f/68%0ATqf7/fff9V+2aNHiu++++9MLfGaMyZMnP/a1Z2dnl/FVVDJABT4JERER1atX/+tj1qlT5+zZ%0As+X6ERQWFvr5+T32HXB1dU1MTHzKTwqAHsUOUJ5yFbsdO3bo9zQyMvrXv/517ty5ZcuWlQ6S%0Abdy4Ub/bpk2b9Fvq1avn4uLSsmXLOXPm/O1vfyt9ovbt25c+ZnR0dOn2li1bLl26dPXq1Z06%0AdSqdOny0q5Wr2JUxbbkCJCUlWVpa6re/9957Fy9ejImJ6dq1q37LnDlzKvxWf/755/pvaTSa%0AzMzMR99GFxcXZ2dnU1PTli1buru7lzFGYmLikSNH2rZtq98YGBh45MiRI0eOlJSUlPFVVDJA%0AeT8J6enptWrV0m/v2rVrcHDwmjVrWrZsqd/i7u5eVFRU9qdevHixfkuTJk3WrVsXGRm5e/fu%0AgICA0sd/yk8KgB7FDlCechW7RYsW9e3bt2/fvjNmzCjdOGDAAP3dR48erd9S+udckiQfH5/S%0AQZTS8TMjI6PCwkL9xkmTJuk31qhR486dO/qNeXl5L7300l97VbmKXRnTlivA9OnT9Rv9/PxK%0AN2ZkZOhbYLVq1Z4yaPeUtzouLs7Ozk7/rTZt2vz1bXRzc0tJSalAjO7du+v3nDVrVnnvXvkA%0A5fokzJkzR7/R3t4+NzdXv/H27dulNS44OLjsTz127Fj9bt99913pboWFhcOHD58+ffr8+fNL%0ASkqe9JMCoMcaO0Dlpk2btnPnzp07d/7www+lG0sL0M2bN/96l88++6x01mzcuHH6G1qt9saN%0AG/rbR48e1d/o379/abmxtLQcPXr0i0lbrgBhYWH6G507dy74fzY2Nq1bt5YkKTs7+9ixY2XJ%0ANmLEiEGDBg0aNGjgwIFt2rRp06ZNZmam/lsfffTRX/f/7LPPnJycqipGBe5e+QDP/CSUjrAO%0AGjTIyspKf9vBwWHfvn1hYWFhYWFeXl5lf2pbW1v9bgsXLly9evWtW7ckSTI1Nf39999/+umn%0A2bNnGxnxNwt4FtHNEkC5lXeN3d69ewcOHOjq6vrX06F1795dv8+j4zQPHjwove/ly5dLt587%0Ad06/sfRP+Ndff/3oEwUHB+u3V3jEroxpyx5Aq9U+sw0sXLiwLG/1Y2k0mq+++qp0/0ffxps3%0Ab5ZuL1eMv47Ylf3ulQ9Q9k+CVqs1NjbWb5k3b96T3sOyP/WZM2dKf7J6jRo1mjBhQkhISHFx%0A8ZMeH8CjON0JoHKLFy+eOnWq/ra1tbWrq6uZmVlaWtqTDjM0NzevVq1a6Zd/XfCu0+ny8vJK%0AH/DRb1X+9BxlSVuuAHl5efqzzT1FVlZWeXOamZnVqVPH19f3rbfeat++/V93MDY2dnBwqKoY%0AFbh75QM885OQl5dXeqhyzZo1n/SwZX/qli1b7tq1a/r06efPn9dvv3LlypUrV5YtW+bi4vL7%0A77937Njx6Y8DgGFtQM1ycnLeffdd/e3XX389IyMjPj4+NjZ22LBhFX5MjUZTOpZWWrD0srOz%0An3LHhw8fPvrl7du3K5a2XAGsrKxKR5V++OGHx/4Dd+7cuU+JXerRwdGHDx9ev359zZo1j211%0AkiSZmJg8OkxVyRgVuHvVBngsS0vL0qfIzc2tkvB+fn7nzp2LjIz8/PPPX3nlldLjba9evTpw%0A4MCnPAsAPYodoGZnzpwprT7vvfde6ZL2ixcvVuZhnZ2d9Tfi4+Mf3R4XF/fXnUtH0W7cuKHT%0A6Uq3nz59usJpyx5Ao9E0atRIfzs5OflJr+h5q2SMyr+K5/E+GBkZubm56W8nJCQ8+q3ff//9%0Ayy+//PLLL3fv3l3ep9ZoNB07dvz444/DwsIyMzO3bdumHw7MyMg4fPhwlSQHVIxiB6jZo4Nk%0ARUVF+hvx8fEHDhz408ZyKT3V8Pbt20snSXNyclauXPnXnUvX79++fXvXrl362xcuXFi9enWF%0A05YrQK9evfQ3Nm3aVFocS0pKRowYMX78+Dlz5qSlpT37NVdaJWNU/lU8j/ehT58++htbt269%0Af/++/vbdu3enT5/+8ccff/zxx/rzNpflqfPz8+fNmzdu3LiBAweWTt0aGxsPGDCgXbt2+i//%0ANOgL4DGeuPoOgFw9uqK/T58+Ax9n1KhROp0uLS2tdLKsf//+586d2759u6Ojo7u7u36jra3t%0A8ePHb926Vbpk3tzc/NHnSklJKX2u0oMnSi+NIElSixYtVqxYsWzZsnbt2pWueHv0eIgrV65o%0ANBr9dmtr68mTJ7/77ru1atXq1KnTn3Yue9ryBigd/OvcufOuXbvCw8OHDBmi3+Lh4fGUhfnl%0APU7lSW9juWI89nQnZbx75QOU65Nw7dq10nV43t7eGzZsWLt2bZs2bfRbGjRokJOTU/anLj0B%0AXkBAQGho6MmTJw8fPvzZZ5+Zmprq89y6deuZPwLAwFHsAOV55qGakiTZ2dnpd37zzTf/9K36%0A9esnJyfXr1+/dMunn35arj/nOp1uzJgxf3pYKyurb775Rn/7Twe6Tpky5U87u7m5lZ6yRKPR%0AlF5Sooxpyxtg06ZNfz3GVpIkR0fHhISEMr7VlSx2ZY/x2GJXxrtXPkB5Pwk7d+7806GsenXr%0A1o2NjS3XU587d+7R87M8ysjIaNmyZc98/wFQ7ADlKVexKyws/Oabb5o1a2Zpaeno6BgUFJSW%0AlqbT6fbu3evu7m5iYuLk5LR+/fry/jkvKSn59ttv3d3dzc3Na9euPXTo0LNnz4aGhj72QYqL%0Ai+fNm+fm5mZmZubo6Dhp0qRbt27pJ+n0Ss9tW8a05Q2g0+ni4+PHjx/fsGFDc3NzKyur5s2b%0Af/jhh1lZWWV/qytf7MoY40nFrix3r3yA8n4SdDpdUlLSG2+84ebmZmlpqb9W7Jw5czIyMirw%0A2m/evPnFF1+0bdu2Tp06pqamVlZWTZo0mTRpUlxc3GNfDoA/0egeWcsMAJWxatUq/UBa/fr1%0AX8zCNbkFAACxOI8dgHJLSEjYtm1bSkpKVlbW6tWrS6/lGhISor/xpJOAqCYAAMgTxQ5AuZma%0Amn7wwQf68f6CgoK3337bxMQkODh4+/bt+h1KTzKs1gAAIE9MxQKoiM8+++xJ57P9+OOPP//8%0Ac9UHAAAZotgBqKCIiIjFixdHRUXdunXLyMiobt26HTp0eOONN7p27WogAQBAbih2AAAAKsGV%0AJwAAAFSCYgcAAKASFDsAAACVoNgBAACoBMUOAABAJSh2AAAAKkGxAwAAUAmKHQAAgEpQ7AAA%0AAFSCYgcAAKASFDsAAACVoNgBAACoBMUOAABAJSh2AAAAKkGxAwAAUAmKHQAAgEpQ7AAAAFSC%0AYgcAAKASFDsAAACVoNgBAACoBMUOAABAJSh2AAAAKkGxAwAAUAmKHQAAgEpQ7AAAAFSCYgcA%0AAKASFDsAAACVoNgBAACoBMUOAABAJSh2AAAAKkGxAwAAUAmKHQAAgEpQ7AAAAFSCYgcAAKAS%0AFDsAAACVoNgBAACoBMUOAABAJSh2AAAAKkGxAwAAUAmKHQAAgEpQ7AAAAFSCYgcAAKASFDsA%0AAACVoNgBAACoBMUOAABAJSh2AAAAKkGxAwAAUAmKHQAAgEpQ7AAAAFSCYgcAAKASFDsAAACV%0AoNgBAACoBMUOAABAJSh2AAAAKkGxAwAAUAmKHQAAgEpQ7AAAAFSCYgcAAKASFDsAAACVoNgB%0AAACoBMUOAABAJSh2AAAAKkGxAwAAUAmKHQAAgEpQ7AAAAFSCYgcAAKASFDsAAACVoNgBAACo%0ABMUOAABAJSh2AAAAKkGxAwAAUAmKHQAAgEpQ7AAAAFSCYgcAAKASFDsAAACVoNgBAACoBMUO%0AAABAJSh2AAAAKkGxAwAAUAmKHQAAgEpQ7AAAAFSCYgcAAKASFDsAAACVoNgBAACoBMUOAGQh%0AKChIo9EkJiaKDgJAwSh2AFA+a9as0fwvY2PjOnXqDBky5OjRo2V/nPnz51PjAFQtE9EBAECR%0AOnfu3KVLF/3t/Pz8ixcvbtu2bevWrStWrBg9evQz756enj5nzpyWLVs2btz4OScFYEAodgBQ%0AET169Jg7d+6jW44cOeLv7//222+/9tpr5ubmT797TEzMcwwHwFAxFQsAVcPHx6d79+53796N%0Ai4vz8fExNjZOSUl5dIfMzExTU9OOHTv269dv4MCBkiT17t1bo9E8OoFrZGT0zTffuLq6mpub%0AN2jQ4IsvvtDpdKXfvXbt2rhx4xwdHc3MzOzt7QcMGBAdHV363ddff12j0eTk5MyePdvFxcXc%0A3NzZ2fn7779/9BEAqBvFDgCqjJ2dnSRJeXl5QUFBWq121apVj343JCSkuLh47NixH3300ahR%0AoyRJ+uSTT7Zs2dKsWbPSfb788ssNGzZMmjTpyy+/1O+wfv16/bdSUlLat28fHBw8YsSIpUuX%0Azpw58/Tp076+vqW90MzMTJKkoUOHPnjwYP369QcOHGjWrNnMmTNXrFjxIl48ADnQAQDKY/Xq%0A1ZIkffrpp3/aXlhY6OrqqtFo0tPTc3Nzq1ev7ubm9ugO3bt3t7CwuHfvnk6nmzdvniRJYWFh%0Apd+dMGGCJEldunQpLCzUbzl16pQkSQMGDNB/OWbMGEmSNm/eXHqX+Ph4Y2PjDh06PPoIw4cP%0AL93hypUrkiT169evql47AJljxA4AKqugoODcuXOBgYFJSUmBgYF169a1srIaPnz45cuXjx07%0Apt8nIyPj4MGDgwcPrl69+lMeatasWaampvrbrVq1MjY2vnHjhiRJOp1u69atderUGTRoUOnO%0ATZs27dixY1RUVGZmZulGff/Tc3V1tbKySk1NrcIXC0DOKHYAUBGfffZZ6elOLC0tW7RosXnz%0A5gEDBixZskS/Q1BQkCRJpdOgISEhJSUl48aNe/rDurm5ld7WaDQ2Njb5+fmSJN28efP+/fse%0AHh4ajebR/d3d3SVJunTpUumWBg0aPLqDqalpUVFRRV8lAIXhqFgAqIiuXbv6+fnpbxsZGdnZ%0A2XXp0sXLy6t0hzZt2rRq1Wrjxo0//vijpaXlxo0bnZ2du3fv/vSHfdLhtLm5uZIkWVtb/2m7%0ApaVl6Xf1Sgf8ABggih0AVISfn9+fTnfyVxMmTJg+ffquXbu6dOly6NChOXPmGBlVcJ7ExsZG%0A+t8Cp6ffUq1atYo9LACVYSoWAJ6XESNGWFpabtiwYcOGDVqtduzYsRV+qLp169aqVSshIUH3%0Av+cuiY+P12g0+glZAKDYAcDzUqNGjSFDhoSGhq5YsaJLly6PXmTC2NhYkiT9+rkyGjJkSHp6%0A+rZt20q3xMbGRkdH+/v716hRowpjA1AupmIB4DkKCgpau3ZtbGzsr7/++uh2V1dXSZLmz5+f%0AnJzs4+PTrl27Zz7UZ599tnPnzlGjRr311lvu7u5Xr179+eefbWxsFixY8LzSA1AaRuwA4Dny%0A8/Nr0KCBlZXVsGHDHt0+YMCAgICAc+fOffnll9euXSvLQ9WvXz86OvrVV19dvnz5hAkTfv75%0AZ39//xMnTrRo0eL5ZAegPBodl5oBgOcmJSWlUaNGEyZMWLx4segsANSPETsAeI5mzZolSdI7%0A77wjOggAg8AaOwCoeomJiXv27Nm2bduePXs+/fTTl19+WXQiAAaBYgcAVe/s2bPTp0+3t7f/%0A+uuv33//fdFxABgK1tgBAACoBGvsAKCs1q9fv379etEpAOCJKHYAUFbh4eHh4eGiUwDAE1Hs%0AAAAAVIJiBwAAoBIUOwAAAJWg2AEAAKgExQ4AAEAlKHYAAAAqQbEDAABQCYodAACASlDsAAAA%0AVMJEdAAAkIvCwsLc3NycnJyioqK8vLyHDx/m5+cXFBSU7nDjxg1Jkvbt21e6xcLCwtLS0tzc%0A3MrKytTU1MbGxtra2szMTEB6AJAkjU6nE50BAJ4vnU53+/bt27dvp6Wl3b59Oz09PT09/c6d%0AO/cecffu3by8vMfevXr16kZGRpIk6UuehYWFJElarfb+/fuP3d/KyqpmzZo1HmFvb1+vXr16%0A9erVrl3b0dGxdu3atWvX1mg0z+0VAzBQFDsA6lFcXJyamnr16tXk5GT9f/U3bt68WVxcLEmS%0Aubl5abVycHAoLV6lPcza2trW1laj0dSoUUOSpJo1az7zSe/evStJ0r1793Q63YMHD3Jzc0ub%0AYmlrzMjIKK2VDx8+lCTJxMSkbt26Li4uDRs2bNiwof6Gi4uLk5OTiQlzKQAqiGIHQKny8vIu%0AXLhw4cKF+Pj4CxcuJCQkXL58uaioyNjY2NHRsbQzNWzY0NHRsW7dunXr1rWzsxOdWsrMzLx5%0A8+bNmzfT0tKS/9/Vq1fT0tJKSkpMTU3d3NyaNm3apEmTZs2aNWnSpEmTJlZWVqJTA1AGih0A%0AxUhLSztz5syZM2dOnz4dFxd39epVnU5Xu3ZtfQHS/9fV1bVBgwampqaiw5ZbUVHR9evXk5KS%0ASqtqfHz87du3NRqNi4uLl5dX69atW7Vq1apVK0dHR9FhAcgUxQ6AfN2+ffv48eNRUVH6Pnf7%0A9m0rK6sWLVro+02zZs2aNm1aq1Yt0TGfo6ysrISEhPj4eP07cPbs2by8vNq1a+vfgQ4dOnTs%0A2LF27dqiYwKQC4odABkpKSk5f/78sWPHjh8/fvz48cTERBsbm7Zt27Zp00ZfZdzd3Y2NjUXH%0AFKakpOTixYv6knfq1KmTJ0/m5OQ0bty4Y8eOHTt27Ny5s4eHhyG/PwAodgAE02q1cXFxERER%0AERERR44cyc7ObtiwYadOnTp27NipUydPT08OJniS4uLic+fORUZGHj9+PDIyMjk5uVq1aj4+%0APv7+/v7+/l5eXvqDeQEYDoodADEuXbq0f//+iIiIAwcOZGZmNm3a1N/fv1u3bp06dapXr57o%0AdIqUnp4eGRl54MCBiIiIhIQEOzu7bt26+fv7d+/e/eWXXxadDsCLQLED8OIUFBQcPHhw586d%0AoaGhycnJL730kv//q1+/vuh0qnLjxo2I/3ft2rWGDRv26dOnX79+fn5++vPwAVAlih2A5y4l%0AJSU0NHTXrl379+8vKSnx9fXt27dvnz593NzcREczCJcvX9a//4cPHzY2Nu7evbv+/Xd2dhYd%0ADUAVo9gBeF6SkpKCg4NDQkJiYmLq1avXp0+fPn369OzZ08bGRnQ0A5WTk7N3797Q0NDQ0ND0%0A9PR27doFBAQMHTrU1dVVdDQAVYNiB6CKXbp0Sd/nTp8+7ebmNnTo0ICAgNatW3MFLfnQ6XSn%0AT58OCQkJDg6+fPly69at9Q2PpXiA0lHsAFSNtLS0tWvXrl279uzZs02bNh06dOjQoUNbtGgh%0AOhee4ezZs8HBwcHBwQkJCS1atBgxYsSIESM4BzKgUBQ7AJWSk5OzefPm1atXR0RENGzYcOTI%0Aka+++qqHh4foXCi38+fPb9q0ac2aNcnJyf7+/qNGjRoyZAjz5oCyUOwAVIRWq923b9/q1au3%0AbNliZmY2bNiwUaNGderUiflWpdPpdJGRkatXr964cWNhYeHgwYNHjRrVo0cPTokHKALFDkD5%0ApKenL1++/Ndff01NTe3Tp8/o0aP79u1rbm4uOheq2MOHD3ft2rVq1arQ0FAnJ6egoKBx48Zx%0AikFA5ih2AMpEq9VGRET88ssvW7durVOnzogRI6ZNm8b5MgzBrVu3VqxYsXTp0qtXr3br1m3S%0ApElDhgzhwmWAPFHsADxDVlbW0qVLlyxZkpqaOnDgwEmTJnXv3p2JOUOj1Wr379//yy+/bNu2%0AzcnJafLkyRMnTqxVq5boXAD+B8UOwBNduHBh4cKFq1evtrOze+ONN8aNG1enTh3RoSDYrVu3%0Ali9fvnjx4szMzFGjRs2YMaNJkyaiQwH4D/7NDeAxjh492r9//2bNmsXExPzrX/9KTEx8//33%0AaXWQJKlOnTrvv/9+cnLyunXrEhMTmzZt2qVLlx07djBMAMgBxQ7AfxUVFa1cudLDw8Pf39/G%0AxiYqKurkyZOjR482NTUVHQ3yYmRk1L9//7179544ccLZ2TkgIKB58+YrV64sKioSHQ0waEzF%0AApAkScrPz1+2bNk///nPu3fvvvHGG9OnT3dychIdCoqRmpq6aNGixYsX16xZ8913350wYYKl%0ApaXoUIAhotgBhi47O/u33377xz/+UVhYOG3atBkzZtSsWVN0KCiS/rP0zTffFBcXT506lc8S%0A8OJR7ADDde/evQULFvz000/VqlWbNWvWxIkTraysRIeC4uXl5S1duvS7777Lzs5+8803Z86c%0AWaNGDdGhAENBsQMMUXZ29sKFCxcsWFCjRo0PP/xw1KhRZmZmokNBVQoLC1evXv3VV1/du3dv%0A5syZM2bMqFatmuhQgPpR7ADD8vDhw5UrV3766acmJibvvvvulClTuGgEnp+ioqJ169bNnTv3%0AwYMH77333ptvvsmoMPBcUewAQ1FYWPjLL798/fXXWq12zpw5kydPtrCwEB0KBqGgoGDJkiXz%0A5s0zMjL64IMPJk2axAgx8JxQ7ACDEBIS8v7772dlZf3973+fPn26tbW16EQwOLm5uYsWLfrH%0AP/5Rq1at+fPnBwQEiE4EqBDnsQNULiYmpmvXrsOHD/f3979w4cLs2bNpdRDC2tp69uzZiYmJ%0AAQEBI0eO9Pb2Pnr0qOhQgNpQ7ADVSklJGT16tLe3t62tbUJCwpIlSxwcHESHgqGrWbPm/Pnz%0AL1265O7u7uvr279//ytXrogOBagHxQ5Qodzc3Dlz5ri5uV25ciUyMnLHjh2NGjUSHQr4L2dn%0A51WrVkVGRmZlZXl4eMyZMyc3N1d0KEANWGMHqE1wcPDMmTMlSfruu++GDh2q0WhEJwKeSKfT%0ABQcHz5o1S5KkBQsWDB06VHQiQNkYsQPU4/Lly3369Hn99dcHDx58/vz5V199lVYHmdNoNK++%0A+uqFCxfGjx8/cuRIf3//8+fPiw4FKBjFDlCDvLy8uXPnenp6FhQUxMbGLly4kJPBQkGsrKzm%0Azp37xx9/WFhYtGrVasaMGdnZ2aJDAYrEVCygeGFhYW+88YZOp1uwYAGnkIDShYSEzJw5U6PR%0ALF68uHfv3qLjAArDiB2gYBkZGSNHjuzfv/+QIUPi4+NpdVCBgICA+Pj4IUOG9O/ff+TIkRkZ%0AGaITAUpCsQOUatOmTR4eHmfPnj127NiCBQs4Ox1Uw9raesGCBSdPnrxw4YK7u/svv/wiOhGg%0AGBQ7QHmuXbvWu3fv0aNHz5gx49SpU97e3qITAVWvZcuWx48fnzVr1owZM3r37n3t2jXRiQAF%0AoNgBCrNs2TJPT8/c3NwzZ858+OGHpqamohMBz4upqemHH3545syZ3NxcT0/PZcuWiU4EyB0H%0ATwCKcfv27UmTJoWHh8+dO/e9994zMuIfZjAUOp1u6dKl77zzjq+v77Jly+rXry86ESBT/GEA%0AlCEkJMTDwyMpKSkqKmr27Nm0OhgUjUYzadKkkydP3rlzx8PDY+3ataITATLF3wZA7h48eDB5%0A8uTAwMAJEyacPHnSy8tLdCJAjKZNmx4/fvz9998fN27csGHDsrKyRCcCZIepWEDWjh8/Pnz4%0AcAsLi1WrVrVv3150HEAWoqOjR48eXVBQsG7duo4dO4qOA8gII3aATGm12vnz59NY9MIAACAA%0ASURBVPv6+vbo0eP06dO0OqBU+/btT58+3aNHD19f3/nz52u1WtGJALlgxA6Qo4yMjDFjxhw9%0AenTx4sUjRowQHQeQqZCQkKCgoNatW69Zs6ZevXqi4wDiMWIHyM6BAwe8vLxu3759+vRpWh3w%0AFAEBAbGxsfn5+V5eXrt37xYdBxCPYgfIiFar/eSTT3r27BkYGBgZGdm4cWPRiQC5e+mllw4e%0APDhy5Mh+/fp98sknTMvCwDEVC8hFVlbWiBEjoqKiVq5cOWDAANFxAIXZvn37mDFjOnTosHbt%0A2lq1aomOA4jBiB0gC7Gxse3atbt69WpkZCStDqiAAQMGxMTEpKWltWzZMiYmRnQcQAyKHSDe%0A2rVrO3fu3L59+5MnTzZt2lR0HECpGjduHB0d3b17d/0FKkTHAQQwER0AMGhFRUXvvPPOkiVL%0Avv3227ffflt0HEDxLCwsli9f7uXlNWXKlDNnznz//fdcTxkGhTV2gDBZWVlDhw6Nj4/fuHGj%0Ar6+v6DiAqhw+fHjYsGHNmjULDg5myR0MB1OxgBiJiYmdO3e+c+dOVFQUrQ6ocr6+vqdOnbp/%0A/3779u0TEhJExwFeEIodIMC+ffvat2/v4uJy9OhRFxcX0XEAdXJ0dDx06FDz5s29vb137dol%0AOg7wIlDsgBdt6dKlffr0GTVq1M6dO21tbUXHAdTMxsZmy5YtM2fOHDRo0E8//SQ6DvDccfAE%0A8OJotdqZM2cuXrz43//+9/jx40XHAQyCRqOZO3dugwYN3njjjStXrixYsMDIiEENqBYHTwAv%0AyMOHD0eNGrVv374tW7Z07dpVdBzA4Bw6dGjw4ME9evRYvXq1ubm56DjAc0GxA16Ee/fuDRo0%0A6NKlS2FhYV5eXqLjAAYqPj6+d+/ejo6OO3bssLOzEx0HqHoUO+C5S09P79OnT2FhYVhYWIMG%0ADUTHAQzajRs3+vTpU1xcHBYW5uzsLDoOUMVYZwA8XwkJCR06dLCwsDh06BCtDhCufv36Bw8e%0AtLOz69Chw9mzZ0XHAaoYxQ54jk6cONGlS5e2bdseOHDA3t5edBwAkiRJNWrUCA8P79ChQ7du%0A3U6cOCE6DlCVKHbA83Lo0KGePXsGBARs3LjRwsJCdBwA/2VhYbFx48aAgICePXseOnRIdByg%0AylDsgOdi9+7dvXv3Hj169JIlS4yNjUXHAfBnxsbGS5YsmThxYq9evbZv3y46DlA1jOfOnSs6%0AA6A2O3bsGDp06IwZMxYsWKDRaETHAfB4Go2mV69epqamU6dObdq0abNmzUQnAiqLExQDVWzd%0AunWjR4/++OOPP/nkE9FZADzb7NmzNRrN8OHDc3Jyxo4dKzoOUCkUO6AqLV++fOLEiQsXLpw2%0AbZroLADK6u9//7u1tXVQUJBOpxs3bpzoOEDFUeyAKrNy5cqJEyf++9//DgoKEp0FQPlMmzbN%0A3Nx84sSJRkZGY8aMER0HqCCKHVA1Nm7cGBQU9OOPP9LqAIUKCgrSaDRBQUHGxsYjR44UHQeo%0ACIodUAWCg4NHjhz5/fffT506VXQWABU3YcIErVY7btw4jUYzYsQI0XGAcqPYAZW1efPm4cOH%0Af/XVV9OnTxedBUBlTZw4MS8vb+zYsUZGRsOHDxcdBygfih1QKdu2bQsMDJw/f/6sWbNEZwFQ%0ANWbMmFFcXDxmzBgrK6uBAweKjgOUA8UOqLgDBw4EBgZ+8skntDpAZWbNmpWfnx8YGBgaGtqt%0AWzfRcYCy0uh0OtEZAEWKi4vz8/MbOXLkTz/9JDoLgOfi3Xff/eWXXyIiItq2bSs6C1AmFDug%0AIhITE7t06dKzZ8+VK1caGXFpPkCddDpdUFDQ9u3bDx8+3LRpU9FxgGej2AHllpaW1qVLl+bN%0Am2/ZssXEhPUMgJqVlJQMGzYsOjr66NGjL730kug4wDNQ7IDyyczM9PHxcXBw2L17t6Wlpeg4%0AAJ67/Pz8V155JSMj48iRI3Z2dqLjAE9DsQPKoaCgoEePHrm5uQcPHqxevbroOABekPv37/v5%0A+VlbW+/bt8/CwkJ0HOCJWBsElJV+tU1ycvL27dtpdYBBqV69emhoaEpKyujRo7Vareg4wBNR%0A7ICymjNnzvbt20NDQ52dnUVnAfCi1atXLzQ0dO/evR9++KHoLMATse4bKJNly5YtWLBgx44d%0AXl5eorMAEMPDw2Pz5s2vvPKKs7Mz1w+EPDFiBzxbeHj4lClTFi5c2KtXL9FZAIjUrVu3f/3r%0AX2+99daOHTtEZwEeg4MngGc4f/58x44dp0+f/vXXX4vOAkAWPvjgg0WLFh0/ftzDw0N0FuB/%0AUOyAp8nKyvL29m7RokVwcLBGoxEdB4As6HS6oUOHnj179sSJE7Vq1RIdB/gvih3wRCUlJf37%0A97969WpUVJStra3oOABkJCcnp1OnTnXq1AkLC+NE5ZAP1tgBT/T3v//9xIkTO3bsoNUB+BMb%0AG5vt27fHxcW9//77orMA/8U/MoDHW7NmzU8//bR79+5GjRqJzgJAjlxcXEJCQrp3796sWbPx%0A48eLjgNIEiN2wGPFxMRMnDjxn//8p7+/v+gsAOTLx8fnn//857Rp02JiYkRnASSJNXbAX2Vm%0AZrZu3drf33/58uWiswBQgHHjxkVERJw+fZoryUI4ih3wP3Q63eDBg5OSkqKioqysrETHAaAA%0ABQUFnTp1qlu37s6dO42MmAqDSHz+gP8xb968/fv3b9y4kVYHoIwsLCw2btwYGRn5zTffiM4C%0AQ8eIHfBfhw4d6tGjx7p164YOHSo6CwCF2bZtW0BAwO7du3v06CE6CwwXxQ74j1u3brVu3frV%0AV1/94YcfRGcBoEgzZszYsGHD6dOn69evLzoLDBTFDpAkSSopKenRo0d+fv7hw4fNzMxExwGg%0ASIWFhb6+vpaWlvv27TM2NhYdB4aINXaAJEnS/PnzY2NjN2zYQKsDUGFmZmYbNmyIjY2dP3++%0A6CwwUIzYAdKpU6c6duy4cuXK4cOHi84CQPFCQkICAwOPHDnSoUMH0VlgcCh2MHS5ubmtW7fu%0A1KkTZ60DUFXGjh179OjRM2fOVKtWTXQWGBamYmHo3nzzzeLi4oULF4oOAkA9Fi1aZGRk9Pbb%0Ab4sOAoNDsYNB27x58+rVq9esWWNrays6CwD1sLGxWbt27erVqzds2CA6CwwLxQ6GKy0tbeLE%0AiR9//HHHjh1FZwGgNu3atfvoo4+mTp2alpYmOgsMCGvsYLj69euXmZl59OhRzkoA4HkoKSnp%0A0qWLnZ3dzp07RWeBoWDEDgZq+fLl+/bt+/XXX2l1AJ4TY2PjFStWRERErFixQnQWGAqKHQzR%0AjRs3Zs2a9cUXX3h4eIjOAkDN3N3d586d+/bbb6emporOAoPAVCwM0eDBg9PT048dO8ZwHYDn%0ATavV+vr61qhRgwlZvACM2MHgrFixIiwsbNmyZbQ6AC+AkZHRr7/+GhERsXLlStFZoH6M2MGw%0ApKene3h4zJ49e/bs2aKzADAg33zzzTfffHP+/Pl69eqJzgI1o9jBsAQGBiYmJp44cYLhOgAv%0AUklJibe3d+PGjdevXy86C9SMYgcDsmfPnt69e0dGRnp7e4vOAsDgnDp1ytvbe9u2bX379hWd%0ABapFsYOhyM/P9/T07Nu3L1cPAyDKW2+9tWPHjj/++MPa2lp0FqgTB0/AUHz55Zd5eXmff/65%0A6CAADNdXX31VVFQ0b9480UGgWozYwSBcvHjRy8trzZo1Q4cOFZ0FgEHbtGnTyJEjz5w506xZ%0AM9FZoEIUO6ifTqfz8/OzsbHZtWuX6CwAIPXt2zcnJ+fgwYMajUZ0FqgNU7FQv/Xr10dHRy9a%0AtEh0EACQJElatGhRdHQ0h8fieWDEDiqXn5/ftGnTUaNGffHFF6KzAMB/fPTRRytXrrxw4QJH%0AUaBqMWIHlZs/f35xcTGnIwYgKx988IFGo/n2229FB4HaMGIHNUtJSWnSpMm///3vUaNGic4C%0AAP9j1apVU6ZMiY+Pd3FxEZ0F6kGxg5q99tpr169fj4yMZIUyALnR6XQ+Pj5OTk4stkMVothB%0AtSIjI318fLjOBADZOnXqVPv27Q8cOODr6ys6C1SCYgd10ul0HTp0cHd3X7VqlegsAPBEo0eP%0AvnjxYlRUFBMLqBIUO6hTcHDwiBEjLly40LBhQ9FZAOCJrl275u7uvnbt2oCAANFZoAYUO6hQ%0ASUmJp6dn7969v/vuO9FZAOAZZs6cuWvXrvPnz5uYmIjOAsXjdCdQoWXLlqWmpnKKEwCK8MEH%0AH9y6dWv58uWig0ANKHZQm/z8/C+++GL27Nm1a9cWnQUAns3e3v7dd9+dO3duXl6e6CxQPIod%0A1OaHH34oLCx86623RAcBgLJ65513tFrtjz/+KDoIFI9iB1W5f//+t99+++mnn1arVk10FgAo%0AK2tr648//vgf//jH/fv3RWeBslHsoCoLFy6sVq1aUFCQ6CAAUD4TJ06sUaMGg3aoJIod1OPB%0AgwcLFy788MMPzczMRGcBgPIxNTWdPXv2ggUL7t27JzoLFIxiB/X48ccfra2tx44dKzoIAFTE%0A+PHja9So8fPPP4sOAgWj2EElcnJyFi5c+MEHHzBcB0ChTE1N//73vy9YsCA7O1t0FigVxQ4q%0A8eOPP1paWo4bN050EACouAkTJlSrVm3RokWig0CpKHZQg+zs7AULFsyePdvc3Fx0FgCoODMz%0As/fee++7775j0A4VQ7GDGixdutTMzIyDYQGoQFBQkJmZ2dKlS0UHgSJR7KB4RUVFCxcunDFj%0ABsN1AFTA3Nz8rbfe+v777wsLC0VngfJQ7KB469evv3v37uTJk0UHAYCqMXXq1AcPHmzcuFF0%0AECiPRqfTic4AVEqrVq26deu2YMEC0UEAoMq88847+/fvj4uL02g0orNASSh2ULY9e/b07ds3%0AMTHxpZdeEp0FAKpMamqqq6vrrl27evbsKToLlIRiB2Xr2bNnnTp11qxZIzoIAFSxESNGZGRk%0A7NmzR3QQKAnFDgoWFxfXqlWrU6dOtWrVSnQWAKhiZ86cadOmzZkzZ7y8vERngWJQ7KBgEydO%0AvHz58sGDB0UHAYDnomvXru7u7r/88ovoIFAMjoqFUt27d2/dunXTpk0THQQAnpdp06atXbs2%0AKytLdBAoBsUOSvXbb7/Z2toOGjRIdBAAeF6GDBlSs2bNlStXig4CxaDYQZF0Ot2SJUumTJli%0AamoqOgsAPC8mJiYTJ078+eeftVqt6CxQBoodFCk8PDw5OXnChAmigwDA8zVp0qTr16/v3btX%0AdBAoAwdPQJH69+9vY2Ozbt060UEA4LkLDAzMy8vbvn276CBQAIodlCclJaVhw4YRERG+vr6i%0AswDAc3f48GF/f//k5GRnZ2fRWSB3TMVCeVauXNmoUSMfHx/RQQDgRfD19XVzc1u1apXoIFAA%0Aih0URqfTrVy5cvz48Vw/EYDhGDNmzLJly5hkwzMxFQuFOXjwYM+ePa9du1a/fn3RWQDgBbl5%0A86azs/O+ffu6du0qOgtkjWIHhRkzZkxWVtaOHTtEBwGAF6pfv3729vYrVqwQHQSyxlQslCQn%0AJ2fz5s3jxo0THQQAXrRx48YFBwc/ePBAdBDIGsUOSrJ+/XpLS8t+/fqJDgIAL1r//v2trKw2%0AbtwoOghkjWIHJVm9evXw4cPNzMxEBwGAF83MzGz48OGrV68WHQSyxho7KMaNGzecnZ0jIyO9%0Avb1FZwEAAaKiojp37nzt2jUnJyfRWSBTjNhBMdatW+fi4tK+fXvRQQBAjA4dOri6ujIbi6eg%0A2EEx1q9fHxgYyOnrABiyV199df369aJTQL6YioUyXLlyxc3NLS4uztPTU3QWABDm7NmzXl5e%0Aly5dcnNzE50FcsSIHZTh999/b9KkCa0OgIFr0aKFh4fHhg0bRAeBTFHsoAwbNmwYPny46BQA%0AIN5rr73GbCyehKlYKMDFixebNGmSkJDQpEkT0VkAQLALFy40bdr0woUL7u7uorNAdhixgwJs%0A2bKlSZMmtDoAkCSpSZMm7u7uW7duFR0EckSxgwJs27Zt0KBBolMAgFwMGjRo27ZtolNAjih2%0AkLtbt25FR0cPHDhQdBAAkIuBAweeOHEiPT1ddBDIDsUOcrdt2zYHBwfOSwwApby9vevUqbNz%0A507RQSA7FDvInX4e1siIzyoA/IeRkVH//v2ZjcVf8ccSspaTkxMRETFgwADRQQBAXgYOHLh/%0A//6cnBzRQSAvFDvI2oEDBzQajb+/v+ggACAv/v7+Go3mwIEDooNAXih2kLU9e/Z07drVwsJC%0AdBAAkBcLCwtfX9+9e/eKDgJ5odhB1sLDw//2t7+JTgEAcvS3v/0tPDxcdArIC8UO8nX16tXL%0Aly/36tVLdBAAkKNevXpdunQpKSlJdBDICMUO8rV7924nJ6dmzZqJDgIAcuTh4eHs7MxsLB5F%0AsYN8hYeHM1wHAE/Rs2dPZmPxKIodZKq4uPjAgQMssAOAp+jVq1dERERxcbHoIJALih1k6syZ%0AMw8ePPDz8xMdBADky9/f/8GDB7GxsaKDQC4odpCpw4cPN2vWrHbt2qKDAIB82dvbN23a9PDh%0Aw6KDQC4odpCpI0eO+Pr6ik4BAHLn6+t75MgR0SkgFxQ7yJFOpzt69KiPj4/oIAAgdz4+PocP%0AH9ZqtaKDQBYodpCjc+fOZWZmdunSRXQQAJC7rl27ZmVlnT9/XnQQyALFDnJ0+PDhRo0aOTs7%0Aiw4CAHLn6Ojo6urKMjvoUewgR0eOHGEeFgDKyNfXl2IHPYod5Oj48eOdOnUSnQIAlKFjx45R%0AUVGiU0AWKHaQnZs3b6akpLRr1050EABQhnbt2l2/fj09PV10EIhHsYPsxMTEWFpaenh4iA4C%0AAMrg6elpZWV16tQp0UEgHsUOshMTE9O6dWtTU1PRQQBAGUxMTFq2bBkTEyM6CMSj2EF2oqOj%0A27dvLzoFAChJ+/bto6OjRaeAeBQ7yItOpzt58iQL7ACgXNq1axcdHa3T6UQHgWAUO8hLUlJS%0AZmZm27ZtRQcBACVp165dVlZWUlKS6CAQjGIHeYmNjbW1tW3cuLHoIACgJI0bN7a1tY2NjRUd%0ABIJR7CAv586da968uUajER0EAJREo9F4eHj88ccfooNAMIod5OXcuXOenp6iUwCA8nh6ep47%0Ad050CghGsYO8UOwAoGIodpAodpCVvLy8K1eutGjRQnQQAFCeFi1aJCYm5ubmig4CkSh2kJHz%0A589rtVquOQEAFeDp6anVahMSEkQHgUgUO8jIH3/84ejoWKtWLdFBAEB5atas6ejoyGysgaPY%0AQUYuXrzIcB0AVJiHh8fFixdFp4BIFDvIyOXLl93c3ESnAAClaty4cWJiougUEIliBxmh2AFA%0AZbi5uV2+fFl0CohEsYNc6HS6pKQkrjkBABWmH7HjirGGjGIHuUhLS8vNzWXEDgAqzM3NLS8v%0A78aNG6KDQBiKHeTi8uXLxsbGLi4uooMAgFI1bNjQxMSE2VhDRrGDXFy+fNnFxcXMzEx0EABQ%0AKjMzswYNGlDsDBnFDnKRnJzs6uoqOgUAKFujRo2SkpJEp4AwFDvIRUpKSoMGDUSnAABlc3Z2%0ATk1NFZ0CwlDsIBcpKSlOTk6iUwCAsjk5OaWkpIhOAWEodpCL1NRUih0AVJKTkxMjdoaMYgdZ%0A0Ol0aWlpzs7OooMAgLLpp2I5lZ3BothBFm7fvv3w4UNG7ACgkpycnB4+fJiRkSE6CMSg2EEW%0A9BMHjNgBQCXpf5EyG2uwKHaQhRs3btjY2Nja2ooOAgDKVr16dRsbm7S0NNFBIAbFDrKQkZFR%0Au3Zt0SkAQA0cHBzu3LkjOgXEoNhBFjIyMhwcHESnAAA1cHBwYI2dwaLYQRYyMzPt7e1FpwAA%0ANbC3t8/MzBSdAmJQ7CALGRkZFDsAqBL29vaM2Bksih1k4c6dO0zFAkCVYI2dIaPYQRYYsQOA%0AqsKInSGj2EEWsrKyatWqJToFAKiBnZ0da+wMFsUOsvDgwQNOYgcAVaJatWrZ2dmiU0AMih1k%0AITs728bGRnQKAFADGxsbip3BothBPK1Wm5+fT7EDgCphY2OTl5en1WpFB4EAFDuIl5OTo9Pp%0AKHYAUCVsbGx0Ol1ubq7oIBCAYgfxcnJyJEmi2AFAldD/OtX/aoWhodhBPP1vn2rVqokOAgBq%0AoP91SrEzTBQ7iKf/7WNtbS06CACogX7EjuMnDBPFDuIVFhZKkmRubi46CACogZmZmSRJRUVF%0AooNAAIodxCsuLpYkycTERHQQAFAD/a9T/a9WGBqKHcTT//YxNjYWHQQA1IBiZ8godhCvuLjY%0AxMREo9GIDgIAaqDRaIyNjSl2holiB/GKioqYhwWAKmRiYsIaO8NEsYN4+hE70SkAQD1MTEwY%0AsTNM/DWFeLdu3crLy2vWrJnoIMAzcDJtKEV+fv7NmzdFp4AAFDvIgpGxsZNnG9EpgGeIO3Yo%0AOzOjt6+P6CDAM1xJTBQdAWJQ7CBe3bp1TUzNpnz+D9FBgGeIiQifP3XczEkT3Ru5is4CPM3a%0ALVvr1asnOgUEYI0dxDMxMSkpYS0IFKCdfy8TM7Ot4eGigwDPwNplg0Wxg3gmJiba4hLRKYAy%0Aady8ZciuMNEpgGcootgZKoodxNOP2Ol0OtFBgGfrPWJsTFxc8vUU0UGAJ9LpdFqt1tTUVHQQ%0ACECxg3j6f1ZqtQzaQQG69B1kbGLCbCzkrIjrNBowih3E+0+xYzYWCtGwafOQUGZjIV9cgNuQ%0AUewgnrm5uSRJRYUPRQcByqTnayOPnzp949Yt0UGAx9OP2DEVa5godhDP2tpakqSCvDzRQYAy%0A8R8SKGk0W8KYjYVM5eTmSpxJ21BR7CBetWrVJEkqyMsVHQQoEyMjowZuTUJCQ0UHAR4vJzdP%0AotgZKoodxNP/9smn2EE5ugcMP3wi+vadTNFBgMfIzs2R/v/fzDA0FDuIZ21trdFoCnJzRAcB%0AyuqV4aN1Ot32vXtFBwEeIzsn18jIyMrKSnQQCECxg3j6X0CM2EFBjExM6jdszJmKIU85ubnW%0A1tZGRvyJN0T81CELNjY2BbkcPAEl8Rv06v6jR+/evy86CPBn2bm5LLAzWBQ7yIKtrW0+U7FQ%0AlL6jxxeXlOzYu090EODPsnNyWGBnsCh2kAU7O7vse1miUwDlYGZuWbeBC2cqhgzdf5Bdo0YN%0A0SkgBsUOsuDg4PDgLsUOCuPTb3D4wUMPshlshrzczrxTp04d0SkgBsUOsuDg4JBNsYPS9B83%0ApbCoKOzAAdFBgP9x+06mg4OD6BQQg2IHWbC3t3+QxSnBoDBWNjYO9Z2YjYXcZGRmUewMFsUO%0AsmBvb89ULJSoc+8Bu/ZH5HJBPMhJRhYjdoaLYgdZcHBwYMQOSjRo4rS8/Pw9h4+IDgL81+07%0AmbVr1xadAmJQ7CAL9vb29yl2UCCb6jXs6tQL2cV1YyEjd7KYijVcFDvIQv369R/m5+VlPxAd%0ABCg37559du7b/7CwUHQQQJIkKTsnN7+gwN7eXnQQiEGxgyw4OTlJknTn5g3RQYByC5jy1v3s%0A7P1Hj4kOAkiSJF2/kSZJkrOzs+ggEINiB1lwcHCwsLDIvJkuOghQbjXsHWrYO4SEMhsLWbie%0AdsPc3Jw1dgaLYgdZ0Gg0jo6Od9IZsYMitfPvtS18b3FxsegggJRy44azs7NGoxEdBGJQ7CAX%0Azs7OmbcYsYMiBUx+K/Pu3YPHo0QHAaSUGzcaNGggOgWEodhBLpycnDLT00SnACrCwdGpWs1a%0AnKkYcnA9jWJn0Ch2kAtnZ2fW2EG5Wvv6b9m9u6SkRHQQGLrraWkcOWHIKHaQCxcXl1up10Wn%0AACooYPJbtzLuHDt5UnQQGLrU9Jv68wzAMFHsIBdubm4ZaanFRUWigwAV4eja2Nq2+ubQ3aKD%0AwKAVFxdfT0tzdXUVHQTCUOwgF25ubiUlxRk3UkUHASrIq7Nv8K5QnU4nOggMV3JKSmFRkbu7%0Au+ggEIZiB7lwdHS0trZOv5okOghQQUPfmJF282Z0bKzoIDBcF68kWVpaOjo6ig4CYSh2kAuN%0ARuPq6nqDYgfFeunlZpbWNhwbC4EuJSW9/PLLRkb8cTdc/OwhI25ubunXkkWnACquuXen4F1c%0AggLCXEpKfvnll0WngEgUO8iIm5sbU7FQtIDJM5Kvp8SejxcdBAbqUlISC+wMHMUOMuLu7p6a%0AdFl0CqDi3LxamVtacd1YiHLxShIjdgaOYgcZ8fT0zLyZnn3vruggQMU1a+PNMjsI8SA7J/32%0AbYqdgaPYQUY8PDyMjY2vX74gOghQcQPGT064nBh/ibFnvGhnExI0Go2Hh4foIBCJYgcZsbS0%0AbNSo0fVLFDsoWItOvqbm5gza4cWLi09wc3OzsbERHQQiUewgLy1atLh2MUF0CqBS3L3asMwO%0AL15cfLyXl5foFBCMYgd58fT0pNhB6fqNnRgXn3DxCod444WKi0+g2IFiB3nx9PS8dilBp9WK%0ADgJUXDv/XiamZlvDw0UHgQEpKSn54+JFih0odpAXLy+vh/l5N1OuiQ4CVErj5l4hu1hmhxfn%0AcvLVvPx8ih0odpCXhg0b2tnZJZ7japtQtldGjD159uz1tBuig8BQnE1IqFWrlpOTk+ggEIxi%0AB3nRaDTt2rWj2EHpfPoNNjI23hzGoB1ekOjY2LZt24pOAfEodpCd9u3bXz57RnQKoLIaNm3O%0ASU/wwkSdPtOhQwfRKSAexQ6y065du6T4cyXFRaKDAJXS87WRkSdP3bh1S3QQqF9RcfHpc394%0Ae3uLDgLxKHaQHW9v76KHD69xmmIonP+QQEmj2bqbY2Px3MXFxxc8fNi+fXvRQSAexQ6y4+Dg%0A4OLiwmwslM7IyKhBY3dmY/ECRJ064+bmZm9vLzoIxKPYQY68vb0vx1HsoHj+QwMPRZ3IyMwU%0AHQQqd+LMGeZhoUexgxx16dIl4dQJ0SmAyuo9fKxOp9u+Z5/oIFC5qNMUwnTevwAAIABJREFU%0AO/wHxQ5y1LVr15vXr95J5xxgUDYjE5P6DRtz3Vg8V7cy7ly5dq1jx46ig0AWKHaQo+bNm9vZ%0A2V04HS06CFBZfoNe3Xfk6N3790UHgWodiIysXr0615yAHsUOcqTRaLp06RIfEyU6CFBZfcdM%0AKC4p2blvv+ggUK2Dx6O6du1qbGwsOghkgWIHmfL19T0fc1x0CqCyzMws6ji7cGwsnp8Dkcf9%0A/PxEp4BcUOwgU127dk1LSryfeUd0EKCyfPoPCj94KDsnV3QQqFD67duXkpK6desmOgjkgmIH%0AmWrZsmX16tUZtIMKDBj3xsPCwrADB0QHgQpFHIusVauWp6en6CCQC4odZMrY2NjPzy/u2CHR%0AQYDKsrKxcajvxGwsnoeDkcf9/PyMjPhrjv/gowD56tWr15kjDHJADTr27h8acSC/oEB0EKhN%0AxLFI5mHxKIod5OuVV17JvJmemnhJdBCgsgYFTc3JzQ0/yAg0qtKFxCtJ16/36tVLdBDICMUO%0A8uXi4uLm5nbm6EHRQYDKsq1Rq1aduszGomqFRkS4urq6ubmJDgIZodhB1l555ZVYih1UoUPP%0APjv27issKhIdBOoRduBg//79RaeAvFDsIGu9evU6H3P8YUG+6CBAZQVMmXE/O3vfkaOig0Al%0AcvPyjpyI7t27t+ggkBeKHWTNz8/PSJLOn4gUHQSorBr2DjXsHbhuLKrK3sNHjIyNfX19RQeB%0AvFDsIGvW1tb+/v7R+8NFBwGqQNtuPbeF7y0uLhYdBGoQduBgjx49LC0tRQeBvFDsIHeDBg2K%0A2R+u02pFBwEqK2DK25l37x6KOiE6CBRPp9OFHTj4yiuviA4C2aHYQe4GDhz44G7mpbjTooMA%0AlVXb0alajZocG4vKi4mLS01P58gJ/BXFDnJXp06dDh06RO/fLToIUAVa+fpvDgsrKSkRHQTK%0AFhIa1qFDB2dnZ9FBIDsUOyjAwIEDo/aw5Bxq8Oobb9/KuBN58pToIFC2rbv3BAQEiE4BOaLY%0AQQGGDBly8/pVLkEBFajfsJG1bXVmY1EZcfEJl5KSBg8eLDoI5IhiBwVo3Lixh4dH1F4G7aAG%0AXp18Q0LDdDqd6CBQqpDQ0NatW7u6uooOAjmi2EEZXnvttcM7NotOAVSBoVNnpKanx8TFiQ4C%0ApQoJDWMeFk9CsYMyvP766zeSr1y7mCA6CFBZL73czNLahtlYVMyFxCvxly4PGTJEdBDIFMUO%0AytCoUaO2bdse2bVFdBCgCjT37hSyi2KHivh961YvL68mTZqIDgKZothBMYYPH35kxxZWJkEF%0ABk6YeuXatdjz8aKDQGF0Ot3azVtHjhwpOgjki2IHxQgMDLx7++alWM4TAcVr2qa9uaUl141F%0AeR2LOXk1NTUwMFB0EMgXxQ6KUa9ePR8fnyM7mY2FGjRt471p5y7RKaAwazZv6d69u5OTk+gg%0AkC+KHZTk9ddfj9y9o6S4SHQQoLIGjJty8UpSwuVE0UGgGIVFRcG7QkeNGiU6CGSNYgclee21%0A14ry804e2Cc6CFBZXp19Tc3NOTYWZbdz3/78hw85LzGejmIHJbG1tR06dGhEyHrRQYAq4O7V%0AhmV2KLs1IZsHDx5sY2MjOghkjWIHhRk/fvzpIxF30m+IDgJUVp/RE2LPx1+5dk10ECjAzYyM%0Anfv2jx49WnQQyB3FDgrj6+vbyNX18I4Q0UGAyvLu0dvE1IwT2qEslm/Y6OTs3KNHD9FBIHcU%0AOyiMRqMZO3bsvk2/c0I7qEAjjxYss8Mz6XS639ZvnDhxopERf7XxDHxEoDxjx469cyM14eQJ%0A0UGAyur1+piYuLjraSwtwNPsPXzkamrqmDFjRAeBAlDsoDz169fv06dP+PpVooMAleXbf4iR%0AsfHmMAbt8DS/rP194MCB9evXFx0ECkCxgyJNnTr1ePiurFs3RQcBKkWj0bg08WA2Fk9xK+PO%0A9j17J02aJDoIlIFiB0Xq1atX40au+zatFR0EqKyew0ZGnjx1MyNDdBDI1G8bNnDYBMqOYgdF%0A0mg0U6ZM2bNhDVehgNJ1DwiUNJotYbtFB4EcFRcXL161ZvLkyRw2gTLigwKlmjBhQnFBXtQe%0A5rCgbEbGxs6NX2Y2Fo8VvCs08969oKAg0UGgGBQ7KFW1atVGjBgR9vty0UGAyvIfEnjweFRG%0AZqboIJCdhct+Gzt2rJ2dneggUAyKHRRs2rRpF05FX70QLzoIUCm9Xx+r1em27+EiyPgfMXFx%0AJ87ETp8+XXQQKAnFDgrWvHnz7t27b/ttseggQKUYm5o6ujTiurH4k++WLO3Tp0/Tpk1FB4GS%0AUOygbO+9996x0P9r777DojoTPY4PXUAQMaigBOxGjcaaqIgVFbE3FHtvETVEJWqMxq7YxYYd%0AVEBFUCliFOyIFWsEsRAUa0C6tLl/eDc3m5tEROBl3vl+nn322SUzzi9bzDfnzDnnyKtn8aKH%0AAJ+kdc++v5w9l/j2reghKCmePn/uFxQ8ZcoU0UOgYgg7qLaOHTvW/7Je4J5toocAn6Tr0NE5%0AubmBJ0+JHoKSYv2OXTVr1eIuJ/hYhB1UnouLS6iPV0pSoughQMHpltKvYGnFtbF4Lyk5ebOn%0Al4uLi4aGhugtUDGEHVSeo6NjxfJmoT6eoocAn8TGoWdIWHhKaproIRDPfdduYxOTQYMGiR4C%0A1UPYQeVpa2tPmzYtcM+2rMxM0VuAgusxamJmVlZwWJjoIRAsPSNj7fadM2bM0NXVFb0Fqoew%0AgwxGjRqlpcwLO+wjeghQcAalS5uZV+JsLLbu3aeprT1q1CjRQ6CSCDvIoHTp0lOnTvXbuj47%0AK0v0FqDgWnTuFnQqLINjz2osOydntce2adOm6evri94ClUTYQRJTpkzJe5d5ys9b9BCg4HqO%0AnZSalhZ6+ozoIRBml++Bt6lp48ePFz0EqoqwgySMjY2nTp3qt2UdB+2guoxNTE0rVORsrNrK%0AzslZ5r7J2dm5TJkyordAVRF2kAcH7SCBb+y6HD3xS1Z2tughEGCnj+/rpKSpU6eKHgIVRthB%0AHhy0gwR6j5uclJx88tx50UNQ3DLfvVu4dr2Li4upqanoLVBhhB2kwkE7qLqyZhXKlDPjubFq%0AaLOnV0ZWFs8Qwyci7CAVY2NjFxeXgxtXv8vMEL0FKKAmbTv4h4Tm5OSIHoLik5aevtR9o6ur%0Aq7GxsegtUG2EHWQzbdo0A12dY7u2ih4CFFC/CdPeJCaeuRQpegiKz9rtOzS1dSZMmCB6CFQe%0AYQfZ6Ovrz5kz57CH+9s3r0VvAQrCrFJlI5OyXBurPpKSk1du8Zg7d66BgYHoLVB5hB0kNHr0%0A6CpWn/ttXS96CFBADW3bHQ4OycvLEz0ExWHJBncTU9ORI0eKHgIZEHaQkJaW1oIFC0L27Xoe%0A91j0FqAg+k2YmvDy5YUrV0UPQZF7FPfbuu07ly5dypNhUSgIO8ipd+/ezZo29dmwUvQQoCAs%0AqlQzNDLmbKw6cF2ytGGjRn379hU9BJIg7CCtpUuXnj12OPZ2lOghQEHUb2F7MDBIqVSKHoIi%0AdPHqtYOBQW5ubhoaGqK3QBIa/K4BifXv3/9mzMNF+4/wmyZUzsM7N6f36RwZeKRpgwait6BI%0AKJVKm159qtb+wtPTU/QWyIMjdpDZypUr42N+PXvUT/QQ4KNVrVtf39DwUCBnY6W1zz/g+p27%0ACxcuFD0EUiHsIDNLS8vvv/9+9/IF6akporcAH61usxZ8zU5W6RkZs5Yu++6776ysrERvgVQI%0AO0hu5syZJqUNDm/dIHoI8NF6jJ744PHjqLv3RA9B4Vu83j1XoTFz5kzRQyAbwg6S09fXX7Zs%0A2ZGdmxOePBK9Bfg4dRp/rVdKn+fGyifm0SO3zVtWrVplZGQkegtkw8UTUAtt2rRJ09D9YfNu%0A0UOAj/PzqIHZr57dOfWL6CEoTF2GDMvW0j5x4oToIZAQR+ygFjZs2BB1PjwiNFD0EODjdB85%0A/m50zL2YB6KHoND4HDl68vyF9et5NA6KBGEHtVCvXj0XF5dtC+akJSeL3gJ8hK9attbR1eMS%0ACmmkpKa5/LxwxowZtWvXFr0FciLsoC7mzp1ralzae91y0UOAj1Pzq0Z8zU4a81at1tLVdXV1%0AFT0E0iLsoC709fU3btwYvG/X/Rs8fxOqpMuQUTfu3I198kT0EHyqa7dur9uxc8OGDYaGhqK3%0AQFqEHdRIx44dBzg6bvlpRm5OtugtQH59Y9dFW0fHLyhE9BB8kpycnDEzZvbt27dbt26it0Bm%0AhB3Uy+rVq5NfPj+220P0EOAjVKvbgK/ZqbolGzY+eZawdu1a0UMgOcIO6qVChQorV670Xu/2%0A9CGXGUJldHIaGnnjRtzTZ6KHoIB+fRC7eP2G9evXly9fXvQWSI772EEdOTg4xDx9vnhfgKaW%0AlugtQL70r/f5yh9nTxk1UvQQfLS8vDzbPv1Mylc4duyY6C2QH0fsoI48PDxexz0K2LFZ9BAg%0Av6xq1eFsrIpas2377eiYzZv5DQfFgbCDOrKwsFi9erXP+hVxMb+K3gLkS8f+g89fvvL81SvR%0AQ/Bxoh8+/HHFSjc3t8qVK4veArXAqVior969e0fdf7DU95iWto7oLcAH5OXlOX5p5b7w5/FD%0ABovegvzKycmx6dW3jJlZSEiIhoaG6DlQCxyxg/pyd3dPev7Uf9tG0UOAD9PU1LSsXpOzsapl%0A/uo1sb/9tmvXLqoOxYawg/oyNzd3d3f32bAq5uZ10VuAD2vXe0DYhYuv3rwRPQT5cuHK1SUb%0ANm7atMnc3Fz0FqgRwg5qbcCAAYMHOa12mZiemiJ6C/ABnQcOy1Mqj544KXoIPiwtPX34NJcR%0AI0b07dtX9BaoF8IO6s7d3b2Mvt72hT+KHgJ8gLauroV1VZ4bqxIm//hTrobGqlWrRA+B2iHs%0AoO4MDQ337dt3Icj/7LHDorcAH9C6R9+T586/TeEAc4m2aN36Xb4H1q1bZ2RkJHoL1A5hByga%0AN248b968rfN/eBkfJ3oL8G+6DRuTlZ199MQvoofgHz2Mi1u+aYu5ufmoUaNCQ0NFz4HaIewA%0AhUKhmDlz5jdNm6z5flJuTrboLcA/0i2lX8HSyo9rY0uq7JycQd86N27S5OHDh+PHj+/SpcuU%0AKVOysrJE74IaIewAhUKh0NTU9PT0TEqI37NioegtwL+xcegZEn46NS1N9BD8je/m//zo6bO9%0Ae/fq6enNmzfv+PHjBw8ebNGiRUxMjOhpUBeEHfC/LCwsvL29Q/buvBByVPQW4B/1GDUx4927%0A4LBw0UPwVwcDgzbt8dq7d+8f9zdp3779jRs3Klas2Lhx461bt4qdBzVB2AH/p02bNvPnz3ef%0A9V18LH97jRLKoHRpM3ML7lRc0sQ+eTL6+xnz589v3779n39uZmZ29OjRBQsWODs79+/fPykp%0ASdRCqAkeKQb8F6VS2bt372t3fl16IFCvlL7oOcDf2L1sftgBr5dR10vp6YneAoVCocjIzGzZ%0As3f5SpWDgoI0Nf/+iMm1a9cGDhyYlZW1d+/eFi1aFPNCqA+O2AH/RUNDY8eOHdq5WZvmfC96%0AC/D3eo39NiU17Xj4adFD8L/GznB9k5zi6en5T1WnUCgaNWp05coVW1tbe3v7vLy8/Pyy2tra%0AGv8xZ86cwtsLmRF2wF+VLVvWx8cn8kRQ8N6dorcAf8O4bDnT8hU5G1tCrNzicTAo+NChQ2Zm%0AZv/+SiMjo927dz98+PBf+u/PpkyZMmXKFHt7+8KYCXWhLXoAUBI1adJk69atI0eNrlytxpff%0A2IieA/xVM7vOR4/6ZWVn6+roiN6i1k6eO++6ZKmHh0eTJk3y+ZZy5crl85UrV65UKBTe3t7B%0AwUQ88osjdsDfGzp0qPPkb92mjH0e91j0FuCv+o6fkpScfOr8edFD1NqT+KcDJn47derU4cOH%0AF+fnRkZG9urV67PPPtPV1bW2th4yZMjjx4/f/yEbGxtNTc1nz579+fXx8fGampqtW7f+4Nsh%0AAcIO+EcrVqywbdliyYRh6SnJorcA/6WsWYUy5T47FMiBHGEyMjN7jxnboGHDJUuWFOfnXr16%0AtXXr1pGRkVOmTHF3dx84cGBAQMDXX3/95s0bhULh5OSkVCr9/Pz+/JaDBw8qlcrBgwd/8O2Q%0AAGEH/CMtLa39+/cb6+msd52izN+XnYFi07iNXUDoiZycHNFD1FFeXt7QKdOS0tJ9fHy0tYv1%0AS02RkZF16tTZu3fvjz/+OGbMmCVLlixevPjly5f79+9XKBT9+vXT1tY+dOjQn9/i6+urp6fX%0Ar1+/D74dEiDsgH9jbGx86NCh+1ci9q9bIXoL8F/6jnd+9ebNmUuRooeoo1lLl584d/7IkSP5%0A/8JcYZkwYcLVq1fbtGmjUCiys7MzMzPr1KmjUCjen041MzPr0KHD2bNnX758+f718fHxERER%0ADg4OJiYmH3w7JEDYAR9Qu3bt/fv3B2xzDzvsI3oL8H8qWFoZmZTl2tjit32/zyqPbQcOHKhb%0At66QAZ6enq1bty5btqyurq6+vv77WyL/cex24MCBubm5/v7+7//tn8/D5uftUHWEHfBh9vb2%0AmzZt2vTjjKjz3DkMJchXrdr6BQXn86ZoKBRhFy5OnDV73bp1dnZ2QgbMmjVr6NCh6enpq1ev%0ADg8Pv3jx4rZt2/78gl69eunr6/9xNtbX17ds2bIODg75fDtUHbc7AfJl9OjRsbGxK5zHLNzr%0Ab127jug5gEKhUPQe++20o34Xr15r2TS/99rAp7gbHdN79Njvp08fP358sX3o+wdEvb/1XWZm%0A5po1aywtLcPCwkqXLv3+BW/fvv3z642MjBwcHPz9/RMTE9PS0iIiIsaMGaOrq5vPt0PVccQO%0AyK/Fixf37d1r0dhBrxOeffjVQNH7vEZtAyNjzsYWj4SXL7sMHWbXqdOCBQuK7lPWr19ft27d%0AsLCw//vchASFQmFqaqpQKJ4/f56RkdGkSZM/skyhUJw+/dczCU5OTjk5OYGBgX85D5vPt0Ol%0AEXZAfmloaGzbtq3hl/UWjhmUlswNUFAi1G9u4xcczFO/i9rblBT7wUMrW1nv2bMnn8+NKJiy%0AZcvevXt3xYoV78+wZ2VleXl5KRQKW1tbhUJRoUIFDQ2NP1/ocOPGjT179igUiszMzD9+2KVL%0AlzJlygQHB/v7+1tZWdnY/O9d1vP5dqg0rXnz5oneAKgMLS2tbt26ee3aGRH+S8suPbS0tEQv%0AgrqraGl1cNsmhw7tKlWsKHqLtDIyMx2GjkjLzg4NDTUyMirSz/riiy8CAwPPnj0bEBAQFRU1%0Aa9asW7du9evXz9nZWaFQ6OjoXLly5cyZM8+fP09NTfX19Z00adKuXbt8fHwSEhLMzc2rVq2q%0Aq6urra0dHR0dGBj44MGDCRMmvL88Iv9vL9I/QRQ1wg74OPr6+l27dt20dvXtq5HNOzkU6d+7%0AAx9kWr7ikR2bjQ0NO7Ti2XdFIjc3d+CkyXdiH548ebJi0dezlpaWo6Njbm5uVFTU6dOn9fT0%0AXF1dV61a9cdvNXZ2dk+fPg0MDAwICMjJydm6dev7bjt16lRYWNiIESPen2Y1MDDYunVrXl7e%0Ali1b/vwQ23y+HapLgwP4QAHExMS0atWq1tc2zkvXatB2EGrx+KFvHz+IOcc3pQqfUqkcPX3G%0A0ZNhZ86cqV27tug5wIfxFySgIGrUqHH8+PFbZ09tX/Sj6C1Qd73GfPvg8eOb9+6JHiKh6QsX%0AHQwKCQ4OpuqgKgg7oIAaNGgQGBh4xt/XZ8NK0Vug1r5o3EyvlD7Xxha6RevWu+/29Pf3b9y4%0AsegtQH4RdkDBNW/e3MfH5/CWdcd2e4jeArVWu3GzQ4GEXWFy27x1/uq13t7ebdu2Fb0F+AiE%0AHfBJHBwc9uzZ47liQZDXDtFboL66jxh3Jzr6XswD0UMksXb7jh+WLtuzZ0+PHj1EbwE+Dk+e%0AAD7VgAEDNDU1398CtMvgkaLnQB19ZdNGR1fPLzh4do3JoreoPI99+79fsGj37t0DBgwQvQX4%0AaByxAwpB//79vby89iybH7x3p+gtUFM1GjTka3afbvt+n4mz5uzcudPJyUn0FqAgOGIHFI7+%0A/fv/8ege+0EjRM+B2ukyeJTblDEP4+Kqfv656C2qymPf/gk/zN6xY8cfz+ACVA5H7IBC4+jo%0AuH379l1Lfjq+f7foLVA7zTs5aGvr+AWFiB6iqtx37Znww2wPD4+hQ4eK3gIUHEfsgMI0dOhQ%0ADQ2NkSNHZmak9xg5QfQcqJeq9eofCgr6fvxY0UNUz7KNm+Ysd9u2bdvw4cNFbwE+CUfsgEI2%0AZMiQgwcP+qxd7rVykegtUC+dBw67dP1G3NNnooeomGUbN811W+Xt7U3VQQKEHVD4evTocfjw%0A4eN7d3r8PEuZlyd6DtRF6x59NbW0/I8fFz1EZSiVyu/mL/h5zbqAgIA+ffqIngMUAsIOKBL2%0A9vYhISEXjvmtc52Sm5sjeg7UhVWtL7hTcT7l5uaOneG6dd/+I0eOdO7cWfQcoHAQdkBRadWq%0A1cmTJ+9eOL36u4nZWVmi50AtdOg36PyVKy9evRY9pKTLfPfOccIkv+Ohp06dat++veg5QKEh%0A7IAi1KRJk/Dw8Ljb1xeMdkpLThY9B/Kz6+ukVCoPh3Bt7L9JfPu2k9OQizeiTp061axZM9Fz%0AgMJE2AFFq27dupGRkTpZ6bOcur9OeCp6DiSnqa1tWb0Wdyr+F89evGjbz/FNampERESDBg1E%0AzwEKGWEHFDkLC4uwsLDqlS1c+3d9dPe26DmQXNve/cMvRrz+/XfRQ0qi2/fvf9OtZ9nyFc6d%0AO2dpaSl6DlD4CDugOJiYmBw/ftzerv2cwb2unw0TPQcys3cakZuXd/TEL6KHlDhhFy7a9OzT%0ArHnz4OBgExMT0XOAIkHYAcVEV1fXy8tr0oTxSycOD/c/IHoOpKWtq2thXZWzsX+xy/dA50FD%0ARo0Z4+vrW6pUKdFzgKLCkyeA4qOhoeHm5mZtbT1t2rT42OhB037Q0ORvrlD4bLv1PrRxdVJy%0Asomxsegt4imVyvmr1yxat2HlypXOzs6i5wBFS0OpVIreAKidEydOODo6Vvmy4bSVGw2M+Esv%0ACllWZoZTw+qe69YM6tVT9BbBUtPSBjtPPRN52dfXt0OHDqLnAEWOowWAAHZ2dpGRkRmvEmY7%0A9XwZHyd6DmSjW0q/QuXPDwUGiR4iWHxCgm2ffndiH164cIGqg5og7AAxqlevHhER8WXNajP6%0A2t++dF70HMimpUPP46fPpKWnix4izLnIy406O5SraB4ZGVm7dm3Rc4BiQtgBwhgbG/v7+w8f%0AMnjBaKfgvTtFz4FUeo6ckJ6ZGRwWLnqIGOt37mrvOLD/gAHBwcFly5YVPQcoPoQdIJK2tva6%0Adeu2btmy123h2unfvstQ3+MrKFwGxsZm5hZqeG1sRmbmSJfpMxYtcd+4ccOGDdraXCMI9ULY%0AAeKNGDHiwoULT+9GTe/TOf5BtOg5kETzTl2P/XIyIzNT9JDiE/Po0ddde5y8GHHmzJnRo0eL%0AngMIQNgBJcJXX3117dq1Zg2+dHXseiHkqOg5kEGvcZNT09JOnDkrekgxOXril2YO3S2rVr1x%0A40bTpk1FzwHEIOyAksLY2PjQoUM/zJyxxmXinuULcnOyRS+CajM2MS1bvoI6nI3NzsmZsWhx%0Ar9Fjv/v++2PHjvGlOqgz7mMHlDihoaFDhgwpU7HSVDf3ip9bi54DFbZ1/g+RQf4voq7pyPtV%0As9gnT5wmOT9+9szT07Njx46i5wCCccQOKHE6dux469atGpXNXXraea9bLnoOVFi/iVMT3749%0AdV7a++kcDAxqYt/VqFy569evU3WAgrADSqby5cv7+fmZlTM9tHndupnOmelpohdBJZU1q1Cm%0A3GeHAiU8G5uRmTll7ryBkyZPmTYtNDTUwsJC9CKgRCDsgBJqzpw57969CwwMjL99fXrvTrF3%0AbopeBJXUuI2d//HQ3Nxc0UMK09Wbt77qaB94+syFCxfmzZunyTOXgf/g/wxASRQaGrpq1aod%0AO3Z07tz52rVr7Wxa/ODY7YD7qtzcHNHToGJ6j/321Zs3Zy5Fih5SOLJzcuavWtO8e8+mzZtf%0Au3aNq1+BvyDsgBLn5cuXw4cPd3FxcXBwUCgUxsbGnp6e3vv3/bJ/1/TenR7duyN6IFSJuVWV%0A0mVMDgXJ8NzYO9HRLbr3WrNj5wZ3dy8vL2NjY9GLgBKHsANKFqVSOWrUKAsLi4ULF/755337%0A9r1z506jOrV/GND1sId7nlxn1lCkvmrV9lBgcF5enughBZeXl7d2+47GnR3MKlW6ffv22LFj%0ARS8CSijCDihZVq5cGR4evnfvXl1d3b/8ofdXVHhs2XJsu/uPQ3o/j3ssYiBUT59xk5+/ehVx%0A7broIQX0MC6ubb8BP61as279+qCgoEqVKoleBJRchB1Qgly9enX27NkbN26sVavWP71m2LBh%0At27d+vyzstO6tzu8dQP3McYHfV6jtoGRsSreqTgnJ2f5xs312tnpm5hwoA7ID25QDJQUaWlp%0AjRs3btCggY+PT35ef+DAgYkTJxqamo1fsLxmg8ZFPQ8qbYXz6IS7UY8untfQ0BC9Jb8ib9wY%0AO8M1/sVLNze3YcOGqdByQCCO2AElxcSJE3Nycjw8PPL5+n79+t2/f79Tm1azBvbYPHdGempK%0Akc6DSuszzvlJ/NOrt26JHpIvaenprouXtujRu2bdenfv3h0+fDhVB+QTYQeUCG/evPH39/f2%0A9v6oC/1MTU23bNkSHBQUe+XCtG5tL58KLbqFUGlV69YvZWCoEncqPnrilzpt2x8IOR4YGOjr%0A61u+fHnRiwBVQtgBJUK5cuWSkpKaNGlSgPd26tTp1q1bIwYPcnMevWjckGePHxb6PEigbtNv%0ASvjX7B48ftxt+Mg+Y8c7DRl6+/btTp06iV4EqB7CDigpPuVkk4Eb/TI5AAAQmUlEQVSBwfLl%0Ay2/fvl1eX2dq17Y7Fv3ImVn8Rc/RE2MePbp5757oIX8jNS3thyXL6rWzS8vNu3r16pIlS/T1%0A9UWPAlQSYQcUMi8vL43/R09Pr2rVqmPGjHn06FHRfXStWrWCg4MP+x26c/aks71tuP8Bro7C%0AH+o0ba5bqpRfcIjoIf9FqVQeOBZYt10HT/+ArR4eJ0+e/PLLL0WPAlQYV8UChczLy2vIkCEt%0AW7a0sbH544eJiYmXL1++fv16mTJlzp07V69evSLdkJ6evmzZshUrVljX+XK467zqX35VpB8H%0AVfHzyAG5b17cOllSvot59eYt57k/Xb9zd8aMGTNmzDAwMBC9CFB52qIHAHLq0KHDvHnz/vJD%0ANze36dOnz5o168iRI0X66QYGBvPnzx8+fPj06dNdHbu2tO/mNNW1gqVVkX4oSr6uw8YuGjf4%0AfuzDWtWqil3yKO63OctXeB852rt3730HD1lZ8T9OoHBwKhYoPs7Ozrq6uufPny+ej6tSpcrB%0AgwcjLl7USk2abG+7ee6Mt29eF89Ho2Rq1Lqdjq6u2OfGvklMdF28tE7b9rEJz0+dOnXgwAGq%0ADihEhB1QfJRKZV5enqGhYXF+aLNmzcLDww8e8I2LujzZ3uawh3tWZmZxDkCJUqN+I1HXxqZn%0AZCzbuKlai1b+J0/t8fS8ePFi69athSwBJEbYAcVn2bJlOTk5dnZ2xf/RPXv2vH37ttuyZSe8%0Atk3q2DzIa0d2Vlbxz4Bw9oNHXLt1+1Hcb8X5oVnZ2Zv2eNawab1u157lbm63b9/u168f9xwG%0AigIXTwCF7P3FE61bt27Tps0fP0xKSrp06VJERET16tXDw8MFPsU8NTV1w4YNbm5uCh3dPuOc%0A2/d10tbRETUGQvSvZ7XUdcb344vjuatZ2dnb93svdd+YmpHp4uIydepUrpAAihRhBxSy92H3%0A/39evnz50aNHu7i4mJqaFv+qv0hNTXV3d1++fLmmXqnuI8Z3HDBUR1dX9CgUkx8cu5pqKS8e%0A8S/ST8nKzvYOODJ/1ZrXSUkTJkxwdXU1MTEp0k8EoOBULFBEfvrpJ+V/pKenW1tbZ2RkTJgw%0AoSRUnUKhKF269MyZMx8+fDh5/Di/jauc7VsF793Jd+/URKcBQy9dvxGfkFBEv/67rKyNu/dU%0Ab2k77eeFI8eO/e2335YuXUrVAcWDsAOKnL6+/po1a1JSUiZPnix6y38pU6bM3LlzHz16NGns%0AaP9Nq8e1a3pw05rUt0mid6Fo2fboq6mpeTjkeKH/yolv3y5ev8H66xZzV60ZN3Hi48ePZ8+e%0A/VGPPwbwiQg7oDj06NHD3t7e39/f379oz38VgImJydy5c+Pj49evXnUl6PC4tk13LPrxdcIz%0A0btQVDQ1Na1q1zkUWJjXxj6Jf+q6eGmVb1pu9fad6uISGxs7e/ZsIyOjQvwIAPlB2AHFZO3a%0AtXp6epMnT05JKYlPcdXT0xs6dOjdu3c9tmyOuxE5qWPz9a5TYu/cFL0LRaJ9H6dzly+/eFUI%0A9zW8cefuoG+dq9vYhl6M2Lh584MHD2bOnFmmTJlP/5UBFABhBxSTGjVquLi4xMfHz549W/SW%0Af6StrT148OCoqKgAf3+dtKSZfe1nDex+LjAgNydb9DQUpo79BymVSv/jBT8bm52T43PkqG2f%0Afg072b9KSw8KCrp27ZqTk5O2Ng80AkQi7IDiM3v2bEtLS3d398jISNFb/o2GhkaXLl1CQ0Pv%0A37/fqVULj5+mj23T1Gvlot9fPBc9DYVDU1u7crWaBbtT8bMXL+atWm3VrPmo6TO/aPBVVFRU%0AaGiokLszAvj/uN0JgA94+/bt9u3bN27cGPfbb1/bdenQz6ne1y25u6yqO7Jz876Vi5/fuGqa%0Av+tVlUrlmUuX3Hft8Q85XqVq1QkTJgwfPpxrXYGShrADkC95eXlBQUEeHh5BQUGfWVRu12dA%0A216OpuUriN6FAsrKynRqUG3HyhXD+/f791c+ff58z8FDO30OPIyLc3BwmDRpkp2dHWUPlEyE%0AHYCPk5CQsGvXrh07djx69LhR63bt+zo1sm2rpc3jK1SPs32rhtWsj+7a8bd/NCs7+3j4ac9D%0AfodDjpubmzs5OY0bN65KlSrFPBLARyHsABSEUqkMDw/ftm2bn5+fTin9FvbdW3XtVbtRUw7k%0AqJCDm9b4bVrzMuq6sVHpP36oVCojb9zY6+e/zz8gMyurb9++I0aMsLW15b9ZQCUQdgA+ydu3%0AbwMCAg4cOBASEmJiVv7rDvZtevWvWudL0bvwYe8y0gc1quG1fq1Tzx4KhSLq7j3vgCM+R48+%0AiX/asmXLYcOG9e/fn3vRAaqFsANQOJ49e+bt7b1v376rV69a1fqieUeHZnb2VjW/EL0L/2ai%0AXfN6VpVbNWvmfeTIrw9imzVr5ujo2L9//8qVK4ueBqAgCDsAhezXX3/19fX18/OLioqq+Ln1%0ANx27fGPXpXr9hpzLKzmUeXnRN69fPnX81CHvt29e169f39HRccCAAVWrVhU9DcAnIewAFJWH%0ADx/6+fkdPnw4IiLCxKx803adGtm2+/Kblnr6BqKnqamszMybF89ePnX8yqkTyYlvvv766+7d%0Au9vY2NjY2IieBqBwEHYAilxCQkJAQEBAQMDp06dzcnPrNPmmYau2DW3bVa5WQ/Q0tRD/IPrG%0A+dNRF87cuXRBU0PRoUOH7t27d+vWrUIF7lYDyIawA1B8MjIywsPDQ0JCgoODY2JizCwqf2XT%0Apt7XLes2+6asGZFRmJJ/f3Pz4rmo8+FRF868eZ5Qo0aNjh07duzYsUOHDgYGHDEFpEXYARAj%0ANjY2JCTkxIkTZ86cSUxMrFS1et2mzes2a0HkFdjrhGd3r0T8eu3y3csR8bHRJiYm7dq1e99z%0A1tbWotcBKA6EHQDB8vLyoqKiTp8+HRYWdvbs2cTERIsq1Wo2aFSjfsOaXzW2qvWFlhbPlf97%0Aubk58Q9ioqOu3rsaefdyxKtn8aampi1btrS1tbW1tW3cuLGWlpbojQCKFWEHoAR5H3lnz569%0AdOnSpUuXYmNjdUuVqla3fvX6DWvWb2j9RT3zz601NDVFzxRGmZf37PHD2NtRD25HPbh14/G9%0AO+8yMywtLVu1amVjY9OqVau6dety9TGgzgg7ACXXq1evIiMj30fe5cuXExMT9fQNPq9Z27pW%0AnSpf1LWqVefzmrUNSst8B92UpMS46HtxMfd/i7kfF/Pr4/v3MlJTzMzMmjZt2uQ/zM3NRc8E%0AUFIQdgBUxpMnT27evBn1H7GxsXl5eeUqmltYV7OwrmpuVaVS1eoWVaqZVaqsimdvc7KzX8bH%0AJTx59Py3JwmPHz599CAu+n7S65daWlpVq1atX79+nTp16tev37RpUysrK9FjAZRQhB0AVZWW%0Alnbnzp179+5FR0dHR0fHxMRER0dnZGRo6+iUq2jxmXklM4tKZhaVPzOv9Jm5xft/LmVgKHq1%0AIiUpMfHVi9fPnv7+8sXvLxLevEh4ER/3Iu7J6+fP8nJz9fX1q1evXq1atZo1a9arV69u3bp1%0A6tQpVaqU6NUAVANhB0AeSqUyLi4uOjr6yZMncXFx7/85Li4uPj4+KytLoVDo6OmVMS1XppxZ%0AmXKfGZctV8a0nFFZUwMjI33D0vqGpfUNDfVLGxkaGesbltbS0VEoFIZGxh/8ylr2u3fv3mWm%0ApyTnZGVlpKdlpqVmZ2WlJSenJP2e+jYpJSnx//6R+PvvL59nZWYqFIpSpUpVqlTJwsLC0tLS%0A2tq6WrVq73uuUqVKxfAfFABZEXYA5KdUKhMSEhISEl6+fPnq1atXr149f/78/b94/fp1cnJy%0ASkpKSkpKcnLyP/0K+oal/7jCNE+pTE/5x1cqFAp9ff3SpUuXK1euXLlypqam5f6jfPnyFStW%0AtLS0NDc3NzMzK+Q/SQAg7ADgz5KSklJSUtLS0tLS0hQKRW5u7h+1l5iYqFAoDA0NdXV1//wW%0AIyOjUqVKGRkZGRoa6unpmZiYFP9sAHiPsAMAAJCE+t4OCgAAQDKEHQAAgCQIOwAAAEkQdgAA%0AAJIg7AAAACRB2AEAAEiCsAMAAJAEYQcAACAJwg4AAEAShB0AAIAkCDsAAABJEHYAAACSIOwA%0AAAAkQdgBAABIgrADAACQBGEHAAAgCcIOAABAEoQdAACAJAg7AAAASRB2AAAAkiDsAAAAJEHY%0AAQAASIKwAwAAkARhBwAAIAnCDgAAQBKEHQAAgCQIOwAAAEkQdgAAAJIg7AAAACRB2AEAAEiC%0AsAMAAJAEYQcAACAJwg4AAEAShB0AAIAkCDsAAABJEHYAAACSIOwAAAAkQdgBAABIgrADAACQ%0ABGEHAAAgCcIOAABAEoQdAACAJAg7AAAASRB2AAAAkiDsAAAAJEHYAQAASIKwAwAAkARhBwAA%0AIAnCDgAAQBKEHQAAgCQIOwAAAEkQdgAAAJIg7AAAACRB2AEAAEiCsAMAAJAEYQcAACAJwg4A%0AAEAShB0AAIAkCDsAAABJEHYAAACSIOwAAAAkQdgBAABIgrADAACQBGEHAAAgCcIOAABAEoQd%0AAACAJAg7AAAASRB2AAAAkiDsAAAAJEHYAQAASIKwAwAAkARhBwAAIAnCDgAAQBKEHQAAgCQI%0AOwAAAEkQdgAAAJIg7AAAACRB2AEAAEiCsAMAAJAEYQcAACAJwg4AAEAShB0AAIAkCDsAAABJ%0AEHYAAACSIOwAAAAkQdgBAABIgrADAACQBGEHAAAgCcIOAABAEoQdAACAJAg7AAAASRB2AAAA%0AkiDsAAAAJEHYAQAASIKwAwAAkARhBwAAIAnCDgAAQBKEHQAAgCQIOwAAAEkQdgAAAJIg7AAA%0AACRB2AEAAEiCsAMAAJAEYQcAACAJwg4AAEAShB0AAIAkCDsAAABJEHYAAACSIOwAAAAkQdgB%0AAABIgrADAACQBGEHAAAgCcIOAABAEoQdAACAJAg7AAAASRB2AAAAkiDsAAAAJEHYAQAASIKw%0AAwAAkARhBwAAIAnCDgAAQBKEHQAAgCQIOwAAAEkQdgAAAJIg7AAAACRB2AEAAEiCsAMAAJAE%0AYQcAACAJwg4AAEAShB0AAIAkCDsAAABJEHYAAACSIOwAAAAkQdgBAABIgrADAACQBGEHAAAg%0ACcIOAABAEoQdAACAJAg7AAAASRB2AAAAkiDsAAAAJEHYAQAASIKwAwAAkARhBwAAIAnCDgAA%0AQBKEHQAAgCQIOwAAAEkQdgAAAJIg7AAAACRB2AEAAEiCsAMAAJAEYQcAACAJwg4AAEAShB0A%0AAIAkCDsAAABJEHYAAACSIOwAAAAkQdgBAABIgrADAACQBGEHAAAgCcIOAABAEoQdAACAJAg7%0AAAAASRB2AAAAkiDsAAAAJEHYAQAASIKwAwAAkARhBwAAIAnCDgAAQBKEHQAAgCQIOwAAAEkQ%0AdgAAAJIg7AAAACRB2AEAAEiCsAMAAJAEYQcAACAJwg4AAEAShB0AAIAkCDsAAABJEHYAAACS%0AIOwAAAAkQdgBAABIgrADAACQBGEHAAAgCcIOAABAEoQdAACAJAg7AAAASRB2AAAAkiDsAAAA%0AJEHYAQAASIKwAwAAkARhBwAAIAnCDgAAQBKEHQAAgCQIOwAAAEkQdgAAAJIg7AAAACRB2AEA%0AAEiCsAMAAJAEYQcAACAJwg4AAEAShB0AAIAk/gcrr7Daq2aGpwAAAABJRU5ErkJggg=="/>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60" name="AutoShape 16" descr="data:image/png;base64,iVBORw0KGgoAAAANSUhEUgAAA0gAAANICAMAAADKOT/pAAADAFBMVEUAAAABAQECAgIDAwME%0ABAQFBQUGBgYHBwcICAgJCQkKCgoLCwsMDAwNDQ0ODg4PDw8QEBARERESEhITExMUFBQVFRUW%0AFhYXFxcYGBgZGRkaGhobGxscHBwdHR0eHh4fHx8gICAhISEiIiIjIyMkJCQlJSUmJiYnJyco%0AKCgpKSkqKiorKyssLCwtLS0uLi4vLy8wMDAxMTEyMjIzMzM0NDQ1NTU2NjY3Nzc4ODg5OTk6%0AOjo7Ozs8PDw9PT0+Pj4/Pz9AQEBBQUFCQkJDQ0NERERFRUVGRkZHR0dISEhJSUlKSkpLS0tM%0ATExNTU1OTk5PT09QUFBRUVFSUlJTU1NUVFRVVVVWVlZXV1dYWFhZWVlaWlpbW1tcXFxdXV1e%0AXl5fX19gYGBhYWFiYmJjY2NkZGRlZWVmZmZnZ2doaGhpaWlqampra2tsbGxtbW1ubm5vb29w%0AcHBxcXFycnJzc3N0dHR1dXV2dnZ3d3d4eHh5eXl6enp7e3t8fHx9fX1+fn5/f3+AgICBgYGC%0AgoKDg4OEhISFhYWGhoaHh4eIiIiJiYmKioqLi4uMjIyNjY2Ojo6Pj4+QkJCRkZGSkpKTk5OU%0AlJSVlZWWlpaXl5eYmJiZmZmampqbm5ucnJydnZ2enp6fn5+goKChoaGioqKjo6OkpKSlpaWm%0Apqanp6eoqKipqamqqqqrq6usrKytra2urq6vr6+wsLCxsbGysrKzs7O0tLS1tbW2tra3t7e4%0AuLi5ubm6urq7u7u8vLy9vb2+vr6/v7/AwMDBwcHCwsLDw8PExMTFxcXGxsbHx8fIyMjJycnK%0AysrLy8vMzMzNzc3Ozs7Pz8/Q0NDR0dHS0tLT09PU1NTV1dXW1tbX19fY2NjZ2dna2trb29vc%0A3Nzd3d3e3t7f39/g4ODh4eHi4uLj4+Pk5OTl5eXm5ubn5+fo6Ojp6enq6urr6+vs7Ozt7e3u%0A7u7v7+/w8PDx8fHy8vLz8/P09PT19fX29vb39/f4+Pj5+fn6+vr7+/v8/Pz9/f3+/v7////i%0AsF19AAAACXBIWXMAABJ0AAASdAHeZh94AAAgAElEQVR4nO3dCXwU9d348V+yu0nIwRHuKxwF%0ADxChiCgPSqmIDwICFUWoIChCW7Eg2jbaitT4WKhWaiv2Kfi0SmmlKopglRZESlU8MH8vvEiR%0AcsghEq5gQpLd+e9uQjh3Mrvzm/nN8Xm/Xk8ySWZ+831oPmZ3M9kVGgDThOoBAC8gJEACQgIk%0AICRAAkICJCAkQAJCAiQgJEACQgIkICRAAkICJCAkQAJCAiQgJEACQgIkICRAAkICJCAkQAJC%0AAiQgJEACQgIkICRAAkICJCAkQAJCAiQgJEACQgIkICRAAkICJCAkQAJCAiQgJEACQgIkICRA%0AAkICJCAkQAJCAiQgJEACQgIkICRXeEaIzMQfproM5CEkGz0mov6vZvuJ2PZjRo9MJqTSBwa1%0AzgjlX/jj/9S3DOQhJBvFQxpes321sZB2B8QnWlIhrWsqamU9f+rXCMkyhGSjeEhZZbHNilxj%0AIf1WJBlSabSjrO/ee9eV6ULkfXnKFwnJMoRko2hI7YR4Nrb5khBtjYTUP9mQ/ihE8P3YxrJo%0AqL865YuEZBlCslE0pKsD4obY5vdFYERtSAfvv6hJqMUVf6yOffAHIS7V/nV545xLVkc/GlZz%0AG21GrIAGxz9dG8SNQnSPr7so+uH+2nPMFqJTzdb/PLRsS/RdZMkVzYN5fX9brZ0Q0qff65KZ%0A1+c3VbHtqgWDmgeb9/nFXlv+DbyKkGwUDWn8xSI/9i3dTvS7piak99rW3qXp91X0o78Kcd4/%0AMmIfBl4+OaQmtZ9epR0L4vXoh5/F1r1WiGuPneN3QqSvPPGk19cuPzxyPKRns2o+d1m5plUO%0ArN2h87/t+5fwHkKyUTSkMdGfGK9oWrEQs0fFQyqNdtTpf58vDAoxTIt/q7fu2OuuK6Lf2H01%0A7aPl0fd/efXz2Keb1X76Qq0uiG5CzIm+q2wkxN+OneOzQDS2oQs+itR+/EI0rN99+Ifo8k/X%0AHfd5AyF+/NmGbwlxl6b9rxDnLFn/99FCfMv2fxAPISQbRUMa/XbsB0zsBtjbI+Mh3StEwy+i%0AX1scbeSd+Le6uLQ8/nMkvVLTdom6+0hiQEXdp2uDeKgmqzVCtKiqO8kvan6+NLlq4aHYh/OH%0ADYueT4vejryh7rhbhRgYfbc3V+SVa5OEeCj6QeW4W+eGbf8X8Q5CslEspEhb0VHTvinaRmpC%0A6inEpNjXqpsIUVRTTPQnlvZy9P1/Tg7p2Ke31AWxN3pjb5umzRRi5glnWXlpWk1LjR8//skf%0ACnFF3XHfEOJn5VEDhHhZmy5EwZ922/VP4FmEZKNYSNotQry/XYhpWjykSLDmB4Km9RNiXE0x%0AsZ8kJdH3H54c0gmfPnZfZ4wQv9G0rkK8e9J5dvzpe+fHY4o9QLh6ZOfMeFeDjh0XSRd1fqO9%0Amx17/43Jz1bb+4/hMYRko3hIq4T41e+EWF0TUln0m3hB/IuXx39XeyyR7aeFdOKnj324KnbH%0AZpMQ559+ru0/jd5Z6hZ/8EHknNuz2QkhlR3vSMzWtLXdazY7rrfpn8GTCMlG8ZAqG4uho0Xj%0AyuM/kR6Mf/EiIa5PNqRIRxH48qFTfl9UWfs4w/3Rfb8+HP15892vtdjPweM/kaKJPXzCAZH1%0ARUMaRXduXmb5v4B3EZKN4iFp3xV5+bFmau4j9Yr3E/32zxPil8mGpBVF1/i2COyqO8Xmq88J%0Arq7Z/GN03/J/iZrbfYNOCEk7K/6Ax0mql0fvo71k7f/7nkZINqoJ6enY7ahnjoUUTSFne/Rr%0AC4VI++y0YnZH372qJQ5pR0D0D4krj5+iPF+IDh/GtvZ8U4hztdXRA97WtI+id4sG1B33QyHa%0AHInG890b79zx9S8mjYg/WneFEMvs/MfwGEKyUU1Ih6P3/bMOHwtpfzshujz67I+jn7xZO62Y%0A6pAQlz79j4Qh1fzK9q8nnCN2nyit3/jrB8Z+fft/2hfRgq76cEXbs4Vo+Mae2uM2NxCi/4v/%0AuFqI7tWxH4mjX3rnX/eGROYem/89vISQbFQTkja05nevI0+5suHqcu20kLQrY18Zljik2BV1%0AjcpPPMkvgsceSAjco8V/+kS12dIm9sjCseOeqXkcT7SN3mz8sF3t7ul/sOvfwYsIyUa1IT1W%0AU9DIY9fa/c+FjUKtv7MivsupIe0Y1Tir0/2JQ6pqXvOT7ASbf/ZfzUMZzfvf+Wnso8pfdmvQ%0A9uYvtNVnB9v9te64j2/qlJl93s9KY9u77+vTMpR9ztT3Lf7/3tsIyd12R2/BvaZ6CBCS200R%0A4gLVM0AjJFdb/KvvRG/qrax/R1iOkFzsW7HHCKaqngIxhORi12QGz36IS7YdgZAACQgJkICQ%0AAAkICZCAkAAJCAmQgJAACQgJkICQAAkICZCAkAAJCAmQgJAACQgJkICQAAkICZCAkAAJCAmQ%0AgJAACQgJkICQAAkICZCAkAAJCAmQgJAACQgJkICQAAkICZCAkAAJCAmQgJAACQgJkICQAAkI%0ACZDAhpDeewdwlfeS/y63PqQNAnCZDUl/m1sf0uviqOXnACQ6Kl5P+hhCAk5BSIAEhARIQEiA%0ABIQESEBIgASEBEhASIAEhARIQEiABHaHFNm8+rnn1myrZy9CgsvYG1LpHS1qLvArKPpabz9C%0AgsvYGtLOTqLrpNkPPHD3uDaiZ6nOjoQEl7E1pMmhp2u3qh9Nm6GzIyHBZWwNqdVNx7eva6+z%0AIyHBZWwNKXT/8e2fZ+jsSEhwGVtD6jDm+PbIjjo7EhJcxtaQZqQ9WFGzVXaPKNTZkZDgMraG%0AtL+3yBs06dZpEwdmi0sP6+xISHAZe3+PdHRer0Ds10ihixdW6+1HSHAZ2y8RKt9UXFxypkzC%0Aa1fXeZiQ4Eg7dyb4gopr7ao/eP0M1wh93rxJnWxRZvIcgAUOdf1pgq/YG9Lr06JvFreM3rjr%0AuU5vv98LvXtQgCLjuxxM8BVbQ1qbkRvRnhG5194yOD3zHZ0dCQlOtDCzONGXbA1pYIsSTevU%0AIXYz880GV+nsSEhwoI3Z8xN+zdaQGv5I0w6I38S3pzTW2ZGQ4Dxl3UYn/qKtIeXM0rSKtGfj%0A2/dm6exISHCeiQX7En/R1pD6dz2iaf/1o9hmRc+eOjsSEhxnSWi9zldtDekF0fsfVcWtFx2p%0AfPMysUBnR0KC02zKm6f3ZXsf/n4sRzTo1kEEAiLt9ojOfoQEhynvNVTvO9buX8jufvC/O+Rl%0ANr1gesKHEeMICQ4zpd1e3a8781mECAnO8lTwNf0dCAmoV0nDufXsQUhAfSp6DwnXswshAfWZ%0A1nJXfbsQElCPpYGX692HkAB9W/OL6t+JkABdlf0G6v45dw1CAnTNbPGFgb0ICdDzYmCVkd0I%0ACdCxvdksQ/sREpBYVf8BVYZ2JCQgscL8rcZ2JCQgoZXpyw3uSUhAIrtb6T2x9kkICUggPKiv%0A4ScqJSQggVlNthjel5CAM1sbXGZ8Z0ICzmhP65lJ7E1IwJmEB/dJ5pUcCAk4k6JGm5PZnZCA%0AM1gXfDKp/QkJON2+gmnJHUBIwGkiI3p8ndwRhAScZm7uJ0keQUjAqd7KWJzsIYQEnKK045Sk%0AjyEk4GSRUd2PJH0QIQEnm5fzUfIHERJwkg0ZT6RwFCEBJzrQeWwqhxEScKJxXQ+lchghASeY%0An/VuSscREnDcBw0WpnYgIQF1Dp8zJsUjCQmoM77LwRSPJCTgmIWZ+q9trIOQgFobs+enfCwh%0AATXKuo1O/WBCAmpMLNiX+sGEBMQtCa03cTQhATGb8uaZOZyQgKjyXkMjZo4nJCBqSru9po4n%0AJEDTngq+Zm4BQgK0koZzTa5ASEBF7yFhk0sQEjCt5S6zSxASfG9p4GXTaxAS/G5rfpH5RQgJ%0APlfZb2C1+VUICT43s8UXElYhJPjbi4FVMpYhJPja9mazpKxDSPCzqv4DqqQsREjws8L8rXIW%0AIiT42Mr05ZJWIiT41+5WhbKWIiT4VnhQ36Oy1iIk+NasJlukrUVI8Ku1wWXyFiMk+NSe1jMl%0ArkZI8Kfw4D7S7iBphAS/Kmq0WeZyhARfWhd8Uup6hAQ/2lcwTe6ChAQfiozo8bXcFQkJPjQ3%0A9xPJKxIS/OetjMWylyQk+E5pxynS1yQk+E1kVPcj0hclJPjNvJyP5C9KSPCZDRlPWLAqIcFf%0ADnQea8WyhAR/Gdf1kBXLEhJ8ZX7Wu5asS0jwkw8aLLRmYUKCjxw+Z4xFKxMSfGR8l4MWrUxI%0A8I+FmcVWLU1I8I2N2fMtW5uQ4Bdl3UZbtzghwS8mFuyzbnFCgk8sCa23cHVCgj9syptn5fKE%0ABF8o7zU0YuX6hARfmNJur6XrExL84Knga9aegJDgAyUN51p8BkKC91X0HhK2+BSEBO+b1nKX%0A1acgJHje0sDLlp+DkOB1W/OLrD8JIcHjKvsNrLb+LIQEj5vZ4gsbzkJI8LYXA6vsOA0hwdO2%0AN5tly3kICV5W1X9AlS0nIiR4WWH+VntOREjwsJXpy206EyHBu3a3KrTrVIQEzwoP6nvUrnMR%0AEjxrVpMttp2LkOBVa4PL7DsZIcGj9rSeaePZCAneFB7cx7Y7SBohwauKGm2283SEBE9aF3zS%0A1vMRErxoX8E0e09ISPCgyIgeX9t7RkKCB83N/cTmMxISvOetjMV2n5KQ4DmlHafYfk5CgtdE%0ARnU/YvtJCQleMy/nI/tPSkjwmA0ZTyg4KyHBWw50HqvitIQEbxnX9ZCK0xISPGV+1rtKzktI%0A8JIPGixUc2JCgoccPmeMojMTEjxkfJeDis5MSPCOhZnFqk5NSPCMjdnzlZ3b7pAim1c/99ya%0AbfXsRUhIXlm30epObm9IpXe0EHEFRbp/LkJISN7Egn3qTm5rSDs7ia6TZj/wwN3j2oiepTo7%0AEhKStiS0XuHZbQ1pcujp2q3qR9Nm6OxISEjWprx5Kk9va0itbjq+fV17nR0JCUkq7zU0ovL8%0AtoYUuv/49s8zdHYkJCRpSru9Ss9va0gdTvi188iOOjsSEpLzVPA1tQPYGtKMtAcrarbK7hF6%0AL7hBSEhKScO5iiewNaT9vUXeoEm3Tps4MFtcqpcKISEZFb2HhBWPYO/vkY7O6xWI/RopdPHC%0Aar39CAnJmNZyl+oRbL9EqHxTcXHJmZ7d/PPmTepkCyV/nAV3Whp4WfUISq61O/r2K5+f/tnw%0A2tV1ZvATCYZtzS9SPYLNId33Suzt75tEb9xdoPt3jNy0g2GV/Qbq3k+wh60hxR+p+5vI/M73%0A+otG/9bZkZBg2MwWX6geQVMRUtdGH0ffPpt2o86OhASjXgysUj1CjO0hfSl+Gt8e1VZnR0KC%0AQdubzVI9QpztIW0TNc9vfndIZ0dCgjFV/QdUqZ4hzvaQqhvNiW/flK+zIyHBmML8rapHqGFv%0ASOM2lOy9q0vsGc4/yblKZ0dCgiEr05erHqGWvSHVWKppf8lJf1tnR0KCEbtb6V2xaStbQ3r8%0A17NnTBw1cI2mPdr2Bb0dCQkGhAf1PdM1Mkooehahw/rXGBISDJjVZIvqEerwdFxwq7XBZapH%0AOI6Q4FJ7Ws9UPcIJCAnuFB7cxzF3kDRCglsVNdqseoQTERJcaV3wSdUjnISQ4Eb7CqapHuFk%0AhAQXiozoofuc1/YjJLjQ3NxPVI9wCkKC+7yVsVj1CKciJLhOaccpqkc4DSHBbSKjuh9RPcNp%0ACAluMy/nI9UjnI6Q4DIbMp5QPcIZEBLc5UDnsapHOBNCgruM6+rIZ+ElJLjK/CzdpxZVhpDg%0AJh80WKh6hDMjJLjI4XPG1L+TEoQEFxnf5aDqERIgJLjHwsxi1SMkQkhwjY3Z81WPkBAhwS3K%0Auo1WPUJihAS3mFiwT/UIiRESXGJJaL3qEXQQEtxhU9481SPoISS4QnmvoRHVM+ghJLjClHZ7%0AVY+gi5DgBk8FX1M9gj5CgguUNJyreoR6EBKcr6L3EP2XL1GPkOB801ruUj1CfQgJjrc08LLq%0AEepFSHC6rflFqkeoHyHB4Sr7DaxWPUP9CAkON7PFF6pHMICQ4GwvBlapHsEIQoKjbW82S/UI%0AhhASnKyq/4Aq1TMYQkhwssL8rapHMIaQ4GAr05erHsEgQoJz7W5VqHoEowgJjhUe1Peo6hmM%0AIiQ41qwmW1SPYBghwanWBpepHsE4QoJD7Wk9U/UISSAkOFN4cB/X3EHSCAlOVdRos+oRkkFI%0AcKR1wSdVj5AUQoIT7SuYpnqE5BASHCgyosfXqmdIDiHBgebmfqJ6hCQREpznrYzFqkdIFiHB%0AcUo7TlE9QtIICU4TGdX9iOoZkkZIcJp5OR+pHiF5hASH2ZDxhOoRUkBIcJYDnceqHiEVhARn%0AGdf1kOoRUkFIcJT5We+qHiElhAQn+aDBQtUjpIaQ4CCHzxmjeoQUERIcZHyXg6pHSBEhwTkW%0AZharHiFVhATH2Jg9X/UIKSMkOEVZt9GqR0gdIcEpJhbsUz1C6ggJDrEktF71CCYQEpxhU948%0A1SOYQUhwhPJeQyOqZzCDkOAIU9rtVT2CKYQEJ3gq+JrqEcwhJDhAScO5qkcwiZCgXkXvIWHV%0AM5hESFBvWstdqkcwi5Cg3NLAy6pHMI2QoNrW/CLVI5hHSFCsst/AatUzmEdIUGxmiy9UjyAB%0AIUGtFwOrVI8gAyFBqe3NZqkeQQpCgkpV/QdUqZ5BCkKCSoX5W1WPIAchQaGV6ctVjyAJIUGd%0A3a0KVY8gCyFBmfCgvkdVzyALIUGZWU22qB5BGkKCKmuDy1SPIA8hQZE9rWeqHkEiQoIa4cF9%0APHMHSSMkqFLUaLPqEWQiJCixLvik6hGkIiSosK9gmuoR5CIkKBAZ0eNr1TPIRUhQYG7uJ6pH%0AkIyQYL+3MharHkE2QoLtSjtOUT2CdIQEu0VGdT+iegbpCAl2m5fzkeoR5CMk2GxDxhOqR7AA%0AIcFeBzqPVT2CFQgJ9hrX9ZDqEaxASLDV/Kx3VY9gCUKCnT5osFD1CNYgJNjo8DljVI9gEUKC%0AjcZ3Oah6BIsQEuyzMLNY9QhWISTYZmP2fNUjWIaQYJeybqNVj2Ad8yHFXtum4s3/F5E0UBwh%0AedHEgn2qR7CO2ZCqb7lG07Z0FuISmd/6hORBS0LrVY9gIbMhzRG3a9rQtB/ckj5H3lCE5EGb%0A8uapHsFKZkM672pN25E2WdNu6iVvKELynvJeQ6Xe+ncasyHl/l7T/iBe1rRHG8sbipC8Z0q7%0AvapHsJTZkPKiIY3LOapp83PkDUVInvNU8DXVI1jL9E2772q7c78T3ZhytrSZCMlzShrOVT2C%0AxcyG9AvRr434p6YtyvixvKEIyWMqeg8Jq57BYmZDKp/UoNFvo+9b9yiVNhMhec20lrtUj2A1%0AWVc2vCH1JXUJyVOWBl5WPYLlJIR0aON+ScPUISQv2ZpfpHoE65kO6Z8XCLFS066S+t8cQvKQ%0Ayn4Dq1XPYD2zIb2Vkfff0ZC+bJXxjryhCMlLZrb4QvUINjAb0rCC7btiP5H2FIw0dGxk8+rn%0AnluzrZ69CMk7XgysUj2CHcyG1HSOFg9J+0UTA0eW3tFCxBUU6b4YASF5xvZms1SPYAuzIQX/%0AXBvS46H6D9zZSXSdNPuBB+4e10b01Hu4nJC8oqr/AKmP5zqW2ZDa/aw2pBs71H/g5NDTtVvV%0Aj6bN0NmRkLyiMH+r6hHsYTakqU2KYyGV/lTcUv+BrW46vn1de50dCckjVqYvVz2CTcyGtKt9%0AsLfo1StTFOyu/8DQ/ce3f56hsyMhecPuVoWqR7CL6d8j7flBUyFEsx/sMXBghxOe1GxkR50d%0ACckTwoP6HlU9g10kXNkQ2V1i4KdRzIy0BytqtsruEXr/rSIkT5jVZIvqEWxjJqTtJ6v/wP29%0ARd6gSbdOmzgwW1yqlwohecHa4DLVI9jHTEjiZEbONq9XILZr6OKFuleNEJIH7Gk9U/UINjIT%0A0nUnM3Zw+abi4pIz3XIuvWVqnUsJyfXCg/v45g6SJvEJIsuS+YuTg4Wnvzo8IXlLUaPNqkew%0Ak7SQ/tI6iRW2ixd0v85NO9dbF3xS9Qi2Mh3S3kfumBH1vbZ59R84+Zhx4orJk3V2JCS321cw%0ATfUI9jIb0pbmtQ81BO81cKDRBycIyeUiI3roXpXsPWZDuj5v/hrxf3+/s+3fDRw4M9Dr7/tj%0APhJ/3a/3Z7WE5HJzc0+/E+xtZkMquFMrF29o2rv5Rp63bEOvtB8c0LiP5HVvZSxWPYLdzIYU%0AWhhdYl10Y9YgI4dWzW3QZikheVxpxymqR7Cd2ZDy79O03MejG0saGTv434PEVdsIycsio7of%0AUT2D7cyGNLLtWq1fn+i3/ZQWRg9/PD93NiF52Lycj1SPYD/TT36SdYH2R9H+O73E9YaP3zNW%0AEJJ3bch4QvUICpj+PdI7v9MidzUQaSOSebGBl+74WPfrhOReBzqPVT2CCnKubCjfIve3BoTk%0AXuO6HlI9ggpmQ4o/N/qXS5+Q+5f5hORa87PeVT2CEuZCWtcr9gSrqxoKEfytxKEIybU+aLBQ%0A9QhqmAqpOFss1rTDzbJ+dF+bdJ5pFdrhc8bUv5MnmQppXPDF6NsF4hFN+yykdxFqsgjJpcZ3%0AOah6BEVMhdRhROztyIzYVT/DzpI3FCG51MLMYtUjqGIqpMzZ0TeR/AGx7duzpc1ESC61MXu+%0A6hGUMRfSr6JvNoq7Ytuzg/KGIiRXKus2WvUI6pi7aRd73djfiJdi299vKm8oQnKliQX7VI+g%0AjqmQhnWu1ip75MR+GVvd/hKJUxGSCy0JrVc9gkKmQnpaDJx/lZge3Qr/SDwocSpCcp9NefNU%0Aj6CSqZDC1wghLohdETJMdJH5rU9IrlPea2hE9QwqmbuyIfLK/OXxl7/53hADT7RqHCG5zpR2%0AyVy17D2Sno5L8qvtEpLbPBU08lQDHibtee2kIiSXKWk4V/UIihESzKvoPSSsegbFCAnmTWuZ%0AzBNWexIhwbSlgZdVj6AcIcGsrflFqkdQj5BgUmW/gZIftHUjQoJJM1t8oXoEByAkmPNiYJXq%0AEZyAkGDK9mazVI/gCIQEM6r6D6hSPYMjEBLMKMyX+0RsrkVIMGFl+nLVIzgEISF1u1sVqh7B%0AKQgJKQsP6ntU9QxOQUhI2awmW1SP4BiEhFStDS5TPYJzEBJStKf1TNUjOAghITXhwX24g3Qc%0AISE1RY02qx7BSQgJKVkXfFL1CI5CSEjFvoJpqkdwFkJCCiIjesh9sVPXIySkYG7uJ6pHcBhC%0AQvLeylisegSnISQkrbTjFNUjOA4hIVmRUd2PqJ7BcQgJyZqX85HqEZyHkJCkDRlPqB7BgQgJ%0AyTnQeazqEZyIkJCccV0PqR7BiQgJSZmf9a7qERyJkJCMDxosVD2CMxESknD4nDGqR3AoQkIS%0Axnc5qHoEhyIkGLcws1j1CE5FSDBsY/Z81SM4FiHBqLJuo1WP4FyEBKMmFuxTPYJzERIMWhJa%0Ar3oEByMkGLMpb57qEZyMkGBIea+hEdUzOBkhwZAp7faqHsHRCAlGPBV8TfUIzkZIMKCk4VzV%0AIzgcIaF+Fb2HhFXP4HCEhPpNa7lL9QhOR0hy3XjRX7334sRLg/9UPYLjEZJUC7Im53T4lceu%0AkP68cZHqEZyPkGT6MPtR7eDD7fOm/0f1JBJV9htYrXoG5yMkicrOvSb27ujTfdOHe+dympkt%0AvlA9ggsQkkQ31F3V+erwtAsWeeO/4y8GVqkewQ0ISZ7HT7yqs2R6dueHy9QNI8v2ZrNUj+AK%0AhCTNZ3m/PunjL+e2aTR9u6JhZKnqP8B7j0JagZBkKe857NSrOisWdc+49m0l08hSmL9V9Qju%0AQEiy3Nz+q9M/GVk9PK3/CvdeNr0yfbnqEVyCkCRJeFXne1Ozuj7s0pe3292qUPUIbkFIcpQ0%0A/GXCr+2and9ithv/CCE8qO9R1TO4BSFJUdH7Sr2rOg8vODtzgvteC2VWky2qR3ANQpLilrb1%0A/MQJr7g8/fIV9gwjy9rgMtUjuAchyfBMYE39O70zIdhrUaX1w8iyp/VM1SO4CCFJsDX/PkP7%0AbSls3Gq2W57SKjy4D3eQjCMk8yr7fdvo1UAHHy7InfqppdPIUtRos+oR3ISQzLutxU7jO1ev%0AuDh9uAue/2Bd8EnVI7gKIZn2t2Sv6nz12sAFixx+4c2+gmmqR3AXQjJrW9N7kj7m39OzO809%0AYMEwskRG9HDp75BVISSTqvoPSOXPJfbObdtw+jbp08gyN/cT1SO4DCGZ9JPmO1I78Oii80LX%0Avil3GFneylisegS3ISRzXko38VvWV4en9X/agX/+V9pxiuoRXIeQTNnR7E5Tx78/NavLw0ck%0ADSNLZFR3p43kfIRkRviyi8xeqrB7dtPmhc56UoR5Oe67LFA5QjLjbhlXdVYsOjdzwkbz68iy%0AIeMJ1SO4ECGZ8ErweSnrhFdcLhzz538HOo9VPYIbEVLq9rS+XdpaxROCPReUS1vOhHFdD6ke%0AwY0IKWXhwRfKvKpz5+wmLWef4a/VbTY/613VI7gSIaXs3safy13w0MMdcqcq/kXoBw0Wqh3A%0ArQgpVesCS6SvGV7RL334aunLGnf4nDEKz+5mhJSiL9veasm670wI9FZ3Rev4Lh57AQDbEFJq%0AIledb9VVnZun53Scu9+ixfUtzCxWcl4PIKTUzMm18M/zDjzcLm+6gidm3Jg93/6TegQhpeTN%0A0J8tXf/ooh7pw9+w9BSnK+s22uYzegghpaK041TLz2H/Fa0TC9zyfBIOREgpiIw8z46rOjdN%0Ab/ANG69oXRLyzms62Y+QUvBQzsf2nGjP7GaNpqf4907J2pQ3z54TeRMhJe/tjEW2natiUbeM%0ACR/YcKLyXkMdcrGfOxFS0vZ3mmTn6cKrh9txReuUdm58dnLnIKSkjT3L7qs6350QOsviF7RI%0A+GIaMIaQkvVI1nv2nzT+ghYWXtFa0nCudYv7AiEl6f0Gjyk57+EFZ2VOsOoxjoreQ/ReTAP1%0AI6TkHD5b2VWd4RX9rbqidQgtkBMAABGbSURBVFrLXZas6yOElJzrlV7V+c6E4DcteEGLpYGX%0Apa/pN4SUlAWqr+r8vLBR69mlctfcml8kd0E/IqRkfJj9qOoRtIMPt8+b/h+JC1b2G+jA59Zz%0AG0JKQtm516geIaby6b7pw5P/ny2RmS2c9Wxg7kRISbjBMVd1vjo87YJFcn6OvJjsi2ngTAjJ%0AuMeddFVnyfTszg+XmV9ne7NZ5hcBIRn3Wd6vVY9wki/ntmk4fbvJRar6D3D4KzW5BCEZVd5z%0AmNOu6qxY1D3j2rdNLVGYr+Avcb2IkIy6ub36J507TWT18DQzV7SuTF8ucRo/IySDHHtV53tT%0As7qmekXr7laFcofxL0IypqThL1WPkFDsitbCJF4Puk54UF+ZzxXra4RkSEXvK518VefhBWdn%0ATkj+tVhmyXgxDcQRkiG3tHX4n72FV1yefnmSd5bWBpdZNI0PEZIRzwTWqB6hfu9MCPZK5orW%0APa1nWjeM7xCSAVvz71M9giFbChu3mm304ovw4D7cQZKHkOpX2e/bbrmq89DDBblTjT0HbFGj%0AzRYP4yuEVL/bWqTykJgi4RUXpw838Ej9uuCT1g/jI4RUr7+57arOV68NXFDfC1rsK5hmzzB+%0AYXdIkc2rn3tuzbZ69nJSSNua3qN6hKT9e3p2J90XtIiM6GHtsxL5jr0hld7RQsQVFOn+7+ig%0AkKr6D3DLHaQTHXi4bcPpif97NTdX8SsDeo6tIe3sJLpOmv3AA3ePayN66v29tINC+klzm54y%0AWLaji84LXfvmmb/2VsZie4fxPltDmhx6unar+tG0GTo7Oiekl9JXqB4hdYle0KK04xT7h/E4%0AW0NqddPx7eva6+zomJB2NLtT9QimvD81q8tpL2gRGdXdvte48AtbQwrdf3z75xk6OzolpPBl%0AF8l/8it77Z7dtHnhyU/KMC8n+cvyUA9bQ+pwwpMrjuyos6NTQrrbC1d1Viw6N2PCxuMfb8h4%0AQt0wnmVrSDPSHqyo2Sq7R+j9JYxDQnol+LzqEaQIr7j8+AtaHOg8Vu003mRrSPt7i7xBk26d%0ANnFgtrhULxVnhLSn9e2qR5Dm/00I9VxQHtsa19XuF9PwBXt/j3R0Xq9A7NdIoYsX6v5yxhEh%0AhQdf6KWrOnfObtJy9lfa/Kx3VU/iSbZfIlS+qbi45EzfoOG1q+vMcEJIRY0/Vz2CXAd/1SFn%0ActYC1WN4k5Jr7ao/3lB+2ic/b96kTrZQf/Pjn8GlqkeQruqvF92oegaPsjek16/tOapYKzlP%0AiDzdJ9F2wE27L9veqnoEuIitIb0ZEiHRcHP/nOuvzhV6VwyoDyly1flc1QnjbA1peOi56h09%0Axgde1bTPci7X2VF9SHNyjf15HBBna0hNx0ffrBEDYtuTmujsqDykN0N/VjsAXMbeS4RmR9+U%0Aie/Htn8a1NlRdUilHacqPT9cx9aQOt0Qe9sofh3odS11dlQcUmTkeVzViaTY+2cUma8e23wj%0ANFpnR8UhPZRj1cuHw6tsDamkSdpdNVvjQ0G9V1FQG9LbGYsUnh2uZO/vkT6+/O6ajR7tdV8F%0AQWlI+ztNUndyuJSiZxGq51VLlYY09iz1l1XAbXg6rlM9kvWesnPDtQjpFO83eEzVqeFihHSy%0Aw2ePqX8n4FSEdLLruxxUdGa4GiGdZEFmsZoTw+UI6UQfZuv+dQeQCCGdoOzca1ScFh5ASCe4%0AocDoq3QBJyOk4x4PrVdwVngCIdX5LO/X9p8UHkFIx5T3HJbci4IDxxHSMTe3/8r2c8IzCKnW%0AU0EDL7wKJEBINUoa/tLmM8JTCCmuoveVYXvPCG8hpLhb2u6194TwGEKKeSawxtbzwXMIKWpr%0A/n12ng4eREiaVtnv27ovMgPUi5A07bYWO208GzyJkLS/BVbZdzJ4FCFta3qPbeeCZ/k+pKr+%0AA7iDBNN8H9JPmu+w61TwML+H9FK63gueAQb5PKQdze6050TwOH+HFL7sokpbTgSv83dIdzfZ%0AYst54Hm+DumV4PN2nAY+4OeQ9rS+3YazwBd8HFJ48IVHrT8L/MHHId3b+HPrTwKf8G9I6wJL%0ALD8HfMO3IX3Z9larTwEf8WtIkavO/9riU8BP/BrSnNxPLT4DfMWnIb0Z+rO1J4DP+DOk0o5T%0ALV0fvuPLkCIjzzti5frwH1+G9FDOx1YuDx/yY0hvZyyycHX4kg9D2t9pknWLw6d8GNLYsw5Z%0Atzh8yn8hPZL1nmVrw7d8F9L7DR6zamn4mN9COnz2GItWhq/5LaTruxy0aGX4ms9CWpBZbM3C%0A8Dl/hfRh9qOWrAvf81VIZedeY8WygL9CuqFgnxXLAr4K6fHQegtWBTRfhfRZ3q/lLwrE+Sek%0A8p7DItIXBWr4J6Sb238lfU2glm9Ceir4muwlgTp+Camk4S8lrwicwCchVfS+Mix3ReBEPgnp%0AlrZ75S4InMQfIT0TWCN1PeAUvghpa/59MpcDTuOHkCr7fbta4nLA6fwQ0m0tdkpcDTgDH4T0%0At8AqeYsBZ+T9kLY1vUfaWkACng+pqv8A7iDBcp4P6SfNd8haCkjI6yG9lL5C0kqADo+HtKPZ%0AnXIWAnR5O6TwZRdVSlkI0OftkO5uskXKOkA9PB3SK8HnZSwD1MvLIe1pfbuEVQADPBxSePCF%0AR82vAhjh4ZDubfy5+UUAQ7wb0rrAEgmTAIZ4NqQv294qYxLAEK+GFLnq/K+ljAIY4dWQ5uR+%0AKmUSwBCPhvRm6M9yJgEM8WZIpR2nSpoEMMSTIUVGnndE1iiAEZ4M6aGcj2VNAhjixZDezlgk%0AbRLAEA+GtL/TJHmTAIZ4MKSxZx2SNwlgiPdCeiTrPYmTAIZ4LqT3GzwmcxLAEK+FdPjsMVIn%0AAQzxWkjXdzkodRLAEI+FtCCzWO4kgCHeCunD7EclTwIY4qmQys69RvYkgCGeCumGgn2yJwEM%0A8VJIj4fWS58EMMRDIX2W92v5kwCGeCek8p7DIhaMAhjhnZBubv+VBZMAhngmpKeCr1kxCWCI%0AV0IqafhLSyYBDPFISBW9rwxbMwpghEdCuqXtXmsmAQzxRkjPBNZYNAlgiCdC2pp/n1WTAIZ4%0AIaTKft+utmwUwAgvhHRbi52WTQIY4oGQ/hZYZd0kgCHuD2lb03ssnAQwxPUhVfUfwB0kKOf6%0AkH7SfIeVkwCGuD2kl9JXWDoJYIjLQ9rR7E5rJwEMcXdI4csuqrR4FMAId4d0d5Mt1g4CGOPq%0AkF4JPm/1JIAhbg5pT+vbLZ8EMMTFIYUHX3jU8kkAQ1wc0r2NP7d8EMAY94a0LrDE8jkAg1wb%0A0pdtb7V8DMAot4YUuer8ry0fAzDKrSHNyf3U8ikAw+wOKbJ59XPPrdlWz171hvRm6M8mhgBk%0Aszek0jtaiLiCIt0bZvWFVNpxasozABawNaSdnUTXSbMfeODucW1Ez1KdHesJKTLyvCOpzgBY%0AwdaQJoeert2qfjRths6O9YT0UM7HqY4AWMLWkFrddHz7uvY6O+qH9HbGolQnAKxha0ih+49v%0A/zxDZ0fdkPZ3mpTqAIBFbA2pw5jj2yM76uyoG9LYsw6lOgBgEVtDmpH2YEXNVtk9olBnR72Q%0AHsl6L9XzA1axNaT9vUXeoEm3Tps4MFtcqncvSCek9xs8lurpAcvY+3uko/N6BWK/RgpdvFD3%0AObQSh3T47DEJvgIoZPslQuWbiotLzvR3RJ83b1InW5QlOPynXbmDBAdSdq1d6ZZTPhFeu7rO%0AwyLRn+zt5Gm+4UT2hvT+0A6XPFpzo65Qb5XXE4YEOJKtIb2WKbJD4lvxi4MICV5ia0jDQssi%0AFfNCF8buABESvMTWkNqPj71dkzG0mpDgLfZeIlTzAix/EtMJCd5ia0jtRtS8v0s8QEjwFFtD%0Amp72SPypuiMTxW0/JCR4iK0hfVUgLo9vRKYLQUjwEHt/j7T3lttqt579BiHBQ5z5LEKEBJch%0AJEACQgIkICRAAkICJCAkQAJCAiQgJEACQgIkICRAAkICJCAkQAJnhrRBAC6zIelvc+tD0t57%0AJ4EhAxY72gDmM8Xx8w1J9J2ZwhNp2xBSQpMc/koUzGeOr+YjpMSYzxxfzUdIiTGfOb6aj5AS%0AYz5zfDUfISXGfOb4aj5CSoz5zPHVfISUGPOZ46v5CCkx5jPHV/MRUmLMZ46v5iOkxJjPHF/N%0ApzKkqVMVntwA5jPHV/OpDKm0VOHJDWA+c3w1n8qQAM8gJEACQgIkICRAAkICJCAkQAJCAiQg%0AJEACQgIkICRAAkICJCAkQAJCAiQgJEACQgIkICRAAoUhVd6ZfoG6s9er9I6CjI4j31A9RkKb%0Ap3TOaDbyLdVj6JopJqseIZHHa1934j5J66kL6ePeeU4OaV9HMWzW9cGsD1QPksCnTTPGz74+%0AFFqvehAdGwLODenXYlxhzCuS1lMW0sEGfUoyHRzSNPFI9O2zYqjqQRIYnLYu+vY5MUb1IIlV%0A9erp3JBmp/AaSHqUhbTvjkrNySHdNqgy+jbSoIPqQRK4+67Y2+pQT9WDJDY3baVzQ5ohSqSu%0Ap/TBBieHVKMi1F/1CLp2iFGqR0jo3w1+sN+5IU0Ue6u375W3HiHp+k38Bp5THVl7fp7cGygy%0ADWp9wMEhjRI/ayLEWX+RtR4h6flnxiVVqmdIrJEQ4zerHiKhx8VSzcEhDRSd5/zprobi95LW%0AIyQdT2b23qd6Bh13Tv2v9EucWtKe/OGak0Nas7Qs+vajzPyjctYjpIQi94ghh1QPUY+1OeeH%0AVc9wZmNztzo6pFrfEW/LWYiQEoncJH5YrXqIen1XfKx6hDN6Sczavn37R2Lc9oOqR9H1PSHp%0AF0mElMgM8QvVI+jYcf6E+PurJf86RJY7xDGFqkc5o8O/ezL+/hIh6bYxISXwrJihegRd7TLe%0AjL79LDe3XPUkZ/TxCzF/FVe88InqUc4o3DY3Ntjz4puSFlQW0j8LCwsDraJvvlI1gb5viB/G%0ALyEpdOgzwS8LhMb+bFKOmK96ED0Ovo+0PC1n8qzvpDUslrSespDmHPvRL/cXzNLU3TTZonqS%0ABN4c1TzQ+PIVqsfQ5eCQtPVXNg62uUHadx9/RgFIQEiABIQESEBIgASEBEhASIAEhARIQEiA%0ABIQESEBIgASEBEhASIAEhARIQEiABIQESEBIgASEBEhASIAEhARIQEiABIQESEBIgASEBEhA%0ASIAEhARIQEiABIQESEBIgASEBEhASIAEhARIQEiABIQESEBInjLZqS+A6HmE5HSLhfh77eYM%0AIaoS7jcnlhAhqUJITrdYBMbWbFW1CCQOaadYqRGSOoTkdItFv6z98a0XxDcTh7SckJQiJKdb%0ALO4Vv49vXVMwNh7Sfya1CTW96q3o1jhx+CcdMtrNi2jDYi/A/mo0pM1zO2W0L4ooHdmPCMnp%0AFosXOl0c29if+ePrYiFta5H74yfub5v5qqZNFP/9/Tdev0L8UXtjgrhn2b5oSDd+c84D7cWT%0Aqqf2HUJyumhIPxefRjd+Lz6MhzRRPBf96OPAxbFbcuOim5vFcE2bU3vT7pJKTSsWI9TO7EOE%0A5HTRkLak3Rnd6HeBFgsp0qhl/IbbJeKraDfxB/Syex0PaVn0bSTQR+HA/kRIThcNSRvYNqyV%0AiN/GQ9opLot/frJYH/2/j2ObjbofD2njsU/AVoTkdLGQFkV/8swK7Y2HVCKuin/+VrH62IN0%0AJ4ZU9wnYipCcLhbSkbyxkY6jtHhIu2p/It0o3iQk5yAkp4uFpN2Y86/YvZ/4gw35reP3kS5K%0A209IzkFIThcP6V9iQLPK2pBujj+g8G7aoJO6eSD+WB4hqUJIThcPSfuG+KFWG9IXrXJ/uuje%0AFnnvn9TNUtH3obcJSRlCcrqakO4T72i1IWnbbmwdbDE29njdCd1Ujm7Q5BlCUoaQAAkICZCA%0AkAAJCAmQgJAACQgJkICQAAkICZCAkAAJCAmQgJAACQgJkICQAAkICZCAkAAJCAmQgJAACQgJ%0AkICQAAkICZCAkAAJCAmQgJAACQgJkICQAAkICZCAkAAJCAmQgJAACQgJkICQAAn+P6oCBZGs%0AZWNJAAAAAElFTkSuQmCC"/>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61" name="AutoShape 17" descr="data:image/png;base64,iVBORw0KGgoAAAANSUhEUgAAA0gAAANICAMAAADKOT/pAAAC/VBMVEUAAAABAQECAgIDAwME%0ABAQFBQUGBgYHBwcICAgJCQkKCgoLCwsMDAwNDQ0ODg4PDw8QEBARERESEhITExMUFBQVFRUW%0AFhYXFxcYGBgZGRkaGhobGxscHBwdHR0eHh4fHx8gICAhISEiIiIjIyMkJCQlJSUmJiYnJyco%0AKCgpKSkqKiorKyssLCwtLS0uLi4vLy8wMDAxMTEyMjIzMzM0NDQ1NTU2NjY3Nzc4ODg5OTk6%0AOjo7Ozs8PDw9PT0+Pj4/Pz9AQEBBQUFCQkJDQ0NERERFRUVGRkZHR0dISEhJSUlKSkpLS0tM%0ATExNTU1OTk5PT09QUFBRUVFSUlJTU1NUVFRVVVVWVlZXV1dYWFhZWVlaWlpbW1tcXFxdXV1e%0AXl5fX19gYGBhYWFiYmJjY2NkZGRlZWVmZmZnZ2doaGhpaWlqampra2tsbGxtbW1ubm5vb29w%0AcHBxcXFycnJzc3N0dHR1dXV2dnZ3d3d4eHh5eXl6enp7e3t8fHx9fX1+fn5/f3+AgICBgYGC%0AgoKDg4OEhISFhYWGhoaHh4eIiIiJiYmKioqLi4uMjIyNjY2Ojo6Pj4+QkJCRkZGSkpKTk5OU%0AlJSVlZWWlpaXl5eYmJiZmZmampqbm5ucnJydnZ2enp6fn5+goKChoaGioqKjo6OkpKSlpaWm%0Apqanp6eoqKiqqqqrq6usrKytra2urq6vr6+wsLCxsbGysrKzs7O0tLS1tbW2tra3t7e4uLi5%0Aubm6urq7u7u8vLy9vb2+vr6/v7/AwMDBwcHCwsLDw8PExMTFxcXGxsbHx8fIyMjJycnKysrL%0Ay8vMzMzNzc3Ozs7Pz8/Q0NDR0dHS0tLT09PU1NTV1dXW1tbX19fY2NjZ2dna2trb29vc3Nzd%0A3d3e3t7f39/g4ODh4eHi4uLj4+Pk5OTl5eXm5ubn5+fo6Ojp6enq6urr6+vs7Ozt7e3u7u7v%0A7+/w8PDx8fHy8vLz8/P09PT19fX29vb39/f4+Pj5+fn6+vr7+/v8/Pz9/f3+/v7///9osWa/%0AAAAACXBIWXMAABJ0AAASdAHeZh94AAAgAElEQVR4nO3deXxU9b3/8c+QTAiEEIGCLLJWavVa%0AWawVUSw2rVXUgmJR3IjgVtGmltpoRVFUsFBttWJdakX51brh1qveyw9x3yBXqXVFtBcsValB%0AZQ9JzuOeMzPZyMxBmXfOmUNezz8m35n5zplvdF7MmTPDYA6ArFnYCwB2BYQECBASIEBIgAAh%0AAQKEBAgQEiBASIAAIQEChAQIEBIgQEiAACEBAoQECBASIEBIgAAhAQKEBAgQEiBASIAAIQEC%0AhAQIEBIgQEiAACEBAoQECBASIEBIgAAhAQKEBAgQEiBASIAAIQEChAQIEBIgQEiAACEBAoQE%0ACBASIEBIwXrQLC/sNXw195m1D3sNEUBIWauaU9qrIN71gAv/8SUm+4R0m5mtSw5LzX6oWl7m%0AO7M/JsfzvfFtmWYS0pdCSNl6upulFD7knf8oz97KPDunQjo6OT6OkLJHSFmqcjsqPOmKi49s%0AZ1b8iXvBDRaZkAo3eMMtnQgpe4SUpT+Z5S/3Bm4i9hv358FRCWkPswe84WNmfQgpW4SUpRlm%0AA5Ojq6598APnqOReXrlzidmB3qUN5dyxf8cuY5Y+lDh7utl/JC68032UpuJJF9LnVx/YJd7j%0A8D/VeGe22+LtZodu++nXejjOtltKu+d3//astQ2Lcm//g8TgLjfzT9JM8O7suDw7zRueY3k/%0ASoZU95fDu+cXf+eGmqabT4VUNdjsnHT3hQRCytJNZu0ebzybMaRpicvbT0+cfd4dvuNd+mOz%0AH9fftGVIr/VJvfo66N9Oi5DuNtvvWm9YPTo1a9B79ZtyKyj4whu4L3/GpJvg3dkpI6yrl8we%0AdtDxyZBOTs07uq7J5pMhVR9mdkxN2k3BQ0hZeifPfbSNueWNuuTZNx52H2V/fvb97R/2L7sX%0Af2/hI0fkJ8/uYzbb/VFdYvbX+i21CKnK7WjgHx6qcG9zlNMiJPcBPqBvfOhezh/MvvmXF54Y%0Ab/bd+k2tKzC71/25ucjs7nQTvDub4D6ZPuk4lWYzxiVCetT9M+Gm12/PT9y2YfPJkM4wO2Cj%0Ak3ZT8BBStmYl/4jucsytieeAf1nyNdJ2D/szzbq7L+23fTN51v2z/gD3x2KzHtvqN3SbNeWG%0AdIVZ53+6Vyxwzy5LF5INXu0OysyudX9UTzzvmtr6bY01O9X94VZdvDHtBPfOxr/iPXN6+6av%0AjE2EdONRR7nnHXc/77Qmm0+ENNd9Dvo4w33BQ0hZe3xULPnY3+0OJ2NIe5tN9s5emTy71n3K%0AWOU4F5hd0LCdFiENMSvzrqjpYjYzbUh3e+d/atbvro+ar+kes241icf9pPQTvJDq+tgAxxlm%0AferGNj3YcL7Z4U0274X0SDvr9k6m+4KHkAQ+vOvs/RIxPZAxpA7JfTlnYeol0wSz6x3HfQH/%0AasNWvJD69k8o9EKqy0/+8e84B5lNTBtS4iH9akfvrr8+5YGaxhVt6mT2jFPzNbNF6Sd4ITnn%0Ami1fbTbVSYW0aOyg9omKS5ts3h20c7e277ZM9wUPIYms/pX7YmmfTCHVWSIcx3kiFdJ/e68y%0A3nVf0DduYfvXSBvc87ckzn4/8d5py5DykrtXS/4j+SQ24IXGjZ1sdqGzxKx3bfoJiZDcRfzm%0AJq+1ZEju0Ir2HvK1+pCSm78v9RR5bcb7gkNIAtWp4wxXu4+vTU1DGupdekvyYe8+x8zyzt6b%0ACqlugOV9cm3ynaeU7UPynpHmJs4eaHZyiy02eX+n7oWZR5RY8lVYyl/N9nLKzX6RYUIipOrd%0AbMx42606GdJ699nmpE2O9zxV2mTzXkil7u9W/M9M9wWHkLK18rhv5i9KDv/kPrw2N4Q026yH%0AV9jZyYf9Nyz5ps3F9W8rzXQfu4dZ3r8aN9XiqN3QRD9uqcVmv26xxe3eKK152H0l9VjD2epu%0AZu/0N3stw4RESM5JVtzVu49ESM9YckeztEVI7etqh5udmOm+4BBStjZ3Nev/ujf6eJjZ3o7z%0AkftwfNZJHmp71HHe6ph82E8y263KcdbvUR/Sh3l2cNyObLKpFiG5rRV5x81uNYu902KL9Y/0%0ATbPKfpTYBzvc7MHGrbm5ubt338o0IRnSvd5e2n2pkBa541cc5412ZoduF5LjPOteuTjTfYGQ%0Asua9sIgddMrJowss8XHqmrjZqHv/y1kZczM4+xddRyYf9k+51+5/z50HuC/b2yVvmHjr9p4m%0AW2oR0jq3uj3nPXBhe7Mz3Au322LDI9194hr/2LJnrohb+48bt/ZU4qXMrzNNSIa03t104fpU%0ASP90Czrm9Uf67GXW+cWPtwvJOzqyd3WG+wIhZW9Wfv0R67zLvPNHesOjvE/eeAY/53bm7ZCd%0AnjhbdKN7kjxE4H02r2Rzkw35fLLhuMS85ltseKS/vkdqVrvbm2ytzrttu9WZJiRDcsYk3+tN%0AHmw4PzGp9we93dMZ24f0vx3MrslwXyAkgZWXjOweL+h+8EVvJ85+OG63woFXu09NswcX9Dnr%0A4w/dR91G9+Laa/cq6HH8399wzybeuHW2dU8+0TRI91m7qw4oifc69pHkpc232Pga6aMrv717%0AvOM3z1rebFk/d6cdlnFCKqTbkse9kyFV/3qfDn3O+KezaK/8Pe7ZPiTnUvePgVUZ7guEFJqP%0A3H3B58JeBFQIKSxnui+awl4DZAgpFAt+c6y75/X4jiciIggpFN/1XrCfFfYqoENIoTi+ff5e%0A1/L56V0IIQEChAQIEBIgQEiAACEBAoQECBASIEBIgAAhAQKEBAgQEiBASIAAIQEChAQIEBIg%0AQEiAACEBAoQECBASIEBIgAAhAQKEBAgQEiBASIAAIQEChAQIEBIgQEiAACEBAoQECBASIEBI%0AgAAhAQKEBAgEENJry4BIee2rP8pbP6SlBkTM0q/8MG/9kJ63ra1+H4DQVnv+K9+GkIDtEBIg%0AQEiAACEBAoQECBASIEBIgAAhAQKEBAgQEiAQdEh1KxctXLh41Q5mERIiJtiQqqb1SH7Ar9/M%0ATX7zCAkRE2hIawba4LIZc+ZMn9jbhlT5TCQkREygIU2J35sa1cyLlftMJCRETKAh9ZzcOD6h%0Ar89EQkLEBBpS/OrG8eUFPhMJCRETaEj9JzSOxw7wmUhIyEXLK8aMqVie9qpAQyqPzd2SHG24%0AzCp8JhISctDsPO+Ic97sdNcFGtK64VZcWnbe1EmjO9qo9T4TCQm55776b2e4P82Vwb6PtPW6%0AoYmo4yNurfGbR0jIPcPqQxqe5srAPyK0+d3KyhXpMqldsqjB7wgJuWZ9w/cFxTa0vDbwkLat%0Afuv9z9Jd8X73Lg06WpqlAmFa0/jNW2taXhvwrt2NIwq8hfSe9JLvvJvN7xUUEILqwvqOCqtb%0AXhtoSJ9/xzrsNyK+58nDYnah30RCQu4ZXx/S+DRXBhrSBfYzd6/urf7XO/8YZ3f4TCQk5J63%0AS5IdlbyT5spAQ9rjqMSP/9d5g1Ozf7pDH/UICTmocl+vo30r010X7EeEZiZ+vGXPOc4VHXwm%0AEhJyUW3l/PnLatNeFWhIvZIfEbrfnnacn3bzmUhIiJhAQ5oUu63Ocf7Wv2iD88puR/hMJCRE%0ATKAhfdDVeh+6T8xudGriRa/4TCQkREyw7yOtPKHY8kc96Y5++brfPEJCxAT+yYYN6V+rNUdI%0AiJjc/DouQkLEEBIgQEiAACEBAoQECBASIEBIgAAhAQKEBAgQEiBASIAAIQEChAQIEBIgQEiA%0AACEBAoQECBASIEBIgAAhAQKEBAgQEiBASIAAIQEChAQIEBIgQEiAACEBAoQECBASIEBIgAAh%0AAQKEBAgQEiBASIAAIQEChAQIEBIgQEiAACEBAoQECBASIEBIgAAhAQKEBAgQEiBASIAAIQEC%0AhAQIEBIgQEiAACEBAoQECBASIEBIgAAhAQKEBAgQEiBASIAAIQEChAQIEBIgQEiAACEBAoQE%0ACBASIEBIgAAhAQKEBAgQEiBASIAAIQEChAQIEBIgQEiAACEBAoQECBASIEBIgAAhAQKEBAgQ%0AEiBASIAAIQEChAQIEBIgQEiAACEBAoQECBASIEBIgAAhAQKEBAgEHVLdykULFy5etYNZhISI%0ACTakqmk9LKHfzE1+8wgJERNoSGsG2uCyGXPmTJ/Y24ZU+UwkJERMoCFNid+bGtXMi5X7TCQk%0AREygIfWc3Dg+oa/PREJCxAQaUvzqxvHlBT4TCQkRE2hI/Sc0jscO8JlISIiYQEMqj83dkhxt%0AuMwqfCYSEiIm0JDWDbfi0rLzpk4a3dFG+aVCSIiYYN9H2nrd0DzvbaT4iFtr/OYREiIm8I8I%0AbX63snLF1jRXVJ17VoNRhIRoCeWzdtV/X7alxYWEhAgLNqTFowcc+ZLzRG+zzvP85rFrh4gJ%0ANKQX8q1zu6IXOvc9bUIXe9xnIiEhYgIN6Ziey51PDus3ZJO7IzfgCJ+JhISICTSkble6J0tt%0Avje+qqvPREJCxAQaUv5d7ska+09vfHu+z0RCQsQEGtLuM9yTp+x6b/yr3X0mEhIiJtCQTuz6%0A5Na/fWvvfh86zptdjveZSEiImEBDeqvYzLq+2b/jYQfl573sM5GQEDHBvo/0+sQDy952Xv9O%0AzAY95DePkBAx4XyL0PpP/K8nJEQMX8cFCBASIEBIgAAhAQKEBAgQEiBASIAAIQEChAQIEBIg%0AQEiAACEBAoQECBASIEBIgAAhAQKEBAgQEiBASIAAIQEChAQIEBIgQEiAACEBAoQECBASIEBI%0AgAAhAQKEBAgQEiBASIAAIQEChAQIEBIgQEiAACEBAoQECBASIEBIgAAhAQKEBAgQEnLH8oox%0AYyqWh72KnUJIyBmz88yVNzvsdewMQkKuuM9S7g97JTuBkJArhtWHNDzslewEQkKOWF/fkcU2%0AhL2Wr46QkCPWNIRka8Jey1dHSMgR1YX1HRVWh72Wr46QkCvG14c0PuyV7ARCQq54uyTZUck7%0AYa9kJxASckblvl5H+1aGvY6dQUjIHbWV8+cvqw17FTuFkAABQgIECAkQICRAgJAAAUICBAgJ%0AECAkQICQAAFCAgQICRAgJECAkAABQgIECAkQICRAgJAAAUICBAgJECAkQICQAAFCAgQICRAg%0AJECAkAABQgIECAkQICRAgJAAAUICBAgJECAkQICQAAFCAgQICRAgJECAkAABQgIECAkQICRA%0AgJAAgaBDqlu5aOHCxat2MIuQEDHBhlQ1rYcl9Ju5yW8eISFiAg1pzUAbXDZjzpzpE3vbkCqf%0AiYSEiAk0pCnxe1Ojmnmxcp+JhISICTSknpMbxyf09ZlISIiYQEOKX904vrzAZyIhIWICDan/%0AhMbx2AE+EwkJERNoSOWxuVuSow2XWYXPREJCxAQa0rrhVlxadt7USaM72ii/VAgJERPs+0hb%0Arxua572NFB9xa43fPEJCxAT+EaHN71ZWrtia5or3u3dp0NG+yOY+gKAFGtIHn/pcWbtkUYNy%0AnpEQLYGGZIVXpXsuaoldO0RMsCENyNt7yZeZSEiImGBDqlg6zEqf3fFEQkLEBBySU/Pb7nbo%0AnZ/tYCIhIWKCDslxNszuZnkHTLnqBp+JhISICT4kx9m44JgiM7+tEBIiJoyQvLt99Z6bfCYS%0AEiImpJB2gJAQMYGG1H76l5xISIgYvkUIECAkQICQAAFCAgQICRAgJECAkAABQgIECAkQICRA%0AgJAAAUICBAgJECAkQICQAAFCAgQICRAgJECAkAABQgIEsg/J+4eOtrz0P3WiBSUQEiIm25Bq%0Azj3ecT4YZHaI8qFPSIiYbEOabT93nDGxn5zbbrZuUYSEqMk2pH2Pc5wPY1McZ/JQ3aIICVGT%0AbUidbnac2+3/O8683XSLIiRETbYhFbshTSza6jg3FukWRUiImqx37U5yPup0rDs4cy/ZmggJ%0AkZNtSLPsoN72lOPcWXChblGEhKjJNqTNZR1KvH8yrNe3qmRrIiREjuqTDS9uy34tjQgJEZNt%0ASHfVD6qOVywnhZAQMdmGFPtN8uczfZWfwCMkREy2IR1nF9Y5Ts2leUW36RZFSIiabEOqvcBO%0A2/bBSPv2u7o1ERIiJ/uDDb/PO7ik3UXVqgUlEBIiRnDU7pEie0i0mnqEhIjJJqTVKQ8VH+79%0AEK6KkBAx2YRkzQlXRUiImGxCOqE54aoICRHDdzYAAtmG9PDfdWtpREiImGxDKrxGt5ZGhNRa%0A1vMftnVkG9L3j6zVLaYBIbWKzTMGxWKDZmwOex27omxD+mjiEXcvW5GgWxQhtYqNI5OHV0du%0ADHslu6BsQ+Lwd3RcUv9/6pKwV7ILyjakE06dPCVFtyhCag11PetD6in9Nk94ZIe/N/wr67U0%0AIqRWsLZx52Ft2GvZ9chC+nOvrNfSiJBaASG1pqxDWvv7aeWus/sUy9ZESK2icdeuF7t2ctmG%0A9EH31P+c/Ct0iyKkVsHBhlaUbUgnF9+42P74xEV9ntCtiZBaB4e/W1G2IfW7yNlsLzrOq12f%0A0y2KkFoHb8i2nmxDit/qbuJpd3BpqWxNhNR6+IhQK8k2pK5XOk6nO9zBX0pkayIkRE62IY3t%0As8Q56Nvuw/7MHrpFERKiJtuQXi7c3/mT9T12qJ2sWxQhIWqyfh9p2U1O3cUdLPYj5Zt8hISI%0A0XyyYfMHmxSLaUBIiBj+qjkgkFVI25oRroqQEDFZhcTXcQFJ2YWUN+xEvo4LyDKkn/Ww/he2%0AxtcIERIiJruDDdsePb697X+D/K+3EBIiJuujdutuPsji4x7kX6NAm6Y4/L3i0gH2tfOXaRaU%0AQEiIGM37SHVPH8pRO7RlipBqnzixyPacqVlQAiEhYrIP6e2L+ljx6c+oFpRASIiYLENad/MI%0Ai42+U/13lwkJEZNVSE+cWGgDL/9AuZ4kQkLEZPnJhoOu+Ouj9YSrIiREDJ+1AwSyCmlBM8JV%0AERIihr+PBAgQEiBASIAAIQEChAQIEBIgQEiAACEBAoQECBASIEBIgAAhAQKEBAgQEiBASIAA%0AIQEChAQIEBIgQEiAQNAh1a1ctHDh4lU7mEVIiJhgQ6qa1iP5jUP9Zvr+682EhIgJNKQ1A21w%0A2Yw5c6ZP7G1DqnwmEhIiJtCQpsTvTY1q5sXKfSYSEiIm0JB6Tm4cn9DXZyIhIWICDSl+deP4%0A8gKfiYSEiAk0pP4TGsdjB/hMJCRETKAhlcfmbkmONlxmFT4TCQkRE2hI64ZbcWnZeVMnje5o%0Ao/xSISRETLDvI229bmie9zZSfMStNX7zCAkRE/hHhDa/W1m5YmuaK2qXLGpQTkiIljA+a1fz%0At+fTfEbo/e5dGnS0L7K8DyBQwYb0/FT3ZMHu7s7dkKf95rFrh4gJNKQlBZ3qnPus04/P/UG7%0A9st8JhISIibQkEb3WOE4A/uvcYcvdTjGZyIhIWICDanzLxznM7s+MT5zN5+JhISICTSkoksd%0AZ0vsgcT4ikKfiYSEiAk0pIMHb3Sckb/whluGDPGZSEiImEBDetSG/9e2yl53bqx+6Xt2i89E%0AQkLEBHv4+7Yi67BPf8vLs9jP63zmERIiJuA3ZD+a+8P+xe277f/TSt9phISI4VuEAAFCAgQI%0ACRAgJECAkAABQgIECAkQICRAgJAAAUICBAgJECAkQICQAAFCAgQICRAgJECAkAABQgIECAkQ%0AICRAgJAAAUICBAgJECAkQICQAAFCAgQICRAgJECAkAABQgIECAkQICRAgJAAAUICBAgJECAk%0AQICQAAFCAgQICRAgJECAkAABQgIECAkQICRAgJAAAUICBAgJECAkQICQAAFCAgQICRAgJECA%0AkAABQgIECAkQICRAgJAAAUICBAgJECAkQICQAAFCAgQICRAgJECAkAABQgIECAkQICRAgJAA%0AAUICBAgJECAkQICQAAFCAgQICRAgJECAkAABQgIECAkQICRAgJAAAUICBAgJECAkQICQAAFC%0AAgQICRAgJECAkAABQgIECAkQICRAgJAAAUICBIIOqW7looULF6/awSxCQsQEG1LVtB6W0G/m%0AJr95hISICTSkNQNtcNmMOXOmT+xtQ6p8JhISIibQkKbE702NaubFyn0mEhIiJtCQek5uHJ/Q%0A12ciISFiAg0pfnXj+PICn4nRDWl9VBeO7AQaUv8JjeOxA3wmRjSkzTMGxWKDZmwOex0IXqAh%0AlcfmbkmONlxmFT4ToxnSxpHJQ5IjN4a9EgQu0JDWDbfi0rLzpk4a3dFG+aUSzZAusZRLwl4J%0AAhfs+0hbrxua5z3S4iNurfGbF8mQ6nrWh9SzLuy1IGiBf0Ro87uVlSu2prmi6tyzGoyKYkhr%0ArcHasNeCoIXxWbutrzz5fstLCQkRFmhIVz7pnd7cxX2o7f+q38SI79r1YteuzQk0pMSRur9a%0A+2PPPthK3vOZGMmQONjQlgUf0uCSN93TB2Kn+0yMZkgc/m7DAg/pE/tVYjyuj8/EaIbEG7Jt%0AWOAhrbIFifH0uM/EiIbk8BGhNivwkGpKZifGk7v6TIxuSGijgg1p4tIVay/e03sJ8VbRMT4T%0ACQkRE2xISfc7zp+L2r3iM5GQEDGBhnTHb2eUTxo3erHjzOvzqN9EQkLEhPQtQutrfa8mJEQM%0AX8cFCBASIEBIgAAhAQKEBAgQEiBASIAAIQEChAQIEBIgQEiAACEBAoQECBASIEBIgAAhAQKE%0ABAgQEiBASIAAIQEChAQIEBIgQEiAACEBAoQECBASIEBIgAAhAQKEBAgQEiBASIAAIQEChAQI%0AEBIgQEiAACEBAoQECBASIEBIgAAhAQKEBAgQEiBASIAAIQEChAQIEBIgQEiAACEBAoQECBAS%0AIEBIgAAhAQKEBAgQEiBASIAAIQEChAQIEBIgQEiAACEBAoQECBASIEBIgAAhAQKEBAgQEiBA%0ASIAAIQEChAQIEBIgQEiAACEBAoQECBASIEBIgAAhAQKEBAgQEiBASIAAIQEChAQIEBIgQEiA%0AACEBAoQECBASIEBIgAAhAQKEBAgQEiBASIAAIQEChAQIBB1S3cpFCxcuXrWDWYSEiAk2pKpp%0APSyh38xNfvMICRETaEhrBtrgshlz5kyf2NuGVPlMJCRETKAhTYnfmxrVzIuV+0wkJERMoCH1%0AnNw4PqGvz0RCQsQEGlL86sbx5QU+EzOFVLts/vxltTt790CrCTSk/hMax2MH+EzMEFLlvt6B%0Ain0rd/b+gdYSaEjlsblbkqMNl1mFz8T0Ib1dkjzkV/LOzi4AaCWBhrRuuBWXlp03ddLojjbK%0A71VQ+pCOs5TxO7sAoJUE+z7S1uuG5nklxEfcWuM3L21I1YX1IRVW7/QKgFYR+EeENr9bWbli%0Aa5or3u/epUFH29BywhprsCabFQB64XzW7vOKt1pcVrtkUYPfWZrU1jd0FEuTGRCmcEJabY/6%0AXv98upCc4fUhDc96AYBWsJ9sqDfRDp8yxWdi+pDuqw/p/p1dANBKAg3JmvGZmD4kZ3biSEXe%0A7J29f6C1BBrSBXlDn1jnecPuWbfOZ2KGkJzlFWPGVCzf2bsHWk2wr5GWDo395DNnZ18jATkr%0A4IMN267p0Pt+QsIuJ/Cjdu+V2jGrCAm7mBAOf9/RtdMMQsKuJYz3kT4+0QgJu5Zw3pB9bNqb%0AvtcTEiImN7+Oi5AQMYQECBASIEBIgAAhAQKEBAgQEiBASIAAIQEChAQIEBIgkJshLTUgYpZ+%0A5Yd564fkvLYsgyMOXZDTDmV9Wcn59R2R6ZH52ld/lAcQUkZlZSHe+ZfA+rLTptZHSJmxvuy0%0AqfURUmasLzttan2ElBnry06bWh8hZcb6stOm1kdImbG+7LSp9RFSZqwvO21qfYSUGevLTpta%0AHyFlxvqy06bWR0iZsb7stKn1hRnSWWeFeOdfAuvLTptaX5ghVVWFeOdfAuvLTptaX5ghAbsM%0AQgIECAkQICRAgJAAAUICBAgJECAkQICQAAFCAgQICRAgJECAkAABQgIECAkQICRAIMSQqi9q%0At394975DVdP6FQwY+2LYy8ho5ZmDCr429uWwl+HrApsS9hIyuSP1705cKdpeeCG9Obw4l0P6%0AdIAddenJ+YV/C3shGbzdreCUGSfH4y+EvRAfS/NyN6Tf2sQKz5Oi7YUW0ucdvr2ifQ6HNNV+%0A754+YGPCXkgGP4g97Z4utAlhLySzbUOH5G5IM3bi30DyE1pIn06rdnI5pJ+VVrundR36h72Q%0ADKZf7J3WxIeEvZDMrok9nrshldsK6fZCPdiQyyElbYkfHPYSfH1o48JeQkbvdfjJutwNaZKt%0ArVm9Vrc9QvJ1fWIHL1dtXLJfsXYHRam012c5HNI4u6SL2Tf+rNoeIfl5quCQbWGvIbMSs1NW%0Ahr2IjO6w+50cDmm0DZp918Wd7WbR9gjJx93th38a9hp8XHTWyHaH5GpJH3c92snlkBbfv8E9%0AfaN9162a7RFSRnWX2RFfhL2IHVhStF9t2GtI78RO/5vTIaUca69oNkRImdRNtvNrwl7EDp1k%0Ab4a9hLQes0tXr179hk1c/XnYS/F1toneSCKkTMptVthL8PHhfqcmfh4nfjtEZZrVqwh7KWmt%0Av+nuxM9DTLRvTEgZPGDlYS/B1x4FL7mn73TqtDnslaT15qOee+zwR98Keylp1fbp5C3sIRsm%0A2mBoIT1VUVGR19M9+XdYK/D3dTs/8RGSihz9JvgH8+InXlJWZDeGvRA/Ofwa6eFY0ZRLj411%0ArhRtL7SQZtc/9WvfYJZp2DX5IOyVZPDSuO55u33/kbCX4SuHQ3JeOHK3/N6nyR59/DUKQICQ%0AAAFCAgQICRAgJECAkAABQgIECAkQICRAgJAAAUICBAgJECAkQICQAAFCAgQICRAgJECAkAAB%0AQgIECAkQICRAgJAAAUICBAgJECAkQICQAAFCAgQICRAgJECAkAABQgIECAkQICRAgJCiI+/A%0AsFeAjAgpN9Ted9SAwsJBp7zmnZmd/h9kTBfSApuRHKy3Ia22OOwYIeWGCdZ/2tzpR+YVPeM4%0Aa+zxtHMIKYcRUk540tiyE18AAAOcSURBVL67zfv5iA11nIcJKXoIKSfcaDcmBwsW1R7l/Vvq%0AzzpH2Tr3/DYrdU//c3hh9ynr3JAOabfKm/Xv/BGpG24X0j/Kese7HfOyO2py8xPs4+8XPuxs%0AmbNf507fmlMb7G/WVhBSTnjYxm6rH794ql324KdNS3gur/es204ZFT/QmW9XeVNusZtTk5uH%0AtKpHpwvnX92n/bPNQjrVTjpy1uvO6XbSH24+1qYG/Ku1EYSUE6qH2dAb3qhLnpmd2LVrUsKR%0A9oo7PNcOdDaWDPZmlBZ+lrph85Am2UJ3+GbeiGY3n2yHe09DHQ/y5l0wvibA36vtIKTc8PnU%0ADmbdxt2+0WkZUm2Hr3tTXnVDcs6x5xznk7yJ9bdbYA2GOHUluydaPMT+3TSkKfZn79KS3h8H%0A/3u1GYSUKzY8UjEybt0XtQzpQ/uBN2GzF9IyO8Nx/mD/XX+rBbb/2QlT3JDW2PcSF06xF5qH%0AtMy79HrrfOqfPgz+F2sbCCmXVN3QvmRti5DetWMS18a8o3bDOm9yDuvbcMSg2a7ditTE82xR%0A85CS70stHldksTH/CPD3aUMIKbdMs/ubhbTRLWF18hlpvfeM5Nxo9/2r3SUN85uF9K/UM9Lp%0A9lKTmzeE5DhbFk2K7bk1sF+mLSGkXFBzztGp55grbX4qpHH2iXv6d7eEbQV7elc9nwhpXYfj%0Af2eNn3xofrCha6/Ea6QDY+ua3LxJSK6f2MsB/EJtDyHlhB/aLxMH097bI/8fzpzEsbef2NPu%0A6S+9EkYnjtqdlAjJObnj0EMab9g8pDPsQXf4aqy02c2TIb3Y+05v3lT7n+B+rTaEkHLCqkHW%0A95wZ044uiP3Wce6371z7ivOi7f/kSxePKnZLeCzW46K5R3+vJBHSErM/Nt6weUj/7NnpV3de%0A0aN4udP05smQtu1bcOa8mya3O6QuhN9v10dIueGLa0Z2zevwjclL3XH1+A5d7nOc+ft02P2s%0Az3p7Tz/3fKug++R1fYclpvbr+EXj7bb7ZMOq03vl9zjxTe+Cxpundu0+/dnXO5YMmbU+yF+r%0A7SCkqFkVPyfsJaAlQoqaH8ffCXsJaImQImXFvMPr9+WQUwgpUh6IdZ/FwYJcREiAACEBAoQE%0ACBASIEBIgAAhAQKEBAgQEiBASIAAIQEChAQIEBIgQEiAACEBAoQECBASIEBIgAAhAQKEBAgQ%0AEiBASIAAIQEChAQIEBIgQEiAACEBAoQECPwfir9DA4J/pvUAAAAASUVORK5CYII="/>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62" name="AutoShape 18" descr="data:image/png;base64,iVBORw0KGgoAAAANSUhEUgAAA0gAAANICAIAAAByhViMAAAACXBIWXMAABJ0AAASdAHeZh94%0AAAAgAElEQVR4nO3deXxU9b34/xNCFhbZLLVENpUUUavUAC5I3epyXXGDWsWFYlWkKhb8Yguy%0AKNpetbXiRpWq4IIiKFhqXaoIFcpSkbqisgkWUQElgCEkzPeP+f3mkS9LMiJkznx8Pv+anDlM%0A3pP7uN7XPfM588lJJBIRAADZr06mBwAAYNcQdgAAgRB2AACBEHYAAIEQdgAAgRB2AACBEHYA%0AAIEQdgAAgRB2AACBEHYAAIEQdgAAgRB2AACBEHYAAIEQdgAAgRB2AACBEHYAAIEQdgAAgRB2%0AAACBEHYAAIEQdgAAgRB2AACBEHYAAIEQdgAAgRB2AACBEHYAAIEQdgAAgRB2AACBEHYAAIEQ%0AdgAAgRB2AACBEHYAAIEQdgAAgRB2AACBEHYAAIEQdgAAgRB2AACBEHYAAIEQdgAAgRB2AACB%0AEHbAd9Szzz6bk5OTk5NTt27dXf7iEyZMKCkpqVevXv369ffbb7+vv/56l/+Kb+/pp59O/gUK%0ACwszPQuwawg7oAZr16697bbbfvrTnxYVFRUUFOTn5++5555dunS5/vrrly1blunp4mj27Nk9%0AevR44403ysrKvv7668WLF1dWVm73zAcffDCnijFjxmx7ziOPPFL1nAcffHA3jw9ksV3//6cC%0AIZk+ffrZZ5+9evXqqgfXrFmzZs2auXPnjho1avz48WeeeWamxounhx56KPmgcePGw4YN23PP%0APQsKCtL5h88+++wvfvGLrQ5OmTJlF88HhEvYATu0du3aVNUVFhaeffbZ7du3Lysre/PNN194%0A4YUtW7aUlZX16tVr0aJFzZs3z/SwMfLxxx8nH/zsZz+79tpr0/+HL7/88oYNGxo0aJA6smnT%0AphdffHEXzweES9gBO/Tss88mq65u3bqzZ88++OCDqz511llnRVFUWlo6duzYX//61xmbMn7K%0Ay8uTDxo2bJjmP2nZsuWKFSvKyspeeOGFs88+O3X8lVdeWb9+fRRFe++99yeffLLLRwUCY40d%0AsEOpJXStWrWqWnVRFHXv3v3mm2++4447nnnmmXPOOSd5cMyYMcl1YAceeGAURU899dRRRx3V%0AuHHjRo0anXDCCTNnzqz6Cn/5y1+SJx999NEVFRXXXHNN8+bN99prr9QJCxcuvOKKK4qLiwsL%0ACxs1atS5c+e77rqroqKi6oskEonx48efdNJJ3//+9/Py8ho1anTYYYeNGjVq2zVtDz/8cKdO%0AnRo0aNCsWbNTTz113rx5OTk53+ivsW7dultuueXwww9v1qxZfn7+XnvtddJJJz300ENVf9cV%0AV1yRk5Pzj3/8I/njHXfckXyPyTirRpcuXXJzc6Momjx5ctXjyc9hc3NzS0pKtv1X6bz9Gv/O%0AW1m7du0Pf/jD5D+58sorkwcrKir+/Oc///SnP03+ou9///udO3e+9dZbv/jii+rfF1DbEgA7%0AcO+99yb/Q1GnTp3nn3++xvMfffTR5PlFRUW33XbbVv+1qVu37gsvvJA6+fHHH08eP/jgg++4%0A447k49zc3OSzEydO3O6tmscdd9zXX3+depELLrhgu/9lO+2007Zs2ZI6bdsLigUFBYMHD97q%0Al1bjzTff3Hvvvbf7u4444ogvvvgiedrll1++3XNKS0u3+7IPPPBA8oQLL7zw8MMPj6KoWbNm%0AFRUVqRNatmyZ/BXnnntu8swHHnjgG739av7OEyZMSP01kieXl5cfe+yxyYOnn356cpLy8vJj%0Ajjlmu79o3333/eijj2r86wG1RtgBO7Rw4cLkZaRkCpxyyimjR49+5513qjZTVU8++WQqFAoK%0ACi6++OInnnjilltuSX0i2aZNm/Ly8uTJqapo27Ztq1at8vLyOnbs2L59+0QisXjx4nr16iWf%0AHThw4MKFC+fOnXv00Ucnj9xwww3JV3juueeSR+rUqXPvvfe+9dZbY8aMSX13yVNPPZU8bfbs%0A2akQOe644yZNmjRlypSTTz45dWaNYbdmzZpU1e2zzz733Xffs88++3/+z/9JvcKpp56aPPOj%0Ajz6aMWNGp06dksd/9rOfzZgxY8aMGZWVldt95VTY9ejRY+jQocnHr7zySvLZf//738kjQ4cO%0A7d69+1Zhl+bbr+bvvG3Y9enTJ3mkc+fOGzZsSB687777kgf333//J554YubMmX//+99Tl2mP%0APvro6v96QG0SdkB1brnllm2v0zRt2vT000//85//vG7duqonp0IhiqLevXunjo8fPz51PHXR%0ArurJxcXFy5cvT53fr1+/5PFjjjkmdfDzzz9PBuIee+yRvGh39913n3rqqaeeeuo111yTOu2M%0AM85I/tuLLrooeeSyyy5LHmnevPn69euTBzdv3rz//vunGXbDhw9PntmoUaNPPvkkdXzcuHGp%0AtzBv3rzU8eOPPz558Ne//nX1r5wKu3POOWfOnDnJx6m3k0q9OXPmpG49ToVdmm+/mr/zVmGX%0Ausi67777rlq1KnXaJZdckjx+xx13pA6Wl5eff/75/fr1+93vfrejbAVqn7ADavD8889369Zt%0AuyvSmjRp8tBDD6XOrNoQb775Zur45s2b99hjj+TxYcOGbXvy448/XvU37rfffsnjv/3tb7+u%0A4ic/+Uny+Msvv7yjaX/1q18lzznxxBOTRzp06JA8UrU1E4nETTfdlGbYHXLIIckzL7nkkqrH%0AKyoqmjZtmnxqxIgRqeM7F3ZbtmxJXhds27Zt8tkf//jHURTtvffeW7Zs2Tbs0nz71fydq4bd%0AlClT6tSpE0XRnnvuuXDhwqqnXX311cnTWrduPXbs2E8//bT6NwVkkJsngBqcfPLJ06dPX758%0A+dixYy+//PKDDz44FXlffvnlpZdeOmnSpK3+SV5e3o9+9KPUj3Xr1m3Xrl3y8Xa/0/i4445L%0APU4kEkuWLEk+HjlyZL0qpk+fnjz+zjvvJB+8/PLL3bt332+//QoLC5Pr/UeNGpV8KnUDwdKl%0AS5MPiouLq/7S5B0eNUokEqlfV/VNRVGUm5ubuuz33nvvpfNq1cjJyUnW29KlS//zn/+sWLFi%0A/vz5URR17959R/d5pPP2q6r6d65q8+bNP//5z7ds2RJFUYsWLfbdd9+qz1566aX169ePoujj%0Ajz++6KKLfvCDH7Rr165Pnz6TJk3a0RcvA5ki7IC07L333r169br//vsXLFjw8ccf/+Y3v0kt%0AvxsyZMhWJzdo0CB5+afqkeSDjRs3bnVybm5u1a/B27hxY7IwqrFmzZooiu67774TTjhh8uTJ%0Aixcvrlu3bocOHQ455JDvfe97Vc9MJBKp7bySdZKy1Y87snHjxtStuNt+fUnqfZWWlqbzatVL%0ALaR76aWXUkvoUge3ks7br2qrv3NVW7ZsSd23+/bbb991111Vn+3YsePUqVOrdvCiRYvGjBlz%0AzjnntGvXbtasWWm/P2C3E3ZADTZv3pxIJKoeadmy5ciRI0eMGJH88d13391qL9Rtt0bdsGFD%0A8kHVb99Nqlu3btUKrF+/fioZ77zzzu1+1jBs2LD169cPGDAgedrPf/7zzz///N13333zzTd7%0A9OhR9cWrboSamiFp3bp16bz9+vXrp+5I2PafpHqucePG6bxa9Y455pgmTZpEUfTKK68kvzOl%0ASZMmqbtGqkrz7Ve11d95K8cff/zIkSOTj4cNG/bf//53q8HeeuutmTNnjhgx4uSTT0692aVL%0Al5555plb/WGBDBJ2wPYtXrz4nHPO6dChQ/369VNfzFZVixYtUo+3+qxw06ZNH330UerHioqK%0ADz/8MPm4bdu21f/enJyc1Bq71Gey25o/f37q4t/AgQNTd9EuXLhwqzNbt26dfPD+++9v9QrV%0AT5Ka56CDDko+fvPNN6s+tXnz5nfffTf5eKvv+ds5eXl5p5xyShRFM2bMePXVV6MoOvXUU/Py%0A8rY9M/23n46CgoKXXnpp0KBBhx56aBRFpaWl235BTE5OzhFHHDFkyJDnn39+9erVkydPTq4v%0A/Pzzz1MfkQMZJ+yA7SsqKpo2bdr7779fUVHRp0+ft99+u+qzn332WWo5V4cOHbb9zrmq+9lP%0AmTIl9UnfUUcdVeOvPumkk5IPJkyYkMqXysrKCy64oHfv3jfccMMnn3yyadOm1PmbN29OPnj3%0A3XeTPVT14BFHHJEaY+3atcnH69evr3pPa/VSW0E8++yzK1asSB1/+OGHk1fscnJydvSB6TeV%0AfJ3S0tLkx807etn0336acnJy6tSp86c//Sn54/jx41955ZUoir7++utbb7310ksvPfPMM1Mf%0Akefm5p5xxhmdO3fedhggw2rxRg0gy6S+oDj6/y/YXHjhhRdccMExxxyTn5+feurBBx9Mnp+6%0Ay7Ju3bp5eXlDhw599dVX77333j333DN5vH379qlv3932S9RSFi1alLoE1bVr16lTp1bdaOvA%0AAw+sqKj45JNPUh8snn766W+99daUKVP23nvv9u3bJw82atRo1qxZq1atmjZtWmrUkpKS8ePH%0AP/LII507d04tmKtTp071f4e1a9cmvyg4iqJ27drdc889EydOHDhwYEFBQfJgnz59qp6/c3fF%0AJo+UlpamXrawsDD1zcZb3RWb/tuv5u+83adSH+Z26NAh+aWDHTt2TA35t7/9bd68edOnTx8+%0AfHjyUmJBQUHV70YBMkvYAdW55ZZbUivMtpWbm3vjjTemTk6FQtOmTQcNGrTVyYWFha+//vq2%0AJ28bHMlnU31T1d577/3ee+8lz0l9tUdKUVHRkiVLioqKUkeGDh2aSCQuvfTSrc5s0KDB3Xff%0Anfqxxm9iq2bnibPPPrvqZhiJbxd2iUQi+WlsVOV7jxPbhF36b/+bht2yZctSVf273/0ukUi8%0A9dZbqa7dSp06dcaMGVP9ewRqk49igerccMMNCxcu/O1vf3vkkUc2b948Ly8vPz+/efPmXbt2%0AHTRo0DvvvJP68t6qysvLb7311tGjR3fs2LGwsLBp06ZnnHHG7NmzjzzyyDR/77nnnjt//vze%0AvXvvs88+BQUF9evXP+igg37729++9dZbqW8YueOOO37/+98fcMAB9erV23vvvfv06TN37ty2%0Abds+8sgj7du3r1u3bsuWLZNfYvfggw/ecccd7du3z8/P//73v3/uuefOnj07tXdWtM19Fds6%0A5JBD3n333Ztvvrlz586NGzfOy8tr0aLFWWedNWXKlB3tfrbTzjrrrOSD6j/eTf/tfyOtW7dO%0A3ZZx0003LV++/KCDDpo3b95NN93UqVOnvfbaKy8vr379+vvvv/8vf/nL5P+MduI9ArtJTuL/%0AvdkNYKc9/fTT5513XhRFBQUFZWVlmR4H4DvHFTsAgEAIOwCAQAg7AIBACDsAgEC4eQIAIBCu%0A2AEABELYAQAEQtgBAARC2AEABELYAQAEQtgBAARC2AEABELYAQAEQtgBAARC2AEABELYAQAE%0AQtgBAARC2AEABELYAQAEQtgBAARC2AEABELYAQAEQtgBAARC2AEABELYAQAEQtgBAARC2AEA%0ABELYAQAEQtgBAARC2AEABELYAQAEQtgBAARC2AEABELYAQAEQtgBAARC2AEABELYAQAEQtgB%0AAASibqYHyA4LFiyoqKjI9BQAQCzUrVv3kEMOyfQU2yHsajZv3rzOnTtnegoAIEbmzp3bqVOn%0ATE+xNWFXs/Ly8iiKNm3alJ+fn+lZAIAMKy8vLygoSOZB3FhjBwAQCGEHABAIYQcAEAhhBwAQ%0ACGEHABAIYQcAEAhhBwAQCGEHABAIYQcAEAhhBwAQiOzbUiyRSCxZsmTx4sWlpaVRFDVu3Li4%0AuLhVq1aZngsAIMOyKezWrl07cuTIcePGffbZZ1s91bp16z59+gwYMKBevXoZmQ0AIOOyJuxW%0ArlzZtWvXJUuWFBcXn3LKKW3atGnQoEEURevWrVu0aNFrr7124403Tpw48dVXX23atGmmhwUA%0AyICsCbshQ4asWLHiqaeeOu+887Z9trKycvTo0f369Rs+fPidd95Z++MBAGRc1tw8MXXq1F69%0Aem236qIoys3N7du3b48ePSZNmlTLgwEAxETWhN3q1av322+/6s/p0KHDqlWramceAIC4yZqw%0AKyoqWrBgQfXnzJ8/v6ioqHbmAQCIm6wJu+7du0+YMOH222/ftGnTts9u2LBh6NChkydP7tmz%0AZ+3PBgAQBzmJRCLTM6Tlyy+/PP74499444099tijS5curVq1atiwYSKRWL9+/bJly+bMmbNx%0A48Zu3br97W9/a9iw4a791TNnzuzateumTZvy8/N37SsDAFmnvLy8oKDg9ddfP/LIIzM9y9ay%0A5q7YJk2azJo165577hk7duy0adMqKytTT+Xl5ZWUlPTu3bt37965ubkZHBIAIIOyJuyiKMrP%0Az+/fv3///v3LysqWL1+e3HmiUaNGrVu33ulraVu2bJk+fXpFRUU157zzzjs79+LAVlauXJnV%0A/wu1Zs2aKIqaNWuW6UF23oEHHtiiRYtMTwHsLtkUdil169atV69eZWVlQUFBs2bNvs0npMuW%0ALevRo0f1YZdc1bd582YfxcK3NGbMmD/84Q+ZnmLnbdy4MYqi+vXrZ3qQnXfdddcNHjw401MA%0Au0vWrLGLoqi8vPyBBx549NFH33jjjfLy8tTxoqKiE0444corrzzssMN2x+8dPXr0FVdcUVpa%0AustX7wHZ5dJLL42i6KGHHsr0IEAmxXmNXdbcFbtu3bpu3br169dvwYIF+++//+GHH56Xl9eu%0AXbsLLrhgr732Gjt27OGHH3799ddnekwAgIzJmrAbNmzYnDlzrr322pUrVy5YsGDWrFn/+c9/%0ANm/e3KVLlzfeeGPJkiXdu3e/7bbbHn744UxPCgCQGVkTdhMmTDj11FP/+Mc/Nm7cOHlk//33%0AHzly5JAhQzZs2NCmTZunn366pKRk1KhRmZ0TACBTsibsVq1ate0SupKSknXr1r355ptRFOXm%0A5p5xxhnvvfdeJqYDvhPatGnTpk2bTE8BsENZc1fs9773vbfffnurg8nvTUh9p93q1auz+m41%0AIOaGDRuW6REAqpM1V+xOPPHECRMmPPjgg6nbeN96661f//rXDRo0KCkpiaJo7ty5Y8eO7dy5%0Ac0bHBADImKwJu2HDhjVt2vSyyy5r2bLl0UcffeCBBx5yyCHLli37/e9/36BBg8rKyq5du27e%0AvHnEiBGZnhQAIDOyJuzatm07d+7cnj17lpaWTp8+/YMPPjjqqKNeeeWVq666Koqi3Nzc/v37%0A/+tf/3LFDth9Vq5cuXLlykxPAbBDWbPGLoqifffdd/z48VEUbdiwoV69enXq/D9V+vvf/z5D%0AcwHfFUOGDImi6MEHH8z0IADbl01hl9KgQYNMjwB8F6Vu1QKIp6z5KBYAgOoJOwCAQAg7AIBA%0AZOUaO4CMsO0EEHPCDiBddp4AYs5HsQAAgRB2AACBEHYA6bLzBBBz1tgBpMvOE0DMCTuAdNl5%0AAog5H8UCAARC2AEABELYAQAEwho7gHTZeQKIOWEHkC47TwAx56NYAIBACDsAgEAIO4B02XkC%0AiDlr7ADSZecJIOaEHUC67DwBxJyPYgEAAiHsAAACIewAAAJhjR1Auuw8AcScsANIl50ngJjz%0AUSwAQCCEHQBAIIQdQLrsPAHEnDV2AOmy8wQQc8IOIF12ngBizkexAACBEHYAAIEQdgAAgbDG%0ADiBddp4AYk7YAaTLzhNAzPkoFgAgEMIOACAQwg4gXXaeAGLOGjuAdNl5Aog5YQeQLjtPADHn%0Ao1gAgEAIOwCAQAg7AIBAWGMHkC47TwAxJ+wA0mXnCSDmfBQLABAIYQcAEAhhB5AuO08AMWeN%0AHUC67DwBxJywA0iXnSeAmPNRLABAIIQdAEAghB0AQCCssQNIl50ngJgTdgDpsvMEEHM+igUA%0ACISwAwAIhLADSJedJ4CYs8YOIF12ngBiTtgBpMvOE0DM+SgWACAQwg4AIBDCDgAgENbYAaTL%0AzhNAzAk7gHTZeQKIOR/FAgAEQtgBAARC2AGky84TQMxZYweQLjtPADEn7ADSZecJIOZ8FAsA%0AEAhhBwAQCGEHABAIa+wA0mXnCSDmhB1Auuw8AcScj2IBAAIh7AAAAiHsANJl5wkg5qyxA0iX%0AnSeAmBN2AOmy8wQQcz6KBQAIhLADAAiEsAMACIQ1dgDpsvMEEHPCDiBddp4AYs5HsQAAgRB2%0AAACBEHYA6bLzBBBz1tgBpMvOE0DMCTuAdNl5Aog5H8UCAARC2AEABELYAQAEwho7gHTZeQKI%0AOWEHkC47TwAx56NYAIBACDsAgEAIO4B02XkCiDlr7ADSZecJIOaEHUC67DwBxJyPYgEAAiHs%0AAAACIewAAAJhjR1Auuw8AcScsANIl50ngJjLvrBLJBJLlixZvHhxaWlpFEWNGzcuLi5u1apV%0ApucCAMiwbAq7tWvXjhw5cty4cZ999tlWT7Vu3bpPnz4DBgyoV69eRmYDAMi4rAm7lStXdu3a%0AdcmSJcXFxaecckqbNm0aNGgQRdG6desWLVr02muv3XjjjRMnTnz11VebNm2a6WGBMCW3nWjR%0AokWmBwHYvqwJuyFDhqxYseKpp54677zztn22srJy9OjR/fr1Gz58+J133ln74wHfBXaeAGIu%0Aa77uZOrUqb169dpu1UVRlJub27dv3x49ekyaNKmWBwO+OyorK20+AcRZ1oTd6tWr99tvv+rP%0A6dChw6pVq2pnHgCAuMmasCsqKlqwYEH158yfP7+oqKh25gEAiJusCbvu3btPmDDh9ttv37Rp%0A07bPbtiwYejQoZMnT+7Zs2ftzwYAEAdZc/PEsGHDZsyYMXDgwBEjRnTp0qVVq1YNGzZMJBLr%0A169ftmzZnDlzNm7c2K1bt8GDB2d6UiBYdp4AYi5rwq5JkyazZs265557xo4dO23atKrrl/Py%0A8kpKSnr37t27d+/c3NwMDgmEzc4TQMzlJBKJTM/wjZWVlS1fvjy580SjRo1at26dn5+/cy/1%0A8ccfn3DCCRUVFdWcs27dui+++KK0tLRhw4Y791tgV7n99tvvu+++TE8BGXPllVcOGDAg01Pw%0AXVdeXl5QUPD6668feeSRmZ5la1lzxa6qwsLC4uLi5OPNmzd/8MEHZWVlBx10UEFBwTd9qRYt%0AWgwZMmTjxo3VnDN9+vTHHntsJ2eFXeqdd97ZK3fxJT/J9ByQCQ9Pj955551MTwGxlk1h98or%0Ar9x0001Lly7t0KHD0KFDDzvssBdeeKF3797//e9/oyhq1KjRrbfe2rdv32/0mnl5eRdeeGH1%0A5yQSCWFHfLRvEf3yuEwPAZkw68NMTwCxlzVhN2vWrJNOOqmioqJRo0YvvPDC9OnTX3rppR49%0AejRu3Piiiy4qKyt76aWXrrrqqn333ffkk0/O9LAAABmQNV93cuutt37ve99bsGDBV1999emn%0An3bp0uVnP/vZPvvss3DhwkceeeTJJ59ctGhR27Zt//SnP2V6UgCAzMiasJs5c+ZVV1118MEH%0AR1HUvHnz//3f//3444/79+9fr1695AlNmzbt06fPnDlzMjomAEDGZE3YffXVV1W/QWrvvfeO%0Aoqh58+ZVz2nRosW6detqezIAgHjImrDbc889Fy1alPrxgw8+iKLoo48+qnrOokWL9txzz9qe%0ADAAgHrIm7I499thRo0a9+uqr5eXlb7311q9+9asOHTrccccdn3zySfKE995777777uvWrVtm%0A5wQAyJSsuSt26NChU6dOPe64/+9rHpo1a/bPf/7zf/7nf374wx8edthhZWVlc+fOTSQSAwcO%0AzOycAACZkjVX7Pbff/+ZM2eef/75hx122CWXXDJz5swOHTr89a9/Peigg6ZNmzZr1qzWrVtP%0AnDixS5cumZ4UACAzsuaKXRRFBx100OOPP77VkdmzZ69fv/7rr7/e6kYKAIDvmmwKux1p2LCh%0AXVwBALLmo1gAAKon7AAAAiHsAAACIewAAAIh7AAAAiHsAAACIewAAAIh7AAAAiHsAAACIewA%0AAAIh7AAAAiHsAAACIewAAAIh7AAAAiHsAAACIewAAAIh7AAAAiHsAAACIewAAAIh7AAAAiHs%0AAAACIewAAAIh7AAAAiHsAAACIewAAAIh7AAAAiHsAAACIewAAAIh7AAAAiHsAAACIewAAAIh%0A7AAAAiHsAAACIewAAAIh7AAAAiHsAAACIewAAAIh7AAAAiHsAAACIewAAAIh7AAAAiHsAAAC%0AIewAAAIh7AAAAiHsAAACIewAAAIh7AAAAiHsAAACIewAAAIh7AAAAiHsAAACIewAAAIh7AAA%0AAiHsAAACIewAAAIh7AAAAiHsAAACIewAAAIh7AAAAiHsAAACIewAAAIh7AAAAiHsAAACIewA%0AAAIh7AAAAiHsAAACIewAAAIh7AAAAiHsAAACIewAAAIh7AAAAiHsAAACIewAAAIh7AAAAiHs%0AAAACIewAAAIh7AAAAiHsAAACIewAAAIh7AAAAiHsAAACIewAAAIh7AAAAiHsAAACIewAAAIh%0A7AAAAiHsAAACIewAAAIh7AAAAiHsAAACIewAAAIh7AAAAiHsAAACIewAAAIh7AAAAiHsAAAC%0AIewAAAIh7AAAAiHsAAACIewAAAIh7AAAAiHsAAACIewAAAIh7AAAAlE30wN8Y4lEYsmSJYsX%0ALy4tLY2iqHHjxsXFxa1atcr0XAAAGZZNYbd27dqRI0eOGzfus88+2+qp1q1b9+nTZ8CAAfXq%0A1cvIbAAAGZc1Ybdy5cquXbsuWbKkuLj4lFNOadOmTYMGDaIoWrdu3aJFi1577bUbb7xx4sSJ%0Ar776atOmTTM9LABABmRN2A0ZMmTFihVPPfXUeeedt+2zlZWVo0eP7tev3/Dhw++8887aHw8A%0AIOOy5uaJqVOn9urVa7tVF0VRbm5u3759e/ToMWnSpFoeDAAgJrIm7FavXr3ffvtVf06HDh1W%0ArVpVO/MAAMRN1oRdUVHRggULqj9n/vz5RUVFtTMPAEDcZE3Yde/efcKECbfffvojHyIAABqg%0ASURBVPumTZu2fXbDhg1Dhw6dPHlyz549a382AIA4yJqbJ4YNGzZjxoyBAweOGDGiS5curVq1%0AatiwYSKRWL9+/bJly+bMmbNx48Zu3boNHjw405MCAGRG1oRdkyZNZs2adc8994wdO3batGmV%0AlZWpp/Ly8kpKSnr37t27d+/c3NwMDgkAkEFZE3ZRFOXn5/fv379///5lZWXLly9P7jzRqFGj%0A1q1b5+fn79xrbty48f7779+8eXM158yePXvnXhwAoDZlTdgtXbq0UaNGzZo1i6KosLCwuLh4%0Al7zsV1999cwzz3z99dfVnPP5559HUZRIJHbJbwQA2E2yJuz22WefwsLCwYMHDxw4cKevz22r%0ARYsWM2bMqP6c0aNHX3HFFTk5ObvqlwIA7A5Zc1dsFEU/+MEPhg4d2rFjx2nTpmV6FgCA2Mmm%0AsOvZs+e//vWvwsLCY4899qc//ek///nPTE8EABAj2RR2URR16tRp7ty5f/zjH//zn/9069bt%0A6KOPHjt27FdffZXpuQAAMi/dNXaVlZWpbxLZtGnTm2++mZ+f37Fjx9pfeZabm3vttddedtll%0Ao0aNuv322y+++OLc3NxDDz304IMP3meffRo1avSrX/2qlkcCAIiDmsOusrLy6quv/uyzzyZM%0AmBBF0dKlS48//vjFixdHUXTUUUc9//zzDRs23O1jbqNBgwaDBg26+uqrJ02a9NRTT73yyitz%0A585NPiXsAIDvppo/ir3tttvuvffe1q1bJ3+86qqrlixZcuWVV/bt23fmzJl33333bp6wOvXr%0A17/wwgunTJmyZs2a+fPnjx8//t57783gPAAAGVTzFbvHHnvs7LPPvuOOO6Io+uSTT55//vne%0AvXsn+6msrOzJJ58cNGjQbh+zJsnPhTt27JjpQQAAMqbmK3ZLly498cQTk49feOGFRCJx/vnn%0AJ38sKSlZunTp7huuqoKCgry8vNr5XQAA2ajmK3ZVb494+eWXGzRo0K1bt+SPiUSi+s24dqGy%0AsrLa+UUAAFmq5it2bdq0mT59ehRFq1ateu6550488cTUxg8LFixo2bLl7h0QAID01Bx2P//5%0Azx9//PEjjzzy0EMPXb9+/TXXXJM8Pnbs2EceeeSMM87YzRMCAJCWmj+K7d+//wcffPDkk0/m%0A5+ffddddRx99dPL4oEGD2rdvf8MNN+zmCQEASEvNYVdYWPjQQw899NBDWx2fNGlSp06d6tZN%0A9yuOAQDYrWr+KHbcuHHbPX744YeXlpaed955u3okAAB2Rs1hd/HFFye/xG4rM2bMOOSQQ55+%0A+undMBUAAN9YzWF31llnDRgw4Prrr08kEskjlZWVN95447HHHrtmzZoHHnhgN08IAEBaal4h%0AN2HChAEDBtx2222rVq0aM2bMihUrLrjggpkzZ3bq1Onxxx8vLi6uhSkBAKhRzWFXp06dP/zh%0AD/vuu++11167aNGit99+u7S0dNCgQSNGjLAVBABAfKR7T2u/fv3atGlz/vnnb9iw4dlnnz3z%0AzDN361gAAHxT2w+7FStWbHvwxz/+8WOPPdarV6977723pKQkddzmEwAAcbD9sGvVqlU1/+bF%0AF1+sekLqpgoAADJo+2HXs2fPWp4DAIBvafthN378+FqeAwCAb6nm77GbMmXKO++8UwujAADw%0AbdQcdj179vzrX/9aC6MAAPBt1Bx2Rx111GuvvbZly5ZamAYAgJ1W8/fYPfroo/379z/11FMv%0AuuiiH/7wh40bN97qhHbt2u2e2QAA+AZqDrsf/OAHyQd///vft3uCrzsBAIiDmsOuZ8+e+fn5%0AeXl5OTk5tTAQUL2Jc6Lp72d6CMiEz9dF5+yb6SEg3moOu2q++mTDhg2lpaW7dB6gBqVlUWlZ%0ApocAIJZqvnmiGpMnTz700EN31SgAAHwbNV+xi6Loiy++GD9+/NKlSysqKlIHy8rK/vrXv65f%0Av363zQZsxx6FUfNGmR4CMuHzdZmeAGKv5rBbunRply5dPv/88+3847p1hwwZshumAnbonC7R%0AQ5dnegjIhEtHZ3oCiL2aw27w4MFlZWV33313hw4djj/++AcffLBly5bTpk0bN27cmDFjTjrp%0ApFqYEgCAGtUcdjNmzLjqqquuuuqqsrKyKIoOPPDAww8//KSTTurZs+fxxx8/ZcqUrl277v45%0AAQCoQc03T6xcuXLfffeNoqhOnTpRFJWXlyePd+zY8aqrrho6dOhunQ8AgDTVHHZ77LHHqlWr%0AoijKz89v2LDh4sWLU08dcMAB8+bN243TAQCQtprDrlu3bvfff/+0adOiKPrRj350zz33pO6E%0AfeWVVwoKCnbrfAAApKnmsPvNb36zevXqAQMGRFF02WWXzZs374ADDjj77LN//OMfP/DAAyec%0AcMLuHxIAgJrVfPNEly5d/vnPf86ZMyeKoksuueTDDz+88847n3nmmZycnDPOOOPOO+/c/UMC%0AAFCztL6guKSkpKSkJIqinJycW2655cYbb/z000/32muvevXq7ebxAABIV1pht5XCwsK2bdvu%0A6kkAAPhWdhh2VXcPq+El6u5MHQIAsGvtsMny8vLSfIlEIrGLhgEAYOdVd7EtNzf34IMPbt++%0AvXQDAIi/HYbdtdde+/jjj8+fP3/NmjU9evS4+OKLDzzwwNqcDACAb2SH32P3xz/+8ZNPPnnu%0Auec6d+581113HXTQQZ06dRo1atQXX3xRm/MBAJCm6r6guG7duqeddtqECRM+/fTT+++/Pz8/%0A/+qrry4qKjrrrLOeffbZzZs319qUAADUqOadJ6IoatKkyeWXXz5z5swPP/xw0KBBb7755lln%0AnVVUVHT11Vf/+9//3t0jAgCQjrTCLqVdu3YjRoxYvHjxa6+9dsABB4waNapTp067aTIAAL6R%0Ab/YVdFu2bHnppZcefvjh5557bsOGDe3atbvooot202QAAHwj6YbdwoULH3744XHjxn3yySd7%0A7LFHjx49Lr300m7duu3W4QAASF8NYffll18++eSTDz/88L/+9a+cnJyjjz76lltuOffcc+vX%0Ar1878wEAkKYdht0LL7zw8MMPP/vss2VlZfvss8+wYcMuvvhiW8QCAMTWDsPu5JNPzs3N7dKl%0Ay8knn1xSUpJIJN5+++2333572zNPO+203TkhAABpqe6j2MrKylmzZs2aNav6l7DhGABAHOww%0A7MaNG1ebcwAA8C3tMOwuvPDC2pwDAIBv6Zt9QTEAALEl7AAAAiHsAAACIewAAAIh7AAAAiHs%0AAAACIewAAAIh7AAAAiHsAAACIewAAAIh7AAAAiHsAAACIewAAAIh7AAAAiHsAAACIewAAAIh%0A7AAAAiHsAAACIewAAAIh7AAAAiHsAAACIewAAAIh7AAAAiHsAAACIewAAAIh7AAAAiHsAAAC%0AIewAAAIh7AAAAiHsAAACIewAAAIh7AAAAiHsAAACIewAAAIh7AAAAiHsAAACIewAAAIh7AAA%0AAiHsAAACIewAAAIh7AAAAiHsAAACIewAAAIh7AAAAiHsAAACIewAAAIh7AAAAiHsAAACIewA%0AAAIh7AAAAiHsAAACIewAAAIh7AAAAiHsAAACIewAAAIh7AAAAiHsAAACUTfTA3xjiURiyZIl%0AixcvLi0tjaKocePGxcXFrVq1yvRcAAAZlk1ht3bt2pEjR44bN+6zzz7b6qnWrVv36dNnwIAB%0A9erVy8hsAAAZlzVht3Llyq5duy5ZsqS4uPiUU05p06ZNgwYNoihat27dokWLXnvttRtvvHHi%0AxImvvvpq06ZNMz0sAEAGZE3YDRkyZMWKFU899dR555237bOVlZWjR4/u16/f8OHD77zzztof%0ADwAg47Lm5ompU6f26tVru1UXRVFubm7fvn179OgxadKkWh4MACAmsibsVq9evd9++1V/TocO%0AHVatWlU78wAAxE3WhF1RUdGCBQuqP2f+/PlFRUW1Mw8AQNxkTdh17959woQJt99++6ZNm7Z9%0AdsOGDUOHDp08eXLPnj1rfzYAgDjImpsnhg0bNmPGjIEDB44YMaJLly6tWrVq2LBhIpFYv379%0AsmXL5syZs3Hjxm7dug0ePDjTkwIAZEbWhF2TJk1mzZp1zz33jB07dtq0aZWVlamn8vLySkpK%0Aevfu3bt379zc3G/6yqWlpRUVFdWcsHHjxp2ZGHaPTRXR2g2ZHuK7aksiiqKoTk6m5/iu2lQR%0AFWR6Boi5rAm7KIry8/P79+/fv3//srKy5cuXJ3eeaNSoUevWrfPz83fuNRctWlRcXJxIJGo8%0AM51zYHcrLCx8eGb0xMxMzwEZcsXBhZkeAWItJ6t7pbKy8t133y0tLW3VqtVO7yr2zjvvlJWV%0AVXPCpEmTbrnlltLS0oYNG+7cr4BdZf369QsXLsz0FN9dN910UxRFQ4YMyfQg313t27f3n2Iy%0Arry8vKCg4PXXXz/yyCMzPcvWsumK3cyZMx9//PG77747+eOjjz46YMCA1PebHHLIIXfddddP%0AfvKTb/qyBx54YPUnzJs375u+JuwmDRs2LCkpyfQU31333XdfFEUtWrTI9CAA25c1YTdt2rST%0ATjopPz9/1KhROTk5Tz/9dK9evRo2bHjeeec1b978ww8//Mc//nHiiSe+/vrr/s8esJtIOiDm%0Asibshg8f3qRJk9dffz0nJyeKouuvv75NmzazZs1K/Xd29uzZxx577PDhw6dMmZLRSQEAMiNr%0AvsfujTfeuOiii9q1axdF0VdffbVkyZLrrruu6v/3fNhhh1144YUzZszI3IwAAJmUNWFXWVlZ%0Ar1695OPCwsKcnJyWLVtudU7Lli2rvw0C4NsYNmzYsGHDMj0FwA5lTdh17Nhx/Pjxya+UKygo%0AOOKII2bNmlX1hE2bNk2aNKl9+/YZGhAI37Jly5YtW5bpKQB2KGvCbtCgQR9++GG3bt1efPHF%0AioqKUaNGPfbYY2PHjt24cePmzZtnz559yimnLFiwoG/fvpmeFAAgM7Lm5onTTjvtgQceuPba%0Aa0866aR69erts88++fn5F198ce/evaMoqqyszMnJue666y677LJMTwoAkBlZE3ZRFPXp0+f0%0A008fN27cyy+//P77769Zs6agoKBhw4Zt27bt2rXrxRdffOihh2Z6RgCAjMmmsIuiaK+99how%0AYMCAAQMyPQjwXbQTu1ED1KYsCzuADEpuKQYQW8IOIF12ngBiLmvuigUAoHrCDgAgEMIOIF12%0AngBizho7gHTZdgKIOVfsAAACIewAAAIh7AAAAmGNHUC67DwBxJywA0iXnSeAmBN2AOmy8wQQ%0Ac9bYAQAEQtgBAARC2AGky84TQMxZYweQLjtPADHnih0AQCCEHQBAIIQdAEAgrLEDSJedJ4CY%0AE3YA6bLzBBBzwg4gXXaeAGLOGjsAgEAIOwCAQAg7gHTZeQKIOWvsANJl5wkg5lyxAwAIhLAD%0AAAiEsAMACIQ1dgDpsvMEEHPCDiBddp4AYk7YAaTLzhNAzFljBwAQCGEHABAIYQeQLjtPADFn%0AjR1Auuw8AcScK3YAAIEQdgAAgRB2AACBsMYOIF12ngBiTtgBpMvOE0DMCTuAdNl5Aog5a+wA%0AAAIh7AAAAiHsANJl5wkg5qyxA0iXnSeAmHPFDgAgEMIOACAQwg4AIBDW2AGky84TQMwJO4B0%0A2XkCiDlhB5AuO08AMWeNHQBAIIQdAEAghB1Auuw8AcScNXYA6bLzBBBzrtgBAARC2AEABELY%0AAQAEwho7gHTZeQKIOWEHkC47TwAxJ+wA0mXnCSDmrLEDAAiEsAMACISwA0iXnSeAmLPGDiBd%0Adp4AYs4VOwCAQAg7AIBACDsAgEBYYweQLjtPADEn7ADSZecJIOaEHUC67DwBxJw1dgAAgRB2%0AAACBEHYA6bLzBBBz1tgBpMvOE0DMuWIHABAIYQcAEAhhBwAQCGvsANJl5wkg5oQdQLrsPAHE%0AnLADSJedJ4CYs8YOACAQwg4AIBDCDiBddp4AYs4aO4B02XkCiDlX7AAAAiHsAAACIewAAAJh%0AjR1Auuw8AcScsANIl50ngJgTdgDpsvMEEHPW2AEABELYAQAEQtgBpMvOE0DMWWMHkC47TwAx%0A54odAEAghB0AQCCEHQBAIKyxA0iXnSeAmBN2AOmy8wQQc8IOIF12ngBizho7AIBACDsAgEAI%0AO4B02XkCiLnsW2OXSCSWLFmyePHi0tLSKIoaN25cXFzcqlWrTM8FhM/OE0DMZVPYrV27duTI%0AkePGjfvss8+2eqp169Z9+vQZMGBAvXr1MjIbAEDGZU3YrVy5smvXrkuWLCkuLj7llFPatGnT%0AoEGDKIrWrVu3aNGi11577cYbb5w4ceKrr77atGnTTA8LAJABWRN2Q4YMWbFixVNPPXXeeedt%0A+2xlZeXo0aP79es3fPjwO++8s/bHAwDIuKy5eWLq1Km9evXabtVFUZSbm9u3b98ePXpMmjSp%0AlgcDvjtyc3NtPgHEWdZcsVu9evV+++1X/TkdOnR45plnamce4DvIzhNAzGVN2BUVFS1YsKD6%0Ac+bPn19UVFQ78wDfQXaeAGIuaz6K7d69+4QJE26//fZNmzZt++yGDRuGDh06efLknj171v5s%0AAABxkDVX7IYNGzZjxoyBAweOGDGiS5curVq1atiwYSKRWL9+/bJly+bMmbNx48Zu3boNHjw4%0A05MCAGRG1oRdkyZNZs2adc8994wdO3batGmVlZWpp/Ly8kpKSnr37t27d2/rmoHdJ7nthM0n%0AgNjKmrCLoig/P79///79+/cvKytbvnx5cueJRo0atW7dOj8/f+dec/Xq1ddcc015eXk15yxe%0AvDiKokQisXO/AgiGnSeAmMumsEspLCwsLi6Ooqi8vHzBggXLly9v27btPvvssxMvVbdu3WbN%0Amm133V7KXnvtFUVRQUHBzk0LAFA7sibsbr755q5dux577LGpI6NHj77hhhvWrl2b/LGkpOTB%0ABx/s2LHjN3rZxo0b33XXXdWfM3PmzL/97W/fdGAAgFqWNXfFDhky5IUXXkj9OHXq1CuuuGLj%0Axo1nnXXW5Zdf3rVr13//+9/HHHPMokWLMjgkAEAGZc0Vu63079+/cePGs2bN6tChQ/LIpEmT%0Azj333JEjR/7lL3/J7GxAqNyeBcRcVobd559//uGHH/7mN79JVV0URWefffaZZ5754osvZnAw%0AIGx2ngBiLms+iq2qrKwsiqKqVZd00EEHffbZZ5mYCPhOaNGihc0ngDjLyrArKipq3LjxihUr%0Atjr+3//+d4899sjISAAAGZdNYffxxx/Pmzfvo48+Wrt2bd++fceMGbNx48bUs++///6TTz7Z%0AtWvXDE4IAJBB2bTG7oknnnjiiSeqHnn++efPOeecKIoef/zxX/7yl19//fWQIUMyNB0QPjtP%0AADGXNWH30EMPfVnFV1999eWXXzZt2jT57JdfftmkSZPx48d37tw5s3MCAbPzBBBzWRN2l1xy%0ASTXPXnTRRVdccUWdOtn0yTIAwK6VNWFXvYYNG2Z6BACADHOJCwAgEIFcsQOoBXaeAGJO2AGk%0Ay84TQMwJO4B02XYCiDlr7AAAAiHsAAACIewA0jVs2DDbTgBxZo0dQLrsPAHEnCt2AACBEHYA%0AAIEQdgAAgbDGDiBddp4AYk7YAaTLzhNAzAk7gHTZeQKIOWvsAAACIewAAAIh7ADSZecJIOas%0AsQNIl50ngJhzxQ4AIBDCDgAgEMIOACAQ1tgBpMvOE0DMCTuAdNl5Aog5YQeQLjtPADFnjR0A%0AQCCEHQBAIIQdQLrsPAHEnDV2AOmy8wQQc67YAQAEQtgBAARC2AEABMIaO4B02XkCiDlhB5Au%0AO08AMSfsANJl5wkg5qyxAwAIhLADAAiEsANIl50ngJizxg4gXXaeAGLOFTsAgEAIOwCAQAg7%0AAIBAWGMHkC47TwAxJ+wA0mXnCSDmhB1Auuw8AcScNXYAAIEQdgAAgRB2AOmy8wQQc9bYAaTL%0AzhNAzLliBwAQCGEHABAIYQcAEAhr7IDac/PNN//hD3/I9BQ7b+PGjVEUTZ48OdOD7Lzrrrtu%0A8ODBmZ4C2F2EHVB7fvGLXxx++OGZnmLnrVmzJoqiZs2aZXqQnXfggQdmegRgNxJ2QO1p0aKF%0AzRsAdh9r7AAAAiHsAAACIewAAAIh7AAAAiHsAAACIewAAAIh7AAAAiHsAAACIewAAAIh7AAA%0AAiHsAAACIewAAAIh7AAAAiHsAAACIewAAAIh7AAAAiHsAAACIewAAAIh7AAAAiHsAAACUTfT%0AA2SB/Pz8KIoKCgoyPQgAEBfJPIibnEQikekZssCCBQsqKioyPQUAEAt169Y95JBDMj3Fdgg7%0AAIBAWGMHABAIYQcAEAhhBwAQCGEHABAIYQcAEAhhBwAQCGEHABAIYQcAEAhhBwAQCGEHABAI%0AYQcAEAhhBwAQCGEHABAIYQcAEAhhBwAQCGEHABAIYQcAEAhhBwAQCGEHABAIYQcAEAhhBwAQ%0ACGEHABAIYQcAEAhhBwAQCGEHABAIYQcAEAhhBwAQCGEHABAIYQcAEAhhBwAQCGEHABAIYQcA%0AEAhhBwAQCGEHABAIYQcAEAhhBwAQCGEHABAIYQcAEAhhBwAQCGEHABAIYQcAEAhhBwAQCGEH%0AABAIYQcAEAhhBwAQCGEHABAIYQcAEAhhBwAQCGEHABAIYQcAEAhhBwAQCGEHABAIYQcAEAhh%0ABwAQCGEHABAIYQcAEAhhBwAQCGEHABAIYQcAEAhhBwAQCGEHABAIYQcAEAhhBwAQCGEHABAI%0AYQcAEAhhBwAQCGEHABAIYQcAEAhhBwAQCGEHABAIYQcAEAhhBwAQCGEHABAIYQcAEAhhBwAQ%0ACGEHABAIYQcAEAhhBwAQCGEHABAIYQcAEAhhBwAQCGEHABAIYQcAEAhhBwAQCGEHABAIYQcA%0AEAhhBwAQCGEHABAIYQcAEAhhBwAQCGEHABAIYQcAEAhhBwAQCGEHABAIYQcAEAhhBwAQCGEH%0AABAIYQcAEAhhBwAQCGEHABAIYQcAEAhhBwAQCGEHABAIYQcAEAhhBwAQCGEHABAIYQcAEAhh%0ABwAQCGEHABAIYQcAEAhhBwAQCGEHABAIYQcAEAhhBwAQCGEHABAIYQcAEAhhBwAQCGEHABAI%0AYQcAEAhhBwAQiP8LBESr1heceYIAAAAASUVORK5CYII="/>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63" name="AutoShape 19" descr="data:image/png;base64,iVBORw0KGgoAAAANSUhEUgAAA0gAAANICAMAAADKOT/pAAAC/VBMVEUAAAABAQECAgIDAwME%0ABAQFBQUGBgYHBwcICAgJCQkKCgoLCwsMDAwNDQ0ODg4PDw8QEBARERESEhITExMUFBQVFRUW%0AFhYXFxcYGBgZGRkaGhobGxscHBwdHR0eHh4fHx8gICAhISEiIiIjIyMkJCQlJSUmJiYnJyco%0AKCgpKSkqKiorKyssLCwtLS0uLi4vLy8wMDAxMTEyMjIzMzM0NDQ1NTU2NjY3Nzc4ODg5OTk6%0AOjo7Ozs8PDw9PT0+Pj4/Pz9AQEBBQUFCQkJDQ0NERERFRUVGRkZHR0dISEhJSUlKSkpLS0tM%0ATExNTU1OTk5PT09QUFBRUVFSUlJTU1NUVFRVVVVWVlZXV1dYWFhZWVlaWlpbW1tcXFxdXV1e%0AXl5fX19gYGBhYWFiYmJjY2NkZGRlZWVmZmZnZ2doaGhpaWlqampra2tsbGxtbW1ubm5vb29w%0AcHBxcXFycnJzc3N0dHR1dXV2dnZ3d3d4eHh5eXl6enp7e3t8fHx9fX1+fn5/f3+AgICBgYGC%0AgoKDg4OEhISFhYWGhoaHh4eIiIiJiYmKioqLi4uMjIyNjY2Ojo6Pj4+RkZGSkpKTk5OUlJSV%0AlZWWlpaXl5eYmJiZmZmampqbm5ucnJydnZ2enp6fn5+goKChoaGioqKjo6OkpKSlpaWmpqan%0Ap6eoqKipqamqqqqrq6usrKytra2urq6vr6+wsLCxsbGysrKzs7O0tLS1tbW2tra3t7e4uLi5%0Aubm6urq7u7u8vLy9vb2+vr6/v7/AwMDBwcHCwsLDw8PExMTFxcXGxsbHx8fIyMjJycnKysrL%0Ay8vMzMzNzc3Ozs7Pz8/Q0NDR0dHS0tLT09PU1NTV1dXW1tbX19fY2NjZ2dna2trb29vc3Nzd%0A3d3e3t7f39/g4ODh4eHi4uLj4+Pk5OTl5eXm5ubn5+fo6Ojp6enq6urr6+vs7Ozt7e3u7u7v%0A7+/w8PDx8fHy8vLz8/P09PT19fX29vb39/f4+Pj5+fn6+vr7+/v8/Pz9/f3+/v7////RE6r4%0AAAAACXBIWXMAABJ0AAASdAHeZh94AAAYB0lEQVR4nO3deZzkdX3n8W/PwZwMMBzCDDchgCeX%0AEYywHEoUVEYxgih3FCMkmICJBAgiCqJhMRog8WCFoKwmgOCybBAhY4TITdCoi4hmvEYWxzCc%0Aw0z/Hvurqu6e7t7uXqDePVXd/Xz+UfWrX/3q2x+KenUd3TNTKqBtpdMDwGQgJAgQEgQICQKE%0ABAFCggAhQYCQIEBIECAkCBASBAgJAoQEAUKCACFBgJAgQEgQICQIEBIECAkChAQBQoIAIUGA%0AkCBASBAgJAgQEgQICQKEBAFCggAhQYCQIEBIECAkCBASBAgJAoQEAUKCACFBgJA66ZpSptdn%0AXyll1vCrhu3rO3IsI63yXLzQ2zGYkMbXZ0opK0a9dhxDanzh8tnW9n9rbH/mud2OF0ZI4+s5%0AhfTgRRd9avhVw/a9sJDe2Np+q5DGnZDG13MK6Tl4YSHNfryx+fR8IY07IY2vToa0ZSn/2Ni8%0AoZTFQhpnQhpffSF9rpR9qqWv3XDea25q7b9sj7kbHXzntYPfIx1Yyuua111eyoxfDTy8hxx5%0ARimvauzs76r3SwdtOmP93/nr1dUIIb11ejm6sfneMv3NrZAGH16PtO+zf7zJZv23+/WOpby3%0Aqp792wM3nbHpnuc9sg7unMlESOOrL6SrSnnp/1qv8Qpr+tcbu09tbJZZZw4OqX5kr/dY48r6%0ALc3BA1kMPXJ4SO8sLW/sHSGkd+1VFjaS2bLs/bZWSIMP/2IpL7+wsUzrdqv2L+VNq6tV+/Ud%0Asv0P1+XdNPEJaXz1hVQ/WLfYdtfTD6ov/U6999v1+QFXX/f6GYNDWlGH9uX60lPzSvlifxbD%0AjhwW0vWlTLv4gc/NaN7w/wnp7WeX8o2quruUs5c0Qxp++LZbzdx1p77b/UEpr3yiqi4pZecv%0A3XbjYaX8l3V/Z01kQhpfa0Mq+zzVfEqYtqqq3l3Kpo/XL6N2HvLx96GlHFWffbWU9Z/o3zfs%0AyGEhffqQQ06pz+oXbkePENJhd5RSX13ndMehzZCGH152XNb/1T9RPwctry8cW8qF9dmqd5z8%0AsTXr8G6a+IQ0vgaFVD85VF+vz39cVbuUcnzj2nOHhFS//tt4dfOxfMzAvmFHDn9p1/JHpRw0%0AUki9i8u2VbVbWdx76OAPGwYOr5/4+r76ddPKxj9oXPjjUra+/JfjeY9MUkIaX4NCarz/ebA+%0Af6Cq5pRyfuPaq4eE9OT8UpZWqzcp5aaBfcOOHB7STYduP6v5lubAkUKq3lfK/ctKOanqC2nY%0A4aVZTL0xrf7KL322ceHeuY2rdzjhH1evq3tokhDS+FobUvNBvqwZUm99+snGxRuH/mZD/cLv%0AA9UtpSxa079v+JHDQrq4vnreLq/YZLSQ/qmUv7q40WUrpOGHT2++evtK38cLFzZvd8tLWpe2%0AvW1d3UWTg5DG14ghVbNLOa9x8ctDQ/paKTtVp5Ry2tp9w46sQ9q1cfFvmxdX1k8fRz5ZNZ54%0ARg5p1Ybl4MPKhqtaIY1yeCOkAz9avzH7WfNi720ffv0GpfXWjOdMSONr5JB+u7R+wnP60JBW%0AbVzKD7Yp5b61+4YdeX4pm/XW5yc2Ly6tV7u3av4EauSQqiPL+gvLO6tWSKMc3tjoXbN7KUcM%0A3Hj1Vzcq5YZxvmsmFyGNr5FDOqaUDX9dP6NsOeyXVus+6pd3L6vW7ht25BX17a+vqu/NbV68%0Aqb50R1V9d1op+44c0pcbr9K+0hfSKIe3Nr5ZX3lz9eR5x765+XrvoFKuWWd30mQgpPE1cki3%0A1md7XPWFV9bv8adVgx7TtzbfnlxQrd037MiHeup3OSeetvDVzZB+VifxpgeuW7xTKQtuXz5S%0ASCtnlTJ7ZV9Ioxzet/H2UnZZVe1a3+yGu5aeM7PMWr4u76cJT0jja+SQquOaxcz7dH2yZlBI%0AvYvrHdMaP9wZ2Df0yOq9zYs7/kspPb3ND7Jrix5eVJ+ePVJI1cGlHFL1hTTK4X0bP5lTyseq%0AB7bs++hh2ufW2X00KQhpfI0S0poLd1pvs7d957utT8XXJvCn9Y79m1v9+4YeWa0+f8f1Fr9n%0A+U/ri0/Ub6ouePGcxX/ws+qmnWZsedWIIX2m9bl3K6SRD+/fOKvu9T+qX56754tmzt35Pfev%0Am/tn0hASBAgJAoQEAUKCACFBgJAgQEgQICQIEBIECAkChAQBQoIAIUGAkCBASBAgJAgQEgQI%0ACQKEBAFCggAhQYCQIEBIECAkCBASBAgJAoQEAUKCACFBgJAgQEgQICQIEBIECAkChAQBQoIA%0AIUGAkCBASBCwDkK67y6YUO57/o/y8Q/pzgITzJ3P+2E+/iF9qzwz7l8Dgp4p33retxESDCMk%0ACBASBAgJAoQEAUKCACFBgJAgQEgQICQIEBIECAkChAQBQoIAIUGAkCBASBAgJAgQEgQICQKE%0ABAFCggAhQYCQIEBIECAkCBASBAgJAoQEAUKCACFBgJAgQEgQICQIEBIECAkChAQBQoIAIUGA%0AkCBASBAgJAgQEgQICQKEBAFCggAhQYCQIEBIECAkCBASBAgJAoQEAUKCACFBgJAgQEgQICQI%0AEBIECAkChAQBQoIAIUGAkCBASBAgJAgQEgQICQKEBAFCggAhQYCQIEBIECAkCBASBAgJAoQE%0AAUKCACFBgJAgQEgQICQIEBIECAkChAQBQoIAIUGAkCBASBAgJAgQEgQICQKEBAFCggAhQYCQ%0AIEBIECAkCBASBAgJAoQEAUKCACFBgJAgQEgQICQIEBIECAkChAQBQoIAIUGAkCBASBAgJAgQ%0AEgQICQKEBAFCggAhQYCQIEBIECAkCBASBAgJAoQEAUKCACFBgJAgQEgQICQIEBIECAkChAQB%0AQoIAIUGAkCBASBAgJAgQEgQICQKEBAFCggAhQYCQIEBIECAkCBASBAgJAoQEAUKCACFBgJAg%0AQEgQICQIEBIECAkChAQBQoIAIUGAkCBASBAgJAgQEgQICQKEBAFCggAhQYCQIEBIECAkCBAS%0ABAgJAoQEAUKCACFBgJAgQEgQICQIEBIECAkChAQBQoIAIUGAkCBASBAgJAgQEgQICQKEBAFC%0AggAhQYCQIEBIECAkCBASBAgJAoQEAUKCACFBgJAgQEgQICQIEBIECAkChAQBQoIAIUGAkCBA%0ASBAgJAgQEgQICQKEBAFCggAhQYCQIEBIECAkCBASBAgJAoQEAUKCACFBgJAgQEgQICQIEBIE%0ACAkChAQBQoIAIUGAkCBASBAgJAgQEgQICQKEBAFCggAhQYCQIEBIECAkCBASBAgJAoQEAUKC%0AACFBgJAgQEgQICQIEBIECAkChAQBQoIAIUGAkCBASBAgJAgQEgQICQKEBAFCggAhQYCQIEBI%0AECAkCBASBAgJAoQEAUKCACFBgJAgQEgQICQIEBIECAkChAQBQoIAIUGAkCBASBAgJAgQEgQI%0ACQKEBAFCggAhQYCQIEBIECAkCBASBAgJAoQEAUKCACFNFmu+dsZRH7q501NMWUKaJH6+V2l4%0Aw392epApSkiTw+pXlpY3d3qSKUpIk8PVpd8dnR5lahLS5PC+gZDO7/QoU5OQJocjBkI6rdOj%0ATE1CmhxOGQjpE50eZWoS0uRw40BID3R6lKlpooW0cuW4f/HnYdWjkWWefaTtJXpf19fRce2P%0As3xN+2vUHnk2ssyjqyLL/OapyDKjPv4mVEhPnb19T8/2Z2fukvZdtuvM8qITftHuMtfuNass%0APPyHba7ym9c0O1rydJvr3HPIgjJv/1vbXKX64eELy6y9r213mV+c8KIyc9fL2l3mN+/fqkzf%0A+aLVbS4z1uNvIoX0xKtb33Rf/cS4D/BcvLc1zRYPtbfMR1rLLLirvWUum95cZtb/bG+ZG2Y1%0Al5l+WXvL3Lmg9V/1kfaW+eEWrWX+sL1lfrVza5lD2ytpzMffRArpjP63AWeM+wDPwfX90xzQ%0A1jJ3T+tbZpe2/i8vm9O3zGaPtbPMY5v1LTN3WTvLrN6lb5lp97SzTHVA/338tbaWOaZ/mUva%0AWmbMx98ECql38/7/kM17x32C/78lA2/v23pKOnlgmaXtLPOxgWWubGeZvx9Y5oJ2lvnngWVO%0AbmeZhwaWWdLOMitn9S+zRzvLjP34m0AhPTJwt5b235y3b8eBaa5vZ5n9B5Zp69vlUQPL/EU7%0Ay5w+sMzR7Sxz8cAy+7ezzHUDy+zYzjL3Diwzp51lxn78CemF6q6Qjs6E9BdCGtWkCWntU+sW%0A3fXS7kftLBN6aXfBwDJtvbS7cmCZtl7aLR1Ypite2s3uXyb00m6kx98ECsmHDWPwYcMYfNgw%0AlI+/x+Dj79H5+HuYSfoD2b0TP5Ctbt1/XllwyL3tLnPPIRv4gewoJssPZBv8itDo1iyPLONX%0AhMYwOX5FCLqVkCBASBAgJAgQEgQICQKEBAFCggAhQYCQIEBIECAkCBASBAgJAoQEAUKCACFB%0AgJAgQEgQICQIEBIECAkChAQBQoIAIUGAkCBASBAgJAgQEgQICQKEBAFCggAhQYCQIEBIECAk%0ACBASBAgJAoQEAUKCACFBgJAgQEgQICQIEBIECAkChAQBQoIAIUGAkCBASBAgJAgQEgQICQKE%0ABAFCggAhQYCQIEBIECAkCBASBAgJAoQEAUKCACFBgJAgQEgQICQIEBIECAkChAQBQoIAIUGA%0AkCBASBAgJAgQEgQICQKEBAFCggAhQYCQIEBIECAkCBASBAgJAoQEAUKCACFBgJAgQEgQICQI%0AEBIECAkChAQBQoIAIUGAkCBASBAgJAgQEgQICQKEBAFCggAhQYCQIEBIECAkCBASBAgJAoQE%0AAUKCACFBgJAgQEgQICQIEBIECAkChAQBQoIAIUGAkCBASBAgJAgQEgQICQKEBAFCggAhQYCQ%0AIEBIECAkCBASBAgJAoQEAUKCACFBgJAgQEgQICQIEBIECAkChAQBQoIAIUGAkCBASBAgJAgQ%0AEgQICQKEBAFCggAhQYCQIEBIECAkCBASBAgJAoQEAUKCACFBgJAgQEgQICQIEBIECAkChAQB%0AQoIAIUGAkCBASBAgJAgQEgQICQKEBAFCggAhQYCQIEBIECAkCBASBAgJAoQEAUKCACFBgJAg%0AQEgQICQIEBIECAkChAQBQoIAIUGAkCBASBAgJAgQEgQICQKEBAFCggAhQYCQIEBIECAkCBAS%0ABAgJAoQEAUKCACFBgJAgQEgQICQIEBIECAkChAQBQoIAIUGAkCBASBAgJAgQEgQICQKEBAFC%0AggAhQYCQIEBIECAkCBASBAgJAoQEAUKCACFBgJAgQEgQICQIEBIECAkChAQBQoIAIUGAkCBA%0ASBAgJAgQEgQICQKEBAFCggAhQYCQIEBIECAkCBASBAgJAoQEAUKCACFBgJAgQEgQICQIEBIE%0ACAkChAQBQoIAIUGAkCBASBAgJAgQEgQICQKEBAFCggAhQYCQIEBIECAkCBASBAgJAoQEAUKC%0AACFBgJAgQEgQICQIEBIECAkChAQBQoIAIUGAkCBASBAgJAgQEgQICQKEBAFCggAhQYCQIEBI%0AECAkCBASBAgJAoQEAd0Z0p0FJpg7n/fDfPxDqu67a3wd85Irusipszo9wWCXlPM6PcJgWxzX%0A6QkG2+f1oz2k7nv+j/J1ENJ4O/O1nZ5gsK/N6/QEgz1a7u/0CIPtdGmnJxjs2GODiwkpTEhj%0AEFI3E9LohDQGIQ0lpNEJaQxCGkpIoxPSGIQ0lJBGJ6QxCGkoIY1OSGMQ0lBCGp2QxiCkoYQ0%0AOiGNQUhDCWl0QhqDkIY65+BOTzDYP23U6QkGe6zne50eYbCXfb7TEwz2nvcEF5sEIT3+y05P%0AMNiahzs9wRAPdXqAIZZ11R8E+PWvg4tNgpCg84QEAUKCACFBgJAgQEgQICQIEBIECAkChAQB%0AQoIAIUGAkCBASBAgJAgQEgRM3JAu6/uHA86tt1ecss3MLU74eUfnuWHf+Rvsf0vVHdPM6v9n%0AFR7uinG+967NZ2yy5NuNzS6Y5sfHL5q59Z8+lp1m4oZ0UXnHnzd8o6qe2b0c9tHjZ26X/BOP%0Az9fnyw5nnrbpet/qjmnObN41f77t7Ee7YZzvrL/wLy8/d/MZN3fFnfOjTXp+/8OvL3utik4z%0AcUM6e+0/YvNfywX16X8vp3ZumuXzd3u8qh6c/76umKbPXdM/0hXjHFnq73bV/WW/rpjmiPKZ%0A+vSU8jfRaSZuSKeUB/s3d13/6cbZb23W27FpPlFubJz1dsc0Lat32+WZrhjnVWVV42zBtl0x%0AzYJFja+9Ys5e0WkmbkjHlEdWL3uksfXU9AObe44tnfurPn5vzqrq6f/slmlaLiq3dMc4x5QH%0A6tNHpr2hG6Z5vOzbPH/5equT00zckJaUMzYq5bevrKr/XVp/QdnZ5aaOTbPNi+/53Z6yw2Xd%0AMU3T45s2HibdMM6/b/SKb/7ingPn/ms3TLNmxoub53uVZclpJm5I+5Xtz7/89AXl0uruclJz%0AzyfK1R2bZv1ttjj1Hz65dbmyK6Zp+lhZWp92xTjff3EpZevbumOafXr+rTHSzPK95DQTN6Sb%0A/6F+d199d9bCZ+4uJzf3fLxc07FpZpUv1Kc/n7/56m6YpuHJTfZtnHXDOP++3VYXXv+5l2xw%0AU1dM842y7TXfv2r7HcqPktNM3JD6vKXc8WA5prl5Zvl6x8bYePoTjbPfL//WDdM0/H0z7aob%0Axtlr7k/r0ycWL17VDdNUn5pbyvyL3llWJKeZ8CGdWL7xzIz9mpvvKD/p2Bh7TG9+MPW+8q1u%0AmKbhTdNXNM66YJyVPfs3z48u3+mCaWqP3br0sWr3LaL3zYQNaeXFX2yev6Y8VL1qbuPpYM2i%0ArTo3zsnlXxtnB5X/6IZpas/M27O10flxflX2bp6/vdzVBdNU1erGyU96jo7eNxM2pDWL5zf+%0Afvhry25V9XflQ/XmJeWczo1zV88BT1fVndNe3hXT1O4tJ7Q2umCc7Wb+oD5dsXDB090wzZ/N%0AvKN++Ly13B69byZsSNVXe+adcNZbehbcXX+L2acces4RPS97ooPjvL/ses6756x3S3dMU1VX%0AlY+0NrpgnKunbXzG5z+6XeN3CbpgmvvnbnjKOXuWD1TRaSZuSNVtb9hwxqKjm7/esPK0bWYu%0APunRTk7Te+krZm9w8B1dMk3j2+wn+7a6YJzblmw6Y6PX/o8umeb231s4e/fWPzCTm2YChwTd%0AQ0gQICQIEBIECAkChAQBQoIAIUGAkCBASBAgJAgQEgQICQKEBAFCggAhQYCQIEBIECAkCBAS%0ABAgJAoQEAUKCACFBgJAgQEgQICQIEBIECAkChAQBQoIAIUGAkCBASJPB4WVZp0eY6oTU9a4o%0A5ca+zVNKeXakQ4TUcULqeleU6Ue0tp7dbLqQupSQut4VZe/ZK5pb15fdhNSlhNT1rijnlEub%0AW2/b+ohmSN9esvHMbd71cNUoaPlrZ3+1FdKat/ZcUT398ZcvmP+yj6/p5MBTkpC63hXl+u32%0AamysmPWBwxsh3TV70Yf/7oPrb/Z/quqocuQbznugFdKflL+qquPKkZdc+pZyUqeHnnKE1PXq%0AkD5Uvl9vXFoeaIZ08e631Jc+VT5VVceXgxpPPo2QPl0+UG/N3btxkz85bHUHB56ShNT16pAe%0A7vlgvbH3HtXh/e+RVj11czm1qk4oVzYu1SFdN/3o3nprg0XLOzfpVCakrleHVO23eE31YPnr%0AvpAu33fDUjulEdJdjUMOL9fO+91mYp8sC476/E87Ou/UJKSu1wjpC+XG6qyZj7RCOr3sedmt%0At3+2FdKDjUMOL+uXDR5uHn3zknml5+Afd3LgKUlIXa8R0hPrH9G77ZKqGdJTc7ZaWe++cUhI%0Ar7t22qv73hc9fdMxPb/1TAcHnpKE1PUaIVXHzVtarmmF9HB5S2P36UNCWlZ9sJw1cJM/LN/u%0A0LBTlpC6XjOkpWXfTVa1QnqyZ7d6772Ly4lDQlq15/Sl1e2LvtC4fFK5p6MjT0FC6nrNkKod%0Ayh9VrZCqN5YTv3TWRjfM2PKLjw8KqfrBvK1WPPvS9d79NxcfP+01vZ2deeoRUtdrhXRu8/O5%0AZki/OnLTDQ74ZnXO/M1/MTik6rPlbdWj799h7gavOG9lRyeeioQEAUKCACFBgJAgQEgQICQI%0AEBIECAkChAQBQoIAIUGAkCBASBAgJAgQEgQICQKEBAFCggAhQYCQIEBIECAkCBASBAgJAoQE%0AAUKCACFBgJAgQEgQICQIEBIE/F8+gL+FSiV3jAAAAABJRU5ErkJggg=="/>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64" name="AutoShape 20" descr="data:image/png;base64,iVBORw0KGgoAAAANSUhEUgAAA0gAAANICAMAAADKOT/pAAADAFBMVEUAAAABAQECAgIDAwME%0ABAQFBQUGBgYHBwcICAgJCQkKCgoLCwsMDAwNDQ0ODg4PDw8QEBARERESEhITExMUFBQVFRUW%0AFhYXFxcYGBgZGRkaGhobGxscHBwdHR0eHh4fHx8gICAhISEiIiIjIyMkJCQlJSUmJiYnJyco%0AKCgpKSkqKiorKyssLCwtLS0uLi4vLy8wMDAxMTEyMjIzMzM0NDQ1NTU2NjY3Nzc4ODg5OTk6%0AOjo7Ozs8PDw9PT0+Pj4/Pz9AQEBBQUFCQkJDQ0NERERFRUVGRkZHR0dISEhJSUlKSkpLS0tM%0ATExNTU1OTk5PT09QUFBRUVFSUlJTU1NUVFRVVVVWVlZXV1dYWFhZWVlaWlpbW1tcXFxdXV1e%0AXl5fX19gYGBhYWFiYmJjY2NkZGRlZWVmZmZnZ2doaGhpaWlqampra2tsbGxtbW1ubm5vb29w%0AcHBxcXFycnJzc3N0dHR1dXV2dnZ3d3d4eHh5eXl6enp7e3t8fHx9fX1+fn5/f3+AgICBgYGC%0AgoKDg4OEhISFhYWGhoaHh4eIiIiJiYmKioqLi4uMjIyNjY2Ojo6Pj4+QkJCRkZGSkpKTk5OU%0AlJSVlZWWlpaXl5eYmJiZmZmampqbm5ucnJydnZ2enp6fn5+goKChoaGioqKjo6OkpKSlpaWm%0Apqanp6eoqKipqamqqqqrq6usrKytra2urq6vr6+wsLCxsbGysrKzs7O0tLS1tbW2tra3t7e4%0AuLi5ubm6urq7u7u8vLy9vb2+vr6/v7/AwMDBwcHCwsLDw8PExMTFxcXGxsbHx8fIyMjJycnK%0AysrLy8vMzMzNzc3Ozs7Pz8/Q0NDR0dHS0tLT09PU1NTV1dXW1tbX19fY2NjZ2dna2trb29vc%0A3Nzd3d3e3t7f39/g4ODh4eHi4uLj4+Pk5OTl5eXm5ubn5+fo6Ojp6enq6urr6+vs7Ozt7e3u%0A7u7v7+/w8PDx8fHy8vLz8/P09PT19fX29vb39/f4+Pj5+fn6+vr7+/v8/Pz9/f3+/v7////i%0AsF19AAAACXBIWXMAABJ0AAASdAHeZh94AAAeyklEQVR4nO3de5xUdf3H8c+yNxZYLupS3ARB%0ABbUUL8VPFNQwFQFBzQzT5BKoqZE/KjXMzVQszfxJBJl5i7ziJbAyorQwQIEKf4p4oxQIQX9C%0AishlL9/f95wzMzt7GdzLe2dmd1/PP+acM3PmnK/ncV7MmbOLmAPQZJbpAQCtASEBAoQECBAS%0AIEBIgAAhAQKEBAgQEiBASIAAIQEChAQIEBIgQEiAACEBAoQECBASIEBIgAAhAQKEBAgQEiBA%0ASIAAIQEChAQIEBIgQEiAACEBAoQECBASIEBIgAAhAQKEBAgQEiBASIAAIQEChAQIEBIgQEiA%0AACEBAoQECBBSs3vCLLcJb59vVigbC5oLITXG1ptH9CjI3+cz33qzHis3f0h3WiCn66ALHt7T%0AhD2hCQipEf6yr8W0/3WwvDnX1qZeuz4h7WUL9Q4ptP/TH7erho+gmd7YuhBSw231HbU/77qr%0AR7YzK37HPzHLmhrSXrZQz5BOHzvmuI5+2u6Jj9tXg0fQTG9sXQip4e42y3shmPGJ2I/89Lgm%0Ah7SXLdQzpG1+uusnRWYdNn7czho6gmZ6Y+tCSA1XanZANHfDrU/8y42KLqqmuRlmQ4JnE+Xc%0Ac3SHbqev/HV88ZWLDiwsPub2Mj97l9kwt+Tkrh2PX+yXEltwZXeMKMkrOWbmu1V78yEVuceH%0AdS4+8Rm/NNHssPDp+3xf22KrxENy7vc5ZpfU2NcvzA51Dx/XufjkpeE6lQ+eUpJX/NlZ5dE4%0Ahpd9fb/uiRGEA5s/uKjvjD3u5TFdO37+pfoOvY0jpIab4y+gnqpaTBnS9PD5wmtii4+1j1b8%0A3E7nHjL71KKCYCn3j0lb2HNi7KtO/zcSm/chdZobPtnuN84t9dNXg6fPMTsnvkpVSO4Ms+6V%0A1ff1K7Oet4RLeYuCVb4c28dov94DZoff6geRGEEwsEdygvlL/7lfMCn5T/2G3tYRUsO9mutP%0AotPvWFMZLa5Z4M+k+5/9Z82Qng/OvMcXnpYXLf7TX3Z969WVJ5hdHdbRo9/gq0/xq3w2aQs+%0AmEEPLvv92WYnJPYWXNoVf/XBm7uY9dnt3KFmN/ln9/jF38RXSQrpXj/7cvV9Pew3UHjhgzM7%0AmfXd49yTvsg5L97lR/VIuPF+ffIHD0yMIBhY7zMu81svHNlz2hD/7G31G3pbR0iNMDP6Y7jb%0AmJ9/ECy+bdHXhBohTfF/nH/or9YGRYuXmZ3oJ+92suKdwdlow3aGnw7t9lRtYYLZrX6yZ/xl%0AP6iI7yxY9WI/fdRPf+ec//z4jF/6k//kKYuvkhTScj/7dO19TXLhR4n5j6TZo0YFnx/+o+sr%0A0cYP2pD03xA84T/pHgvuSK5zuweajanf0Ns6QmqMp4blRC11vcelDOmQ6Px110eLA8xm7PSG%0Am/0xPBuDG9V/9NM3q7bwdbP9f7m5+r6CVV/00/LOZtf6s9lfVa137gqzKxKrJIX0op9dUHtf%0Aq/1LZcVm30u853KzU6KNP+Bc9ZBW+JQLzcb7xW+aDa7f0Ns6Qmqcjb+86PAwpsdShlQUXYS5%0Ax8PFynaWcHt4NgafZq9HlcS38I8OwcsDJj9WXrUnv2p++PF0lNkEP/li8H53kNk/EqskhbTE%0Azy6pta9oA0eaTfSTxWP7F4YvjYi6CcNNDukjP+0dDd5//g2o39DbOkJqvA3fyQ1uiKUIqTI8%0A7bzfh4sfVp2MVpq4p72hxtn4zGHRGv2WJfbiV+0azhxvdq6f/CH4AvWa2eFVA0kKaVbwOVFr%0AX8kbmOOf7HjIEfvFQ8oNI0sKKRyY/xCa6yc/CUKq39DbOEJqjD2x+ww3hn9+J4U0OHj2jugT%0Aqb3ZzGDxkagrH93/JDaQ8mysXPb90/w3/fDbVdWq4e6OjC4VK/tZ7ju3Rj/AikkKaahZ/xT7%0Aijaw3X/onec/c74WDyl6bW8h1XPobRshNdi6swblLY5m7/Zn0c7EuXRTdOvZXRSFdHD4dd65%0AqxOLVTeJ93o2li/oFt5XSKwavhZ8xfl+8MT3ze48yXLfrhpRVUgPWPhFqua+7PVgA52CDQTX%0AfsFF4Yj6h9SAobddhNRgO/cx6xt8/Xdb/J/xhzi32Z9Lz/rFeX76pHNrO0TlXOgvqbY6t713%0AtOi/3ffc4Ss5b+JVG2uejbEtfDRzwhnhhdYpZonf9Ak6CO4rPBz7ku825tpx+TYyaUTxkMrn%0AFvjPsq2192VXuehO3NNucXQ3YY3/3jM8KaT4f0OdIdVj6G0eITVc8C0j59jzv3xi8GPJX/gT%0ALN9s2COL3Loc/+3jom/uMzQq58/+1aMfuu8z/oOgnV9cV2R23G8XnWV2WHnNszG+hcFmZ/9u%0A1ZLr8q1wS3xvPqDcgisW3NrZbGB0DyL8IehDSQOKftdu7IjgJ6j5f6pjX3n5pc/M2TfcwL99%0AQWNeXNhroFnn5VsSIcVHUGdI9Rl6W0dIjTAzL/7dO/faYHlkMDvKuYvD5w76q+8suMSbGC52%0AnO0fgs+Z+dG9Muu1ttb1UXwLL/aObbfdXYmd/cpfMN4YPtk++hWf8Ff8uuxMGk/Sb3/3jj4d%0Aauyr21VVG7g8nO35r57BrYOqX+SLjaDOkOoz9LaOkBpj3YyhJfkFJcdd9Uq4uHFc1/YH3Oj/%0AdL7poIJeU7ds9GeWvxJyFbcOLOj+hZfWWHS/2L086YDCDp+a4S+9ap2N8S1svv6YT+R3GDT1%0Ahap9/cJskLtncPtuZ6yOPVNWYvbV5OHEQsrvMXJuvK/q++ro7gg2EG51zw8PLer11X+7xQPz%0Aej9UFVJsBHWHVJ+ht3GE1PJs9peUf63/6vwV23QgpJZniv/u1YDVCSkdCKmFmfejM/011VMf%0Av2ICIaUDIbUwJwTfhqY25B2ElA6E1MJ8oTBv4K0VH79eFUJKB0ICBAgJECAkQICQAAFCAgQI%0ACRAgJECAkAABQgIECAkQICRAgJAAAUICBAgJECAkQICQAAFCAgQICRAgJECAkAABQgIECAkQ%0AICRAgJAAAUICBAgJECAkQICQAAFCAgQICRAgJECAkAABQgIECAkQSENIq1cBLcrqhp/lzR/S%0ASgNamJUNPs2bP6SltrvZ9wEI7balDX4PIQE1EBIgQEiAACEBAoQECBASIEBIgAAhAQKEBAgQ%0AEiBASIAAIQEChAQIEBIgQEiAACEBAoQECBASIEBIgAAhAQKEBAgQEiBASIAAIQEChAQIEBIg%0AQEiAACEBAoQECBASIEBIgAAhAQKEBAgQEiBASIAAIQEChAQIEBIgQEiAACEBAoQECBASIEBI%0AgAAhAQKEBAgQEiBASIAAIQEChAQIEBIgQEiAACEBAoQECBASIEBIgAAhAQKEBAgQEiBASIAA%0AIQEChAQIEBIgQEiAACEBAoQECBASIEBIgAAhAQKEBAgQEiBASIAAIQEChAQIEBIgQEiAACEB%0AAoQECBASIEBIgAAhAQKEBAgQEiBASIAAIQEChAQIEBIgQEiAACEBAoQECBASIEBIgAAhAQKE%0ABAgQEiBASIAAIQEChAQIEBIgQEiAACEBAoQECBASIEBIgAAhAQKEBAgQEiBASIAAIQEChAQI%0AEBIgQEiAACEBAoQECBASIEBIgAAhAQKEBAgQEiBASIAAIQEChAQIEBIgQEiAACEBAoQECBAS%0AIEBIgAAhAQKEBAgQEiBASIAAIQEChAQIEBIgQEiAACEBAoQECBASIEBIgAAhAQKEBAgQEiBA%0ASIAAIQEChAQIEBIgkK6Q1tqpzk23hOP2ujYhoYVJa0gLpnn72mX+8fa9rk1IaGHSGlLoMNv5%0AsWunCmnhOYMGnbOwEbsHmldLCqlySuGEuXMnFE6pbMQAgObUkkKaU7wimKwontuIAQDNqSWF%0AdPAN0fSGgY0YANCcsjWkt8pdxaZN1R5esb9Fr66yV2q/ygMPmXx4K0tDWv6R27VqVbWHRbY2%0Avq1FtV/lgYdMPizP0pDquLQrL54fzTzSubwRIwCaUbZe2tX1HWnSMbuCya5jJjViAEBzakkh%0Abeo9fOnu3UuH99nUiAEAzaklheTWj87Jy8sZvb4R+weaVYsKybmtS5a814i9A82shYUEZCf+%0AGgUgQEiAACEBAoQECBASIEBIgAAhAQKEBAgQEiBASIAAIQEChAQIEBIgQEiAACEBAoQECBAS%0AIEBIgAAhAQKEBAgQEiBASIAAIQEChAQIEBIgQEiAACEBAoQECBASIEBIgAAhAQKEBAgQEiBA%0ASIAAIQEChAQIEBIgQEiAACEBAoQECBASIEBIgAAhAQKEBAgQEiBASIAAIQEChAQIEBIgQEiA%0AACEBAoQECBASIEBIgAAhAQKEBAgQEiBASIAAIQEChAQIEBIgQEiAACEBAoQECBASIEBIgAAh%0AAQKEBAgQEiBASIAAIQEChAQIEBIgQEiAACEBAoQECBASIEBIgAAhAQKEBAgQEiBASIAAIQEC%0AhAQIEBIgQEiAACEBAoQECBASIEBIgAAhAQKEBAgQEiBASIAAIQEChAQIEBIgQEiAACEBAoQE%0ACBASIEBIgAAhAQKEBAgQEiBASIAAIQEChAQIEBIgQEiAACEBAoQECBASIEBIgAAhAQKEBAgQ%0AEiBASIAAIQEChAQIEBIgQEiAACEBAoQECBASIEBIgAAhAQKEBAgQEiBASIAAIQEChAQIEBIg%0AQEiAACEBAoQECBASIEBIgAAhAQKEBAgQEiCQrpDmWcK7frFy/tgeBSVH37C59ksBQkILk76Q%0AhkyL+dC5bSdbhzGXjR9gJUtqvhQiJGSn7dtTvJC+kEqTlk63se/4ScXc3G5barwUIiRkoZ2l%0A/XNy+pfurOu1jIT0lB1VFs3dOGIZIaFl2DG096wVK2b1GrqjjhczEtJ4eyzVSxFCQvaZsX/w%0Ald693WdGHS9mJKT+Oe+neilCSMg6lZ+8I5r52Scra7+a/rt2pc517JrypchSe2m3K3v1VR54%0AyJqH5+zF6Ox80Z6r/epLaQvp2OmRRc4VF6d8iZB4yNKHbAmptGphYOIHRrVeinBph6yTuLS7%0Ao0dGL+1KqxYm2t2xucoXCAktRPbdbFhi/T6I5mbbbEJCy7BjaO+fZNftb3euDXnDT8puz+2x%0AlZDQQmTHD2QTvwf0B9/2OMs76aJz+1r/12q+FCIkZKcs+BWhhOuD5YVn9cwvHjLnozpecoSE%0AFoe/RgEIEBIgQEiAACEBAoQECBASIEBIgAAhAQKEBAgQEiBASIAAIQEChAQIEBIgQEiAACEB%0AAoQECBASIEBIgAAhAQKEBAgQEiBASIAAIQEChAQIEBIgQEiAACEBAoQECBASIEBIgAAhAQKE%0ABAgQEiBASIAAIQEChAQIEBIgQEiAACEBAoQECBASIEBIgAAhAQKEBAgQEiBASIAAIQEChAQI%0AEBIgQEiAACEBAoQECBASIEBIgAAhAQKEBAgQEiBASIAAIQEChAQIEBIgQEiAACEBAoQECBAS%0AIEBIgAAhAQKEBAgQEiBASIAAIQEChAQIEBIgQEiAACEBAoQECBASIEBIgAAhAQKEBAgQEiBA%0ASIAAIQEChAQIEBIgQEiAACEBAoQECBASIEBIgAAhAQKEBAgQEiBASIAAIQEChAQIEBIgQEiA%0AACEBAoQECBASIEBIgAAhAQKEBAgQEiBASIAAIQEChAQIEBIgQEiAACEBAoQECBASIEBIgAAh%0AAQKEBAgQEiBASIAAIQEChAQIEBIgQEiAACEBAoQECBASIEBIgAAhAQKEBAgQEiBASIAAIQEC%0AhAQIEBIgQEiAACEBAoQECBASIEBIgAAhAQKEBAikL6TK+WN7FJQcfcPmYKFi/qh+7dv3P3+1%0An59nCe/G1iUktDBpC2nbydZhzGXjB1jJEr/0Res7/ZZrRuZ2XBKENGRazIexlVtsSO8tWfJe%0ApseATEhbSKfb2Hf8pGJubrct7mk7oSx4cqENDkIqrblyCw1p/eicvLyc0eszPQ6kX7pCesqO%0AKovmbhyxzM222dHCvMUVrSekTb2HL929e+nwPpsyPRKkXbpCGm+PJS0tsLFliYVWE9KkY3YF%0Ak13HTMr0SJB26Qqpf877SUt7jrTBs9ZURgutJaTy4vnRzCOdyzM7EqRfukLq2LXa4vuXFpnt%0AO+6uHS75rl1p/OWltvwjt2vVqhb1sMjWRqNfa4syPRYe0v2wPE0hFRfXeOLDhVcOzbeSxUFI%0Ax06PLKoK6a1yV7FpU4t6eMX+Fo1+lb2S6bHwkO6Ht9IU0sDEz4iSbJ1V2OXdVnNp5w6+IZre%0AMDCz40AGpOvSbqLdHZurfCHp6en2aOsJaU7ximCyonhupkeCtEtXSEus3wfR3GybXX7x6Ipo%0A4Xq7t/WEVDmlcMLcuRMKp1RmeiRIu7T9QPZcG/KGn5TdnttjqzvVvh3e2Hqjd96brSck5xae%0AM2jQOQszPQpkQNpC2jHO8k666Ny+1v8159b3tz4Xl04fXZBzW7VfEfpDbOWWGhLarDT+9vfC%0As3rmFw+Z81Ew/8EPhu6TW3TwpJWu2i+tXh9blZDQwvDXKAABQgIECAkQICRAgJAAAUICBAgJ%0AECAkQICQAAFCAgQICRAgJECAkAABQgIECAkQICRAgJAAAUICBAgJECAkQICQAAFCAgQICRAg%0AJECAkAABQgIECAkQICRAgJAAAUICBAgJECAkQICQAAFCAgQICRAgJECAkAABQgIECAkQICRA%0AgJAAAUICBAgJECAkQICQAAFCAgQICRAgJECAkAABQgIECAkQICRAgJAAAUICBAgJECAkQICQ%0AAAFCAgQICRAgJECAkAABQgIECAkQICRAgJAAAUICBAgJECAkQICQAAFCAgQICRAgJECAkAAB%0AQgIECAkQICRAgJAAAUICBAgJECAkQICQAAFCAgQICRAgJECAkAABQgIECAkQICRAgJAAAUIC%0ABAgJECAkQICQAAFCAgQICRAgJECAkAABQgIECAkQICRAgJAAAUICBAgJECAkQICQAAFCAgQI%0ACRAgJECAkAABQgIECAkQICRAgJAAAUICBAgJECAkQICQAAFCAgQICRAgJECAkAABQgIECAkQ%0AICRAgJAAAUICBAgJECAkQICQAAFCAgQICRAgJECAkAABQgIECAkQICRAgJAAAUICBAgJECAk%0AQICQAAFCAgQICRAgJECAkAABQgIECAkQyM6QVhrQwqxs8Gne/CG51atSOG34vKw2nPE1SdaP%0A77RUZ+bqhp/laQgppQkTMrjzemB8TdOmxkdIqTG+pmlT4yOk1Bhf07Sp8RFSaoyvadrU+Agp%0ANcbXNG1qfISUGuNrmjY1PkJKjfE1TZsaHyGlxviapk2Nj5BSY3xN06bGR0ipMb6maVPjy2RI%0AU6dmcOf1wPiapk2NL5Mhbd2awZ3XA+NrmjY1vkyGBLQahAQIEBIgQEiAACEBAoQECBASIEBI%0AgAAhAQKEBAgQEiBASIAAIQEChAQIEBIgQEiAQCZC2jp9/4J+Y5f7uXti//P/6zMwitTWTelf%0AsN/Y54PZbdP65veYvCnTI6quanzZefwCV9jkYJKVxy8QjU94/DIQ0nv9bNR3v5zX/n+du83G%0AXxl4Ov2jSO2VfQvOL/1yfv4y53YfZWffOCn/gKz6q55J48vK4xdYmRueqFl5/AKx8QmPXwZC%0AutR+4h8fs9OdK23EP0TT7D6f8xf/+Lh90bkf2w/97MM2PdNjSpY0vqw8fl7Z4CPCEzUrj5+r%0AGp/w+GUgpG+M2OMfK4v6OjfNXk///j/ONVcHj+X5Rzg3uHhXMH9g98rMDqmapPFl5fHzfpDz%0AVHiiZuXxc1XjEx6/jN1s2JV/nHMX2rvlG97N1BD2aqONcztzR4TzE2xdhkdTWzC+bD1+bxRd%0Asi04UbP1+MXHpzx+GQvp9uACb5zN6GZ28P2ZGkRKO545vHile82i//NZqS3O8HhqisaXrcdv%0ARI//hCdqth6/+PiUxy9TIf254Pgy5060/jf98urO9rMMjSKVLmbn+z9E/2aXhou32OMZHlAN%0AsfFl6fG7xx514YmapccvMT7l8ctQSA8UHvWen/zp0Q/945rCfbLsHz6/aurQdsev8yfCZeHi%0AzfZEhgdUQ2x82Xn8tuwz2sVDysbjVzU+5fHLSEiV19ppHyQtn2krMjGMvXqm4+EVr9uF4fw1%0A9sfMDqYOwfji89l1/L7U6a3YiZqdx69qfHGK45eJkCon2eXlyU9cZFn3gxDnzrOXd+edGM6O%0At7cyPJg6+PHFZ7Pq+P3Ovrthw4Y1Nn7D+1l5/JLGF39KcfwyEdI0mxnNbJ/zQDg9Ppvu6mw8%0A/IJwepatdEM67PBzFT37ZHZI1SSNLyuP33SLuzIrj1/S+JTHLwMhPWbTYnMVvTqt9ZNf25Hp%0AH0VqvQue84+vduq00/3cvudn59p1mR5TsqrxZeXxe/nJwEN2ypNrs/L4JY1PefwyENIAuzz8%0AvYwrt7oFOR0nf/fMnM5/S/8oUnsiN/9LMyZ0tNnOlQ+zsdd9KefTOzI9pmRJ48vK4xeKvoNk%0A5fELReMTHr8MhJT4aP2Xc8tGds3r+ZUs+/H8c+NKcruevDCY3f7Nvvm9Ln0v0yOqLml8WXn8%0AArEv81l5/AKx8emOH3+NAhAgJECAkAABQgIECAkQICRAgJAAAUICBAgJECAkQICQAAFCAgQI%0ACRAgJECAkAABQgIECAkQICRAgJAAAUICBAgJECAkQICQAAFCAgQICRAgJECAkAABQgIECAkQ%0AICRAgJAAAUICBAgJECCkrHKubWjI6vf3yv1mQ9bPHdKw4aDeCCkN5lnhq9HcgCP2vmbDQvpP%0AUZeZi+MLFfNH9Wvfvv/5q4OFm+r+1xz3ElKKd6CeCCkN5pmNiOa0Ia20r1UtfNH6Tr/lmpG5%0AHZc4t8meqvMNqUNK9Q7UEyGlwTwbZvPCOW1Iz9qVifmn7YSyYLrQBju3oMEhpXoH6omQ0mCe%0A/bpv963BXBDSKNvm58qCD6nxtm1q96Ihz++Y1rPjscG/UX+urfvvngUDfxqsu/lr++fvN3ZF%0A+OyWk9sviG/tzQk98/cd87xzpwb/NPxFsWdn2+zYzhZXjApeeDZ5R+63R7UvmbwtDKlqu+Nt%0A+7f7FvT+caWLvWPXzYd37vTpmyvSdWBaEUJKg3n224U2NZirEdKFdvJ1f7+3/f6jr1z1aNdP%0A7AmSGTVs5rX97U7n3unb5cp5M3sX/tm5C+y8kTNfjG1sffdO37r3xl6Fz7plM+2sJ1bHnl5g%0AY8vi+1t+gV37xHvJO/prbs+Zd54/LH9Ite1eaKdevHzpKXZ3/B0T7by5PzvTLk3v4WkVCCkN%0A5tmTbmzOMlcrpMl2iQu+3XzBP06zpUFIw/zHwZsFBzh3Sd5K/+z64mOcm2SnVH1IXGiP+8eX%0Ac/+r+qXdniNt8Kw1ldHCTeGFWtKORlrwCfQ1G1Jtu5NtvJ9dZ6Pj7+hwbPDuK84ub/5j0toQ%0AUhoEIa3v+OmyOkIKbrrNCL9AzbFHg5DuD95wkq2v3O+otwOn2na/2v2JbVV2+URYy/H2f9VC%0Acu9fWmS277i7drjaIVUUDQhW+YcPqfp2fx883WFw/B1dem5Jx/FojQgpDYKQ3C12cx0hvexn%0AS+1p/3inPRiEFF7BTbZnN1vcGr+4KrGtTfY5F62yrHpIzn248Mqh+VayuHZIG+3zwQo7fUjV%0Atxvs3nU5LP6O263zBXdvbP4D0goRUhqEIZUd3uHN2iEFP70p9V/zEyG9Fbzhclv8ug1+KrIt%0AtlrkdRsTTi/zH2Y1QgpsnVXY5d1aIb0We1POEFfHdqtCcn8a19FyTn+zOQ9GK0VIaRCG5Jbl%0AjHEHJULakSKkV4I3TLalm4Pb2DHJIb0d+0SaaM/VFZJz0/0lYnJIwY42RJ9I28NPpFrbTQrJ%0AuV2LL8w5cLfuv72tIKQ0iEJyU+zxw3xI4+wdv/BSipCeCNY80d52+7UPMnDBuskhuX16hN+R%0AhuRsSw6p/OLRsfsR19u9sSyqdlRWcGDw0tLgZkPt7VYLybvEnm+Oo9C6EVIaxELaWtL70COC%0A8/QvfuHbKUIKrsE2FBwarPYdP/vOJ0fXCOmrYWv/yBlR/a7dqfbt8F7bG73z3nQ3h3f2knZ0%0AYnjX7rzwrl2t7QYhhe9Y3vO+YPlS+3uzH5JWh5DSIBaSu8/Mh7Tcjn76uauHFdcd0inj7rjt%0AkGB2y/428d6Z++f/oUZI//5kp+/cd1334heqh7S+v/W5uHT66IKc25x71D5764rkHf0up/tV%0At4z+XJchdW03CCl8R9mnCqb8dM6kdsdXpvPotA6ElAbxkNxJQUju3kOLPjH1Pz2PryOksbb1%0AGz0KDrknWPntS/rkdT0juMqqFpJbP7FHXvcvBffbqn1H+uAHQ/fJLTp4UvBToj1nF3Wbn7wj%0A99CnC0ombetzZF3bDUKK3vHeNwZ06HLEzO3NfDxaI0ICBAgJECAkQICQAAFCAgQICRAgJECA%0AkAABQgIECAkQICRAgJAAAUICBAgJECAkQICQAAFCAgQICRAgJECAkAABQgIECAkQICRAgJAA%0AAUICBAgJECAkQICQAAFCAgQICRAgJEDg/wHqNm4YJ6PScQAAAABJRU5ErkJggg=="/>
          <p:cNvSpPr>
            <a:spLocks noChangeAspect="1" noChangeArrowheads="1"/>
          </p:cNvSpPr>
          <p:nvPr/>
        </p:nvSpPr>
        <p:spPr bwMode="auto">
          <a:xfrm>
            <a:off x="0" y="0"/>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57" name="AutoShape 13" descr="data:image/png;base64,iVBORw0KGgoAAAANSUhEUgAAA0gAAANICAIAAAByhViMAAAACXBIWXMAABJ0AAASdAHeZh94%0AAAAgAElEQVR4nO3deXxU5aH4/xOyQjCQKqiBgBpSRb2WimAtolx3UBQX5GcVqnlx1SLWy/2C%0AirIIlVLXS1W0tNp6waplR0WxbigCLlWgKEprSBEUg0WQnUCY7x/zvfNLA8SAmMk8vN9/nTnz%0AZOaZmdPy8cw5Z9JisVgEAEDqa5DsCQAAsH8IOwCAQAg7AIBACDsAgEAIOwCAQAg7AIBACDsA%0AgEAIOwCAQAg7AIBACDsAgEAIOwCAQAg7AIBACDsAgEAIOwCAQAg7AIBACDsAgEAIOwCAQAg7%0AAIBACDsAgEAIOwCAQAg7AIBACDsAgEAIOwCAQAg7AIBACDsAgEAIOwCAQAg7AIBACDsAgEAI%0AOwCAQAg7AIBACDsAgEAIOwCAQAg7AIBACDsAgEAIOwCAQAg7AIBACDsAgEAIOwCAQAg7AIBA%0ACDvgG0yfPj0tLS0tLS0jIyPZc9lrkydPjk8+Jycn2XMB+M4JO6i/1q5de88995x11lkFBQXZ%0A2dlZWVkHH3xwx44db7755uXLlyd7dvyLRx99NO1fNWjQID8/v23btn369Jk4ceL27duTPUcg%0AfMIO6qk33nijuLj45ptvfuWVV1atWlVRUbF9+/avvvrq3Xffveeee4455pgZM2ZUHV9eXp6R%0AkZGWlvbxxx8na87fXhivIi4Wi61bt+7jjz+eMGFCr1692rRp89prryV7UrWSQp9CCk0V6kbq%0AfbECB4K1a9decskla9asiaIoJyfnkksuOfroo7du3bpw4cIXX3xx586dW7du7d27d2lpabNm%0AzeJ/MnHixMrKyqTOej8I41V069YtMzNz586dX3311cKFCzdt2hRF0aeffnrWWWdNmTKlR48e%0AyZ7gN0ihTyGFpgp1Q9hBfTR9+vR41WVkZLz99tsnnHBC1bsuvvjiKIo2bNgwfvz4//N//k98%0A/Z/+9KekTHX/CuNV/PGPf2zatGl8edu2bb/73e9uvvnmLVu27Ny588orr/zb3/7WokWL5M6w%0AZin0KaTQVKFu+CoW6qPEIXSFhYVVqy6Koh49etx555333XfftGnTLr300iiKLrjggrS0tLlz%0A58YHtG3bNi0t7T//8z+jKBoyZEj8eK8f/ehHVR+khvMhHn/88ZNOOik3N/d73/ve+eef/5e/%0A/CUtLW1P81y6dOn1119fXFyck5OTl5fXoUOHBx54YMeOHYkBv//97+NPdNppp0VRNGfOnLPP%0APjs/P79x48adO3d++eWXEyNreBVRFO3YseO3v/3tWWed1bx588zMzObNm3fo0GH06NH//Oc/%0Aa/mWNmjQIIqiadOmnXbaaU2aNMnLy/v3f//32bNnJwaUlJTEp3r88cdX+9vx48cnzsBYt25d%0ALZ8xLjs7u3///tOmTYu/jZs3bx41alTVAd/4Hj722GPxZz/uuOOiKJo4ceKpp54afwlnn332%0AvHnzqj1jLBZ7+umnzz333Ph7lZeXd/LJJz/44INV92wlPpfTTz99x44dN910U7NmzQ499NAa%0APoVqH+XkyZN/+MMfNmrU6IgjjhgyZEj8CMKPPvrowgsvjH++55xzzocfflhtbnW2wcCBKwbU%0APw8//HD8f6ENGjR44YUXah58/vnn7/o/7ZtuuikWi91+++3xmyeffHLVP5k2bVp8fXp6etX1%0Aif1/CdnZ2UOGDNnt4ClTpuz2VNMzzjhjy5Yt8TFPP/10fOXxxx//4osvZmVlVR2Znp7+8ssv%0Af+OrqKio6NKly27/H+yoo4765JNPanhzJk2aFB/ZuHHjRx55pNqfN2jQ4LnnnouPTCRCFEVL%0Aly6t+iA9e/aMr+/Zs+eenuh3v/td4s/Xrl2764ALL7wwfm/z5s137txZ+/fwiSeeiK8sKCi4%0A5557qo3MyMh48cUXqz7RlVdeudv36oILLkg875NPPhlfecIJJ9x3333x5fT09Bo+haof5cSJ%0AE6vl/g033LBs2bJDDjmk6spmzZqtW7eu7jcYOJAJO6iPli5dmp6envjHrFu3buPGjfvwww8T%0A/zBX9eGHH1Y9keKPf/zjnDlzli1bFtvLsHv77ber/ls7derUZ5555rzzzkvs1as6eNmyZQ0b%0ANoyvHzRo0NKlS999993TTz89vmbw4MHxYYmuOvzww4844oh27doNHjz4nHPOSTxRx44dv/FV%0AJILsmGOOeeqpp+bNmzdr1qz43sooik4//fQa3snEBLKzsw866KC+ffs+9dRTd999d5MmTeLr%0ACwsLt23bFh987LHHxleOHj068QgVFRWJwYkK3NU3ht3jjz+eGLBkyZLav4eJbxuzs7Ozs7N/%0A+tOfPvXUU7/85S8bN24cX9+6deuKior44GeffTa+skGDBg8//PDixYsfe+yxxCc4ceLEam/L%0AEUccUVhYmJmZ2a5du6OPPrqGT6HqR9myZcsLL7ywf//+iXcmOzu7a9euBQUFN91008knn5x4%0AhP/+7/+u+w0GDmTCDuqpX/7yl9Eu8vPzu3fv/tvf/nb9+vVVB69atSox5qOPPkqs36uw+4//%0A+I/4ymbNmm3cuDG+cvv27cccc8yug/v37x9f2aVLl8TKL7/8Ml4bBx10UHwfTOLf6SiKOnfu%0AnNgxk9ir1KBBg0SU7OlVXH311fGV9913X2JlRUXFFVdc0b9//1/96leVlZV7ehurTuD6669P%0ArJ88eXJi/fPPPx9fmdh31aFDh8TIV155Jb6yefPm27dv39MTfWPYzZ8/PzHg1Vdf3bf3sKSk%0AJDEysXMriqLETruHHnro/PPPP//886vuu0rsLOzTp8+ub0txcfGKFSsSg/f0KVT9k8SeyylT%0ApiRW5uTklJaWxmKxbdu2HX300fGV3bt3j4+syw0GDmSOsYN6avDgwS+88ELnzp2rfue1du3a%0AZ5999tprr23VqlXVPUD7xZtvvhlf6N69e25ubnw5IyNjt1/tvfDCC/GFTp06bf1fjRs3PvHE%0AE6Mo2rBhQ9VvNuNGjBiR+CbummuuiS/s3Lnz888/r3lieXl58YVf//rXEyZMKC8vj6IoMzPz%0AySeffPDBB2+55Zb48XPf6IYbbkgs9+jRI/Gwb731VnyhT58+8e/+3n333RUrVsRXPvfcc/GF%0AK6+88ttcojmxgy2Kog0bNkT79B7+/Oc/TyxfeumlBx10UHw5UY033HDDc88999xzz40ZMyYx%0AsnXr1vGFL774YteJjRgxomXLlnv1WgYNGhRf6N69e3Z2dnz54osvPuqoo6IoysrK6t69e3xl%0A4m2syw0GDmTCDuqv884774033lixYsX48eOvu+66E044IRF569atu+aaa6ZOnbofn+4f//hH%0AfKG4uLjq+vgx+1XFYrGysrL48qhRoxpW8cYbb8TX73rg/EknnZRYTqRG9L+VU4NrrrmmUaNG%0AURR9+umnffr0Oeyww9q0adO3b9+pU6fW/lIXmZmZiW9aoyhKT09v06ZNfPnTTz+NLxxyyCGJ%0Aa5Ekdmomwq5Pnz61fK7dWrt2bWI5Pz9/H97DzMzMf/u3f0vczMjISLyEqhesfvnll3v06FFU%0AVJSTkxM/EeHBBx+M37Xbt+uMM87Y29eSOL8kMzMzccGdqmf5HH744fGF+IdbxxsMHMiEHdR3%0ALVq06N27929+85tFixZ9+umnt912W+Lwu6FDh+6vZ4nFYlu2bIkvxysqodrNKIo2b968c+fO%0Amh/wq6++qnozfohb4uZe/cBXu3btZs6cWbUvS0tLH3vssUsvvbRNmzZVv+KsQW5ubrUde4nX%0AlXjhURT17ds3vhCP5r///e9///vfoyg64YQT2rVrV/s572rhwoWJ5VatWu3De7jrS0jsWN28%0AeXN84ZFHHjn77LNnzJixbNmyjIyMtm3b/uAHP6h2TkNV6enpiTKrpezs7MTRcvGb8YXEFV6i%0AKKp20kMdbzBwIBN2UH/Fj+iquqZly5ajRo0aOXJk/OaSJUuqRkkNtm3bVvXm6tWrqw2o+muq%0A8QvqJqxfv77a4EaNGiXicsyYMbs9zuOOO+6ozcRqqUuXLosXL543b97IkSPPO++8xDH7//jH%0APy666KJqE96t+NFaVdck/iqRR1EUnXXWWUcccUQURW+++eaXX36ZOBfhW+6ui6IocUjcUUcd%0A1bp16314D3f9rKu9hI0bNw4cODC+5ic/+cmXX365ZMmShQsXXn755XuaVUZGRi2/yP426n6D%0AgQOWsIN6Z9myZZdeemnbtm0bNWqUOHK/qsT3XFEU1XCRuajKcV2ff/551ax5//33dx3cqlWr%0A+EK1X2dasGBBtZFpaWlFRUXx5cRXbN+1tLS0U045ZejQoS+88MKaNWtmzJiRn58fRdGXX36Z%0A+DqvBtu2bVu6dGni5o4dOz755JP4crzkEs9SUlISRVFlZeWMGTPi38Omp6fv6RoitRQ/mTe+%0AfNVVV0X79B5u27YtMef4S4jvTUy8hAULFiR23Q0aNCixX63qC0+KpGwwcGASdlDvFBQUzJ49%0A++OPP96xY0ffvn0/+OCDqveuXr06cchU27Zt47vZquZd1Wv2Jg6KX7169cyZM+PL8V8v3fV5%0ATznllPjCM888kzggbOPGjbsdfO6558YXJk2alIiJysrKK6+8sqSkZPDgwZ999tleveo9vYot%0AW7aMHj36mmuuueiiixJf56Wnp1944YUdOnSI36y2P3JPfvvb3yaWp06dmjhU69RTT606rKSk%0AJL576fHHH4+fUHLOOeccdthhe/ty4iorK3/zm98kTuxt1qxZ4iK6+/AePvbYY4nlZ555ZuPG%0AjVVfQtX3IX7F4CiKlixZkviN2sTKGuxpW/qW6myDgQPdtz+xFtjvEhcojv53T9VVV1115ZVX%0AdunSperRS48++mh8/I4dOzIzM+MrO3fuPHHixPj1L0pLSxP/+OXm5l533XUDBw783ve+9+Mf%0A/zi+suoVTKr+DEP79u2ffvrp//mf/+nQoUNit1+DBg0Sg0tLSxM7hDp16jRz5swXX3zxkksu%0Aia857rjjduzYEfvXy8hVfYGJkyWjKFq8eHHNryJxcNull176/PPP/+Uvf3njjTdGjBgRH5yd%0AnV1eXr6ndzJxEbj09PSsrKwBAwbMmDHjvvvuS5wSe/TRR8enWlW1i98+/fTT3/iRVb3cSbdu%0A3S666KKLLrrozDPPrHp8W2Zm5iuvvLLP72FGRkZmZubw4cNfe+21hx9++OCDD672Ej777LPE%0A96rdu3dfvHjxM88806JFi8TFR/Ly8ubPn19eXr6nz6WGT2FPf5LYFffII48kVib+26OoqKju%0ANxg4kAk7qKd++ctf1nBxjfT09GHDhlUd37Vr16oDzj///Pj666+/vtrfFhcXJ65skpaWVvWi%0Ax4mLSiTk5uY+9NBDiZtVrxg3adKkxIHzVbVo0SJxUbG9+nd6T69i8eLFe7oeR4MGDR577LEa%0A3sbEzzY0b9682m95RVGUk5Mzd+7cXf8qcUpsFEVNmjRJXE2tBlXDbrdatmw5Z86can+1V+9h%0Afn7+rbfeWvNLuPHGG6sNKCgoKCsrKygoSKwZPnx4DWG3p0/hW4bd3r7Yb7PBwIFM2EH9VVpa%0Aevvtt//4xz9u1qxZZmZmVlZWs2bNOnXqdOutt3788cfVBq9cubJHjx5NmzbNyck58sgjR40a%0AFV+/Y8eO0aNHFxcXZ2VltWjR4tprry0vL1+5cmXi38JNmzYlHqSysvK+++47+uijs7Kymjdv%0Aftlll33wwQdVr0NR7cLIS5YsKSkpOfLII7Ozsxs1anT88cfffvvtX331VWLA3v47vadX8cUX%0AX/ziF7846aSTDj300MzMzEaNGh1zzDHXXnvtokWLan4PH3300fizHHPMMbFY7A9/+EO7du1y%0AcnLy8/MvvPDChQsX7vavtm/fnjhXtG/fvjU/Rdxuwy4zM/Pwww/v2rXrI488sqc6rP17mJub%0AG4vFxo0bV/UlVHsHKioq7rrrrmOPPbZhw4YtWrTo27fvZ599FovFXnrppaOPPjojI6Nly5ZP%0AP/10zWG320/h24fdXr3Yb7nBwAErLfavp4kBUF5e3qpVq4qKiiiK3nzzzU6dOiVxMpMnT47/%0AWG12dvbWrVuTOBOg/nPyBEB1Q4cOjVdd+/btk1t1AHtl338eByAwTzzxRHl5+dy5cxPH2N15%0A553JnRLAXhF2AP/Po48++vrrryduXnvtteedd14S5wOwt4QdwP/TrFmz7OzsysrKoqKia6+9%0ANnHBOYBU4eQJAIBAOHkCACAQwg4AIBDCDgAgEMIOACAQwg4AIBDCDgAgEMIOACAQwg4AIBDC%0ADgAgEMIOACAQwg4AIBDCDgAgEMIOACAQwg4AIBDCDgAgEMIOACAQwg4AIBDCDgAgEMIOACAQ%0Awg4AIBDCDgAgEMIOACAQwg4AIBDCDgAgEMIOACAQwg4AIBDCDgAgEMIOACAQwg4AIBDCDgAg%0AEMIOACAQwg4AIBDCDgAgEBnJngBQ75SXl69cuTLZsyDFtGzZ8tBDD032LOBAlxaLxZI9B6B+%0A6dq166xZs5I9C1LMeeed98ILLyR7FnCgs8cOqK6iouLMaweedf0tyZ4IKePl39xV8cn7yZ4F%0A4Bg7AIBQCDsAgEAIOwCAQAg7AIBACDsAgEAIOwCAQAg7AIBACDsAgEAIOwCAQAg7AIBACDsA%0AgEAIOwCAQAg7AIBACDsAgEAIOwCAQAg7AIBACDsAgEAIOwCAQAg7AIBACDsAgEAIOwCAQAg7%0AAIBACDsAgEAIOwCAQAg7AIBACDsAgEAIOwCAQAg7AIBACDsAgEAIOwCAQAg7AIBACDsAgEAI%0AOwCAQAg7AIBACDsAgEAIOwCAQAg7AIBACDsAgEAIOwCAQAg7AIBACDsAgEAIOwCAQAg7AIBA%0ACDsAgEAIOwCAQAg7AIBACDsAgEAIOwCAQAg7AIBACDsAgEAIOwCAQAg7AIBACDsAgEAIOwCA%0AQAg7AIBACDsAgEBkJHsCey0Wi5WVlS1btmzDhg1RFDVp0qS4uLiwsDDZ8wIASLJUCru1a9eO%0AGjVqwoQJq1evrnZXq1at+vbtO3DgwIYNGyZlbgAASZcyYbdq1apOnTqVlZUVFxd369atdevW%0Aubm5URStX7++tLT09ddfHzZs2JQpU1577bX8/PxkTxYAIAlSJuyGDh26cuXKiRMn9uzZc9d7%0AKysrx40b179//xEjRowZM6bupwcAkHQpc/LEzJkze/fuvduqi6IoPT29X79+l19++dSpU+t4%0AYgAA9UTKhN2aNWuKiopqHtO2bdvy8vK6mQ8AQH2TMmFXUFCwaNGimscsWLCgoKCgbuYDAFDf%0ApEzY9ejRY9KkSffee++2bdt2vXfTpk3Dhw+fMWNGr1696n5uAAD1QcqcPHHHHXfMmTNn0KBB%0AI0eO7NixY2FhYePGjWOx2MaNG5cvX/7OO+9s3ry5c+fOQ4YMSfZMAQCSI2XCrmnTpvPnzx87%0Aduz48eNnz55dWVmZuCszM7N9+/YlJSUlJSXp6el7+8irVq3asmVLzWOysrJatmy515MGAKhD%0AKRN2URRlZWUNGDBgwIABW7duXbFiRfyXJ/Ly8lq1apWVlbVvj1laWtqmTZtvHJaWllZRUZGR%0AkUpvFwBwoEnJUsnJySkuLk7cXL9+/bBhw66++upjjjlmbx+qqKjo008/3b59ew1j3n///Z49%0Ae+7cuXNf5goAUFdSMuyqWb9+/V133XXqqafuQ9hFUfSNvzP7xRdf7NO8AADqVMqEXd++ffd0%0A1+bNm6MoevDBB6dPnx5F0aOPPlp30wIAqDdSJuwee+yxmgf8+c9/ji8IOwDgwJQy17EbMGBA%0Aenp6u3btZs2atfZfffjhh1EUPf300/GbyZ4pAEBypEzY3X///W+99VYURV27dr3tttvS0tKa%0A/q+8vLwoinJzc+M3kz1TAIDkSJmwi6LopJNOevfdd0ePHv34448fe+yxU6ZMSfaMAADqkVQK%0AuyiKMjIybrnllsWLF7dt2/ayyy678MILV6xYkexJAQDUCykWdnFFRUUvv/zyH/7wh7lz5x57%0A7LHOlgAAiFI07OKuvvrqjz766IILLhgxYkSy5wIAkHwpc7mT3WrevPlTTz3Vp0+fV155paio%0AKNnTAQBIptQOu7iuXbt27do12bMAAEiyFP4qFgCAqo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MpI9%0Agb0Wi8XKysqWLVu2YcOGKIqaNGlSXFxcWFiY7HkBACRZKoXd2rVrR40aNWHChNWrV1e7q1Wr%0AVn379h04cGDDhg2TMjcAgKRLmbBbtWpVp06dysrKiouLu3Xr1rp169zc3CiK1q9fX1pa+vrr%0Arw8bNmzKlCmvvfZafn5+sicLAJAEKRN2Q4cOXbly5cSJE3v27LnrvZWVlePGjevfv/+IESPG%0AjBlT99MDAEi6lDl5YubMmb17995t1UVRlJ6e3q9fv8svv3zq1Kl1PDEAgHoiZcJuzZo1RUVF%0ANY9p27ZteXl53cwHAKC+SZmwKygoWLRoUc1jFixYUFBQUDfzAQCob1Im7Hr06DFp0qR77713%0A27Ztu967adOm4cOHz5gxo1evXnU/NwCA+iBlTp6444475syZM2jQoJEjR3bs2LGwsLBx48ax%0AWGzjxo3Lly9/5513Nm/e3Llz5yFDhiR7pgAAyZEyYde0adP58+ePHTt2/Pjxs2fPrqysTNyV%0AmZnZvn37kpKSkpKS9PT0JE4SACCJUibsoijKysoaMGDAgAEDtm7dumLFivgvT+Tl5bVq1Sor%0AK2vfHnPFihXnnHNORUVFDWO2bt0aRVEsFtu3p6jm/vvvHzt27H55KA4cJ5988pNPPpnsWQBQ%0A36VS2CXk5OQUFxfHlysrK//2t79t2rTp+OOPz8nJ2duHOuywwwYPHhxPtz0pLS29++6709LS%0A9nG6/2rx4sU7Gh/c/sL/b788GgeCfyx4+9133032LABIAakUdvPmzRszZszf/va3I488cujQ%0AoSeeeOInn3xy8cUXf/DBB1EUHXTQQb/61a/69eu3V4+ZmZnZp0+fb3zeu+++e9/nvYtmRxR1%0AvOQbnhQS0tIa/HXp+8meBQApIGXC7u233+7Spcv27dszMzMXLVr06quvLliw4Oqrry4rK7vy%0Ayiu3bNny5z//+YYbbigsLOzevXuyJwsAkAQpc7mTO++8M4qiqVOnbtmyZeXKla1btx4+fPhb%0Ab701a9asJ554YsqUKe+9915ubu4DDzyQ7JkCACRHyoTd/Pnze/XqdfHFF6enp7do0WLMmDFP%0APPFEp06dTj311PiA73//+z179nzvvfeSO08AgGRJmbBbv3591Z8UO/nkk6MoOvbYY6uOKSgo%0AiJ8qCwBwAEqZsGvZsmVZWVniZm5ubpMmTZo2bVp1TGlp6cEHH1znUwMAqBdSJuzOOOOMP/3p%0AT2+++WZizbp160aPHp24+dZbb02dOjXxzSwAwIEmZcLu1ltvbdSo0WmnnXbbbbftem/v3r1P%0AO+20WCx2yy231P3cAADqg5QJuzZt2sydO/fMM8/c7Y+GLVq06LDDDpsyZUqHDh3qfm4AAPVB%0AylzHLoqitm3bvvTSS7u9a9asWQUFBXU8HwCAeiVl9tjVTNUBAAQSdgAACDsAgEAIOwCAQAg7%0AAIBACDsAgEAIOwCAQAg7AIBACDsAgEAIOwCAQAg7AIBACDsAgEAIOwCAQAg7AIBACDsAgEAI%0AOwCAQAg7AIBACDsAgEAIOwCAQAg7AIBACDsAgEAIOwCAQAg7AIBACDsAgEAIOwCAQAg7AIBA%0ACDsAgEAIOwCAQAg7AIBACDsAgEAIOwCAQAg7AIBACDsAgEAIOwCAQAg7AIBACDsAgEAIOwCA%0AQAg7AIBACDsAgEAIOwCAQAg7AIBACDsAgEAIOwCAQAg7AIBACDsAgEAIOwCAQAg7AIBACDsA%0AgEAIOwCAQAg7AIBACDsAgEAIOwCAQAg7AIBACDsAgEAIOwCAQAg7AIBAZCR7AgCw1wYNGrRw%0A4cJkz4IUc9VVV/30pz9N9iy+W8IOgNQzffr09ENbH1Z8XLInQspY+uZLs2fPFnYAUB8dd8YF%0AHS6+KtmzIGVs/Gp1sqdQFxxjBwAQCGEHABAIYQcAEAhhBwAQCGEHABAIYQcAEAhhBwAQCGEH%0AABAIYQcAEAhhBwAQCGEHABAIYQcAEAhhBwAQCGEHABAIYQcAEAhhBwAQCGEHABAIYQcAEAhh%0ABwAQCGEHABAIYQcAEAhhBwAQCGEHABAIYQcAEAhhBwAQCGEHABAIYQcAEAhhB9f53ZQAABVp%0ASURBVAAQCGEHABAIYQcAEAhhBwAQCGEHABAIYQcAEAhhBwAQCGEHABAIYQcAEAhhBwAQCGEH%0AABAIYQcAEAhhBwAQCGEHABAIYQcAEAhhBwAQCGEHABAIYQcAEAhhBwAQCGEHABAIYQcAEAhh%0ABwAQCGEHABAIYQcAEAhhBwAQCGEHABAIYQcAEAhhBwAQiIxkT2CvxWKxsrKyZcuWbdiwIYqi%0AJk2aFBcXFxYWJnteAABJlkpht3bt2lGjRk2YMGH16tXV7mrVqlXfvn0HDhzYsGHDpMwNACDp%0AUibsVq1a1alTp7KysuLi4m7durVu3To3NzeKovXr15eWlr7++uvDhg2bMmXKa6+9lp+fn+zJ%0AAgAkQcqE3dChQ1euXDlx4sSePXvuem9lZeW4ceP69+8/YsSIMWPG1P30AACSLmVOnpg5c2bv%0A3r13W3VRFKWnp/fr1+/yyy+fOnVqHU8MAKCeSJmwW7NmTVFRUc1j2rZtW15eXjfzAQCob1Im%0A7AoKChYtWlTzmAULFhQUFNTNfAAA6puUCbsePXpMmjTp3nvv3bZt2673btq0afjw4TNmzOjV%0Aq1fdzw0AoD5ImZMn7rjjjjlz5gwaNGjkyJEdO3YsLCxs3LhxLBbbuHHj8uXL33nnnc2bN3fu%0A3HnIkCHJnikAQHKkTNg1bdp0/vz5Y8eOHT9+/OzZsysrKxN3ZWZmtm/fvqSkpKSkJD09PYmT%0ABABIopQJuyiKsrKyBgwYMGDAgK1bt65YsSL+yxN5eXmtWrXKysrat8f86quvhgwZUjUTd+WE%0ADAAgJaRS2CXk5OQUFxfvun7t2rVff/31EUccUfuHSktLS0tL228zAwBInlQKu7/+9a+DBw/+%0A8MMPCwsLr7jiiuuuu67aF6933XXXXXfdFYvFav+Y+fn5Y8eOrXnMvHnzZsyYsS8zBgCoQykT%0AdnPnzj3zzDO3bdvWqFGjzz///M0335w4ceK0adP8gBgAQFzKXO5k9OjRO3funDZt2saNGzds%0A2HD//ffPmzfv3HPP3bRpU7KnBgBQL6RM2P31r3/t1atXjx490tLSsrOzBwwYMGvWrEWLFl1+%0A+eU1n/oAAHCASJmw++KLL4466qiqa84444xHH330+eef/6//+q9kzQoAoP5ImWPsDj300IUL%0AF1Zb2bt3748++mj06NEtW7YcNGhQUiYGAFBPpEzYXXLJJQ8++OBDDz103XXXZWZmJtaPGjXq%0A888/v/nmmz///HPfyQIAB7KUCbthw4ZNnz79xhtvnDFjxksvvZRYn5aW9oc//KFJkyZjxoxJ%0A4vQAAJIuZY6xO/jgg997771+/fodf/zx1e5KS0v79a9/PWXKlKKioqTMDQCgPkiZPXZRFB1y%0AyCE1XEz4kksuueSSS+pyPgAA9UrK7LEDAKBmwg4AIBDCDgAgEMIOACAQwg4AIBDCDgAgEMIO%0AACAQwg4AIBDCDgAgEMIOACAQwg4AIBDCDgAgEMIOACAQwg4AIBDCDgAgEMIOACAQwg4AIBDC%0ADgAgEMIOACAQwg4AIBDCDgAgEMIOACAQwg4AIBDCDgAgEMIOACAQwg4AIBDCDgAgEMIOACAQ%0Awg4AIBDCDgAgEMIOACAQwg4AIBDCDgAgEMIOACAQwg4AIBDCDgAgEMIOACAQwg4AIBDCDgAg%0AEMIOACAQwg4AIBDCDgAgEMIOACAQwg4AIBDCDgAgEMIOACAQwg4AIBDCDgAgEMIOACAQwg4A%0AIBDCDgAgEMIOACAQwg4AIBDCDgAgEMIOACAQwg4AIBDCDgAgEMIOACAQwg4AIBDCDgAgEMIO%0AACAQwg4AIBDCDgAgEMIOACAQwg4AIBDCDgAgEMIOACAQwg4AIBDCDgAgEMIOACAQwg4AIBDC%0ADgAgEMIOACAQwg4AIBDCDgAgEMIOACAQwg4AIBDCDgAgEMIOACAQwg4AIBDCDgAgEMIOACAQ%0Awg4AIBDCDgAgEMIOACAQwg4AIBDCDgAgEMIOACAQwg4AIBDCDgAgEMIOACAQwg4AIBDCDgAg%0AEMIOACAQwg4AIBDCDgAgEMIOACAQwg4AIBDCDgAgEMIOACAQwg4AIBDCDgAgEMIOACAQwg4A%0AIBDCDgAgEMIOACAQwg4AIBDCDgAgEMIOACAQwg4AIBDCDgAgEMIOACAQwg4AIBDCDgAgEBnJ%0AnsBei8ViZWVly5Yt27BhQxRFTZo0KS4uLiwsTPa8AACSLJXCbu3ataNGjZowYcLq1aur3dWq%0AVau+ffsOHDiwYcOGSZkbAEDSpUzYrVq1qlOnTmVlZcXFxd26dWvdunVubm4URevXry8tLX39%0A9deHDRs2ZcqU1157LT8/P9mTBQBIgpQJu6FDh65cuXLixIk9e/bc9d7Kyspx48b1799/xIgR%0AY8aMqfvpAQAkXcqcPDFz5szevXvvtuqiKEpPT+/Xr9/ll18+derUOp4YAEA9kTJht2bNmqKi%0AoprHtG3btry8vG7mAwBQ36RM2BUUFCxatKjmMQsWLCgoKKib+QAA1DcpE3Y9evSYNGnSvffe%0Au23btl3v3bRp0/Dhw2fMmNGrV6+6nxsAQH2QMidP3HHHHXPmzBk0aNDIkSM7duxYWFjYuHHj%0AWCy2cePG5cuXv/POO5s3b+7cufOQIUOSPVMAgORImbBr2rTp/Pnzx44dO378+NmzZ1dWVibu%0AyszMbN++fUlJSUlJSXp6ehInCQCQRCkTdlEUZWVlDRgwYMCAAVu3bl2xYkX8lyfy8vJatWqV%0AlZW1b49ZUVHx5JNPVlRU1DCmtLR03x4cAKAupVLYJeTk5BQXF++6fs2aNWvXrm3Tpk3tH6q8%0AvPzuu+/e7XF7CVu3bo2iKBaL7e08AQDqUkqG3Z7cc889d911114VWGFh4ZIlS2oeM2/evE6d%0AOqWlpX272QEAfLdS5qxYAABqJuwAAAKRMl/FnnTSSd845rPPPquDmQAA1E8pE3YLFiyIoigz%0AM7OGMTt27Kir6QAA1Dsp81XsoEGDcnNzP/jgg617NnDgwGRPEwAgaVIm7H7xi1+0adPmiiuu%0A2L59e7LnAgBQH6VM2GVmZv7xj3/88MMPb7vttmTPBQCgPkqZY+yiKGrbtu0XX3xRw4F0Xbt2%0Abdq0aV1OCQCg/kilsIuiKC8vr4Z7Tz/99NNPP73OJgMAUK+kzFexAADUTNgBAARC2AEABELY%0AAQAEQtgBAARC2AEABELYAQAEQtgBAARC2AEABELYAQAEQtgBAARC2AEABELYAQAEQtgBAARC%0A2AEABELYAQAEQtgBAARC2AEABELYAQAEQtgBAARC2AEABELYAQAEQtgBAARC2AEABELYAQAE%0AQtgBAARC2AEABELYAQAEQtgBAARC2AEABELYAQAEQtgBAARC2AEABELYAQAEQtgBAARC2AEA%0ABELYAQAEQtgBAARC2AEABELYAQAEQtgBAARC2AEABELYAQAEQtgBAARC2AEABELYAQAEQtgB%0AAARC2AEABELYAQAEQtgBAARC2AEABELYAQAEQtgBAARC2AEABELYAQAEQtgBAARC2AEABELY%0AAQAEQtgBAARC2AEABELYAQAEQtgBAARC2AEABELYAQAEQtgBAARC2AEABELYAQAEQtgBAARC%0A2AEABELYAQAEQtgBAARC2AEABELYAQAEQtgBAARC2AEABELYAQAEQtgBAARC2AEABELYAQAE%0AQtgBAARC2AEABELYAQAEQtgBAARC2AEABELYAQAEQtgBAARC2AEABELYAQAEQtgBAARC2AEA%0ABELYAQAEQtgBAARC2AEABELYAQAEQtgBAARC2AEABELYAQAEQtgBAARC2AEABELYAQAEQtgB%0AAARC2AEABELYAQAEQtgBAARC2AEABELYAQAEQtgBAARC2AEABELYAQAEQtgBAARC2AEABELY%0AAQAEQtgBAARC2AEABELYAQAEQtgBAARC2AEABELYAQAEQtgBAARC2AEABCIj2RPYa7FYrKys%0AbNmyZRs2bIiiqEmTJsXFxYWFhcmeFwBAkqVS2K1du3bUqFETJkxYvXp1tbtatWrVt2/fgQMH%0ANmzYMClzAwBIupQJu1WrVnXq1KmsrKy4uLhbt26tW7fOzc2Nomj9+vWlpaWvv/76sGHDpkyZ%0A8tprr+Xn5yd7sgAASZAyYTd06NCVK1dOnDixZ8+eu95bWVk5bty4/v37jxgxYsyYMXU/PQCA%0ApEuZsJs5c2bv3r13W3VRFKWnp/fr1++NN96YOnXq3obdp59+umPHjhoGfP7553v1gN9o26aN%0AX322fP8+JgHbtG5N3T/plvXrbKXU3pb163Lq/Ek3rVtjK6X2tm3aGH2v7rfTupYyYbdmzZqi%0AoqKax7Rt23batGl79bClpaXFxcWxWKzmYWlpaQ0a7J8ziPPy8j545fEPXnluvzwaB4gTTzyx%0ALp8uLy/v1acfnff0o3X5pKS6Hj161OXT5eXlvfjgnS8+eGddPimp7oyf/zzZU/jOpX1j09QT%0ARxxxxMknn/ynP/2phjE9evRYtGhRWVnZXj3y+vXrKysrax6zc+fOgw8+eK8edk927NgRP58X%0Aaq9hw4Y5OXX3H5oVFRWbNm2qs6cjDLm5uVlZWXX2dFu3bt2yZUudPR1hOOiggzIyUmaX1r5J%0AmZfXo0ePBx54oEOHDjfeeGN2dna1ezdt2nT33XfPmDHjlltu2dtHzsvL209zrJWMjAynd1DP%0AZWVl1eW/0LAPcnJy6vK/diBVpMweu3Xr1p155pnvv//+QQcd1LFjx8LCwsaNG8disY0bNy5f%0Avvydd97ZvHlz586dn3/++caNGyd7sgAASZAyYRdFUUVFxdixY8ePH7948eKqX55mZma2b9++%0ApKSkpKQkPT09iTMEAEiiVAq7hK1bt65YsSJ+pFpeXl6rVq18bQQAkJJhBwDArvbPJTwAAEg6%0AYQcAEAhhBwAQCGEHABAIYQcAEAhhBwAQCGEHABAIYQcAEAhhBwAQCGEHABAIYQcAEAhhBwAQ%0ACGEHABAIYQcAEAhhBwAQCGEHABAIYQcAEAhhBwAQCGEHABAIYQcAEAhhBwAQCGEHABAIYQcA%0AEAhhBwAQCGEHABAIYQcAEAhhBwAQCGEHABAIYQcAEAhhx3clFotNnjy5R48eBQUF2dnZzZs3%0AP+mkk0aNGlVeXl512M6dOydPnnzBBRcceeSRDRs2bNiwYVFRUe/evRctWpQY88QTT6TV6J//%0A/Gedvz5S215tVLXZmG2l1L2PP/44LS3tvPPOi98cOHBgzRvhqaeemtwJUwcykj0BwrRu3bqe%0APXu+/PLLjRo1OvPMM1u3br1mzZp33nlnyJAhv/71r6dMmdK5c+f4yCuuuGLixImtW7e+7LLL%0ADjvssK+//vq999576qmnpk2b9sILLySGRVF08skn/+hHP9rt0zVs2LAuXhXBqc1GVfuNuZYP%0ACN+R0047bceOHYmbTzzxxJo1a/r375+enh5fc9RRRyVpatShGHwHunXrFkXRRRddtHr16sTK%0AysrKRx55JD09PT8/v7y8PBaLvfrqq1EUnX766du3b6/6588880wURe3atYvfnDBhQhRFw4cP%0Ar8NXQOBqv1HVcmO2lVL3PvrooyiKzj333N3ee9xxx0VRtGXLljqeFclljx3736xZs55//vkT%0ATzxx8uTJGRn//zbWoEGD66+//quvvnr11VdLS0ubN2++ZMmSKIp69uxZdVgURd27d58wYcJh%0Ahx22c+fOBg0cMEDS1H5jTuIkARL8k8n+N378+CiKbr/99mq5Fnfbbbe9/PLLp5xyShRFhYWF%0AURS99NJLVb8+iLvqqqvOOussVUdy1X5jBqgP/KvJ/vf222+npaWdddZZ3ziya9euP/zhD2fM%0AmNGhQ4cHH3xwyZIlsVisDmYItVT7jRmgPhB27H/l5eVNmjTJy8v7xpGZmZmzZ8++4YYbli5d%0A+vOf//y4445r1qzZxRdf/Pvf/37z5s3VBo8YMWK353ndcccd38nL4ADwjRtV7TfmWj4gwHfK%0AMXbsfw0aNKisrKzl4Ly8vIceeuiuu+569dVX586dO2fOnJkzZ06fPv3WW2998sknq+4pOeWU%0AU3784x/v+gi7XQm18Y0b1V5tzLV5QIDvlLBj/ysoKFi6dOk///nPQw45pJZ/kpub27179+7d%0Au0dRtHbt2ieeeGLQoEGXXXbZJ598kniQc845x24P9q9v3Kj2dmO2lQLJ5atY9r/4zolnn312%0At/fGYrG//vWvNfx5fn7+jTfe2L9//6+//vr111//TqYItfMtN2aAOibs2P+uueaaKIpGjhy5%0AYcOGXe99+OGHf/CDH4wdO7aysvJnP/tZ9+7dd+7cueuwpk2bRlG0cePG73q2UINabsx1Pi+A%0A3RN27H+dO3fu1avXP/7xj7PPPru0tDSxfseOHQ888MBNN910+OGH/+QnP0lPTy8rK3vuuecG%0ADx5c7TCm0tLScePGZWRkdOnSpa5nD1XUcmNO4gwBqnKMHd+J3//+99u2bZs+ffoxxxzTuXPn%0A73//++vWrXvrrbeWL19+1FFHzZo1Kz8/P4qi3/3ud126dLn77rufeuqp888//9BDD924cePS%0ApUv//Oc/b9++/f7772/dunXiMWfNmrVu3brdPt35559/9tln19FrIyC12ahquTHX/gEBvjvC%0Aju9Eo0aNpk2b9uyzzz7++ONvvfXWm2++mZOTc+yxx95yyy1XX3114kczCwsLFy5c+PDDDz/z%0AzDMTJ078+uuvs7KyCgsLr7rqqp/97GcnnXRS1cd8++2333777d0+3SGHHOKfTPZBbTaqWm7M%0AtX9AgO9OmuvBAgCEwTF2AACBEHYAAIEQdgAAgRB2AACBEHYAAIEQdgAAgRB2AACBEHYAAIEQ%0AdgAAgRB2AACBEHYAAIEQdgAAgRB2AACBEHYAAIEQdgAAgRB2AACBEHYAAIEQdgAAgR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fi/+dpnIAKjn5YAAAAASUVORK5CYII="/>
          <p:cNvSpPr>
            <a:spLocks noChangeAspect="1" noChangeArrowheads="1"/>
          </p:cNvSpPr>
          <p:nvPr/>
        </p:nvSpPr>
        <p:spPr bwMode="auto">
          <a:xfrm>
            <a:off x="155575" y="-13577888"/>
            <a:ext cx="4000500" cy="40005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66" name="AutoShape 22" descr="data:image/png;base64,iVBORw0KGgoAAAANSUhEUgAAA0gAAANICAIAAAByhViMAAAACXBIWXMAABJ0AAASdAHeZh94%0AAAAgAElEQVR4nO3deXxU5aH4/xOyQjCQKqiBgBpSRb2WimAtolx3UBQX5GcVqnlx1SLWy/2C%0AirIIlVLXS1W0tNp6waplR0WxbigCLlWgKEprSBEUg0WQnUCY7x/zvfNLA8SAmMk8vN9/nTnz%0AZOaZmdPy8cw5Z9JisVgEAEDqa5DsCQAAsH8IOwCAQAg7AIBACDsAgEAIOwCAQAg7AIBACDsA%0AgEAIOwCAQAg7AIBACDsAgEAIOwCAQAg7AIBACDsAgEAIOwCAQAg7AIBACDsAgEAIOwCAQAg7%0AAIBACDsAgEAIOwCAQAg7AIBACDsAgEAIOwCAQAg7AIBACDsAgEAIOwCAQAg7AIBACDsAgEAI%0AOwCAQAg7AIBACDsAgEAIOwCAQAg7AIBACDsAgEAIOwCAQAg7AIBACDsAgEAIOwCAQAg7AIBA%0ACDvgG0yfPj0tLS0tLS0jIyPZc9lrkydPjk8+Jycn2XMB+M4JO6i/1q5de88995x11lkFBQXZ%0A2dlZWVkHH3xwx44db7755uXLlyd7dvyLRx99NO1fNWjQID8/v23btn369Jk4ceL27duTPUcg%0AfMIO6qk33nijuLj45ptvfuWVV1atWlVRUbF9+/avvvrq3Xffveeee4455pgZM2ZUHV9eXp6R%0AkZGWlvbxxx8na87fXhivIi4Wi61bt+7jjz+eMGFCr1692rRp89prryV7UrWSQp9CCk0V6kbq%0AfbECB4K1a9decskla9asiaIoJyfnkksuOfroo7du3bpw4cIXX3xx586dW7du7d27d2lpabNm%0AzeJ/MnHixMrKyqTOej8I41V069YtMzNz586dX3311cKFCzdt2hRF0aeffnrWWWdNmTKlR48e%0AyZ7gN0ihTyGFpgp1Q9hBfTR9+vR41WVkZLz99tsnnHBC1bsuvvjiKIo2bNgwfvz4//N//k98%0A/Z/+9KekTHX/CuNV/PGPf2zatGl8edu2bb/73e9uvvnmLVu27Ny588orr/zb3/7WokWL5M6w%0AZin0KaTQVKFu+CoW6qPEIXSFhYVVqy6Koh49etx555333XfftGnTLr300iiKLrjggrS0tLlz%0A58YHtG3bNi0t7T//8z+jKBoyZEj8eK8f/ehHVR+khvMhHn/88ZNOOik3N/d73/ve+eef/5e/%0A/CUtLW1P81y6dOn1119fXFyck5OTl5fXoUOHBx54YMeOHYkBv//97+NPdNppp0VRNGfOnLPP%0APjs/P79x48adO3d++eWXEyNreBVRFO3YseO3v/3tWWed1bx588zMzObNm3fo0GH06NH//Oc/%0Aa/mWNmjQIIqiadOmnXbaaU2aNMnLy/v3f//32bNnJwaUlJTEp3r88cdX+9vx48cnzsBYt25d%0ALZ8xLjs7u3///tOmTYu/jZs3bx41alTVAd/4Hj722GPxZz/uuOOiKJo4ceKpp54afwlnn332%0AvHnzqj1jLBZ7+umnzz333Ph7lZeXd/LJJz/44INV92wlPpfTTz99x44dN910U7NmzQ499NAa%0APoVqH+XkyZN/+MMfNmrU6IgjjhgyZEj8CMKPPvrowgsvjH++55xzzocfflhtbnW2wcCBKwbU%0APw8//HD8f6ENGjR44YUXah58/vnn7/o/7ZtuuikWi91+++3xmyeffHLVP5k2bVp8fXp6etX1%0Aif1/CdnZ2UOGDNnt4ClTpuz2VNMzzjhjy5Yt8TFPP/10fOXxxx//4osvZmVlVR2Znp7+8ssv%0Af+OrqKio6NKly27/H+yoo4765JNPanhzJk2aFB/ZuHHjRx55pNqfN2jQ4LnnnouPTCRCFEVL%0Aly6t+iA9e/aMr+/Zs+eenuh3v/td4s/Xrl2764ALL7wwfm/z5s137txZ+/fwiSeeiK8sKCi4%0A5557qo3MyMh48cUXqz7RlVdeudv36oILLkg875NPPhlfecIJJ9x3333x5fT09Bo+haof5cSJ%0AE6vl/g033LBs2bJDDjmk6spmzZqtW7eu7jcYOJAJO6iPli5dmp6envjHrFu3buPGjfvwww8T%0A/zBX9eGHH1Y9keKPf/zjnDlzli1bFtvLsHv77ber/ls7derUZ5555rzzzkvs1as6eNmyZQ0b%0ANoyvHzRo0NKlS999993TTz89vmbw4MHxYYmuOvzww4844oh27doNHjz4nHPOSTxRx44dv/FV%0AJILsmGOOeeqpp+bNmzdr1qz43sooik4//fQa3snEBLKzsw866KC+ffs+9dRTd999d5MmTeLr%0ACwsLt23bFh987LHHxleOHj068QgVFRWJwYkK3NU3ht3jjz+eGLBkyZLav4eJbxuzs7Ozs7N/%0A+tOfPvXUU7/85S8bN24cX9+6deuKior44GeffTa+skGDBg8//PDixYsfe+yxxCc4ceLEam/L%0AEUccUVhYmJmZ2a5du6OPPrqGT6HqR9myZcsLL7ywf//+iXcmOzu7a9euBQUFN91008knn5x4%0AhP/+7/+u+w0GDmTCDuqpX/7yl9Eu8vPzu3fv/tvf/nb9+vVVB69atSox5qOPPkqs36uw+4//%0A+I/4ymbNmm3cuDG+cvv27cccc8yug/v37x9f2aVLl8TKL7/8Ml4bBx10UHwfTOLf6SiKOnfu%0AnNgxk9ir1KBBg0SU7OlVXH311fGV9913X2JlRUXFFVdc0b9//1/96leVlZV7ehurTuD6669P%0ArJ88eXJi/fPPPx9fmdh31aFDh8TIV155Jb6yefPm27dv39MTfWPYzZ8/PzHg1Vdf3bf3sKSk%0AJDEysXMriqLETruHHnro/PPPP//886vuu0rsLOzTp8+ub0txcfGKFSsSg/f0KVT9k8SeyylT%0ApiRW5uTklJaWxmKxbdu2HX300fGV3bt3j4+syw0GDmSOsYN6avDgwS+88ELnzp2rfue1du3a%0AZ5999tprr23VqlXVPUD7xZtvvhlf6N69e25ubnw5IyNjt1/tvfDCC/GFTp06bf1fjRs3PvHE%0AE6Mo2rBhQ9VvNuNGjBiR+CbummuuiS/s3Lnz888/r3lieXl58YVf//rXEyZMKC8vj6IoMzPz%0AySeffPDBB2+55Zb48XPf6IYbbkgs9+jRI/Gwb731VnyhT58+8e/+3n333RUrVsRXPvfcc/GF%0AK6+88ttcojmxgy2Kog0bNkT79B7+/Oc/TyxfeumlBx10UHw5UY033HDDc88999xzz40ZMyYx%0AsnXr1vGFL774YteJjRgxomXLlnv1WgYNGhRf6N69e3Z2dnz54osvPuqoo6IoysrK6t69e3xl%0A4m2syw0GDmTCDuqv884774033lixYsX48eOvu+66E044IRF569atu+aaa6ZOnbofn+4f//hH%0AfKG4uLjq+vgx+1XFYrGysrL48qhRoxpW8cYbb8TX73rg/EknnZRYTqRG9L+VU4NrrrmmUaNG%0AURR9+umnffr0Oeyww9q0adO3b9+pU6fW/lIXmZmZiW9aoyhKT09v06ZNfPnTTz+NLxxyyCGJ%0Aa5Ekdmomwq5Pnz61fK7dWrt2bWI5Pz9/H97DzMzMf/u3f0vczMjISLyEqhesfvnll3v06FFU%0AVJSTkxM/EeHBBx+M37Xbt+uMM87Y29eSOL8kMzMzccGdqmf5HH744fGF+IdbxxsMHMiEHdR3%0ALVq06N27929+85tFixZ9+umnt912W+Lwu6FDh+6vZ4nFYlu2bIkvxysqodrNKIo2b968c+fO%0Amh/wq6++qnozfohb4uZe/cBXu3btZs6cWbUvS0tLH3vssUsvvbRNmzZVv+KsQW5ubrUde4nX%0AlXjhURT17ds3vhCP5r///e9///vfoyg64YQT2rVrV/s572rhwoWJ5VatWu3De7jrS0jsWN28%0AeXN84ZFHHjn77LNnzJixbNmyjIyMtm3b/uAHP6h2TkNV6enpiTKrpezs7MTRcvGb8YXEFV6i%0AKKp20kMdbzBwIBN2UH/Fj+iquqZly5ajRo0aOXJk/OaSJUuqRkkNtm3bVvXm6tWrqw2o+muq%0A8QvqJqxfv77a4EaNGiXicsyYMbs9zuOOO+6ozcRqqUuXLosXL543b97IkSPPO++8xDH7//jH%0APy666KJqE96t+NFaVdck/iqRR1EUnXXWWUcccUQURW+++eaXX36ZOBfhW+6ui6IocUjcUUcd%0A1bp16314D3f9rKu9hI0bNw4cODC+5ic/+cmXX365ZMmShQsXXn755XuaVUZGRi2/yP426n6D%0AgQOWsIN6Z9myZZdeemnbtm0bNWqUOHK/qsT3XFEU1XCRuajKcV2ff/551ax5//33dx3cqlWr%0A+EK1X2dasGBBtZFpaWlFRUXx5cRXbN+1tLS0U045ZejQoS+88MKaNWtmzJiRn58fRdGXX36Z%0A+DqvBtu2bVu6dGni5o4dOz755JP4crzkEs9SUlISRVFlZeWMGTPi38Omp6fv6RoitRQ/mTe+%0AfNVVV0X79B5u27YtMef4S4jvTUy8hAULFiR23Q0aNCixX63qC0+KpGwwcGASdlDvFBQUzJ49%0A++OPP96xY0ffvn0/+OCDqveuXr06cchU27Zt47vZquZd1Wv2Jg6KX7169cyZM+PL8V8v3fV5%0ATznllPjCM888kzggbOPGjbsdfO6558YXJk2alIiJysrKK6+8sqSkZPDgwZ999tleveo9vYot%0AW7aMHj36mmuuueiiixJf56Wnp1944YUdOnSI36y2P3JPfvvb3yaWp06dmjhU69RTT606rKSk%0AJL576fHHH4+fUHLOOeccdthhe/ty4iorK3/zm98kTuxt1qxZ4iK6+/AePvbYY4nlZ555ZuPG%0AjVVfQtX3IX7F4CiKlixZkviN2sTKGuxpW/qW6myDgQPdtz+xFtjvEhcojv53T9VVV1115ZVX%0AdunSperRS48++mh8/I4dOzIzM+MrO3fuPHHixPj1L0pLSxP/+OXm5l533XUDBw783ve+9+Mf%0A/zi+suoVTKr+DEP79u2ffvrp//mf/+nQoUNit1+DBg0Sg0tLSxM7hDp16jRz5swXX3zxkksu%0Aia857rjjduzYEfvXy8hVfYGJkyWjKFq8eHHNryJxcNull176/PPP/+Uvf3njjTdGjBgRH5yd%0AnV1eXr6ndzJxEbj09PSsrKwBAwbMmDHjvvvuS5wSe/TRR8enWlW1i98+/fTT3/iRVb3cSbdu%0A3S666KKLLrrozDPPrHp8W2Zm5iuvvLLP72FGRkZmZubw4cNfe+21hx9++OCDD672Ej777LPE%0A96rdu3dfvHjxM88806JFi8TFR/Ly8ubPn19eXr6nz6WGT2FPf5LYFffII48kVib+26OoqKju%0ANxg4kAk7qKd++ctf1nBxjfT09GHDhlUd37Vr16oDzj///Pj666+/vtrfFhcXJ65skpaWVvWi%0Ax4mLSiTk5uY+9NBDiZtVrxg3adKkxIHzVbVo0SJxUbG9+nd6T69i8eLFe7oeR4MGDR577LEa%0A3sbEzzY0b9682m95RVGUk5Mzd+7cXf8qcUpsFEVNmjRJXE2tBlXDbrdatmw5Z86can+1V+9h%0Afn7+rbfeWvNLuPHGG6sNKCgoKCsrKygoSKwZPnx4DWG3p0/hW4bd3r7Yb7PBwIFM2EH9VVpa%0Aevvtt//4xz9u1qxZZmZmVlZWs2bNOnXqdOutt3788cfVBq9cubJHjx5NmzbNyck58sgjR40a%0AFV+/Y8eO0aNHFxcXZ2VltWjR4tprry0vL1+5cmXi38JNmzYlHqSysvK+++47+uijs7Kymjdv%0Aftlll33wwQdVr0NR7cLIS5YsKSkpOfLII7Ozsxs1anT88cfffvvtX331VWLA3v47vadX8cUX%0AX/ziF7846aSTDj300MzMzEaNGh1zzDHXXnvtokWLan4PH3300fizHHPMMbFY7A9/+EO7du1y%0AcnLy8/MvvPDChQsX7vavtm/fnjhXtG/fvjU/Rdxuwy4zM/Pwww/v2rXrI488sqc6rP17mJub%0AG4vFxo0bV/UlVHsHKioq7rrrrmOPPbZhw4YtWrTo27fvZ599FovFXnrppaOPPjojI6Nly5ZP%0AP/10zWG320/h24fdXr3Yb7nBwAErLfavp4kBUF5e3qpVq4qKiiiK3nzzzU6dOiVxMpMnT47/%0AWG12dvbWrVuTOBOg/nPyBEB1Q4cOjVdd+/btk1t1AHtl338eByAwTzzxRHl5+dy5cxPH2N15%0A553JnRLAXhF2AP/Po48++vrrryduXnvtteedd14S5wOwt4QdwP/TrFmz7OzsysrKoqKia6+9%0ANnHBOYBU4eQJAIBAOHkCACAQwg4AIBDCDgAgEMIOACAQwg4AIBDCDgAgEMIOACAQwg4AIBDC%0ADgAgEMIOACAQwg4AIBDCDgAgEMIOACAQwg4AIBDCDgAgEMIOACAQwg4AIBDCDgAgEMIOACAQ%0Awg4AIBDCDgAgEMIOACAQwg4AIBDCDgAgEMIOACAQwg4AIBDCDgAgEMIOACAQwg4AIBDCDgAg%0AEMIOACAQwg4AIBDCDgAgEBnJngBQ75SXl69cuTLZsyDFtGzZ8tBDD032LOBAlxaLxZI9B6B+%0A6dq166xZs5I9C1LMeeed98ILLyR7FnCgs8cOqK6iouLMaweedf0tyZ4IKePl39xV8cn7yZ4F%0A4Bg7AIBQCDsAgEAIOwCAQAg7AIBACDsAgEAIOwCAQAg7AIBACDsAgEAIOwCAQAg7AIBACDsA%0AgEAIOwCAQAg7AIBACDsAgEAIOwCAQAg7AIBACDsAgEAIOwCAQAg7AIBACDsAgEAIOwCAQAg7%0AAIBACDsAgEAIOwCAQAg7AIBACDsAgEAIOwCAQAg7AIBACDsAgEAIOwCAQAg7AIBACDsAgEAI%0AOwCAQAg7AIBACDsAgEAIOwCAQAg7AIBACDsAgEAIOwCAQAg7AIBACDsAgEAIOwCAQAg7AIBA%0ACDsAgEAIOwCAQAg7AIBACDsAgEAIOwCAQAg7AIBACDsAgEAIOwCAQAg7AIBACDsAgEAIOwCA%0AQAg7AIBACDsAgEBkJHsCey0Wi5WVlS1btmzDhg1RFDVp0qS4uLiwsDDZ8wIASLJUCru1a9eO%0AGjVqwoQJq1evrnZXq1at+vbtO3DgwIYNGyZlbgAASZcyYbdq1apOnTqVlZUVFxd369atdevW%0Aubm5URStX7++tLT09ddfHzZs2JQpU1577bX8/PxkTxYAIAlSJuyGDh26cuXKiRMn9uzZc9d7%0AKysrx40b179//xEjRowZM6bupwcAkHQpc/LEzJkze/fuvduqi6IoPT29X79+l19++dSpU+t4%0AYgAA9UTKhN2aNWuKiopqHtO2bdvy8vK6mQ8AQH2TMmFXUFCwaNGimscsWLCgoKCgbuYDAFDf%0ApEzY9ejRY9KkSffee++2bdt2vXfTpk3Dhw+fMWNGr1696n5uAAD1QcqcPHHHHXfMmTNn0KBB%0AI0eO7NixY2FhYePGjWOx2MaNG5cvX/7OO+9s3ry5c+fOQ4YMSfZMAQCSI2XCrmnTpvPnzx87%0Aduz48eNnz55dWVmZuCszM7N9+/YlJSUlJSXp6el7+8irVq3asmVLzWOysrJatmy515MGAKhD%0AKRN2URRlZWUNGDBgwIABW7duXbFiRfyXJ/Ly8lq1apWVlbVvj1laWtqmTZtvHJaWllZRUZGR%0AkUpvFwBwoEnJUsnJySkuLk7cXL9+/bBhw66++upjjjlmbx+qqKjo008/3b59ew1j3n///Z49%0Ae+7cuXNf5goAUFdSMuyqWb9+/V133XXqqafuQ9hFUfSNvzP7xRdf7NO8AADqVMqEXd++ffd0%0A1+bNm6MoevDBB6dPnx5F0aOPPlp30wIAqDdSJuwee+yxmgf8+c9/ji8IOwDgwJQy17EbMGBA%0Aenp6u3btZs2atfZfffjhh1EUPf300/GbyZ4pAEBypEzY3X///W+99VYURV27dr3tttvS0tKa%0A/q+8vLwoinJzc+M3kz1TAIDkSJmwi6LopJNOevfdd0ePHv34448fe+yxU6ZMSfaMAADqkVQK%0AuyiKMjIybrnllsWLF7dt2/ayyy678MILV6xYkexJAQDUCykWdnFFRUUvv/zyH/7wh7lz5x57%0A7LHOlgAAiFI07OKuvvrqjz766IILLhgxYkSy5wIAkHwpc7mT3WrevPlTTz3Vp0+fV155paio%0AKNnTAQBIptQOu7iuXbt27do12bMAAEiyFP4qFgCAqo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MpI9%0Agb0Wi8XKysqWLVu2YcOGKIqaNGlSXFxcWFiY7HkBACRZKoXd2rVrR40aNWHChNWrV1e7q1Wr%0AVn379h04cGDDhg2TMjcAgKRLmbBbtWpVp06dysrKiouLu3Xr1rp169zc3CiK1q9fX1pa+vrr%0Arw8bNmzKlCmvvfZafn5+sicLAJAEKRN2Q4cOXbly5cSJE3v27LnrvZWVlePGjevfv/+IESPG%0AjBlT99MDAEi6lDl5YubMmb17995t1UVRlJ6e3q9fv8svv3zq1Kl1PDEAgHoiZcJuzZo1RUVF%0ANY9p27ZteXl53cwHAKC+SZmwKygoWLRoUc1jFixYUFBQUDfzAQCob1Im7Hr06DFp0qR77713%0A27Ztu967adOm4cOHz5gxo1evXnU/NwCA+iBlTp6444475syZM2jQoJEjR3bs2LGwsLBx48ax%0AWGzjxo3Lly9/5513Nm/e3Llz5yFDhiR7pgAAyZEyYde0adP58+ePHTt2/Pjxs2fPrqysTNyV%0AmZnZvn37kpKSkpKS9PT0JE4SACCJUibsoijKysoaMGDAgAEDtm7dumLFivgvT+Tl5bVq1Sor%0AK2vfHnPFihXnnHNORUVFDWO2bt0aRVEsFtu3p6jm/vvvHzt27H55KA4cJ5988pNPPpnsWQBQ%0A36VS2CXk5OQUFxfHlysrK//2t79t2rTp+OOPz8nJ2duHOuywwwYPHhxPtz0pLS29++6709LS%0A9nG6/2rx4sU7Gh/c/sL/b788GgeCfyx4+9133032LABIAakUdvPmzRszZszf/va3I488cujQ%0AoSeeeOInn3xy8cUXf/DBB1EUHXTQQb/61a/69eu3V4+ZmZnZp0+fb3zeu+++e9/nvYtmRxR1%0AvOQbnhQS0tIa/HXp+8meBQApIGXC7u233+7Spcv27dszMzMXLVr06quvLliw4Oqrry4rK7vy%0Ayiu3bNny5z//+YYbbigsLOzevXuyJwsAkAQpc7mTO++8M4qiqVOnbtmyZeXKla1btx4+fPhb%0Ab701a9asJ554YsqUKe+9915ubu4DDzyQ7JkCACRHyoTd/Pnze/XqdfHFF6enp7do0WLMmDFP%0APPFEp06dTj311PiA73//+z179nzvvfeSO08AgGRJmbBbv3591Z8UO/nkk6MoOvbYY6uOKSgo%0AiJ8qCwBwAEqZsGvZsmVZWVniZm5ubpMmTZo2bVp1TGlp6cEHH1znUwMAqBdSJuzOOOOMP/3p%0AT2+++WZizbp160aPHp24+dZbb02dOjXxzSwAwIEmZcLu1ltvbdSo0WmnnXbbbbftem/v3r1P%0AO+20WCx2yy231P3cAADqg5QJuzZt2sydO/fMM8/c7Y+GLVq06LDDDpsyZUqHDh3qfm4AAPVB%0AylzHLoqitm3bvvTSS7u9a9asWQUFBXU8HwCAeiVl9tjVTNUBAAQSdgAACDsAgEAIOwCAQAg7%0AAIBACDsAgEAIOwCAQAg7AIBACDsAgEAIOwCAQAg7AIBACDsAgEAIOwCAQAg7AIBACDsAgEAI%0AOwCAQAg7AIBACDsAgEAIOwCAQAg7AIBACDsAgEAIOwCAQAg7AIBACDsAgEAIOwCAQAg7AIBA%0ACDsAgEAIOwCAQAg7AIBACDsAgEAIOwCAQAg7AIBACDsAgEAIOwCAQAg7AIBACDsAgEAIOwCA%0AQAg7AIBACDsAgEAIOwCAQAg7AIBACDsAgEAIOwCAQAg7AIBACDsAgEAIOwCAQAg7AIBACDsA%0AgEAIOwCAQAg7AIBACDsAgEAIOwCAQAg7AIBACDsAgEAIOwCAQAg7AIBAZCR7AgCw1wYNGrRw%0A4cJkz4IUc9VVV/30pz9N9iy+W8IOgNQzffr09ENbH1Z8XLInQspY+uZLs2fPFnYAUB8dd8YF%0AHS6+KtmzIGVs/Gp1sqdQFxxjBwAQCGEHABAIYQcAEAhhBwAQCGEHABAIYQcAEAhhBwAQCGEH%0AABAIYQcAEAhhBwAQCGEHABAIYQcAEAhhBwAQCGEHABAIYQcAEAhhBwAQCGEHABAIYQcAEAhh%0ABwAQCGEHABAIYQcAEAhhBwAQCGEHABAIYQcAEAhhBwAQCGEHABAIYQcAEAhhB9f53ZQAABVp%0ASURBVAAQCGEHABAIYQcAEAhhBwAQCGEHABAIYQcAEAhhBwAQCGEHABAIYQcAEAhhBwAQCGEH%0AABAIYQcAEAhhBwAQCGEHABAIYQcAEAhhBwAQCGEHABAIYQcAEAhhBwAQCGEHABAIYQcAEAhh%0ABwAQCGEHABAIYQcAEAhhBwAQCGEHABAIYQcAEAhhBwAQiIxkT2CvxWKxsrKyZcuWbdiwIYqi%0AJk2aFBcXFxYWJnteAABJlkpht3bt2lGjRk2YMGH16tXV7mrVqlXfvn0HDhzYsGHDpMwNACDp%0AUibsVq1a1alTp7KysuLi4m7durVu3To3NzeKovXr15eWlr7++uvDhg2bMmXKa6+9lp+fn+zJ%0AAgAkQcqE3dChQ1euXDlx4sSePXvuem9lZeW4ceP69+8/YsSIMWPG1P30AACSLmVOnpg5c2bv%0A3r13W3VRFKWnp/fr1+/yyy+fOnVqHU8MAKCeSJmwW7NmTVFRUc1j2rZtW15eXjfzAQCob1Im%0A7AoKChYtWlTzmAULFhQUFNTNfAAA6puUCbsePXpMmjTp3nvv3bZt2673btq0afjw4TNmzOjV%0Aq1fdzw0AoD5ImZMn7rjjjjlz5gwaNGjkyJEdO3YsLCxs3LhxLBbbuHHj8uXL33nnnc2bN3fu%0A3HnIkCHJnikAQHKkTNg1bdp0/vz5Y8eOHT9+/OzZsysrKxN3ZWZmtm/fvqSkpKSkJD09PYmT%0ABABIopQJuyiKsrKyBgwYMGDAgK1bt65YsSL+yxN5eXmtWrXKysrat8f86quvhgwZUjUTd+WE%0ADAAgJaRS2CXk5OQUFxfvun7t2rVff/31EUccUfuHSktLS0tL228zAwBInlQKu7/+9a+DBw/+%0A8MMPCwsLr7jiiuuuu67aF6933XXXXXfdFYvFav+Y+fn5Y8eOrXnMvHnzZsyYsS8zBgCoQykT%0AdnPnzj3zzDO3bdvWqFGjzz///M0335w4ceK0adP8gBgAQFzKXO5k9OjRO3funDZt2saNGzds%0A2HD//ffPmzfv3HPP3bRpU7KnBgBQL6RM2P31r3/t1atXjx490tLSsrOzBwwYMGvWrEWLFl1+%0A+eU1n/oAAHCASJmw++KLL4466qiqa84444xHH330+eef/6//+q9kzQoAoP5ImWPsDj300IUL%0AF1Zb2bt3748++mj06NEtW7YcNGhQUiYGAFBPpEzYXXLJJQ8++OBDDz103XXXZWZmJtaPGjXq%0A888/v/nmmz///HPfyQIAB7KUCbthw4ZNnz79xhtvnDFjxksvvZRYn5aW9oc//KFJkyZjxoxJ%0A4vQAAJIuZY6xO/jgg997771+/fodf/zx1e5KS0v79a9/PWXKlKKioqTMDQCgPkiZPXZRFB1y%0AyCE1XEz4kksuueSSS+pyPgAA9UrK7LEDAKBmwg4AIBDCDgAgEMIOACAQwg4AIBDCDgAgEMIO%0AACAQwg4AIBDCDgAgEMIOACAQwg4AIBDCDgAgEMIOACAQwg4AIBDCDgAgEMIOACAQwg4AIBDC%0ADgAgEMIOACAQwg4AIBDCDgAgEMIOACAQwg4AIBDCDgAgEMIOACAQwg4AIBDCDgAgEMIOACAQ%0Awg4AIBDCDgAgEMIOACAQwg4AIBDCDgAgEMIOACAQwg4AIBDCDgAgEMIOACAQwg4AIBDCDgAg%0AEMIOACAQwg4AIBDCDgAgEMIOACAQwg4AIBDCDgAgEMIOACAQwg4AIBDCDgAgEMIOACAQwg4A%0AIBDCDgAgEMIOACAQwg4AIBDCDgAgEMIOACAQwg4AIBDCDgAgEMIOACAQwg4AIBDCDgAgEMIO%0AACAQwg4AIBDCDgAgEMIOACAQwg4AIBDCDgAgEMIOACAQwg4AIBDCDgAgEMIOACAQwg4AIBDC%0ADgAgEMIOACAQwg4AIBDCDgAgEMIOACAQwg4AIBDCDgAgEMIOACAQwg4AIBDCDgAgEMIOACAQ%0Awg4AIBDCDgAgEMIOACAQwg4AIBDCDgAgEMIOACAQwg4AIBDCDgAgEMIOACAQwg4AIBDCDgAg%0AEMIOACAQwg4AIBDCDgAgEMIOACAQwg4AIBDCDgAgEMIOACAQwg4AIBDCDgAgEMIOACAQwg4A%0AIBDCDgAgEMIOACAQwg4AIBDCDgAgEMIOACAQwg4AIBDCDgAgEMIOACAQwg4AIBDCDgAgEBnJ%0AnsBei8ViZWVly5Yt27BhQxRFTZo0KS4uLiwsTPa8AACSLJXCbu3ataNGjZowYcLq1aur3dWq%0AVau+ffsOHDiwYcOGSZkbAEDSpUzYrVq1qlOnTmVlZcXFxd26dWvdunVubm4URevXry8tLX39%0A9deHDRs2ZcqU1157LT8/P9mTBQBIgpQJu6FDh65cuXLixIk9e/bc9d7Kyspx48b1799/xIgR%0AY8aMqfvpAQAkXcqcPDFz5szevXvvtuqiKEpPT+/Xr9/ll18+derUOp4YAEA9kTJht2bNmqKi%0AoprHtG3btry8vG7mAwBQ36RM2BUUFCxatKjmMQsWLCgoKKib+QAA1DcpE3Y9evSYNGnSvffe%0Au23btl3v3bRp0/Dhw2fMmNGrV6+6nxsAQH2QMidP3HHHHXPmzBk0aNDIkSM7duxYWFjYuHHj%0AWCy2cePG5cuXv/POO5s3b+7cufOQIUOSPVMAgORImbBr2rTp/Pnzx44dO378+NmzZ1dWVibu%0AyszMbN++fUlJSUlJSXp6ehInCQCQRCkTdlEUZWVlDRgwYMCAAVu3bl2xYkX8lyfy8vJatWqV%0AlZW1b49ZUVHx5JNPVlRU1DCmtLR03x4cAKAupVLYJeTk5BQXF++6fs2aNWvXrm3Tpk3tH6q8%0AvPzuu+/e7XF7CVu3bo2iKBaL7e08AQDqUkqG3Z7cc889d911114VWGFh4ZIlS2oeM2/evE6d%0AOqWlpX272QEAfLdS5qxYAABqJuwAAAKRMl/FnnTSSd845rPPPquDmQAA1E8pE3YLFiyIoigz%0AM7OGMTt27Kir6QAA1Dsp81XsoEGDcnNzP/jgg617NnDgwGRPEwAgaVIm7H7xi1+0adPmiiuu%0A2L59e7LnAgBQH6VM2GVmZv7xj3/88MMPb7vttmTPBQCgPkqZY+yiKGrbtu0XX3xRw4F0Xbt2%0Abdq0aV1OCQCg/kilsIuiKC8vr4Z7Tz/99NNPP73OJgMAUK+kzFexAADUTNgBAARC2AEABELY%0AAQAEQtgBAARC2AEABELYAQAEQtgBAARC2AEABELYAQAEQtgBAARC2AEABELYAQAEQtgBAARC%0A2AEABELYAQAEQtgBAARC2AEABELYAQAEQtgBAARC2AEABELYAQAEQtgBAARC2AEABELYAQAE%0AQtgBAARC2AEABELYAQAEQtgBAARC2AEABELYAQAEQtgBAARC2AEABELYAQAEQtgBAARC2AEA%0ABELYAQAEQtgBAARC2AEABELYAQAEQtgBAARC2AEABELYAQAEQtgBAARC2AEABELYAQAEQtgB%0AAARC2AEABELYAQAEQtgBAARC2AEABELYAQAEQtgBAARC2AEABELYAQAEQtgBAARC2AEABELY%0AAQAEQtgBAARC2AEABELYAQAEQtgBAARC2AEABELYAQAEQtgBAARC2AEABELYAQAEQtgBAARC%0A2AEABELYAQAEQtgBAARC2AEABELYAQAEQtgBAARC2AEABELYAQAEQtgBAARC2AEABELYAQAE%0AQtgBAARC2AEABELYAQAEQtgBAARC2AEABELYAQAEQtgBAARC2AEABELYAQAEQtgBAARC2AEA%0ABELYAQAEQtgBAARC2AEABELYAQAEQtgBAARC2AEABELYAQAEQtgBAARC2AEABELYAQAEQtgB%0AAARC2AEABELYAQAEQtgBAARC2AEABELYAQAEQtgBAARC2AEABELYAQAEQtgBAARC2AEABELY%0AAQAEQtgBAARC2AEABELYAQAEQtgBAARC2AEABELYAQAEQtgBAARC2AEABCIj2RPYa7FYrKys%0AbNmyZRs2bIiiqEmTJsXFxYWFhcmeFwBAkqVS2K1du3bUqFETJkxYvXp1tbtatWrVt2/fgQMH%0ANmzYMClzAwBIupQJu1WrVnXq1KmsrKy4uLhbt26tW7fOzc2Nomj9+vWlpaWvv/76sGHDpkyZ%0A8tprr+Xn5yd7sgAASZAyYTd06NCVK1dOnDixZ8+eu95bWVk5bty4/v37jxgxYsyYMXU/PQCA%0ApEuZsJs5c2bv3r13W3VRFKWnp/fr1++NN96YOnXq3obdp59+umPHjhoGfP7553v1gN9o26aN%0AX322fP8+JgHbtG5N3T/plvXrbKXU3pb163Lq/Ek3rVtjK6X2tm3aGH2v7rfTupYyYbdmzZqi%0AoqKax7Rt23batGl79bClpaXFxcWxWKzmYWlpaQ0a7J8ziPPy8j545fEPXnluvzwaB4gTTzyx%0ALp8uLy/v1acfnff0o3X5pKS6Hj161OXT5eXlvfjgnS8+eGddPimp7oyf/zzZU/jOpX1j09QT%0ARxxxxMknn/ynP/2phjE9evRYtGhRWVnZXj3y+vXrKysrax6zc+fOgw8+eK8edk927NgRP58X%0Aaq9hw4Y5OXX3H5oVFRWbNm2qs6cjDLm5uVlZWXX2dFu3bt2yZUudPR1hOOiggzIyUmaX1r5J%0AmZfXo0ePBx54oEOHDjfeeGN2dna1ezdt2nT33XfPmDHjlltu2dtHzsvL209zrJWMjAynd1DP%0AZWVl1eW/0LAPcnJy6vK/diBVpMweu3Xr1p155pnvv//+QQcd1LFjx8LCwsaNG8disY0bNy5f%0Avvydd97ZvHlz586dn3/++caNGyd7sgAASZAyYRdFUUVFxdixY8ePH7948eKqX55mZma2b9++%0ApKSkpKQkPT09iTMEAEiiVAq7hK1bt65YsSJ+pFpeXl6rVq18bQQAkJJhBwDArvbPJTwAAEg6%0AYQcAEAhhBwAQCGEHABAIYQcAEAhhBwAQCGEHABAIYQcAEAhhBwAQCGEHABAIYQcAEAhhBwAQ%0ACGEHABAIYQcAEAhhBwAQCGEHABAIYQcAEAhhBwAQCGEHABAIYQcAEAhhBwAQCGEHABAIYQcA%0AEAhhBwAQCGEHABAIYQcAEAhhBwAQCGEHABAIYQcAEAhhx3clFotNnjy5R48eBQUF2dnZzZs3%0AP+mkk0aNGlVeXl512M6dOydPnnzBBRcceeSRDRs2bNiwYVFRUe/evRctWpQY88QTT6TV6J//%0A/Gedvz5S215tVLXZmG2l1L2PP/44LS3tvPPOi98cOHBgzRvhqaeemtwJUwcykj0BwrRu3bqe%0APXu+/PLLjRo1OvPMM1u3br1mzZp33nlnyJAhv/71r6dMmdK5c+f4yCuuuGLixImtW7e+7LLL%0ADjvssK+//vq999576qmnpk2b9sILLySGRVF08skn/+hHP9rt0zVs2LAuXhXBqc1GVfuNuZYP%0ACN+R0047bceOHYmbTzzxxJo1a/r375+enh5fc9RRRyVpatShGHwHunXrFkXRRRddtHr16sTK%0AysrKRx55JD09PT8/v7y8PBaLvfrqq1EUnX766du3b6/6588880wURe3atYvfnDBhQhRFw4cP%0Ar8NXQOBqv1HVcmO2lVL3PvrooyiKzj333N3ee9xxx0VRtGXLljqeFclljx3736xZs55//vkT%0ATzxx8uTJGRn//zbWoEGD66+//quvvnr11VdLS0ubN2++ZMmSKIp69uxZdVgURd27d58wYcJh%0Ahx22c+fOBg0cMEDS1H5jTuIkARL8k8n+N378+CiKbr/99mq5Fnfbbbe9/PLLp5xyShRFhYWF%0AURS99NJLVb8+iLvqqqvOOussVUdy1X5jBqgP/KvJ/vf222+npaWdddZZ3ziya9euP/zhD2fM%0AmNGhQ4cHH3xwyZIlsVisDmYItVT7jRmgPhB27H/l5eVNmjTJy8v7xpGZmZmzZ8++4YYbli5d%0A+vOf//y4445r1qzZxRdf/Pvf/37z5s3VBo8YMWK353ndcccd38nL4ADwjRtV7TfmWj4gwHfK%0AMXbsfw0aNKisrKzl4Ly8vIceeuiuu+569dVX586dO2fOnJkzZ06fPv3WW2998sknq+4pOeWU%0AU3784x/v+gi7XQm18Y0b1V5tzLV5QIDvlLBj/ysoKFi6dOk///nPQw45pJZ/kpub27179+7d%0Au0dRtHbt2ieeeGLQoEGXXXbZJ598kniQc845x24P9q9v3Kj2dmO2lQLJ5atY9r/4zolnn312%0At/fGYrG//vWvNfx5fn7+jTfe2L9//6+//vr111//TqYItfMtN2aAOibs2P+uueaaKIpGjhy5%0AYcOGXe99+OGHf/CDH4wdO7aysvJnP/tZ9+7dd+7cueuwpk2bRlG0cePG73q2UINabsx1Pi+A%0A3RN27H+dO3fu1avXP/7xj7PPPru0tDSxfseOHQ888MBNN910+OGH/+QnP0lPTy8rK3vuuecG%0ADx5c7TCm0tLScePGZWRkdOnSpa5nD1XUcmNO4gwBqnKMHd+J3//+99u2bZs+ffoxxxzTuXPn%0A73//++vWrXvrrbeWL19+1FFHzZo1Kz8/P4qi3/3ud126dLn77rufeuqp888//9BDD924cePS%0ApUv//Oc/b9++/f7772/dunXiMWfNmrVu3brdPt35559/9tln19FrIyC12ahquTHX/gEBvjvC%0Aju9Eo0aNpk2b9uyzzz7++ONvvfXWm2++mZOTc+yxx95yyy1XX3114kczCwsLFy5c+PDDDz/z%0AzDMTJ078+uuvs7KyCgsLr7rqqp/97GcnnXRS1cd8++2333777d0+3SGHHOKfTPZBbTaqWm7M%0AtX9AgO9OmuvBAgCEwTF2AACBEHYAAIEQdgAAgRB2AACBEHYAAIEQdgAAgRB2AACBEHYAAIEQ%0AdgAAgRB2AACBEHYAAIEQdgAAgRB2AACBEHYAAIEQdgAAgRB2AACBEHYAAIEQdgAAgR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fi/+dpnIAKjn5YAAAAASUVORK5CYI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8568" name="AutoShape 24" descr="data:image/png;base64,iVBORw0KGgoAAAANSUhEUgAAA0gAAANICAIAAAByhViMAAAACXBIWXMAABJ0AAASdAHeZh94%0AAAAgAElEQVR4nO3deXxU5aH4/xOyQjCQKqiBgBpSRb2WimAtolx3UBQX5GcVqnlx1SLWy/2C%0AirIIlVLXS1W0tNp6waplR0WxbigCLlWgKEprSBEUg0WQnUCY7x/zvfNLA8SAmMk8vN9/nTnz%0AZOaZmdPy8cw5Z9JisVgEAEDqa5DsCQAAsH8IOwCAQAg7AIBACDsAgEAIOwCAQAg7AIBACDsA%0AgEAIOwCAQAg7AIBACDsAgEAIOwCAQAg7AIBACDsAgEAIOwCAQAg7AIBACDsAgEAIOwCAQAg7%0AAIBACDsAgEAIOwCAQAg7AIBACDsAgEAIOwCAQAg7AIBACDsAgEAIOwCAQAg7AIBACDsAgEAI%0AOwCAQAg7AIBACDsAgEAIOwCAQAg7AIBACDsAgEAIOwCAQAg7AIBACDsAgEAIOwCAQAg7AIBA%0ACDvgG0yfPj0tLS0tLS0jIyPZc9lrkydPjk8+Jycn2XMB+M4JO6i/1q5de88995x11lkFBQXZ%0A2dlZWVkHH3xwx44db7755uXLlyd7dvyLRx99NO1fNWjQID8/v23btn369Jk4ceL27duTPUcg%0AfMIO6qk33nijuLj45ptvfuWVV1atWlVRUbF9+/avvvrq3Xffveeee4455pgZM2ZUHV9eXp6R%0AkZGWlvbxxx8na87fXhivIi4Wi61bt+7jjz+eMGFCr1692rRp89prryV7UrWSQp9CCk0V6kbq%0AfbECB4K1a9decskla9asiaIoJyfnkksuOfroo7du3bpw4cIXX3xx586dW7du7d27d2lpabNm%0AzeJ/MnHixMrKyqTOej8I41V069YtMzNz586dX3311cKFCzdt2hRF0aeffnrWWWdNmTKlR48e%0AyZ7gN0ihTyGFpgp1Q9hBfTR9+vR41WVkZLz99tsnnHBC1bsuvvjiKIo2bNgwfvz4//N//k98%0A/Z/+9KekTHX/CuNV/PGPf2zatGl8edu2bb/73e9uvvnmLVu27Ny588orr/zb3/7WokWL5M6w%0AZin0KaTQVKFu+CoW6qPEIXSFhYVVqy6Koh49etx555333XfftGnTLr300iiKLrjggrS0tLlz%0A58YHtG3bNi0t7T//8z+jKBoyZEj8eK8f/ehHVR+khvMhHn/88ZNOOik3N/d73/ve+eef/5e/%0A/CUtLW1P81y6dOn1119fXFyck5OTl5fXoUOHBx54YMeOHYkBv//97+NPdNppp0VRNGfOnLPP%0APjs/P79x48adO3d++eWXEyNreBVRFO3YseO3v/3tWWed1bx588zMzObNm3fo0GH06NH//Oc/%0Aa/mWNmjQIIqiadOmnXbaaU2aNMnLy/v3f//32bNnJwaUlJTEp3r88cdX+9vx48cnzsBYt25d%0ALZ8xLjs7u3///tOmTYu/jZs3bx41alTVAd/4Hj722GPxZz/uuOOiKJo4ceKpp54afwlnn332%0AvHnzqj1jLBZ7+umnzz333Ph7lZeXd/LJJz/44INV92wlPpfTTz99x44dN910U7NmzQ499NAa%0APoVqH+XkyZN/+MMfNmrU6IgjjhgyZEj8CMKPPvrowgsvjH++55xzzocfflhtbnW2wcCBKwbU%0APw8//HD8f6ENGjR44YUXah58/vnn7/o/7ZtuuikWi91+++3xmyeffHLVP5k2bVp8fXp6etX1%0Aif1/CdnZ2UOGDNnt4ClTpuz2VNMzzjhjy5Yt8TFPP/10fOXxxx//4osvZmVlVR2Znp7+8ssv%0Af+OrqKio6NKly27/H+yoo4765JNPanhzJk2aFB/ZuHHjRx55pNqfN2jQ4LnnnouPTCRCFEVL%0Aly6t+iA9e/aMr+/Zs+eenuh3v/td4s/Xrl2764ALL7wwfm/z5s137txZ+/fwiSeeiK8sKCi4%0A5557qo3MyMh48cUXqz7RlVdeudv36oILLkg875NPPhlfecIJJ9x3333x5fT09Bo+haof5cSJ%0AE6vl/g033LBs2bJDDjmk6spmzZqtW7eu7jcYOJAJO6iPli5dmp6envjHrFu3buPGjfvwww8T%0A/zBX9eGHH1Y9keKPf/zjnDlzli1bFtvLsHv77ber/ls7derUZ5555rzzzkvs1as6eNmyZQ0b%0ANoyvHzRo0NKlS999993TTz89vmbw4MHxYYmuOvzww4844oh27doNHjz4nHPOSTxRx44dv/FV%0AJILsmGOOeeqpp+bNmzdr1qz43sooik4//fQa3snEBLKzsw866KC+ffs+9dRTd999d5MmTeLr%0ACwsLt23bFh987LHHxleOHj068QgVFRWJwYkK3NU3ht3jjz+eGLBkyZLav4eJbxuzs7Ozs7N/%0A+tOfPvXUU7/85S8bN24cX9+6deuKior44GeffTa+skGDBg8//PDixYsfe+yxxCc4ceLEam/L%0AEUccUVhYmJmZ2a5du6OPPrqGT6HqR9myZcsLL7ywf//+iXcmOzu7a9euBQUFN91008knn5x4%0AhP/+7/+u+w0GDmTCDuqpX/7yl9Eu8vPzu3fv/tvf/nb9+vVVB69atSox5qOPPkqs36uw+4//%0A+I/4ymbNmm3cuDG+cvv27cccc8yug/v37x9f2aVLl8TKL7/8Ml4bBx10UHwfTOLf6SiKOnfu%0AnNgxk9ir1KBBg0SU7OlVXH311fGV9913X2JlRUXFFVdc0b9//1/96leVlZV7ehurTuD6669P%0ArJ88eXJi/fPPPx9fmdh31aFDh8TIV155Jb6yefPm27dv39MTfWPYzZ8/PzHg1Vdf3bf3sKSk%0AJDEysXMriqLETruHHnro/PPPP//886vuu0rsLOzTp8+ub0txcfGKFSsSg/f0KVT9k8SeyylT%0ApiRW5uTklJaWxmKxbdu2HX300fGV3bt3j4+syw0GDmSOsYN6avDgwS+88ELnzp2rfue1du3a%0AZ5999tprr23VqlXVPUD7xZtvvhlf6N69e25ubnw5IyNjt1/tvfDCC/GFTp06bf1fjRs3PvHE%0AE6Mo2rBhQ9VvNuNGjBiR+CbummuuiS/s3Lnz888/r3lieXl58YVf//rXEyZMKC8vj6IoMzPz%0AySeffPDBB2+55Zb48XPf6IYbbkgs9+jRI/Gwb731VnyhT58+8e/+3n333RUrVsRXPvfcc/GF%0AK6+88ttcojmxgy2Kog0bNkT79B7+/Oc/TyxfeumlBx10UHw5UY033HDDc88999xzz40ZMyYx%0AsnXr1vGFL774YteJjRgxomXLlnv1WgYNGhRf6N69e3Z2dnz54osvPuqoo6IoysrK6t69e3xl%0A4m2syw0GDmTCDuqv884774033lixYsX48eOvu+66E044IRF569atu+aaa6ZOnbofn+4f//hH%0AfKG4uLjq+vgx+1XFYrGysrL48qhRoxpW8cYbb8TX73rg/EknnZRYTqRG9L+VU4NrrrmmUaNG%0AURR9+umnffr0Oeyww9q0adO3b9+pU6fW/lIXmZmZiW9aoyhKT09v06ZNfPnTTz+NLxxyyCGJ%0Aa5Ekdmomwq5Pnz61fK7dWrt2bWI5Pz9/H97DzMzMf/u3f0vczMjISLyEqhesfvnll3v06FFU%0AVJSTkxM/EeHBBx+M37Xbt+uMM87Y29eSOL8kMzMzccGdqmf5HH744fGF+IdbxxsMHMiEHdR3%0ALVq06N27929+85tFixZ9+umnt912W+Lwu6FDh+6vZ4nFYlu2bIkvxysqodrNKIo2b968c+fO%0Amh/wq6++qnozfohb4uZe/cBXu3btZs6cWbUvS0tLH3vssUsvvbRNmzZVv+KsQW5ubrUde4nX%0AlXjhURT17ds3vhCP5r///e9///vfoyg64YQT2rVrV/s572rhwoWJ5VatWu3De7jrS0jsWN28%0AeXN84ZFHHjn77LNnzJixbNmyjIyMtm3b/uAHP6h2TkNV6enpiTKrpezs7MTRcvGb8YXEFV6i%0AKKp20kMdbzBwIBN2UH/Fj+iquqZly5ajRo0aOXJk/OaSJUuqRkkNtm3bVvXm6tWrqw2o+muq%0A8QvqJqxfv77a4EaNGiXicsyYMbs9zuOOO+6ozcRqqUuXLosXL543b97IkSPPO++8xDH7//jH%0APy666KJqE96t+NFaVdck/iqRR1EUnXXWWUcccUQURW+++eaXX36ZOBfhW+6ui6IocUjcUUcd%0A1bp16314D3f9rKu9hI0bNw4cODC+5ic/+cmXX365ZMmShQsXXn755XuaVUZGRi2/yP426n6D%0AgQOWsIN6Z9myZZdeemnbtm0bNWqUOHK/qsT3XFEU1XCRuajKcV2ff/551ax5//33dx3cqlWr%0A+EK1X2dasGBBtZFpaWlFRUXx5cRXbN+1tLS0U045ZejQoS+88MKaNWtmzJiRn58fRdGXX36Z%0A+DqvBtu2bVu6dGni5o4dOz755JP4crzkEs9SUlISRVFlZeWMGTPi38Omp6fv6RoitRQ/mTe+%0AfNVVV0X79B5u27YtMef4S4jvTUy8hAULFiR23Q0aNCixX63qC0+KpGwwcGASdlDvFBQUzJ49%0A++OPP96xY0ffvn0/+OCDqveuXr06cchU27Zt47vZquZd1Wv2Jg6KX7169cyZM+PL8V8v3fV5%0ATznllPjCM888kzggbOPGjbsdfO6558YXJk2alIiJysrKK6+8sqSkZPDgwZ999tleveo9vYot%0AW7aMHj36mmuuueiiixJf56Wnp1944YUdOnSI36y2P3JPfvvb3yaWp06dmjhU69RTT606rKSk%0AJL576fHHH4+fUHLOOeccdthhe/ty4iorK3/zm98kTuxt1qxZ4iK6+/AePvbYY4nlZ555ZuPG%0AjVVfQtX3IX7F4CiKlixZkviN2sTKGuxpW/qW6myDgQPdtz+xFtjvEhcojv53T9VVV1115ZVX%0AdunSperRS48++mh8/I4dOzIzM+MrO3fuPHHixPj1L0pLSxP/+OXm5l533XUDBw783ve+9+Mf%0A/zi+suoVTKr+DEP79u2ffvrp//mf/+nQoUNit1+DBg0Sg0tLSxM7hDp16jRz5swXX3zxkksu%0Aia857rjjduzYEfvXy8hVfYGJkyWjKFq8eHHNryJxcNull176/PPP/+Uvf3njjTdGjBgRH5yd%0AnV1eXr6ndzJxEbj09PSsrKwBAwbMmDHjvvvuS5wSe/TRR8enWlW1i98+/fTT3/iRVb3cSbdu%0A3S666KKLLrrozDPPrHp8W2Zm5iuvvLLP72FGRkZmZubw4cNfe+21hx9++OCDD672Ej777LPE%0A96rdu3dfvHjxM88806JFi8TFR/Ly8ubPn19eXr6nz6WGT2FPf5LYFffII48kVib+26OoqKju%0ANxg4kAk7qKd++ctf1nBxjfT09GHDhlUd37Vr16oDzj///Pj666+/vtrfFhcXJ65skpaWVvWi%0Ax4mLSiTk5uY+9NBDiZtVrxg3adKkxIHzVbVo0SJxUbG9+nd6T69i8eLFe7oeR4MGDR577LEa%0A3sbEzzY0b9682m95RVGUk5Mzd+7cXf8qcUpsFEVNmjRJXE2tBlXDbrdatmw5Z86can+1V+9h%0Afn7+rbfeWvNLuPHGG6sNKCgoKCsrKygoSKwZPnx4DWG3p0/hW4bd3r7Yb7PBwIFM2EH9VVpa%0Aevvtt//4xz9u1qxZZmZmVlZWs2bNOnXqdOutt3788cfVBq9cubJHjx5NmzbNyck58sgjR40a%0AFV+/Y8eO0aNHFxcXZ2VltWjR4tprry0vL1+5cmXi38JNmzYlHqSysvK+++47+uijs7Kymjdv%0Aftlll33wwQdVr0NR7cLIS5YsKSkpOfLII7Ozsxs1anT88cfffvvtX331VWLA3v47vadX8cUX%0AX/ziF7846aSTDj300MzMzEaNGh1zzDHXXnvtokWLan4PH3300fizHHPMMbFY7A9/+EO7du1y%0AcnLy8/MvvPDChQsX7vavtm/fnjhXtG/fvjU/Rdxuwy4zM/Pwww/v2rXrI488sqc6rP17mJub%0AG4vFxo0bV/UlVHsHKioq7rrrrmOPPbZhw4YtWrTo27fvZ599FovFXnrppaOPPjojI6Nly5ZP%0AP/10zWG320/h24fdXr3Yb7nBwAErLfavp4kBUF5e3qpVq4qKiiiK3nzzzU6dOiVxMpMnT47/%0AWG12dvbWrVuTOBOg/nPyBEB1Q4cOjVdd+/btk1t1AHtl338eByAwTzzxRHl5+dy5cxPH2N15%0A553JnRLAXhF2AP/Po48++vrrryduXnvtteedd14S5wOwt4QdwP/TrFmz7OzsysrKoqKia6+9%0ANnHBOYBU4eQJAIBAOHkCACAQwg4AIBDCDgAgEMIOACAQwg4AIBDCDgAgEMIOACAQwg4AIBDC%0ADgAgEMIOACAQwg4AIBDCDgAgEMIOACAQwg4AIBDCDgAgEMIOACAQwg4AIBDCDgAgEMIOACAQ%0Awg4AIBDCDgAgEMIOACAQwg4AIBDCDgAgEMIOACAQwg4AIBDCDgAgEMIOACAQwg4AIBDCDgAg%0AEMIOACAQwg4AIBDCDgAgEBnJngBQ75SXl69cuTLZsyDFtGzZ8tBDD032LOBAlxaLxZI9B6B+%0A6dq166xZs5I9C1LMeeed98ILLyR7FnCgs8cOqK6iouLMaweedf0tyZ4IKePl39xV8cn7yZ4F%0A4Bg7AIBQCDsAgEAIOwCAQAg7AIBACDsAgEAIOwCAQAg7AIBACDsAgEAIOwCAQAg7AIBACDsA%0AgEAIOwCAQAg7AIBACDsAgEAIOwCAQAg7AIBACDsAgEAIOwCAQAg7AIBACDsAgEAIOwCAQAg7%0AAIBACDsAgEAIOwCAQAg7AIBACDsAgEAIOwCAQAg7AIBACDsAgEAIOwCAQAg7AIBACDsAgEAI%0AOwCAQAg7AIBACDsAgEAIOwCAQAg7AIBACDsAgEAIOwCAQAg7AIBACDsAgEAIOwCAQAg7AIBA%0ACDsAgEAIOwCAQAg7AIBACDsAgEAIOwCAQAg7AIBACDsAgEAIOwCAQAg7AIBACDsAgEAIOwCA%0AQAg7AIBACDsAgEBkJHsCey0Wi5WVlS1btmzDhg1RFDVp0qS4uLiwsDDZ8wIASLJUCru1a9eO%0AGjVqwoQJq1evrnZXq1at+vbtO3DgwIYNGyZlbgAASZcyYbdq1apOnTqVlZUVFxd369atdevW%0Aubm5URStX7++tLT09ddfHzZs2JQpU1577bX8/PxkTxYAIAlSJuyGDh26cuXKiRMn9uzZc9d7%0AKysrx40b179//xEjRowZM6bupwcAkHQpc/LEzJkze/fuvduqi6IoPT29X79+l19++dSpU+t4%0AYgAA9UTKhN2aNWuKiopqHtO2bdvy8vK6mQ8AQH2TMmFXUFCwaNGimscsWLCgoKCgbuYDAFDf%0ApEzY9ejRY9KkSffee++2bdt2vXfTpk3Dhw+fMWNGr1696n5uAAD1QcqcPHHHHXfMmTNn0KBB%0AI0eO7NixY2FhYePGjWOx2MaNG5cvX/7OO+9s3ry5c+fOQ4YMSfZMAQCSI2XCrmnTpvPnzx87%0Aduz48eNnz55dWVmZuCszM7N9+/YlJSUlJSXp6el7+8irVq3asmVLzWOysrJatmy515MGAKhD%0AKRN2URRlZWUNGDBgwIABW7duXbFiRfyXJ/Ly8lq1apWVlbVvj1laWtqmTZtvHJaWllZRUZGR%0AkUpvFwBwoEnJUsnJySkuLk7cXL9+/bBhw66++upjjjlmbx+qqKjo008/3b59ew1j3n///Z49%0Ae+7cuXNf5goAUFdSMuyqWb9+/V133XXqqafuQ9hFUfSNvzP7xRdf7NO8AADqVMqEXd++ffd0%0A1+bNm6MoevDBB6dPnx5F0aOPPlp30wIAqDdSJuwee+yxmgf8+c9/ji8IOwDgwJQy17EbMGBA%0Aenp6u3btZs2atfZfffjhh1EUPf300/GbyZ4pAEBypEzY3X///W+99VYURV27dr3tttvS0tKa%0A/q+8vLwoinJzc+M3kz1TAIDkSJmwi6LopJNOevfdd0ePHv34448fe+yxU6ZMSfaMAADqkVQK%0AuyiKMjIybrnllsWLF7dt2/ayyy678MILV6xYkexJAQDUCykWdnFFRUUvv/zyH/7wh7lz5x57%0A7LHOlgAAiFI07OKuvvrqjz766IILLhgxYkSy5wIAkHwpc7mT3WrevPlTTz3Vp0+fV155paio%0AKNnTAQBIptQOu7iuXbt27do12bMAAEiyFP4qFgCAqo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hB0A%0AQCCEHQBAIIQdAEAghB0AQCCEHQBAIIQdAEAghB0AQCCEHQBAIIQdAEAghB0AQCCEHQBAIIQd%0AAEAghB0AQCCEHQBAIIQdAEAghB0AQCCEHQBAIIQdAEAghB0AQCCEHQBAIIQdAEAghB0AQCCE%0AHQBAIIQdAEAghB0AQCCEHQBAIIQdAEAghB0AQCCEHQBAIIQdAEAghB0AQCCEHQBAIIQdAEAg%0AhB0AQCCEHQBAIIQdAEAghB0AQCCEHQBAIIQdAEAghB0AQCCEHQBAIIQdAEAghB0AQCCEHQBA%0AIIQdAEAghB0AQCCEHQBAIIQdAEAghB0AQCCEHQBAIIQdAEAghB0AQCCEHQBAIIQdAEAgMpI9%0Agb0Wi8XKysqWLVu2YcOGKIqaNGlSXFxcWFiY7HkBACRZKoXd2rVrR40aNWHChNWrV1e7q1Wr%0AVn379h04cGDDhg2TMjcAgKRLmbBbtWpVp06dysrKiouLu3Xr1rp169zc3CiK1q9fX1pa+vrr%0Arw8bNmzKlCmvvfZafn5+sicLAJAEKRN2Q4cOXbly5cSJE3v27LnrvZWVlePGjevfv/+IESPG%0AjBlT99MDAEi6lDl5YubMmb17995t1UVRlJ6e3q9fv8svv3zq1Kl1PDEAgHoiZcJuzZo1RUVF%0ANY9p27ZteXl53cwHAKC+SZmwKygoWLRoUc1jFixYUFBQUDfzAQCob1Im7Hr06DFp0qR77713%0A27Ztu967adOm4cOHz5gxo1evXnU/NwCA+iBlTp6444475syZM2jQoJEjR3bs2LGwsLBx48ax%0AWGzjxo3Lly9/5513Nm/e3Llz5yFDhiR7pgAAyZEyYde0adP58+ePHTt2/Pjxs2fPrqysTNyV%0AmZnZvn37kpKSkpKS9PT0JE4SACCJUibsoijKysoaMGDAgAEDtm7dumLFivgvT+Tl5bVq1Sor%0AK2vfHnPFihXnnHNORUVFDWO2bt0aRVEsFtu3p6jm/vvvHzt27H55KA4cJ5988pNPPpnsWQBQ%0A36VS2CXk5OQUFxfHlysrK//2t79t2rTp+OOPz8nJ2duHOuywwwYPHhxPtz0pLS29++6709LS%0A9nG6/2rx4sU7Gh/c/sL/b788GgeCfyx4+9133032LABIAakUdvPmzRszZszf/va3I488cujQ%0AoSeeeOInn3xy8cUXf/DBB1EUHXTQQb/61a/69eu3V4+ZmZnZp0+fb3zeu+++e9/nvYtmRxR1%0AvOQbnhQS0tIa/HXp+8meBQApIGXC7u233+7Spcv27dszMzMXLVr06quvLliw4Oqrry4rK7vy%0Ayiu3bNny5z//+YYbbigsLOzevXuyJwsAkAQpc7mTO++8M4qiqVOnbtmyZeXKla1btx4+fPhb%0Ab701a9asJ554YsqUKe+9915ubu4DDzyQ7JkCACRHyoTd/Pnze/XqdfHFF6enp7do0WLMmDFP%0APPFEp06dTj311PiA73//+z179nzvvfeSO08AgGRJmbBbv3591Z8UO/nkk6MoOvbYY6uOKSgo%0AiJ8qCwBwAEqZsGvZsmVZWVniZm5ubpMmTZo2bVp1TGlp6cEHH1znUwMAqBdSJuzOOOOMP/3p%0AT2+++WZizbp160aPHp24+dZbb02dOjXxzSwAwIEmZcLu1ltvbdSo0WmnnXbbbbftem/v3r1P%0AO+20WCx2yy231P3cAADqg5QJuzZt2sydO/fMM8/c7Y+GLVq06LDDDpsyZUqHDh3qfm4AAPVB%0AylzHLoqitm3bvvTSS7u9a9asWQUFBXU8HwCAeiVl9tjVTNUBAAQSdgAACDsAgEAIOwCAQAg7%0AAIBACDsAgEAIOwCAQAg7AIBACDsAgEAIOwCAQAg7AIBACDsAgEAIOwCAQAg7AIBACDsAgEAI%0AOwCAQAg7AIBACDsAgEAIOwCAQAg7AIBACDsAgEAIOwCAQAg7AIBACDsAgEAIOwCAQAg7AIBA%0ACDsAgEAIOwCAQAg7AIBACDsAgEAIOwCAQAg7AIBACDsAgEAIOwCAQAg7AIBACDsAgEAIOwCA%0AQAg7AIBACDsAgEAIOwCAQAg7AIBACDsAgEAIOwCAQAg7AIBACDsAgEAIOwCAQAg7AIBACDsA%0AgEAIOwCAQAg7AIBACDsAgEAIOwCAQAg7AIBACDsAgEAIOwCAQAg7AIBAZCR7AgCw1wYNGrRw%0A4cJkz4IUc9VVV/30pz9N9iy+W8IOgNQzffr09ENbH1Z8XLInQspY+uZLs2fPFnYAUB8dd8YF%0AHS6+KtmzIGVs/Gp1sqdQFxxjBwAQCGEHABAIYQcAEAhhBwAQCGEHABAIYQcAEAhhBwAQCGEH%0AABAIYQcAEAhhBwAQCGEHABAIYQcAEAhhBwAQCGEHABAIYQcAEAhhBwAQCGEHABAIYQcAEAhh%0ABwAQCGEHABAIYQcAEAhhBwAQCGEHABAIYQcAEAhhBwAQCGEHABAIYQcAEAhhB9f53ZQAABVp%0ASURBVAAQCGEHABAIYQcAEAhhBwAQCGEHABAIYQcAEAhhBwAQCGEHABAIYQcAEAhhBwAQCGEH%0AABAIYQcAEAhhBwAQCGEHABAIYQcAEAhhBwAQCGEHABAIYQcAEAhhBwAQCGEHABAIYQcAEAhh%0ABwAQCGEHABAIYQcAEAhhBwAQCGEHABAIYQcAEAhhBwAQiIxkT2CvxWKxsrKyZcuWbdiwIYqi%0AJk2aFBcXFxYWJnteAABJlkpht3bt2lGjRk2YMGH16tXV7mrVqlXfvn0HDhzYsGHDpMwNACDp%0AUibsVq1a1alTp7KysuLi4m7durVu3To3NzeKovXr15eWlr7++uvDhg2bMmXKa6+9lp+fn+zJ%0AAgAkQcqE3dChQ1euXDlx4sSePXvuem9lZeW4ceP69+8/YsSIMWPG1P30AACSLmVOnpg5c2bv%0A3r13W3VRFKWnp/fr1+/yyy+fOnVqHU8MAKCeSJmwW7NmTVFRUc1j2rZtW15eXjfzAQCob1Im%0A7AoKChYtWlTzmAULFhQUFNTNfAAA6puUCbsePXpMmjTp3nvv3bZt2673btq0afjw4TNmzOjV%0Aq1fdzw0AoD5ImZMn7rjjjjlz5gwaNGjkyJEdO3YsLCxs3LhxLBbbuHHj8uXL33nnnc2bN3fu%0A3HnIkCHJnikAQHKkTNg1bdp0/vz5Y8eOHT9+/OzZsysrKxN3ZWZmtm/fvqSkpKSkJD09PYmT%0ABABIopQJuyiKsrKyBgwYMGDAgK1bt65YsSL+yxN5eXmtWrXKysrat8f86quvhgwZUjUTd+WE%0ADAAgJaRS2CXk5OQUFxfvun7t2rVff/31EUccUfuHSktLS0tL228zAwBInlQKu7/+9a+DBw/+%0A8MMPCwsLr7jiiuuuu67aF6933XXXXXfdFYvFav+Y+fn5Y8eOrXnMvHnzZsyYsS8zBgCoQykT%0AdnPnzj3zzDO3bdvWqFGjzz///M0335w4ceK0adP8gBgAQFzKXO5k9OjRO3funDZt2saNGzds%0A2HD//ffPmzfv3HPP3bRpU7KnBgBQL6RM2P31r3/t1atXjx490tLSsrOzBwwYMGvWrEWLFl1+%0A+eU1n/oAAHCASJmw++KLL4466qiqa84444xHH330+eef/6//+q9kzQoAoP5ImWPsDj300IUL%0AF1Zb2bt3748++mj06NEtW7YcNGhQUiYGAFBPpEzYXXLJJQ8++OBDDz103XXXZWZmJtaPGjXq%0A888/v/nmmz///HPfyQIAB7KUCbthw4ZNnz79xhtvnDFjxksvvZRYn5aW9oc//KFJkyZjxoxJ%0A4vQAAJIuZY6xO/jgg997771+/fodf/zx1e5KS0v79a9/PWXKlKKioqTMDQCgPkiZPXZRFB1y%0AyCE1XEz4kksuueSSS+pyPgAA9UrK7LEDAKBmwg4AIBDCDgAgEMIOACAQwg4AIBDCDgAgEMIO%0AACAQwg4AIBDCDgAgEMIOACAQwg4AIBDCDgAgEMIOACAQwg4AIBDCDgAgEMIOACAQwg4AIBDC%0ADgAgEMIOACAQwg4AIBDCDgAgEMIOACAQwg4AIBDCDgAgEMIOACAQwg4AIBDCDgAgEMIOACAQ%0Awg4AIBDCDgAgEMIOACAQwg4AIBDCDgAgEMIOACAQwg4AIBDCDgAgEMIOACAQwg4AIBDCDgAg%0AEMIOACAQwg4AIBDCDgAgEMIOACAQwg4AIBDCDgAgEMIOACAQwg4AIBDCDgAgEMIOACAQwg4A%0AIBDCDgAgEMIOACAQwg4AIBDCDgAgEMIOACAQwg4AIBDCDgAgEMIOACAQwg4AIBDCDgAgEMIO%0AACAQwg4AIBDCDgAgEMIOACAQwg4AIBDCDgAgEMIOACAQwg4AIBDCDgAgEMIOACAQwg4AIBDC%0ADgAgEMIOACAQwg4AIBDCDgAgEMIOACAQwg4AIBDCDgAgEMIOACAQwg4AIBDCDgAgEMIOACAQ%0Awg4AIBDCDgAgEMIOACAQwg4AIBDCDgAgEMIOACAQwg4AIBDCDgAgEMIOACAQwg4AIBDCDgAg%0AEMIOACAQwg4AIBDCDgAgEMIOACAQwg4AIBDCDgAgEMIOACAQwg4AIBDCDgAgEMIOACAQwg4A%0AIBDCDgAgEMIOACAQwg4AIBDCDgAgEMIOACAQwg4AIBDCDgAgEMIOACAQwg4AIBDCDgAgEBnJ%0AnsBei8ViZWVly5Yt27BhQxRFTZo0KS4uLiwsTPa8AACSLJXCbu3ataNGjZowYcLq1aur3dWq%0AVau+ffsOHDiwYcOGSZkbAEDSpUzYrVq1qlOnTmVlZcXFxd26dWvdunVubm4URevXry8tLX39%0A9deHDRs2ZcqU1157LT8/P9mTBQBIgpQJu6FDh65cuXLixIk9e/bc9d7Kyspx48b1799/xIgR%0AY8aMqfvpAQAkXcqcPDFz5szevXvvtuqiKEpPT+/Xr9/ll18+derUOp4YAEA9kTJht2bNmqKi%0AoprHtG3btry8vG7mAwBQ36RM2BUUFCxatKjmMQsWLCgoKKib+QAA1DcpE3Y9evSYNGnSvffe%0Au23btl3v3bRp0/Dhw2fMmNGrV6+6nxsAQH2QMidP3HHHHXPmzBk0aNDIkSM7duxYWFjYuHHj%0AWCy2cePG5cuXv/POO5s3b+7cufOQIUOSPVMAgORImbBr2rTp/Pnzx44dO378+NmzZ1dWVibu%0AyszMbN++fUlJSUlJSXp6ehInCQCQRCkTdlEUZWVlDRgwYMCAAVu3bl2xYkX8lyfy8vJatWqV%0AlZW1b49ZUVHx5JNPVlRU1DCmtLR03x4cAKAupVLYJeTk5BQXF++6fs2aNWvXrm3Tpk3tH6q8%0AvPzuu+/e7XF7CVu3bo2iKBaL7e08AQDqUkqG3Z7cc889d911114VWGFh4ZIlS2oeM2/evE6d%0AOqWlpX272QEAfLdS5qxYAABqJuwAAAKRMl/FnnTSSd845rPPPquDmQAA1E8pE3YLFiyIoigz%0AM7OGMTt27Kir6QAA1Dsp81XsoEGDcnNzP/jgg617NnDgwGRPEwAgaVIm7H7xi1+0adPmiiuu%0A2L59e7LnAgBQH6VM2GVmZv7xj3/88MMPb7vttmTPBQCgPkqZY+yiKGrbtu0XX3xRw4F0Xbt2%0Abdq0aV1OCQCg/kilsIuiKC8vr4Z7Tz/99NNPP73OJgMAUK+kzFexAADUTNgBAARC2AEABELY%0AAQAEQtgBAARC2AEABELYAQAEQtgBAARC2AEABELYAQAEQtgBAARC2AEABELYAQAEQtgBAARC%0A2AEABELYAQAEQtgBAARC2AEABELYAQAEQtgBAARC2AEABELYAQAEQtgBAARC2AEABELYAQAE%0AQtgBAARC2AEABELYAQAEQtgBAARC2AEABELYAQAEQtgBAARC2AEABELYAQAEQtgBAARC2AEA%0ABELYAQAEQtgBAARC2AEABELYAQAEQtgBAARC2AEABELYAQAEQtgBAARC2AEABELYAQAEQtgB%0AAARC2AEABELYAQAEQtgBAARC2AEABELYAQAEQtgBAARC2AEABELYAQAEQtgBAARC2AEABELY%0AAQAEQtgBAARC2AEABELYAQAEQtgBAARC2AEABELYAQAEQtgBAARC2AEABELYAQAEQtgBAARC%0A2AEABELYAQAEQtgBAARC2AEABELYAQAEQtgBAARC2AEABELYAQAEQtgBAARC2AEABELYAQAE%0AQtgBAARC2AEABELYAQAEQtgBAARC2AEABELYAQAEQtgBAARC2AEABELYAQAEQtgBAARC2AEA%0ABELYAQAEQtgBAARC2AEABELYAQAEQtgBAARC2AEABELYAQAEQtgBAARC2AEABELYAQAEQtgB%0AAARC2AEABELYAQAEQtgBAARC2AEABELYAQAEQtgBAARC2AEABELYAQAEQtgBAARC2AEABELY%0AAQAEQtgBAARC2AEABELYAQAEQtgBAARC2AEABELYAQAEQtgBAARC2AEABCIj2RPYa7FYrKys%0AbNmyZRs2bIiiqEmTJsXFxYWFhcmeFwBAkqVS2K1du3bUqFETJkxYvXp1tbtatWrVt2/fgQMH%0ANmzYMClzAwBIupQJu1WrVnXq1KmsrKy4uLhbt26tW7fOzc2Nomj9+vWlpaWvv/76sGHDpkyZ%0A8tprr+Xn5yd7sgAASZAyYTd06NCVK1dOnDixZ8+eu95bWVk5bty4/v37jxgxYsyYMXU/PQCA%0ApEuZsJs5c2bv3r13W3VRFKWnp/fr1++NN96YOnXq3obdp59+umPHjhoGfP7553v1gN9o26aN%0AX322fP8+JgHbtG5N3T/plvXrbKXU3pb163Lq/Ek3rVtjK6X2tm3aGH2v7rfTupYyYbdmzZqi%0AoqKax7Rt23batGl79bClpaXFxcWxWKzmYWlpaQ0a7J8ziPPy8j545fEPXnluvzwaB4gTTzyx%0ALp8uLy/v1acfnff0o3X5pKS6Hj161OXT5eXlvfjgnS8+eGddPimp7oyf/zzZU/jOpX1j09QT%0ARxxxxMknn/ynP/2phjE9evRYtGhRWVnZXj3y+vXrKysrax6zc+fOgw8+eK8edk927NgRP58X%0Aaq9hw4Y5OXX3H5oVFRWbNm2qs6cjDLm5uVlZWXX2dFu3bt2yZUudPR1hOOiggzIyUmaX1r5J%0AmZfXo0ePBx54oEOHDjfeeGN2dna1ezdt2nT33XfPmDHjlltu2dtHzsvL209zrJWMjAynd1DP%0AZWVl1eW/0LAPcnJy6vK/diBVpMweu3Xr1p155pnvv//+QQcd1LFjx8LCwsaNG8disY0bNy5f%0Avvydd97ZvHlz586dn3/++caNGyd7sgAASZAyYRdFUUVFxdixY8ePH7948eKqX55mZma2b9++%0ApKSkpKQkPT09iTMEAEiiVAq7hK1bt65YsSJ+pFpeXl6rVq18bQQAkJJhBwDArvbPJTwAAEg6%0AYQcAEAhhBwAQCGEHABAIYQcAEAhhBwAQCGEHABAIYQcAEAhhBwAQCGEHABAIYQcAEAhhBwAQ%0ACGEHABAIYQcAEAhhBwAQCGEHABAIYQcAEAhhBwAQCGEHABAIYQcAEAhhBwAQCGEHABAIYQcA%0AEAhhBwAQCGEHABAIYQcAEAhhBwAQCGEHABAIYQcAEAhhx3clFotNnjy5R48eBQUF2dnZzZs3%0AP+mkk0aNGlVeXl512M6dOydPnnzBBRcceeSRDRs2bNiwYVFRUe/evRctWpQY88QTT6TV6J//%0A/Gedvz5S215tVLXZmG2l1L2PP/44LS3tvPPOi98cOHBgzRvhqaeemtwJUwcykj0BwrRu3bqe%0APXu+/PLLjRo1OvPMM1u3br1mzZp33nlnyJAhv/71r6dMmdK5c+f4yCuuuGLixImtW7e+7LLL%0ADjvssK+//vq999576qmnpk2b9sILLySGRVF08skn/+hHP9rt0zVs2LAuXhXBqc1GVfuNuZYP%0ACN+R0047bceOHYmbTzzxxJo1a/r375+enh5fc9RRRyVpatShGHwHunXrFkXRRRddtHr16sTK%0AysrKRx55JD09PT8/v7y8PBaLvfrqq1EUnX766du3b6/6588880wURe3atYvfnDBhQhRFw4cP%0Ar8NXQOBqv1HVcmO2lVL3PvrooyiKzj333N3ee9xxx0VRtGXLljqeFclljx3736xZs55//vkT%0ATzxx8uTJGRn//zbWoEGD66+//quvvnr11VdLS0ubN2++ZMmSKIp69uxZdVgURd27d58wYcJh%0Ahx22c+fOBg0cMEDS1H5jTuIkARL8k8n+N378+CiKbr/99mq5Fnfbbbe9/PLLp5xyShRFhYWF%0AURS99NJLVb8+iLvqqqvOOussVUdy1X5jBqgP/KvJ/vf222+npaWdddZZ3ziya9euP/zhD2fM%0AmNGhQ4cHH3xwyZIlsVisDmYItVT7jRmgPhB27H/l5eVNmjTJy8v7xpGZmZmzZ8++4YYbli5d%0A+vOf//y4445r1qzZxRdf/Pvf/37z5s3VBo8YMWK353ndcccd38nL4ADwjRtV7TfmWj4gwHfK%0AMXbsfw0aNKisrKzl4Ly8vIceeuiuu+569dVX586dO2fOnJkzZ06fPv3WW2998sknq+4pOeWU%0AU3784x/v+gi7XQm18Y0b1V5tzLV5QIDvlLBj/ysoKFi6dOk///nPQw45pJZ/kpub27179+7d%0Au0dRtHbt2ieeeGLQoEGXXXbZJ598kniQc845x24P9q9v3Kj2dmO2lQLJ5atY9r/4zolnn312%0At/fGYrG//vWvNfx5fn7+jTfe2L9//6+//vr111//TqYItfMtN2aAOibs2P+uueaaKIpGjhy5%0AYcOGXe99+OGHf/CDH4wdO7aysvJnP/tZ9+7dd+7cueuwpk2bRlG0cePG73q2UINabsx1Pi+A%0A3RN27H+dO3fu1avXP/7xj7PPPru0tDSxfseOHQ888MBNN910+OGH/+QnP0lPTy8rK3vuuecG%0ADx5c7TCm0tLScePGZWRkdOnSpa5nD1XUcmNO4gwBqnKMHd+J3//+99u2bZs+ffoxxxzTuXPn%0A73//++vWrXvrrbeWL19+1FFHzZo1Kz8/P4qi3/3ud126dLn77rufeuqp888//9BDD924cePS%0ApUv//Oc/b9++/f7772/dunXiMWfNmrVu3brdPt35559/9tln19FrIyC12ahquTHX/gEBvjvC%0Aju9Eo0aNpk2b9uyzzz7++ONvvfXWm2++mZOTc+yxx95yyy1XX3114kczCwsLFy5c+PDDDz/z%0AzDMTJ078+uuvs7KyCgsLr7rqqp/97GcnnXRS1cd8++2333777d0+3SGHHOKfTPZBbTaqWm7M%0AtX9AgO9OmuvBAgCEwTF2AACBEHYAAIEQdgAAgRB2AACBEHYAAIEQdgAAgRB2AACBEHYAAIEQ%0AdgAAgRB2AACBEHYAAIEQdgAAgRB2AACBEHYAAIEQdgAAgRB2AACBEHYAAIEQdgAAgRB2AACB%0AEHYAAIEQdgAAgRB2AACBEHYAAIEQdgAAgRB2AACBEHYAAIEQdgAAgRB2AACBEHYAAIEQdgAA%0AgRB2AACBEHYAAIEQdgAAgRB2AACBEHYAAIEQdgAAgRB2AACBEHYAAIEQdgAAgRB2AACBEHYA%0AAIEQdgAAgRB2AACBEHYAAIEQdgAAgRB2AACBEHYAAIEQdgAAgRB2AACBEHYAAIEQdgAAgRB2%0AAACBEHYAAIEQdgAAgRB2AACBEHYAAIEQdgAAgRB2AACBEHYAAIEQdgAAgRB2AACBEHYAAIEQ%0AdgAAgRB2AACBEHYAAIEQdgAAgRB2AACBEHYAAIEQdgAAgRB2AACBEHYAAIEQdgAAgRB2AACB%0AEHYAAIEQdgAAgRB2AACBEHYAAIEQdgAAgfi/+dpnIAKjn5YAAAAASUVORK5CYI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8569" name="Picture 25"/>
          <p:cNvPicPr>
            <a:picLocks noChangeAspect="1" noChangeArrowheads="1"/>
          </p:cNvPicPr>
          <p:nvPr/>
        </p:nvPicPr>
        <p:blipFill>
          <a:blip r:embed="rId3"/>
          <a:srcRect/>
          <a:stretch>
            <a:fillRect/>
          </a:stretch>
        </p:blipFill>
        <p:spPr bwMode="auto">
          <a:xfrm>
            <a:off x="5485880" y="0"/>
            <a:ext cx="3165995" cy="2894792"/>
          </a:xfrm>
          <a:prstGeom prst="rect">
            <a:avLst/>
          </a:prstGeom>
          <a:noFill/>
          <a:ln w="9525">
            <a:noFill/>
            <a:miter lim="800000"/>
            <a:headEnd/>
            <a:tailEnd/>
          </a:ln>
          <a:effectLst/>
        </p:spPr>
      </p:pic>
      <p:pic>
        <p:nvPicPr>
          <p:cNvPr id="108570" name="Picture 26"/>
          <p:cNvPicPr>
            <a:picLocks noChangeAspect="1" noChangeArrowheads="1"/>
          </p:cNvPicPr>
          <p:nvPr/>
        </p:nvPicPr>
        <p:blipFill>
          <a:blip r:embed="rId4"/>
          <a:srcRect/>
          <a:stretch>
            <a:fillRect/>
          </a:stretch>
        </p:blipFill>
        <p:spPr bwMode="auto">
          <a:xfrm>
            <a:off x="8943483" y="411911"/>
            <a:ext cx="2385545" cy="2214563"/>
          </a:xfrm>
          <a:prstGeom prst="rect">
            <a:avLst/>
          </a:prstGeom>
          <a:noFill/>
          <a:ln w="9525">
            <a:noFill/>
            <a:miter lim="800000"/>
            <a:headEnd/>
            <a:tailEnd/>
          </a:ln>
          <a:effectLst/>
        </p:spPr>
      </p:pic>
      <p:pic>
        <p:nvPicPr>
          <p:cNvPr id="108571" name="Picture 27"/>
          <p:cNvPicPr>
            <a:picLocks noChangeAspect="1" noChangeArrowheads="1"/>
          </p:cNvPicPr>
          <p:nvPr/>
        </p:nvPicPr>
        <p:blipFill>
          <a:blip r:embed="rId5"/>
          <a:srcRect/>
          <a:stretch>
            <a:fillRect/>
          </a:stretch>
        </p:blipFill>
        <p:spPr bwMode="auto">
          <a:xfrm>
            <a:off x="5485880" y="3183148"/>
            <a:ext cx="1837946" cy="1796346"/>
          </a:xfrm>
          <a:prstGeom prst="rect">
            <a:avLst/>
          </a:prstGeom>
          <a:noFill/>
          <a:ln w="9525">
            <a:noFill/>
            <a:miter lim="800000"/>
            <a:headEnd/>
            <a:tailEnd/>
          </a:ln>
          <a:effectLst/>
        </p:spPr>
      </p:pic>
      <p:pic>
        <p:nvPicPr>
          <p:cNvPr id="108572" name="Picture 28"/>
          <p:cNvPicPr>
            <a:picLocks noChangeAspect="1" noChangeArrowheads="1"/>
          </p:cNvPicPr>
          <p:nvPr/>
        </p:nvPicPr>
        <p:blipFill>
          <a:blip r:embed="rId6"/>
          <a:srcRect/>
          <a:stretch>
            <a:fillRect/>
          </a:stretch>
        </p:blipFill>
        <p:spPr bwMode="auto">
          <a:xfrm>
            <a:off x="7029429" y="3275632"/>
            <a:ext cx="1914054" cy="1703862"/>
          </a:xfrm>
          <a:prstGeom prst="rect">
            <a:avLst/>
          </a:prstGeom>
          <a:noFill/>
          <a:ln w="9525">
            <a:noFill/>
            <a:miter lim="800000"/>
            <a:headEnd/>
            <a:tailEnd/>
          </a:ln>
          <a:effectLst/>
        </p:spPr>
      </p:pic>
      <p:pic>
        <p:nvPicPr>
          <p:cNvPr id="108573" name="Picture 29"/>
          <p:cNvPicPr>
            <a:picLocks noChangeAspect="1" noChangeArrowheads="1"/>
          </p:cNvPicPr>
          <p:nvPr/>
        </p:nvPicPr>
        <p:blipFill>
          <a:blip r:embed="rId7"/>
          <a:srcRect/>
          <a:stretch>
            <a:fillRect/>
          </a:stretch>
        </p:blipFill>
        <p:spPr bwMode="auto">
          <a:xfrm>
            <a:off x="9610924" y="3105200"/>
            <a:ext cx="1823349" cy="1666466"/>
          </a:xfrm>
          <a:prstGeom prst="rect">
            <a:avLst/>
          </a:prstGeom>
          <a:noFill/>
          <a:ln w="9525">
            <a:noFill/>
            <a:miter lim="800000"/>
            <a:headEnd/>
            <a:tailEnd/>
          </a:ln>
          <a:effectLst/>
        </p:spPr>
      </p:pic>
      <p:pic>
        <p:nvPicPr>
          <p:cNvPr id="108574" name="Picture 30"/>
          <p:cNvPicPr>
            <a:picLocks noChangeAspect="1" noChangeArrowheads="1"/>
          </p:cNvPicPr>
          <p:nvPr/>
        </p:nvPicPr>
        <p:blipFill>
          <a:blip r:embed="rId8"/>
          <a:srcRect/>
          <a:stretch>
            <a:fillRect/>
          </a:stretch>
        </p:blipFill>
        <p:spPr bwMode="auto">
          <a:xfrm>
            <a:off x="5485880" y="5357340"/>
            <a:ext cx="1604244" cy="1378992"/>
          </a:xfrm>
          <a:prstGeom prst="rect">
            <a:avLst/>
          </a:prstGeom>
          <a:noFill/>
          <a:ln w="9525">
            <a:noFill/>
            <a:miter lim="800000"/>
            <a:headEnd/>
            <a:tailEnd/>
          </a:ln>
          <a:effectLst/>
        </p:spPr>
      </p:pic>
      <p:sp>
        <p:nvSpPr>
          <p:cNvPr id="108576" name="AutoShape 32" descr="data:image/png;base64,iVBORw0KGgoAAAANSUhEUgAAA0gAAANICAMAAADKOT/pAAAC/VBMVEUAAAABAQECAgIDAwME%0ABAQFBQUGBgYHBwcICAgJCQkKCgoLCwsMDAwNDQ0ODg4PDw8QEBARERESEhITExMUFBQVFRUW%0AFhYXFxcYGBgZGRkaGhobGxscHBwdHR0eHh4fHx8gICAhISEiIiIjIyMkJCQlJSUmJiYnJyco%0AKCgpKSkqKiorKyssLCwtLS0uLi4vLy8wMDAxMTEyMjIzMzM0NDQ1NTU2NjY3Nzc4ODg5OTk6%0AOjo7Ozs8PDw9PT0+Pj4/Pz9AQEBBQUFCQkJDQ0NERERFRUVGRkZHR0dISEhJSUlKSkpLS0tM%0ATExNTU1OTk5PT09QUFBRUVFSUlJTU1NUVFRVVVVWVlZXV1dYWFhZWVlaWlpbW1tcXFxdXV1e%0AXl5fX19gYGBhYWFiYmJjY2NkZGRlZWVmZmZnZ2doaGhpaWlqampra2tsbGxtbW1ubm5vb29w%0AcHBxcXFycnJzc3N0dHR1dXV2dnZ3d3d4eHh5eXl6enp7e3t8fHx9fX1+fn5/f3+AgICBgYGC%0AgoKDg4OEhISFhYWGhoaHh4eIiIiJiYmKioqLi4uMjIyNjY2Ojo6Pj4+RkZGSkpKTk5OUlJSV%0AlZWWlpaXl5eYmJiZmZmampqbm5ucnJydnZ2enp6fn5+goKChoaGioqKjo6OkpKSlpaWmpqan%0Ap6eoqKipqamqqqqrq6usrKytra2urq6vr6+wsLCxsbGysrKzs7O0tLS1tbW2tra3t7e4uLi5%0Aubm6urq7u7u8vLy9vb2+vr6/v7/AwMDBwcHCwsLDw8PExMTFxcXGxsbHx8fIyMjJycnKysrL%0Ay8vMzMzNzc3Ozs7Pz8/Q0NDR0dHS0tLT09PU1NTV1dXW1tbX19fY2NjZ2dna2trb29vc3Nzd%0A3d3e3t7f39/g4ODh4eHi4uLj4+Pk5OTl5eXm5ubn5+fo6Ojp6enq6urr6+vs7Ozt7e3u7u7v%0A7+/w8PDx8fHy8vLz8/P09PT19fX29vb39/f4+Pj5+fn6+vr7+/v8/Pz9/f3+/v7////RE6r4%0AAAAACXBIWXMAABJ0AAASdAHeZh94AAAYB0lEQVR4nO3deZzkdX3n8W/PwZwMMBzCDDchgCeX%0AEYywHEoUVEYxgih3FCMkmICJBAgiCqJhMRog8WCFoKwmgOCybBAhY4TITdCoi4hmvEYWxzCc%0Aw0z/Hvurqu6e7t7uXqDePVXd/Xz+UfWrX/3q2x+KenUd3TNTKqBtpdMDwGQgJAgQEgQICQKE%0ABAFCggAhQYCQIEBIECAkCBASBAgJAoQEAUKCACFBgJAgQEgQICQIEBIECAkChAQBQoIAIUGA%0AkCBASBAgJAgQEgQICQKEBAFCggAhQYCQIEBIECAkCBASBAgJAoQEAUKCACFBgJA66ZpSptdn%0AXyll1vCrhu3rO3IsI63yXLzQ2zGYkMbXZ0opK0a9dhxDanzh8tnW9n9rbH/mud2OF0ZI4+s5%0AhfTgRRd9avhVw/a9sJDe2Np+q5DGnZDG13MK6Tl4YSHNfryx+fR8IY07IY2vToa0ZSn/2Ni8%0AoZTFQhpnQhpffSF9rpR9qqWv3XDea25q7b9sj7kbHXzntYPfIx1Yyuua111eyoxfDTy8hxx5%0ARimvauzs76r3SwdtOmP93/nr1dUIIb11ejm6sfneMv3NrZAGH16PtO+zf7zJZv23+/WOpby3%0Aqp792wM3nbHpnuc9sg7unMlESOOrL6SrSnnp/1qv8Qpr+tcbu09tbJZZZw4OqX5kr/dY48r6%0ALc3BA1kMPXJ4SO8sLW/sHSGkd+1VFjaS2bLs/bZWSIMP/2IpL7+wsUzrdqv2L+VNq6tV+/Ud%0Asv0P1+XdNPEJaXz1hVQ/WLfYdtfTD6ov/U6999v1+QFXX/f6GYNDWlGH9uX60lPzSvlifxbD%0AjhwW0vWlTLv4gc/NaN7w/wnp7WeX8o2quruUs5c0Qxp++LZbzdx1p77b/UEpr3yiqi4pZecv%0A3XbjYaX8l3V/Z01kQhpfa0Mq+zzVfEqYtqqq3l3Kpo/XL6N2HvLx96GlHFWffbWU9Z/o3zfs%0AyGEhffqQQ06pz+oXbkePENJhd5RSX13ndMehzZCGH152XNb/1T9RPwctry8cW8qF9dmqd5z8%0AsTXr8G6a+IQ0vgaFVD85VF+vz39cVbuUcnzj2nOHhFS//tt4dfOxfMzAvmFHDn9p1/JHpRw0%0AUki9i8u2VbVbWdx76OAPGwYOr5/4+r76ddPKxj9oXPjjUra+/JfjeY9MUkIaX4NCarz/ebA+%0Af6Cq5pRyfuPaq4eE9OT8UpZWqzcp5aaBfcOOHB7STYduP6v5lubAkUKq3lfK/ctKOanqC2nY%0A4aVZTL0xrf7KL322ceHeuY2rdzjhH1evq3tokhDS+FobUvNBvqwZUm99+snGxRuH/mZD/cLv%0AA9UtpSxa079v+JHDQrq4vnreLq/YZLSQ/qmUv7q40WUrpOGHT2++evtK38cLFzZvd8tLWpe2%0AvW1d3UWTg5DG14ghVbNLOa9x8ctDQ/paKTtVp5Ry2tp9w46sQ9q1cfFvmxdX1k8fRz5ZNZ54%0ARg5p1Ybl4MPKhqtaIY1yeCOkAz9avzH7WfNi720ffv0GpfXWjOdMSONr5JB+u7R+wnP60JBW%0AbVzKD7Yp5b61+4YdeX4pm/XW5yc2Ly6tV7u3av4EauSQqiPL+gvLO6tWSKMc3tjoXbN7KUcM%0A3Hj1Vzcq5YZxvmsmFyGNr5FDOqaUDX9dP6NsOeyXVus+6pd3L6vW7ht25BX17a+vqu/NbV68%0Aqb50R1V9d1op+44c0pcbr9K+0hfSKIe3Nr5ZX3lz9eR5x765+XrvoFKuWWd30mQgpPE1cki3%0A1md7XPWFV9bv8adVgx7TtzbfnlxQrd037MiHeup3OSeetvDVzZB+VifxpgeuW7xTKQtuXz5S%0ASCtnlTJ7ZV9Ioxzet/H2UnZZVe1a3+yGu5aeM7PMWr4u76cJT0jja+SQquOaxcz7dH2yZlBI%0AvYvrHdMaP9wZ2Df0yOq9zYs7/kspPb3ND7Jrix5eVJ+ePVJI1cGlHFL1hTTK4X0bP5lTyseq%0AB7bs++hh2ufW2X00KQhpfI0S0poLd1pvs7d957utT8XXJvCn9Y79m1v9+4YeWa0+f8f1Fr9n%0A+U/ri0/Ub6ouePGcxX/ws+qmnWZsedWIIX2m9bl3K6SRD+/fOKvu9T+qX56754tmzt35Pfev%0Am/tn0hASBAgJAoQEAUKCACFBgJAgQEgQICQIEBIECAkChAQBQoIAIUGAkCBASBAgJAgQEgQI%0ACQKEBAFCggAhQYCQIEBIECAkCBASBAgJAoQEAUKCACFBgJAgQEgQICQIEBIECAkChAQBQoIA%0AIUGAkCBASBCwDkK67y6YUO57/o/y8Q/pzgITzJ3P+2E+/iF9qzwz7l8Dgp4p33retxESDCMk%0ACBASBAgJAoQEAUKCACFBgJAgQEgQICQIEBIECAkChAQBQoIAIUGAkCBASBAgJAgQEgQICQKE%0ABAFCggAhQYCQIEBIECAkCBASBAgJAoQEAUKCACFBgJAgQEgQICQIEBIECAkChAQBQoIAIUGA%0AkCBASBAgJAgQEgQICQKEBAFCggAhQYCQIEBIECAkCBASBAgJAoQEAUKCACFBgJAgQEgQICQI%0AEBIECAkChAQBQoIAIUGAkCBASBAgJAgQEgQICQKEBAFCggAhQYCQIEBIECAkCBASBAgJAoQE%0AAUKCACFBgJAgQEgQICQIEBIECAkChAQBQoIAIUGAkCBASBAgJAgQEgQICQKEBAFCggAhQYCQ%0AIEBIECAkCBASBAgJAoQEAUKCACFBgJAgQEgQICQIEBIECAkChAQBQoIAIUGAkCBASBAgJAgQ%0AEgQICQKEBAFCggAhQYCQIEBIECAkCBASBAgJAoQEAUKCACFBgJAgQEgQICQIEBIECAkChAQB%0AQoIAIUGAkCBASBAgJAgQEgQICQKEBAFCggAhQYCQIEBIECAkCBASBAgJAoQEAUKCACFBgJAg%0AQEgQICQIEBIECAkChAQBQoIAIUGAkCBASBAgJAgQEgQICQKEBAFCggAhQYCQIEBIECAkCBAS%0ABAgJAoQEAUKCACFBgJAgQEgQICQIEBIECAkChAQBQoIAIUGAkCBASBAgJAgQEgQICQKEBAFC%0AggAhQYCQIEBIECAkCBASBAgJAoQEAUKCACFBgJAgQEgQICQIEBIECAkChAQBQoIAIUGAkCBA%0ASBAgJAgQEgQICQKEBAFCggAhQYCQIEBIECAkCBASBAgJAoQEAUKCACFBgJAgQEgQICQIEBIE%0ACAkChAQBQoIAIUGAkCBASBAgJAgQEgQICQKEBAFCggAhQYCQIEBIECAkCBASBAgJAoQEAUKC%0AACFBgJAgQEgQICQIEBIECAkChAQBQoIAIUGAkCBASBAgJAgQEgQICQKEBAFCggAhQYCQIEBI%0AECAkCBASBAgJAoQEAUKCACFBgJAgQEgQICQIEBIECAkChAQBQoIAIUGAkCBASBAgJAgQEgQI%0ACQKEBAFCggAhQYCQIEBIECAkCBASBAgJAoQEAUKCACFNFmu+dsZRH7q501NMWUKaJH6+V2l4%0Aw392epApSkiTw+pXlpY3d3qSKUpIk8PVpd8dnR5lahLS5PC+gZDO7/QoU5OQJocjBkI6rdOj%0ATE1CmhxOGQjpE50eZWoS0uRw40BID3R6lKlpooW0cuW4f/HnYdWjkWWefaTtJXpf19fRce2P%0As3xN+2vUHnk2ssyjqyLL/OapyDKjPv4mVEhPnb19T8/2Z2fukvZdtuvM8qITftHuMtfuNass%0APPyHba7ym9c0O1rydJvr3HPIgjJv/1vbXKX64eELy6y9r213mV+c8KIyc9fL2l3mN+/fqkzf%0A+aLVbS4z1uNvIoX0xKtb33Rf/cS4D/BcvLc1zRYPtbfMR1rLLLirvWUum95cZtb/bG+ZG2Y1%0Al5l+WXvL3Lmg9V/1kfaW+eEWrWX+sL1lfrVza5lD2ytpzMffRArpjP63AWeM+wDPwfX90xzQ%0A1jJ3T+tbZpe2/i8vm9O3zGaPtbPMY5v1LTN3WTvLrN6lb5lp97SzTHVA/338tbaWOaZ/mUva%0AWmbMx98ECql38/7/kM17x32C/78lA2/v23pKOnlgmaXtLPOxgWWubGeZvx9Y5oJ2lvnngWVO%0AbmeZhwaWWdLOMitn9S+zRzvLjP34m0AhPTJwt5b235y3b8eBaa5vZ5n9B5Zp69vlUQPL/EU7%0Ay5w+sMzR7Sxz8cAy+7ezzHUDy+zYzjL3Diwzp51lxn78CemF6q6Qjs6E9BdCGtWkCWntU+sW%0A3fXS7kftLBN6aXfBwDJtvbS7cmCZtl7aLR1Ypite2s3uXyb00m6kx98ECsmHDWPwYcMYfNgw%0AlI+/x+Dj79H5+HuYSfoD2b0TP5Ctbt1/XllwyL3tLnPPIRv4gewoJssPZBv8itDo1iyPLONX%0AhMYwOX5FCLqVkCBASBAgJAgQEgQICQKEBAFCggAhQYCQIEBIECAkCBASBAgJAoQEAUKCACFB%0AgJAgQEgQICQIEBIECAkChAQBQoIAIUGAkCBASBAgJAgQEgQICQKEBAFCggAhQYCQIEBIECAk%0ACBASBAgJAoQEAUKCACFBgJAgQEgQICQIEBIECAkChAQBQoIAIUGAkCBASBAgJAgQEgQICQKE%0ABAFCggAhQYCQIEBIECAkCBASBAgJAoQEAUKCACFBgJAgQEgQICQIEBIECAkChAQBQoIAIUGA%0AkCBASBAgJAgQEgQICQKEBAFCggAhQYCQIEBIECAkCBASBAgJAoQEAUKCACFBgJAgQEgQICQI%0AEBIECAkChAQBQoIAIUGAkCBASBAgJAgQEgQICQKEBAFCggAhQYCQIEBIECAkCBASBAgJAoQE%0AAUKCACFBgJAgQEgQICQIEBIECAkChAQBQoIAIUGAkCBASBAgJAgQEgQICQKEBAFCggAhQYCQ%0AIEBIECAkCBASBAgJAoQEAUKCACFBgJAgQEgQICQIEBIECAkChAQBQoIAIUGAkCBASBAgJAgQ%0AEgQICQKEBAFCggAhQYCQIEBIECAkCBASBAgJAoQEAUKCACFBgJAgQEgQICQIEBIECAkChAQB%0AQoIAIUGAkCBASBAgJAgQEgQICQKEBAFCggAhQYCQIEBIECAkCBASBAgJAoQEAUKCACFBgJAg%0AQEgQICQIEBIECAkChAQBQoIAIUGAkCBASBAgJAgQEgQICQKEBAFCggAhQYCQIEBIECAkCBAS%0ABAgJAoQEAUKCACFBgJAgQEgQICQIEBIECAkChAQBQoIAIUGAkCBASBAgJAgQEgQICQKEBAFC%0AggAhQYCQIEBIECAkCBASBAgJAoQEAUKCACFBgJAgQEgQICQIEBIECAkChAQBQoIAIUGAkCBA%0ASBAgJAgQEgQICQKEBAFCggAhQYCQIEBIECAkCBASBAgJAoQEAUKCACFBgJAgQEgQICQIEBIE%0ACAkChAQBQoIAIUGAkCBASBAgJAgQEgQICQKEBAFCggAhQYCQIEBIECAkCBASBAgJAoQEAUKC%0AACFBgJAgQEgQICQIEBIECAkChAQBQoIAIUGAkCBASBAgJAgQEgQICQKEBAFCggAhQYCQIEBI%0AECAkCBASBAgJAoQEAd0Z0p0FJpg7n/fDfPxDqu67a3wd85Irusipszo9wWCXlPM6PcJgWxzX%0A6QkG2+f1oz2k7nv+j/J1ENJ4O/O1nZ5gsK/N6/QEgz1a7u/0CIPtdGmnJxjs2GODiwkpTEhj%0AEFI3E9LohDQGIQ0lpNEJaQxCGkpIoxPSGIQ0lJBGJ6QxCGkoIY1OSGMQ0lBCGp2QxiCkoYQ0%0AOiGNQUhDCWl0QhqDkIY65+BOTzDYP23U6QkGe6zne50eYbCXfb7TEwz2nvcEF5sEIT3+y05P%0AMNiahzs9wRAPdXqAIZZ11R8E+PWvg4tNgpCg84QEAUKCACFBgJAgQEgQICQIEBIECAkChAQB%0AQoIAIUGAkCBASBAgJAgQEgRM3JAu6/uHA86tt1ecss3MLU74eUfnuWHf+Rvsf0vVHdPM6v9n%0AFR7uinG+967NZ2yy5NuNzS6Y5sfHL5q59Z8+lp1m4oZ0UXnHnzd8o6qe2b0c9tHjZ26X/BOP%0Az9fnyw5nnrbpet/qjmnObN41f77t7Ee7YZzvrL/wLy8/d/MZN3fFnfOjTXp+/8OvL3utik4z%0AcUM6e+0/YvNfywX16X8vp3ZumuXzd3u8qh6c/76umKbPXdM/0hXjHFnq73bV/WW/rpjmiPKZ%0A+vSU8jfRaSZuSKeUB/s3d13/6cbZb23W27FpPlFubJz1dsc0Lat32+WZrhjnVWVV42zBtl0x%0AzYJFja+9Ys5e0WkmbkjHlEdWL3uksfXU9AObe44tnfurPn5vzqrq6f/slmlaLiq3dMc4x5QH%0A6tNHpr2hG6Z5vOzbPH/5equT00zckJaUMzYq5bevrKr/XVp/QdnZ5aaOTbPNi+/53Z6yw2Xd%0AMU3T45s2HibdMM6/b/SKb/7ingPn/ms3TLNmxoub53uVZclpJm5I+5Xtz7/89AXl0uruclJz%0AzyfK1R2bZv1ttjj1Hz65dbmyK6Zp+lhZWp92xTjff3EpZevbumOafXr+rTHSzPK95DQTN6Sb%0A/6F+d199d9bCZ+4uJzf3fLxc07FpZpUv1Kc/n7/56m6YpuHJTfZtnHXDOP++3VYXXv+5l2xw%0AU1dM842y7TXfv2r7HcqPktNM3JD6vKXc8WA5prl5Zvl6x8bYePoTjbPfL//WDdM0/H0z7aob%0Axtlr7k/r0ycWL17VDdNUn5pbyvyL3llWJKeZ8CGdWL7xzIz9mpvvKD/p2Bh7TG9+MPW+8q1u%0AmKbhTdNXNM66YJyVPfs3z48u3+mCaWqP3br0sWr3LaL3zYQNaeXFX2yev6Y8VL1qbuPpYM2i%0ArTo3zsnlXxtnB5X/6IZpas/M27O10flxflX2bp6/vdzVBdNU1erGyU96jo7eNxM2pDWL5zf+%0Afvhry25V9XflQ/XmJeWczo1zV88BT1fVndNe3hXT1O4tJ7Q2umCc7Wb+oD5dsXDB090wzZ/N%0AvKN++Ly13B69byZsSNVXe+adcNZbehbcXX+L2acces4RPS97ooPjvL/ses6756x3S3dMU1VX%0AlY+0NrpgnKunbXzG5z+6XeN3CbpgmvvnbnjKOXuWD1TRaSZuSNVtb9hwxqKjm7/esPK0bWYu%0APunRTk7Te+krZm9w8B1dMk3j2+wn+7a6YJzblmw6Y6PX/o8umeb231s4e/fWPzCTm2YChwTd%0AQ0gQICQIEBIECAkChAQBQoIAIUGAkCBASBAgJAgQEgQICQKEBAFCggAhQYCQIEBIECAkCBAS%0ABAgJAoQEAUKCACFBgJAgQEgQICQIEBIECAkChAQBQoIAIUGAkCBASJPB4WVZp0eY6oTU9a4o%0A5ca+zVNKeXakQ4TUcULqeleU6Ue0tp7dbLqQupSQut4VZe/ZK5pb15fdhNSlhNT1rijnlEub%0AW2/b+ohmSN9esvHMbd71cNUoaPlrZ3+1FdKat/ZcUT398ZcvmP+yj6/p5MBTkpC63hXl+u32%0AamysmPWBwxsh3TV70Yf/7oPrb/Z/quqocuQbznugFdKflL+qquPKkZdc+pZyUqeHnnKE1PXq%0AkD5Uvl9vXFoeaIZ08e631Jc+VT5VVceXgxpPPo2QPl0+UG/N3btxkz85bHUHB56ShNT16pAe%0A7vlgvbH3HtXh/e+RVj11czm1qk4oVzYu1SFdN/3o3nprg0XLOzfpVCakrleHVO23eE31YPnr%0AvpAu33fDUjulEdJdjUMOL9fO+91mYp8sC476/E87Ou/UJKSu1wjpC+XG6qyZj7RCOr3sedmt%0At3+2FdKDjUMOL+uXDR5uHn3zknml5+Afd3LgKUlIXa8R0hPrH9G77ZKqGdJTc7ZaWe++cUhI%0Ar7t22qv73hc9fdMxPb/1TAcHnpKE1PUaIVXHzVtarmmF9HB5S2P36UNCWlZ9sJw1cJM/LN/u%0A0LBTlpC6XjOkpWXfTVa1QnqyZ7d6772Ly4lDQlq15/Sl1e2LvtC4fFK5p6MjT0FC6nrNkKod%0Ayh9VrZCqN5YTv3TWRjfM2PKLjw8KqfrBvK1WPPvS9d79NxcfP+01vZ2deeoRUtdrhXRu8/O5%0AZki/OnLTDQ74ZnXO/M1/MTik6rPlbdWj799h7gavOG9lRyeeioQEAUKCACFBgJAgQEgQICQI%0AEBIECAkChAQBQoIAIUGAkCBASBAgJAgQEgQICQKEBAFCggAhQYCQIEBIECAkCBASBAgJAoQE%0AAUKCACFBgJAgQEgQICQIEBIE/F8+gL+FSiV3jA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8577" name="Picture 33"/>
          <p:cNvPicPr>
            <a:picLocks noChangeAspect="1" noChangeArrowheads="1"/>
          </p:cNvPicPr>
          <p:nvPr/>
        </p:nvPicPr>
        <p:blipFill>
          <a:blip r:embed="rId9"/>
          <a:srcRect/>
          <a:stretch>
            <a:fillRect/>
          </a:stretch>
        </p:blipFill>
        <p:spPr bwMode="auto">
          <a:xfrm>
            <a:off x="7215355" y="5012307"/>
            <a:ext cx="2200337" cy="1724025"/>
          </a:xfrm>
          <a:prstGeom prst="rect">
            <a:avLst/>
          </a:prstGeom>
          <a:noFill/>
          <a:ln w="9525">
            <a:noFill/>
            <a:miter lim="800000"/>
            <a:headEnd/>
            <a:tailEnd/>
          </a:ln>
          <a:effectLst/>
        </p:spPr>
      </p:pic>
      <p:pic>
        <p:nvPicPr>
          <p:cNvPr id="108578" name="Picture 34"/>
          <p:cNvPicPr>
            <a:picLocks noChangeAspect="1" noChangeArrowheads="1"/>
          </p:cNvPicPr>
          <p:nvPr/>
        </p:nvPicPr>
        <p:blipFill>
          <a:blip r:embed="rId10"/>
          <a:srcRect/>
          <a:stretch>
            <a:fillRect/>
          </a:stretch>
        </p:blipFill>
        <p:spPr bwMode="auto">
          <a:xfrm>
            <a:off x="9610924" y="5071535"/>
            <a:ext cx="1823349" cy="1664797"/>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GRAPHICS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Customizing Graphs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main, xlab, ylab add a title and axis labels.</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col, pch, lty control colour, point shape, line type.</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legend() adds a key; abline() overlays a trend line.</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plot(mtcars$wt, mtcars$mpg,</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     main = "Weight vs MPG", col = "steelblue", pch = 19)</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abline(lm(mpg ~ wt, data = mtcars), col = "orange")</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legend("topright", "Trend", col = "orange", lty = 1)</a:t>
            </a:r>
            <a:endParaRPr lang="en-US" sz="16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032000" y="914399"/>
          <a:ext cx="8127999" cy="5029200"/>
        </p:xfrm>
        <a:graphic>
          <a:graphicData uri="http://schemas.openxmlformats.org/drawingml/2006/table">
            <a:tbl>
              <a:tblPr/>
              <a:tblGrid>
                <a:gridCol w="2709333"/>
                <a:gridCol w="2709333"/>
                <a:gridCol w="2709333"/>
              </a:tblGrid>
              <a:tr h="0">
                <a:tc>
                  <a:txBody>
                    <a:bodyPr/>
                    <a:lstStyle/>
                    <a:p>
                      <a:r>
                        <a:rPr lang="en-US" b="1" dirty="0"/>
                        <a:t>Parameter</a:t>
                      </a:r>
                    </a:p>
                  </a:txBody>
                  <a:tcPr anchor="ctr">
                    <a:lnL>
                      <a:noFill/>
                    </a:lnL>
                    <a:lnR>
                      <a:noFill/>
                    </a:lnR>
                    <a:lnT>
                      <a:noFill/>
                    </a:lnT>
                    <a:lnB>
                      <a:noFill/>
                    </a:lnB>
                  </a:tcPr>
                </a:tc>
                <a:tc>
                  <a:txBody>
                    <a:bodyPr/>
                    <a:lstStyle/>
                    <a:p>
                      <a:r>
                        <a:rPr lang="en-US" b="1" dirty="0"/>
                        <a:t>Purpose</a:t>
                      </a:r>
                    </a:p>
                  </a:txBody>
                  <a:tcPr anchor="ctr">
                    <a:lnL>
                      <a:noFill/>
                    </a:lnL>
                    <a:lnR>
                      <a:noFill/>
                    </a:lnR>
                    <a:lnT>
                      <a:noFill/>
                    </a:lnT>
                    <a:lnB>
                      <a:noFill/>
                    </a:lnB>
                  </a:tcPr>
                </a:tc>
                <a:tc>
                  <a:txBody>
                    <a:bodyPr/>
                    <a:lstStyle/>
                    <a:p>
                      <a:r>
                        <a:rPr lang="en-US" b="1" dirty="0"/>
                        <a:t>Example</a:t>
                      </a:r>
                    </a:p>
                  </a:txBody>
                  <a:tcPr anchor="ctr">
                    <a:lnL>
                      <a:noFill/>
                    </a:lnL>
                    <a:lnR>
                      <a:noFill/>
                    </a:lnR>
                    <a:lnT>
                      <a:noFill/>
                    </a:lnT>
                    <a:lnB>
                      <a:noFill/>
                    </a:lnB>
                  </a:tcPr>
                </a:tc>
              </a:tr>
              <a:tr h="0">
                <a:tc>
                  <a:txBody>
                    <a:bodyPr/>
                    <a:lstStyle/>
                    <a:p>
                      <a:r>
                        <a:rPr lang="en-US"/>
                        <a:t>main</a:t>
                      </a:r>
                    </a:p>
                  </a:txBody>
                  <a:tcPr anchor="ctr">
                    <a:lnL>
                      <a:noFill/>
                    </a:lnL>
                    <a:lnR>
                      <a:noFill/>
                    </a:lnR>
                    <a:lnT>
                      <a:noFill/>
                    </a:lnT>
                    <a:lnB>
                      <a:noFill/>
                    </a:lnB>
                  </a:tcPr>
                </a:tc>
                <a:tc>
                  <a:txBody>
                    <a:bodyPr/>
                    <a:lstStyle/>
                    <a:p>
                      <a:r>
                        <a:rPr lang="en-US"/>
                        <a:t>Set the main title</a:t>
                      </a:r>
                    </a:p>
                  </a:txBody>
                  <a:tcPr anchor="ctr">
                    <a:lnL>
                      <a:noFill/>
                    </a:lnL>
                    <a:lnR>
                      <a:noFill/>
                    </a:lnR>
                    <a:lnT>
                      <a:noFill/>
                    </a:lnT>
                    <a:lnB>
                      <a:noFill/>
                    </a:lnB>
                  </a:tcPr>
                </a:tc>
                <a:tc>
                  <a:txBody>
                    <a:bodyPr/>
                    <a:lstStyle/>
                    <a:p>
                      <a:r>
                        <a:rPr lang="en-US"/>
                        <a:t>main = "Student Marks"</a:t>
                      </a:r>
                    </a:p>
                  </a:txBody>
                  <a:tcPr anchor="ctr">
                    <a:lnL>
                      <a:noFill/>
                    </a:lnL>
                    <a:lnR>
                      <a:noFill/>
                    </a:lnR>
                    <a:lnT>
                      <a:noFill/>
                    </a:lnT>
                    <a:lnB>
                      <a:noFill/>
                    </a:lnB>
                  </a:tcPr>
                </a:tc>
              </a:tr>
              <a:tr h="0">
                <a:tc>
                  <a:txBody>
                    <a:bodyPr/>
                    <a:lstStyle/>
                    <a:p>
                      <a:r>
                        <a:rPr lang="en-US"/>
                        <a:t>sub</a:t>
                      </a:r>
                    </a:p>
                  </a:txBody>
                  <a:tcPr anchor="ctr">
                    <a:lnL>
                      <a:noFill/>
                    </a:lnL>
                    <a:lnR>
                      <a:noFill/>
                    </a:lnR>
                    <a:lnT>
                      <a:noFill/>
                    </a:lnT>
                    <a:lnB>
                      <a:noFill/>
                    </a:lnB>
                  </a:tcPr>
                </a:tc>
                <a:tc>
                  <a:txBody>
                    <a:bodyPr/>
                    <a:lstStyle/>
                    <a:p>
                      <a:r>
                        <a:rPr lang="en-US"/>
                        <a:t>Add a subtitle</a:t>
                      </a:r>
                    </a:p>
                  </a:txBody>
                  <a:tcPr anchor="ctr">
                    <a:lnL>
                      <a:noFill/>
                    </a:lnL>
                    <a:lnR>
                      <a:noFill/>
                    </a:lnR>
                    <a:lnT>
                      <a:noFill/>
                    </a:lnT>
                    <a:lnB>
                      <a:noFill/>
                    </a:lnB>
                  </a:tcPr>
                </a:tc>
                <a:tc>
                  <a:txBody>
                    <a:bodyPr/>
                    <a:lstStyle/>
                    <a:p>
                      <a:r>
                        <a:rPr lang="en-US"/>
                        <a:t>sub = "Semester I"</a:t>
                      </a:r>
                    </a:p>
                  </a:txBody>
                  <a:tcPr anchor="ctr">
                    <a:lnL>
                      <a:noFill/>
                    </a:lnL>
                    <a:lnR>
                      <a:noFill/>
                    </a:lnR>
                    <a:lnT>
                      <a:noFill/>
                    </a:lnT>
                    <a:lnB>
                      <a:noFill/>
                    </a:lnB>
                  </a:tcPr>
                </a:tc>
              </a:tr>
              <a:tr h="0">
                <a:tc>
                  <a:txBody>
                    <a:bodyPr/>
                    <a:lstStyle/>
                    <a:p>
                      <a:r>
                        <a:rPr lang="en-US"/>
                        <a:t>xlab, ylab</a:t>
                      </a:r>
                    </a:p>
                  </a:txBody>
                  <a:tcPr anchor="ctr">
                    <a:lnL>
                      <a:noFill/>
                    </a:lnL>
                    <a:lnR>
                      <a:noFill/>
                    </a:lnR>
                    <a:lnT>
                      <a:noFill/>
                    </a:lnT>
                    <a:lnB>
                      <a:noFill/>
                    </a:lnB>
                  </a:tcPr>
                </a:tc>
                <a:tc>
                  <a:txBody>
                    <a:bodyPr/>
                    <a:lstStyle/>
                    <a:p>
                      <a:r>
                        <a:rPr lang="en-US"/>
                        <a:t>Label the axes</a:t>
                      </a:r>
                    </a:p>
                  </a:txBody>
                  <a:tcPr anchor="ctr">
                    <a:lnL>
                      <a:noFill/>
                    </a:lnL>
                    <a:lnR>
                      <a:noFill/>
                    </a:lnR>
                    <a:lnT>
                      <a:noFill/>
                    </a:lnT>
                    <a:lnB>
                      <a:noFill/>
                    </a:lnB>
                  </a:tcPr>
                </a:tc>
                <a:tc>
                  <a:txBody>
                    <a:bodyPr/>
                    <a:lstStyle/>
                    <a:p>
                      <a:r>
                        <a:rPr lang="en-US"/>
                        <a:t>xlab = "Hours"</a:t>
                      </a:r>
                    </a:p>
                  </a:txBody>
                  <a:tcPr anchor="ctr">
                    <a:lnL>
                      <a:noFill/>
                    </a:lnL>
                    <a:lnR>
                      <a:noFill/>
                    </a:lnR>
                    <a:lnT>
                      <a:noFill/>
                    </a:lnT>
                    <a:lnB>
                      <a:noFill/>
                    </a:lnB>
                  </a:tcPr>
                </a:tc>
              </a:tr>
              <a:tr h="0">
                <a:tc>
                  <a:txBody>
                    <a:bodyPr/>
                    <a:lstStyle/>
                    <a:p>
                      <a:r>
                        <a:rPr lang="en-US"/>
                        <a:t>col</a:t>
                      </a:r>
                    </a:p>
                  </a:txBody>
                  <a:tcPr anchor="ctr">
                    <a:lnL>
                      <a:noFill/>
                    </a:lnL>
                    <a:lnR>
                      <a:noFill/>
                    </a:lnR>
                    <a:lnT>
                      <a:noFill/>
                    </a:lnT>
                    <a:lnB>
                      <a:noFill/>
                    </a:lnB>
                  </a:tcPr>
                </a:tc>
                <a:tc>
                  <a:txBody>
                    <a:bodyPr/>
                    <a:lstStyle/>
                    <a:p>
                      <a:r>
                        <a:rPr lang="en-US"/>
                        <a:t>Set colours</a:t>
                      </a:r>
                    </a:p>
                  </a:txBody>
                  <a:tcPr anchor="ctr">
                    <a:lnL>
                      <a:noFill/>
                    </a:lnL>
                    <a:lnR>
                      <a:noFill/>
                    </a:lnR>
                    <a:lnT>
                      <a:noFill/>
                    </a:lnT>
                    <a:lnB>
                      <a:noFill/>
                    </a:lnB>
                  </a:tcPr>
                </a:tc>
                <a:tc>
                  <a:txBody>
                    <a:bodyPr/>
                    <a:lstStyle/>
                    <a:p>
                      <a:r>
                        <a:rPr lang="en-US"/>
                        <a:t>col = "blue"</a:t>
                      </a:r>
                    </a:p>
                  </a:txBody>
                  <a:tcPr anchor="ctr">
                    <a:lnL>
                      <a:noFill/>
                    </a:lnL>
                    <a:lnR>
                      <a:noFill/>
                    </a:lnR>
                    <a:lnT>
                      <a:noFill/>
                    </a:lnT>
                    <a:lnB>
                      <a:noFill/>
                    </a:lnB>
                  </a:tcPr>
                </a:tc>
              </a:tr>
              <a:tr h="0">
                <a:tc>
                  <a:txBody>
                    <a:bodyPr/>
                    <a:lstStyle/>
                    <a:p>
                      <a:r>
                        <a:rPr lang="en-US"/>
                        <a:t>pch</a:t>
                      </a:r>
                    </a:p>
                  </a:txBody>
                  <a:tcPr anchor="ctr">
                    <a:lnL>
                      <a:noFill/>
                    </a:lnL>
                    <a:lnR>
                      <a:noFill/>
                    </a:lnR>
                    <a:lnT>
                      <a:noFill/>
                    </a:lnT>
                    <a:lnB>
                      <a:noFill/>
                    </a:lnB>
                  </a:tcPr>
                </a:tc>
                <a:tc>
                  <a:txBody>
                    <a:bodyPr/>
                    <a:lstStyle/>
                    <a:p>
                      <a:r>
                        <a:rPr lang="en-US"/>
                        <a:t>Choose point symbols</a:t>
                      </a:r>
                    </a:p>
                  </a:txBody>
                  <a:tcPr anchor="ctr">
                    <a:lnL>
                      <a:noFill/>
                    </a:lnL>
                    <a:lnR>
                      <a:noFill/>
                    </a:lnR>
                    <a:lnT>
                      <a:noFill/>
                    </a:lnT>
                    <a:lnB>
                      <a:noFill/>
                    </a:lnB>
                  </a:tcPr>
                </a:tc>
                <a:tc>
                  <a:txBody>
                    <a:bodyPr/>
                    <a:lstStyle/>
                    <a:p>
                      <a:r>
                        <a:rPr lang="en-US"/>
                        <a:t>pch = 19</a:t>
                      </a:r>
                    </a:p>
                  </a:txBody>
                  <a:tcPr anchor="ctr">
                    <a:lnL>
                      <a:noFill/>
                    </a:lnL>
                    <a:lnR>
                      <a:noFill/>
                    </a:lnR>
                    <a:lnT>
                      <a:noFill/>
                    </a:lnT>
                    <a:lnB>
                      <a:noFill/>
                    </a:lnB>
                  </a:tcPr>
                </a:tc>
              </a:tr>
              <a:tr h="0">
                <a:tc>
                  <a:txBody>
                    <a:bodyPr/>
                    <a:lstStyle/>
                    <a:p>
                      <a:r>
                        <a:rPr lang="en-US"/>
                        <a:t>cex</a:t>
                      </a:r>
                    </a:p>
                  </a:txBody>
                  <a:tcPr anchor="ctr">
                    <a:lnL>
                      <a:noFill/>
                    </a:lnL>
                    <a:lnR>
                      <a:noFill/>
                    </a:lnR>
                    <a:lnT>
                      <a:noFill/>
                    </a:lnT>
                    <a:lnB>
                      <a:noFill/>
                    </a:lnB>
                  </a:tcPr>
                </a:tc>
                <a:tc>
                  <a:txBody>
                    <a:bodyPr/>
                    <a:lstStyle/>
                    <a:p>
                      <a:r>
                        <a:rPr lang="en-US"/>
                        <a:t>Adjust point size</a:t>
                      </a:r>
                    </a:p>
                  </a:txBody>
                  <a:tcPr anchor="ctr">
                    <a:lnL>
                      <a:noFill/>
                    </a:lnL>
                    <a:lnR>
                      <a:noFill/>
                    </a:lnR>
                    <a:lnT>
                      <a:noFill/>
                    </a:lnT>
                    <a:lnB>
                      <a:noFill/>
                    </a:lnB>
                  </a:tcPr>
                </a:tc>
                <a:tc>
                  <a:txBody>
                    <a:bodyPr/>
                    <a:lstStyle/>
                    <a:p>
                      <a:r>
                        <a:rPr lang="en-US"/>
                        <a:t>cex = 1.5</a:t>
                      </a:r>
                    </a:p>
                  </a:txBody>
                  <a:tcPr anchor="ctr">
                    <a:lnL>
                      <a:noFill/>
                    </a:lnL>
                    <a:lnR>
                      <a:noFill/>
                    </a:lnR>
                    <a:lnT>
                      <a:noFill/>
                    </a:lnT>
                    <a:lnB>
                      <a:noFill/>
                    </a:lnB>
                  </a:tcPr>
                </a:tc>
              </a:tr>
              <a:tr h="0">
                <a:tc>
                  <a:txBody>
                    <a:bodyPr/>
                    <a:lstStyle/>
                    <a:p>
                      <a:r>
                        <a:rPr lang="en-US"/>
                        <a:t>lty</a:t>
                      </a:r>
                    </a:p>
                  </a:txBody>
                  <a:tcPr anchor="ctr">
                    <a:lnL>
                      <a:noFill/>
                    </a:lnL>
                    <a:lnR>
                      <a:noFill/>
                    </a:lnR>
                    <a:lnT>
                      <a:noFill/>
                    </a:lnT>
                    <a:lnB>
                      <a:noFill/>
                    </a:lnB>
                  </a:tcPr>
                </a:tc>
                <a:tc>
                  <a:txBody>
                    <a:bodyPr/>
                    <a:lstStyle/>
                    <a:p>
                      <a:r>
                        <a:rPr lang="en-US"/>
                        <a:t>Choose line style</a:t>
                      </a:r>
                    </a:p>
                  </a:txBody>
                  <a:tcPr anchor="ctr">
                    <a:lnL>
                      <a:noFill/>
                    </a:lnL>
                    <a:lnR>
                      <a:noFill/>
                    </a:lnR>
                    <a:lnT>
                      <a:noFill/>
                    </a:lnT>
                    <a:lnB>
                      <a:noFill/>
                    </a:lnB>
                  </a:tcPr>
                </a:tc>
                <a:tc>
                  <a:txBody>
                    <a:bodyPr/>
                    <a:lstStyle/>
                    <a:p>
                      <a:r>
                        <a:rPr lang="en-US"/>
                        <a:t>lty = 2</a:t>
                      </a:r>
                    </a:p>
                  </a:txBody>
                  <a:tcPr anchor="ctr">
                    <a:lnL>
                      <a:noFill/>
                    </a:lnL>
                    <a:lnR>
                      <a:noFill/>
                    </a:lnR>
                    <a:lnT>
                      <a:noFill/>
                    </a:lnT>
                    <a:lnB>
                      <a:noFill/>
                    </a:lnB>
                  </a:tcPr>
                </a:tc>
              </a:tr>
              <a:tr h="0">
                <a:tc>
                  <a:txBody>
                    <a:bodyPr/>
                    <a:lstStyle/>
                    <a:p>
                      <a:r>
                        <a:rPr lang="en-US"/>
                        <a:t>lwd</a:t>
                      </a:r>
                    </a:p>
                  </a:txBody>
                  <a:tcPr anchor="ctr">
                    <a:lnL>
                      <a:noFill/>
                    </a:lnL>
                    <a:lnR>
                      <a:noFill/>
                    </a:lnR>
                    <a:lnT>
                      <a:noFill/>
                    </a:lnT>
                    <a:lnB>
                      <a:noFill/>
                    </a:lnB>
                  </a:tcPr>
                </a:tc>
                <a:tc>
                  <a:txBody>
                    <a:bodyPr/>
                    <a:lstStyle/>
                    <a:p>
                      <a:r>
                        <a:rPr lang="en-US"/>
                        <a:t>Adjust line width</a:t>
                      </a:r>
                    </a:p>
                  </a:txBody>
                  <a:tcPr anchor="ctr">
                    <a:lnL>
                      <a:noFill/>
                    </a:lnL>
                    <a:lnR>
                      <a:noFill/>
                    </a:lnR>
                    <a:lnT>
                      <a:noFill/>
                    </a:lnT>
                    <a:lnB>
                      <a:noFill/>
                    </a:lnB>
                  </a:tcPr>
                </a:tc>
                <a:tc>
                  <a:txBody>
                    <a:bodyPr/>
                    <a:lstStyle/>
                    <a:p>
                      <a:r>
                        <a:rPr lang="en-US"/>
                        <a:t>lwd = 2</a:t>
                      </a:r>
                    </a:p>
                  </a:txBody>
                  <a:tcPr anchor="ctr">
                    <a:lnL>
                      <a:noFill/>
                    </a:lnL>
                    <a:lnR>
                      <a:noFill/>
                    </a:lnR>
                    <a:lnT>
                      <a:noFill/>
                    </a:lnT>
                    <a:lnB>
                      <a:noFill/>
                    </a:lnB>
                  </a:tcPr>
                </a:tc>
              </a:tr>
              <a:tr h="0">
                <a:tc>
                  <a:txBody>
                    <a:bodyPr/>
                    <a:lstStyle/>
                    <a:p>
                      <a:r>
                        <a:rPr lang="en-US"/>
                        <a:t>xlim, ylim</a:t>
                      </a:r>
                    </a:p>
                  </a:txBody>
                  <a:tcPr anchor="ctr">
                    <a:lnL>
                      <a:noFill/>
                    </a:lnL>
                    <a:lnR>
                      <a:noFill/>
                    </a:lnR>
                    <a:lnT>
                      <a:noFill/>
                    </a:lnT>
                    <a:lnB>
                      <a:noFill/>
                    </a:lnB>
                  </a:tcPr>
                </a:tc>
                <a:tc>
                  <a:txBody>
                    <a:bodyPr/>
                    <a:lstStyle/>
                    <a:p>
                      <a:r>
                        <a:rPr lang="en-US"/>
                        <a:t>Set axis limits</a:t>
                      </a:r>
                    </a:p>
                  </a:txBody>
                  <a:tcPr anchor="ctr">
                    <a:lnL>
                      <a:noFill/>
                    </a:lnL>
                    <a:lnR>
                      <a:noFill/>
                    </a:lnR>
                    <a:lnT>
                      <a:noFill/>
                    </a:lnT>
                    <a:lnB>
                      <a:noFill/>
                    </a:lnB>
                  </a:tcPr>
                </a:tc>
                <a:tc>
                  <a:txBody>
                    <a:bodyPr/>
                    <a:lstStyle/>
                    <a:p>
                      <a:r>
                        <a:rPr lang="en-US"/>
                        <a:t>ylim = c(0, 100)</a:t>
                      </a:r>
                    </a:p>
                  </a:txBody>
                  <a:tcPr anchor="ctr">
                    <a:lnL>
                      <a:noFill/>
                    </a:lnL>
                    <a:lnR>
                      <a:noFill/>
                    </a:lnR>
                    <a:lnT>
                      <a:noFill/>
                    </a:lnT>
                    <a:lnB>
                      <a:noFill/>
                    </a:lnB>
                  </a:tcPr>
                </a:tc>
              </a:tr>
              <a:tr h="0">
                <a:tc>
                  <a:txBody>
                    <a:bodyPr/>
                    <a:lstStyle/>
                    <a:p>
                      <a:r>
                        <a:rPr lang="en-US"/>
                        <a:t>cex.main</a:t>
                      </a:r>
                    </a:p>
                  </a:txBody>
                  <a:tcPr anchor="ctr">
                    <a:lnL>
                      <a:noFill/>
                    </a:lnL>
                    <a:lnR>
                      <a:noFill/>
                    </a:lnR>
                    <a:lnT>
                      <a:noFill/>
                    </a:lnT>
                    <a:lnB>
                      <a:noFill/>
                    </a:lnB>
                  </a:tcPr>
                </a:tc>
                <a:tc>
                  <a:txBody>
                    <a:bodyPr/>
                    <a:lstStyle/>
                    <a:p>
                      <a:r>
                        <a:rPr lang="en-US"/>
                        <a:t>Adjust title size</a:t>
                      </a:r>
                    </a:p>
                  </a:txBody>
                  <a:tcPr anchor="ctr">
                    <a:lnL>
                      <a:noFill/>
                    </a:lnL>
                    <a:lnR>
                      <a:noFill/>
                    </a:lnR>
                    <a:lnT>
                      <a:noFill/>
                    </a:lnT>
                    <a:lnB>
                      <a:noFill/>
                    </a:lnB>
                  </a:tcPr>
                </a:tc>
                <a:tc>
                  <a:txBody>
                    <a:bodyPr/>
                    <a:lstStyle/>
                    <a:p>
                      <a:r>
                        <a:rPr lang="en-US"/>
                        <a:t>cex.main = 1.5</a:t>
                      </a:r>
                    </a:p>
                  </a:txBody>
                  <a:tcPr anchor="ctr">
                    <a:lnL>
                      <a:noFill/>
                    </a:lnL>
                    <a:lnR>
                      <a:noFill/>
                    </a:lnR>
                    <a:lnT>
                      <a:noFill/>
                    </a:lnT>
                    <a:lnB>
                      <a:noFill/>
                    </a:lnB>
                  </a:tcPr>
                </a:tc>
              </a:tr>
              <a:tr h="0">
                <a:tc>
                  <a:txBody>
                    <a:bodyPr/>
                    <a:lstStyle/>
                    <a:p>
                      <a:r>
                        <a:rPr lang="en-US"/>
                        <a:t>cex.lab</a:t>
                      </a:r>
                    </a:p>
                  </a:txBody>
                  <a:tcPr anchor="ctr">
                    <a:lnL>
                      <a:noFill/>
                    </a:lnL>
                    <a:lnR>
                      <a:noFill/>
                    </a:lnR>
                    <a:lnT>
                      <a:noFill/>
                    </a:lnT>
                    <a:lnB>
                      <a:noFill/>
                    </a:lnB>
                  </a:tcPr>
                </a:tc>
                <a:tc>
                  <a:txBody>
                    <a:bodyPr/>
                    <a:lstStyle/>
                    <a:p>
                      <a:r>
                        <a:rPr lang="en-US"/>
                        <a:t>Adjust axis-label size</a:t>
                      </a:r>
                    </a:p>
                  </a:txBody>
                  <a:tcPr anchor="ctr">
                    <a:lnL>
                      <a:noFill/>
                    </a:lnL>
                    <a:lnR>
                      <a:noFill/>
                    </a:lnR>
                    <a:lnT>
                      <a:noFill/>
                    </a:lnT>
                    <a:lnB>
                      <a:noFill/>
                    </a:lnB>
                  </a:tcPr>
                </a:tc>
                <a:tc>
                  <a:txBody>
                    <a:bodyPr/>
                    <a:lstStyle/>
                    <a:p>
                      <a:r>
                        <a:rPr lang="en-US"/>
                        <a:t>cex.lab = 1.2</a:t>
                      </a:r>
                    </a:p>
                  </a:txBody>
                  <a:tcPr anchor="ctr">
                    <a:lnL>
                      <a:noFill/>
                    </a:lnL>
                    <a:lnR>
                      <a:noFill/>
                    </a:lnR>
                    <a:lnT>
                      <a:noFill/>
                    </a:lnT>
                    <a:lnB>
                      <a:noFill/>
                    </a:lnB>
                  </a:tcPr>
                </a:tc>
              </a:tr>
              <a:tr h="0">
                <a:tc>
                  <a:txBody>
                    <a:bodyPr/>
                    <a:lstStyle/>
                    <a:p>
                      <a:r>
                        <a:rPr lang="en-US"/>
                        <a:t>las</a:t>
                      </a:r>
                    </a:p>
                  </a:txBody>
                  <a:tcPr anchor="ctr">
                    <a:lnL>
                      <a:noFill/>
                    </a:lnL>
                    <a:lnR>
                      <a:noFill/>
                    </a:lnR>
                    <a:lnT>
                      <a:noFill/>
                    </a:lnT>
                    <a:lnB>
                      <a:noFill/>
                    </a:lnB>
                  </a:tcPr>
                </a:tc>
                <a:tc>
                  <a:txBody>
                    <a:bodyPr/>
                    <a:lstStyle/>
                    <a:p>
                      <a:r>
                        <a:rPr lang="en-US"/>
                        <a:t>Set axis tick-label orientation</a:t>
                      </a:r>
                    </a:p>
                  </a:txBody>
                  <a:tcPr anchor="ctr">
                    <a:lnL>
                      <a:noFill/>
                    </a:lnL>
                    <a:lnR>
                      <a:noFill/>
                    </a:lnR>
                    <a:lnT>
                      <a:noFill/>
                    </a:lnT>
                    <a:lnB>
                      <a:noFill/>
                    </a:lnB>
                  </a:tcPr>
                </a:tc>
                <a:tc>
                  <a:txBody>
                    <a:bodyPr/>
                    <a:lstStyle/>
                    <a:p>
                      <a:r>
                        <a:rPr lang="en-US" dirty="0" err="1"/>
                        <a:t>las</a:t>
                      </a:r>
                      <a:r>
                        <a:rPr lang="en-US" dirty="0"/>
                        <a:t> = 1</a:t>
                      </a:r>
                    </a:p>
                  </a:txBody>
                  <a:tcPr anchor="ctr">
                    <a:lnL>
                      <a:noFill/>
                    </a:lnL>
                    <a:lnR>
                      <a:noFill/>
                    </a:lnR>
                    <a:lnT>
                      <a:noFill/>
                    </a:lnT>
                    <a:lnB>
                      <a:noFill/>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2"/>
          <a:srcRect/>
          <a:stretch>
            <a:fillRect/>
          </a:stretch>
        </p:blipFill>
        <p:spPr bwMode="auto">
          <a:xfrm>
            <a:off x="1518249" y="532210"/>
            <a:ext cx="9445416" cy="5547616"/>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GRAPHICS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Multi-Panel &amp; Composite Plots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600" b="1" dirty="0" smtClean="0"/>
              <a:t>Multi-panel plots</a:t>
            </a:r>
            <a:r>
              <a:rPr lang="en-US" sz="1600" dirty="0" smtClean="0"/>
              <a:t> display separate graphs within one graphics window. </a:t>
            </a:r>
            <a:r>
              <a:rPr lang="en-US" sz="1600" b="1" dirty="0" smtClean="0"/>
              <a:t>Composite plots</a:t>
            </a:r>
            <a:r>
              <a:rPr lang="en-US" sz="1600" dirty="0" smtClean="0"/>
              <a:t> combine graphical elements or arrange related plots into a single figure.</a:t>
            </a:r>
            <a:endParaRPr lang="en-US" sz="1500" dirty="0" smtClean="0">
              <a:solidFill>
                <a:srgbClr val="1C2B36"/>
              </a:solidFill>
              <a:latin typeface="Calibri" pitchFamily="34" charset="0"/>
              <a:ea typeface="Calibri" pitchFamily="34" charset="-122"/>
              <a:cs typeface="Calibri" pitchFamily="34" charset="-120"/>
            </a:endParaRPr>
          </a:p>
          <a:p>
            <a:pPr marL="342900" indent="-342900">
              <a:lnSpc>
                <a:spcPct val="122000"/>
              </a:lnSpc>
              <a:spcAft>
                <a:spcPts val="1100"/>
              </a:spcAft>
              <a:buSzPct val="100000"/>
              <a:buChar char="•"/>
            </a:pPr>
            <a:r>
              <a:rPr lang="en-US" sz="1500" dirty="0" smtClean="0">
                <a:solidFill>
                  <a:srgbClr val="1C2B36"/>
                </a:solidFill>
                <a:latin typeface="Calibri" pitchFamily="34" charset="0"/>
                <a:ea typeface="Calibri" pitchFamily="34" charset="-122"/>
                <a:cs typeface="Calibri" pitchFamily="34" charset="-120"/>
              </a:rPr>
              <a:t>par(</a:t>
            </a:r>
            <a:r>
              <a:rPr lang="en-US" sz="1500" dirty="0" err="1" smtClean="0">
                <a:solidFill>
                  <a:srgbClr val="1C2B36"/>
                </a:solidFill>
                <a:latin typeface="Calibri" pitchFamily="34" charset="0"/>
                <a:ea typeface="Calibri" pitchFamily="34" charset="-122"/>
                <a:cs typeface="Calibri" pitchFamily="34" charset="-120"/>
              </a:rPr>
              <a:t>mfrow</a:t>
            </a:r>
            <a:r>
              <a:rPr lang="en-US" sz="1500" dirty="0" smtClean="0">
                <a:solidFill>
                  <a:srgbClr val="1C2B36"/>
                </a:solidFill>
                <a:latin typeface="Calibri" pitchFamily="34" charset="0"/>
                <a:ea typeface="Calibri" pitchFamily="34" charset="-122"/>
                <a:cs typeface="Calibri" pitchFamily="34" charset="-120"/>
              </a:rPr>
              <a:t> </a:t>
            </a:r>
            <a:r>
              <a:rPr lang="en-US" sz="1500" dirty="0">
                <a:solidFill>
                  <a:srgbClr val="1C2B36"/>
                </a:solidFill>
                <a:latin typeface="Calibri" pitchFamily="34" charset="0"/>
                <a:ea typeface="Calibri" pitchFamily="34" charset="-122"/>
                <a:cs typeface="Calibri" pitchFamily="34" charset="-120"/>
              </a:rPr>
              <a:t>= c(rows, cols)) arranges an equal-sized grid.</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layout() builds UNEQUAL panel sizes from a matrix.</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Reset with par(mfrow = c(1,1)) once finished.</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par(mfrow = c(2, 2))</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hist(mtcars$mpg); boxplot(mtcars$mpg)</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plot(mtcars$wt, mtcars$mpg); qqnorm(mtcars$mpg)</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par(mfrow = c(1, 1))   # reset</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m &lt;- matrix(c(1,1,2,3), nrow = 2, byrow = TRUE)</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layout(m)               # wide top panel</a:t>
            </a:r>
            <a:endParaRPr lang="en-US" sz="15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noChangeArrowheads="1"/>
          </p:cNvPicPr>
          <p:nvPr/>
        </p:nvPicPr>
        <p:blipFill>
          <a:blip r:embed="rId2"/>
          <a:srcRect/>
          <a:stretch>
            <a:fillRect/>
          </a:stretch>
        </p:blipFill>
        <p:spPr bwMode="auto">
          <a:xfrm>
            <a:off x="112143" y="0"/>
            <a:ext cx="6887684" cy="6545263"/>
          </a:xfrm>
          <a:prstGeom prst="rect">
            <a:avLst/>
          </a:prstGeom>
          <a:noFill/>
          <a:ln w="9525">
            <a:noFill/>
            <a:miter lim="800000"/>
            <a:headEnd/>
            <a:tailEnd/>
          </a:ln>
          <a:effectLst/>
        </p:spPr>
      </p:pic>
      <p:pic>
        <p:nvPicPr>
          <p:cNvPr id="111619" name="Picture 3"/>
          <p:cNvPicPr>
            <a:picLocks noChangeAspect="1" noChangeArrowheads="1"/>
          </p:cNvPicPr>
          <p:nvPr/>
        </p:nvPicPr>
        <p:blipFill>
          <a:blip r:embed="rId3"/>
          <a:srcRect/>
          <a:stretch>
            <a:fillRect/>
          </a:stretch>
        </p:blipFill>
        <p:spPr bwMode="auto">
          <a:xfrm>
            <a:off x="6999827" y="981075"/>
            <a:ext cx="5153025" cy="4895850"/>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GRAPHICS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Saving Graphs to Files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Open a device (png, jpeg, pdf) BEFORE plotting.</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Call dev.off() AFTER plotting to flush it to disk.</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PDF output is vector-based — ideal for print quality.</a:t>
            </a:r>
            <a:endParaRPr lang="en-US" sz="1500" dirty="0"/>
          </a:p>
        </p:txBody>
      </p:sp>
      <p:sp>
        <p:nvSpPr>
          <p:cNvPr id="6" name="Shape 4"/>
          <p:cNvSpPr/>
          <p:nvPr/>
        </p:nvSpPr>
        <p:spPr>
          <a:xfrm>
            <a:off x="5760720" y="1627632"/>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5989320" y="1993392"/>
            <a:ext cx="5486400" cy="3931920"/>
          </a:xfrm>
          <a:prstGeom prst="rect">
            <a:avLst/>
          </a:prstGeom>
          <a:noFill/>
          <a:ln/>
        </p:spPr>
        <p:txBody>
          <a:bodyPr wrap="square" lIns="0" tIns="0" rIns="0" bIns="0" rtlCol="0" anchor="t"/>
          <a:lstStyle/>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png("scatter.png", width = 800, height = 600)</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plot(mtcars$wt, mtcars$mpg)</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dev.off()</a:t>
            </a:r>
            <a:endParaRPr lang="en-US" sz="1600" dirty="0"/>
          </a:p>
          <a:p>
            <a:pPr marL="0" indent="0">
              <a:lnSpc>
                <a:spcPct val="118000"/>
              </a:lnSpc>
              <a:buNone/>
            </a:pP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pdf("report_plot.pdf")</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hist(rnorm(500))</a:t>
            </a:r>
            <a:endParaRPr lang="en-US" sz="1600" dirty="0"/>
          </a:p>
          <a:p>
            <a:pPr marL="0" indent="0">
              <a:lnSpc>
                <a:spcPct val="118000"/>
              </a:lnSpc>
              <a:buNone/>
            </a:pPr>
            <a:r>
              <a:rPr lang="en-US" sz="1600" dirty="0">
                <a:solidFill>
                  <a:srgbClr val="CFE8FF"/>
                </a:solidFill>
                <a:latin typeface="Courier New" pitchFamily="34" charset="0"/>
                <a:ea typeface="Courier New" pitchFamily="34" charset="-122"/>
                <a:cs typeface="Courier New" pitchFamily="34" charset="-120"/>
              </a:rPr>
              <a:t>dev.off()</a:t>
            </a:r>
            <a:endParaRPr lang="en-US" sz="160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1F6E8C">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1F6E8C"/>
                </a:solidFill>
                <a:latin typeface="Calibri" pitchFamily="34" charset="0"/>
                <a:ea typeface="Calibri" pitchFamily="34" charset="-122"/>
                <a:cs typeface="Calibri" pitchFamily="34" charset="-120"/>
              </a:rPr>
              <a:t>GRAPHICS</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2800" b="1" dirty="0">
                <a:solidFill>
                  <a:srgbClr val="132743"/>
                </a:solidFill>
                <a:latin typeface="Cambria" pitchFamily="34" charset="0"/>
                <a:ea typeface="Cambria" pitchFamily="34" charset="-122"/>
                <a:cs typeface="Cambria" pitchFamily="34" charset="-120"/>
              </a:rPr>
              <a:t>Creating Three-Dimensional Plots</a:t>
            </a:r>
            <a:endParaRPr lang="en-US" sz="2800" dirty="0"/>
          </a:p>
        </p:txBody>
      </p:sp>
      <p:sp>
        <p:nvSpPr>
          <p:cNvPr id="5" name="Text 3"/>
          <p:cNvSpPr/>
          <p:nvPr/>
        </p:nvSpPr>
        <p:spPr>
          <a:xfrm>
            <a:off x="457200" y="1627632"/>
            <a:ext cx="5074920" cy="4480560"/>
          </a:xfrm>
          <a:prstGeom prst="rect">
            <a:avLst/>
          </a:prstGeom>
          <a:noFill/>
          <a:ln/>
        </p:spPr>
        <p:txBody>
          <a:bodyPr wrap="square" rtlCol="0" anchor="t"/>
          <a:lstStyle/>
          <a:p>
            <a:pPr marL="342900" indent="-342900">
              <a:lnSpc>
                <a:spcPct val="122000"/>
              </a:lnSpc>
              <a:spcAft>
                <a:spcPts val="1100"/>
              </a:spcAft>
              <a:buSzPct val="100000"/>
              <a:buChar char="•"/>
            </a:pPr>
            <a:r>
              <a:rPr lang="en-US" sz="1600" dirty="0" smtClean="0"/>
              <a:t>Three-dimensional (3D) plots represent data along three axes: </a:t>
            </a:r>
            <a:r>
              <a:rPr lang="en-US" sz="1600" b="1" dirty="0" smtClean="0"/>
              <a:t>X, Y and Z</a:t>
            </a:r>
            <a:r>
              <a:rPr lang="en-US" sz="1600" dirty="0" smtClean="0"/>
              <a:t>. They help visualize relationships among three numerical variables or display surfaces.</a:t>
            </a:r>
            <a:endParaRPr lang="en-US" sz="1500" dirty="0" smtClean="0">
              <a:solidFill>
                <a:srgbClr val="1C2B36"/>
              </a:solidFill>
              <a:latin typeface="Calibri" pitchFamily="34" charset="0"/>
              <a:ea typeface="Calibri" pitchFamily="34" charset="-122"/>
              <a:cs typeface="Calibri" pitchFamily="34" charset="-120"/>
            </a:endParaRPr>
          </a:p>
          <a:p>
            <a:pPr marL="342900" indent="-342900">
              <a:lnSpc>
                <a:spcPct val="122000"/>
              </a:lnSpc>
              <a:spcAft>
                <a:spcPts val="1100"/>
              </a:spcAft>
              <a:buSzPct val="100000"/>
              <a:buChar char="•"/>
            </a:pPr>
            <a:r>
              <a:rPr lang="en-US" sz="1500" dirty="0" err="1" smtClean="0">
                <a:solidFill>
                  <a:srgbClr val="1C2B36"/>
                </a:solidFill>
                <a:latin typeface="Calibri" pitchFamily="34" charset="0"/>
                <a:ea typeface="Calibri" pitchFamily="34" charset="-122"/>
                <a:cs typeface="Calibri" pitchFamily="34" charset="-120"/>
              </a:rPr>
              <a:t>persp</a:t>
            </a:r>
            <a:r>
              <a:rPr lang="en-US" sz="1500" dirty="0">
                <a:solidFill>
                  <a:srgbClr val="1C2B36"/>
                </a:solidFill>
                <a:latin typeface="Calibri" pitchFamily="34" charset="0"/>
                <a:ea typeface="Calibri" pitchFamily="34" charset="-122"/>
                <a:cs typeface="Calibri" pitchFamily="34" charset="-120"/>
              </a:rPr>
              <a:t>() draws a 3D perspective surface (base R).</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plot3D::scatter3D() adds colour ramps and shading.</a:t>
            </a:r>
            <a:endParaRPr lang="en-US" sz="1500" dirty="0"/>
          </a:p>
          <a:p>
            <a:pPr marL="342900" indent="-342900">
              <a:lnSpc>
                <a:spcPct val="122000"/>
              </a:lnSpc>
              <a:spcAft>
                <a:spcPts val="1100"/>
              </a:spcAft>
              <a:buSzPct val="100000"/>
              <a:buChar char="•"/>
            </a:pPr>
            <a:r>
              <a:rPr lang="en-US" sz="1500" dirty="0">
                <a:solidFill>
                  <a:srgbClr val="1C2B36"/>
                </a:solidFill>
                <a:latin typeface="Calibri" pitchFamily="34" charset="0"/>
                <a:ea typeface="Calibri" pitchFamily="34" charset="-122"/>
                <a:cs typeface="Calibri" pitchFamily="34" charset="-120"/>
              </a:rPr>
              <a:t>rgl::plot3d() gives an INTERACTIVE, rotatable plot.</a:t>
            </a:r>
            <a:endParaRPr lang="en-US" sz="1500" dirty="0"/>
          </a:p>
        </p:txBody>
      </p:sp>
      <p:sp>
        <p:nvSpPr>
          <p:cNvPr id="6" name="Shape 4"/>
          <p:cNvSpPr/>
          <p:nvPr/>
        </p:nvSpPr>
        <p:spPr>
          <a:xfrm>
            <a:off x="6327648" y="0"/>
            <a:ext cx="5943600" cy="4480560"/>
          </a:xfrm>
          <a:prstGeom prst="roundRect">
            <a:avLst>
              <a:gd name="adj" fmla="val 1224"/>
            </a:avLst>
          </a:prstGeom>
          <a:solidFill>
            <a:srgbClr val="0D1B2A"/>
          </a:solidFill>
          <a:ln/>
          <a:effectLst>
            <a:outerShdw blurRad="63500" dist="25400" dir="5400000" algn="bl" rotWithShape="0">
              <a:srgbClr val="0A0A0A">
                <a:alpha val="30000"/>
              </a:srgbClr>
            </a:outerShdw>
          </a:effectLst>
        </p:spPr>
      </p:sp>
      <p:sp>
        <p:nvSpPr>
          <p:cNvPr id="7" name="Shape 5"/>
          <p:cNvSpPr/>
          <p:nvPr/>
        </p:nvSpPr>
        <p:spPr>
          <a:xfrm>
            <a:off x="5925312" y="1737360"/>
            <a:ext cx="109728" cy="109728"/>
          </a:xfrm>
          <a:prstGeom prst="ellipse">
            <a:avLst/>
          </a:prstGeom>
          <a:solidFill>
            <a:srgbClr val="FF6B6B"/>
          </a:solidFill>
          <a:ln/>
        </p:spPr>
      </p:sp>
      <p:sp>
        <p:nvSpPr>
          <p:cNvPr id="8" name="Shape 6"/>
          <p:cNvSpPr/>
          <p:nvPr/>
        </p:nvSpPr>
        <p:spPr>
          <a:xfrm>
            <a:off x="6126480" y="1737360"/>
            <a:ext cx="109728" cy="109728"/>
          </a:xfrm>
          <a:prstGeom prst="ellipse">
            <a:avLst/>
          </a:prstGeom>
          <a:solidFill>
            <a:srgbClr val="FFD166"/>
          </a:solidFill>
          <a:ln/>
        </p:spPr>
      </p:sp>
      <p:sp>
        <p:nvSpPr>
          <p:cNvPr id="9" name="Shape 7"/>
          <p:cNvSpPr/>
          <p:nvPr/>
        </p:nvSpPr>
        <p:spPr>
          <a:xfrm>
            <a:off x="6327648" y="1737360"/>
            <a:ext cx="109728" cy="109728"/>
          </a:xfrm>
          <a:prstGeom prst="ellipse">
            <a:avLst/>
          </a:prstGeom>
          <a:solidFill>
            <a:srgbClr val="8FD694"/>
          </a:solidFill>
          <a:ln/>
        </p:spPr>
      </p:sp>
      <p:sp>
        <p:nvSpPr>
          <p:cNvPr id="10" name="Text 8"/>
          <p:cNvSpPr/>
          <p:nvPr/>
        </p:nvSpPr>
        <p:spPr>
          <a:xfrm>
            <a:off x="6583680" y="120770"/>
            <a:ext cx="5486400" cy="4195198"/>
          </a:xfrm>
          <a:prstGeom prst="rect">
            <a:avLst/>
          </a:prstGeom>
          <a:noFill/>
          <a:ln/>
        </p:spPr>
        <p:txBody>
          <a:bodyPr wrap="square" lIns="0" tIns="0" rIns="0" bIns="0" rtlCol="0" anchor="t"/>
          <a:lstStyle/>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x &lt;- y &lt;- seq(-5, 5, length = 30)</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z &lt;- outer(x, y, function(a,b) sin(sqrt(a^2+b^2)))</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persp(x, y, z, theta = 30, phi = 20, col = "lightblue")</a:t>
            </a:r>
            <a:endParaRPr lang="en-US" sz="1550" dirty="0"/>
          </a:p>
          <a:p>
            <a:pPr marL="0" indent="0">
              <a:lnSpc>
                <a:spcPct val="118000"/>
              </a:lnSpc>
              <a:buNone/>
            </a:pP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library(plot3D)</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scatter3D(mtcars$wt, mtcars$hp, mtcars$mpg,</a:t>
            </a:r>
            <a:endParaRPr lang="en-US" sz="1550" dirty="0"/>
          </a:p>
          <a:p>
            <a:pPr marL="0" indent="0">
              <a:lnSpc>
                <a:spcPct val="118000"/>
              </a:lnSpc>
              <a:buNone/>
            </a:pPr>
            <a:r>
              <a:rPr lang="en-US" sz="1550" dirty="0">
                <a:solidFill>
                  <a:srgbClr val="CFE8FF"/>
                </a:solidFill>
                <a:latin typeface="Courier New" pitchFamily="34" charset="0"/>
                <a:ea typeface="Courier New" pitchFamily="34" charset="-122"/>
                <a:cs typeface="Courier New" pitchFamily="34" charset="-120"/>
              </a:rPr>
              <a:t>          colvar = mtcars$mpg, pch = 19)</a:t>
            </a:r>
            <a:endParaRPr lang="en-US" sz="1550" dirty="0"/>
          </a:p>
        </p:txBody>
      </p:sp>
      <p:sp>
        <p:nvSpPr>
          <p:cNvPr id="11" name="Text 9"/>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12" name="Text 10"/>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44</a:t>
            </a:r>
            <a:endParaRPr lang="en-US" sz="1000" dirty="0"/>
          </a:p>
        </p:txBody>
      </p:sp>
      <p:graphicFrame>
        <p:nvGraphicFramePr>
          <p:cNvPr id="13" name="Table 12"/>
          <p:cNvGraphicFramePr>
            <a:graphicFrameLocks noGrp="1"/>
          </p:cNvGraphicFramePr>
          <p:nvPr/>
        </p:nvGraphicFramePr>
        <p:xfrm>
          <a:off x="0" y="4484010"/>
          <a:ext cx="8128000" cy="1828800"/>
        </p:xfrm>
        <a:graphic>
          <a:graphicData uri="http://schemas.openxmlformats.org/drawingml/2006/table">
            <a:tbl>
              <a:tblPr/>
              <a:tblGrid>
                <a:gridCol w="2032000"/>
                <a:gridCol w="2032000"/>
                <a:gridCol w="2032000"/>
                <a:gridCol w="2032000"/>
              </a:tblGrid>
              <a:tr h="0">
                <a:tc>
                  <a:txBody>
                    <a:bodyPr/>
                    <a:lstStyle/>
                    <a:p>
                      <a:r>
                        <a:rPr lang="en-US" sz="1200" b="1" dirty="0"/>
                        <a:t>Plot Type</a:t>
                      </a:r>
                    </a:p>
                  </a:txBody>
                  <a:tcPr anchor="ctr">
                    <a:lnL>
                      <a:noFill/>
                    </a:lnL>
                    <a:lnR>
                      <a:noFill/>
                    </a:lnR>
                    <a:lnT>
                      <a:noFill/>
                    </a:lnT>
                    <a:lnB>
                      <a:noFill/>
                    </a:lnB>
                  </a:tcPr>
                </a:tc>
                <a:tc>
                  <a:txBody>
                    <a:bodyPr/>
                    <a:lstStyle/>
                    <a:p>
                      <a:r>
                        <a:rPr lang="en-US" sz="1200" b="1" dirty="0"/>
                        <a:t>Function</a:t>
                      </a:r>
                    </a:p>
                  </a:txBody>
                  <a:tcPr anchor="ctr">
                    <a:lnL>
                      <a:noFill/>
                    </a:lnL>
                    <a:lnR>
                      <a:noFill/>
                    </a:lnR>
                    <a:lnT>
                      <a:noFill/>
                    </a:lnT>
                    <a:lnB>
                      <a:noFill/>
                    </a:lnB>
                  </a:tcPr>
                </a:tc>
                <a:tc>
                  <a:txBody>
                    <a:bodyPr/>
                    <a:lstStyle/>
                    <a:p>
                      <a:r>
                        <a:rPr lang="en-US" sz="1200" b="1" dirty="0"/>
                        <a:t>Package</a:t>
                      </a:r>
                    </a:p>
                  </a:txBody>
                  <a:tcPr anchor="ctr">
                    <a:lnL>
                      <a:noFill/>
                    </a:lnL>
                    <a:lnR>
                      <a:noFill/>
                    </a:lnR>
                    <a:lnT>
                      <a:noFill/>
                    </a:lnT>
                    <a:lnB>
                      <a:noFill/>
                    </a:lnB>
                  </a:tcPr>
                </a:tc>
                <a:tc>
                  <a:txBody>
                    <a:bodyPr/>
                    <a:lstStyle/>
                    <a:p>
                      <a:r>
                        <a:rPr lang="en-US" sz="1200" b="1" dirty="0"/>
                        <a:t>Purpose</a:t>
                      </a:r>
                    </a:p>
                  </a:txBody>
                  <a:tcPr anchor="ctr">
                    <a:lnL>
                      <a:noFill/>
                    </a:lnL>
                    <a:lnR>
                      <a:noFill/>
                    </a:lnR>
                    <a:lnT>
                      <a:noFill/>
                    </a:lnT>
                    <a:lnB>
                      <a:noFill/>
                    </a:lnB>
                  </a:tcPr>
                </a:tc>
              </a:tr>
              <a:tr h="0">
                <a:tc>
                  <a:txBody>
                    <a:bodyPr/>
                    <a:lstStyle/>
                    <a:p>
                      <a:r>
                        <a:rPr lang="en-US" sz="1200" dirty="0"/>
                        <a:t>Surface plot</a:t>
                      </a:r>
                    </a:p>
                  </a:txBody>
                  <a:tcPr anchor="ctr">
                    <a:lnL>
                      <a:noFill/>
                    </a:lnL>
                    <a:lnR>
                      <a:noFill/>
                    </a:lnR>
                    <a:lnT>
                      <a:noFill/>
                    </a:lnT>
                    <a:lnB>
                      <a:noFill/>
                    </a:lnB>
                  </a:tcPr>
                </a:tc>
                <a:tc>
                  <a:txBody>
                    <a:bodyPr/>
                    <a:lstStyle/>
                    <a:p>
                      <a:r>
                        <a:rPr lang="en-US" sz="1200" dirty="0" err="1"/>
                        <a:t>persp</a:t>
                      </a:r>
                      <a:r>
                        <a:rPr lang="en-US" sz="1200" dirty="0"/>
                        <a:t>()</a:t>
                      </a:r>
                    </a:p>
                  </a:txBody>
                  <a:tcPr anchor="ctr">
                    <a:lnL>
                      <a:noFill/>
                    </a:lnL>
                    <a:lnR>
                      <a:noFill/>
                    </a:lnR>
                    <a:lnT>
                      <a:noFill/>
                    </a:lnT>
                    <a:lnB>
                      <a:noFill/>
                    </a:lnB>
                  </a:tcPr>
                </a:tc>
                <a:tc>
                  <a:txBody>
                    <a:bodyPr/>
                    <a:lstStyle/>
                    <a:p>
                      <a:r>
                        <a:rPr lang="en-US" sz="1200"/>
                        <a:t>Base R (graphics)</a:t>
                      </a:r>
                    </a:p>
                  </a:txBody>
                  <a:tcPr anchor="ctr">
                    <a:lnL>
                      <a:noFill/>
                    </a:lnL>
                    <a:lnR>
                      <a:noFill/>
                    </a:lnR>
                    <a:lnT>
                      <a:noFill/>
                    </a:lnT>
                    <a:lnB>
                      <a:noFill/>
                    </a:lnB>
                  </a:tcPr>
                </a:tc>
                <a:tc>
                  <a:txBody>
                    <a:bodyPr/>
                    <a:lstStyle/>
                    <a:p>
                      <a:r>
                        <a:rPr lang="en-US" sz="1200"/>
                        <a:t>Display a surface defined by Z values over X and Y</a:t>
                      </a:r>
                    </a:p>
                  </a:txBody>
                  <a:tcPr anchor="ctr">
                    <a:lnL>
                      <a:noFill/>
                    </a:lnL>
                    <a:lnR>
                      <a:noFill/>
                    </a:lnR>
                    <a:lnT>
                      <a:noFill/>
                    </a:lnT>
                    <a:lnB>
                      <a:noFill/>
                    </a:lnB>
                  </a:tcPr>
                </a:tc>
              </a:tr>
              <a:tr h="0">
                <a:tc>
                  <a:txBody>
                    <a:bodyPr/>
                    <a:lstStyle/>
                    <a:p>
                      <a:r>
                        <a:rPr lang="en-US" sz="1200"/>
                        <a:t>3D scatter plot</a:t>
                      </a:r>
                    </a:p>
                  </a:txBody>
                  <a:tcPr anchor="ctr">
                    <a:lnL>
                      <a:noFill/>
                    </a:lnL>
                    <a:lnR>
                      <a:noFill/>
                    </a:lnR>
                    <a:lnT>
                      <a:noFill/>
                    </a:lnT>
                    <a:lnB>
                      <a:noFill/>
                    </a:lnB>
                  </a:tcPr>
                </a:tc>
                <a:tc>
                  <a:txBody>
                    <a:bodyPr/>
                    <a:lstStyle/>
                    <a:p>
                      <a:r>
                        <a:rPr lang="en-US" sz="1200" dirty="0"/>
                        <a:t>scatterplot3d()</a:t>
                      </a:r>
                    </a:p>
                  </a:txBody>
                  <a:tcPr anchor="ctr">
                    <a:lnL>
                      <a:noFill/>
                    </a:lnL>
                    <a:lnR>
                      <a:noFill/>
                    </a:lnR>
                    <a:lnT>
                      <a:noFill/>
                    </a:lnT>
                    <a:lnB>
                      <a:noFill/>
                    </a:lnB>
                  </a:tcPr>
                </a:tc>
                <a:tc>
                  <a:txBody>
                    <a:bodyPr/>
                    <a:lstStyle/>
                    <a:p>
                      <a:r>
                        <a:rPr lang="en-US" sz="1200" dirty="0"/>
                        <a:t>scatterplot3d</a:t>
                      </a:r>
                    </a:p>
                  </a:txBody>
                  <a:tcPr anchor="ctr">
                    <a:lnL>
                      <a:noFill/>
                    </a:lnL>
                    <a:lnR>
                      <a:noFill/>
                    </a:lnR>
                    <a:lnT>
                      <a:noFill/>
                    </a:lnT>
                    <a:lnB>
                      <a:noFill/>
                    </a:lnB>
                  </a:tcPr>
                </a:tc>
                <a:tc>
                  <a:txBody>
                    <a:bodyPr/>
                    <a:lstStyle/>
                    <a:p>
                      <a:r>
                        <a:rPr lang="en-US" sz="1200"/>
                        <a:t>Display individual observations in three dimensions</a:t>
                      </a:r>
                    </a:p>
                  </a:txBody>
                  <a:tcPr anchor="ctr">
                    <a:lnL>
                      <a:noFill/>
                    </a:lnL>
                    <a:lnR>
                      <a:noFill/>
                    </a:lnR>
                    <a:lnT>
                      <a:noFill/>
                    </a:lnT>
                    <a:lnB>
                      <a:noFill/>
                    </a:lnB>
                  </a:tcPr>
                </a:tc>
              </a:tr>
              <a:tr h="0">
                <a:tc>
                  <a:txBody>
                    <a:bodyPr/>
                    <a:lstStyle/>
                    <a:p>
                      <a:r>
                        <a:rPr lang="en-US" sz="1200"/>
                        <a:t>Interactive 3D plot</a:t>
                      </a:r>
                    </a:p>
                  </a:txBody>
                  <a:tcPr anchor="ctr">
                    <a:lnL>
                      <a:noFill/>
                    </a:lnL>
                    <a:lnR>
                      <a:noFill/>
                    </a:lnR>
                    <a:lnT>
                      <a:noFill/>
                    </a:lnT>
                    <a:lnB>
                      <a:noFill/>
                    </a:lnB>
                  </a:tcPr>
                </a:tc>
                <a:tc>
                  <a:txBody>
                    <a:bodyPr/>
                    <a:lstStyle/>
                    <a:p>
                      <a:r>
                        <a:rPr lang="en-US" sz="1200" dirty="0"/>
                        <a:t>plot3d()</a:t>
                      </a:r>
                    </a:p>
                  </a:txBody>
                  <a:tcPr anchor="ctr">
                    <a:lnL>
                      <a:noFill/>
                    </a:lnL>
                    <a:lnR>
                      <a:noFill/>
                    </a:lnR>
                    <a:lnT>
                      <a:noFill/>
                    </a:lnT>
                    <a:lnB>
                      <a:noFill/>
                    </a:lnB>
                  </a:tcPr>
                </a:tc>
                <a:tc>
                  <a:txBody>
                    <a:bodyPr/>
                    <a:lstStyle/>
                    <a:p>
                      <a:r>
                        <a:rPr lang="en-US" sz="1200" dirty="0" err="1"/>
                        <a:t>rgl</a:t>
                      </a:r>
                      <a:endParaRPr lang="en-US" sz="1200" dirty="0"/>
                    </a:p>
                  </a:txBody>
                  <a:tcPr anchor="ctr">
                    <a:lnL>
                      <a:noFill/>
                    </a:lnL>
                    <a:lnR>
                      <a:noFill/>
                    </a:lnR>
                    <a:lnT>
                      <a:noFill/>
                    </a:lnT>
                    <a:lnB>
                      <a:noFill/>
                    </a:lnB>
                  </a:tcPr>
                </a:tc>
                <a:tc>
                  <a:txBody>
                    <a:bodyPr/>
                    <a:lstStyle/>
                    <a:p>
                      <a:r>
                        <a:rPr lang="en-US" sz="1200" dirty="0"/>
                        <a:t>Allow rotation and zooming of a 3D graph</a:t>
                      </a:r>
                    </a:p>
                  </a:txBody>
                  <a:tcPr anchor="ctr">
                    <a:lnL>
                      <a:noFill/>
                    </a:lnL>
                    <a:lnR>
                      <a:noFill/>
                    </a:lnR>
                    <a:lnT>
                      <a:noFill/>
                    </a:lnT>
                    <a:lnB>
                      <a:noFill/>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86531" y="1122064"/>
            <a:ext cx="5907088" cy="492442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7368068" y="2625396"/>
            <a:ext cx="3905250" cy="1400175"/>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425600" y="923330"/>
            <a:ext cx="3867150" cy="324802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355451" y="0"/>
            <a:ext cx="4067175" cy="2924175"/>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7211683" y="3033554"/>
            <a:ext cx="3592034" cy="3203344"/>
          </a:xfrm>
          <a:prstGeom prst="rect">
            <a:avLst/>
          </a:prstGeom>
          <a:noFill/>
          <a:ln w="9525">
            <a:noFill/>
            <a:miter lim="800000"/>
            <a:headEnd/>
            <a:tailEnd/>
          </a:ln>
          <a:effectLst/>
        </p:spPr>
      </p:pic>
      <p:sp>
        <p:nvSpPr>
          <p:cNvPr id="5" name="Rectangle 4"/>
          <p:cNvSpPr/>
          <p:nvPr/>
        </p:nvSpPr>
        <p:spPr>
          <a:xfrm>
            <a:off x="259451" y="0"/>
            <a:ext cx="6096000" cy="923330"/>
          </a:xfrm>
          <a:prstGeom prst="rect">
            <a:avLst/>
          </a:prstGeom>
        </p:spPr>
        <p:txBody>
          <a:bodyPr>
            <a:spAutoFit/>
          </a:bodyPr>
          <a:lstStyle/>
          <a:p>
            <a:r>
              <a:rPr lang="en-US" dirty="0" smtClean="0"/>
              <a:t># Install </a:t>
            </a:r>
            <a:r>
              <a:rPr lang="en-US" dirty="0" err="1" smtClean="0"/>
              <a:t>rgl</a:t>
            </a:r>
            <a:r>
              <a:rPr lang="en-US" dirty="0" smtClean="0"/>
              <a:t> only </a:t>
            </a:r>
            <a:r>
              <a:rPr lang="en-US" dirty="0" smtClean="0"/>
              <a:t>once</a:t>
            </a:r>
          </a:p>
          <a:p>
            <a:r>
              <a:rPr lang="en-US" dirty="0" err="1" smtClean="0"/>
              <a:t>install.packages</a:t>
            </a:r>
            <a:r>
              <a:rPr lang="en-US" dirty="0" smtClean="0"/>
              <a:t>("</a:t>
            </a:r>
            <a:r>
              <a:rPr lang="en-US" dirty="0" err="1" smtClean="0"/>
              <a:t>rgl</a:t>
            </a:r>
            <a:r>
              <a:rPr lang="en-US" dirty="0" smtClean="0"/>
              <a:t>”)</a:t>
            </a:r>
          </a:p>
          <a:p>
            <a:r>
              <a:rPr lang="en-US" dirty="0" smtClean="0"/>
              <a:t>library(</a:t>
            </a:r>
            <a:r>
              <a:rPr lang="en-US" dirty="0" err="1" smtClean="0"/>
              <a:t>rgl</a:t>
            </a:r>
            <a:r>
              <a:rPr lang="en-US" dirty="0" smtClean="0"/>
              <a:t>)</a:t>
            </a:r>
            <a:endParaRPr lang="en-US" dirty="0"/>
          </a:p>
        </p:txBody>
      </p:sp>
      <p:pic>
        <p:nvPicPr>
          <p:cNvPr id="2053" name="Picture 5"/>
          <p:cNvPicPr>
            <a:picLocks noChangeAspect="1" noChangeArrowheads="1"/>
          </p:cNvPicPr>
          <p:nvPr/>
        </p:nvPicPr>
        <p:blipFill>
          <a:blip r:embed="rId5"/>
          <a:srcRect/>
          <a:stretch>
            <a:fillRect/>
          </a:stretch>
        </p:blipFill>
        <p:spPr bwMode="auto">
          <a:xfrm>
            <a:off x="2122097" y="4401962"/>
            <a:ext cx="1754248" cy="2008722"/>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p:cNvPicPr>
            <a:picLocks noChangeAspect="1" noChangeArrowheads="1"/>
          </p:cNvPicPr>
          <p:nvPr/>
        </p:nvPicPr>
        <p:blipFill>
          <a:blip r:embed="rId2"/>
          <a:srcRect/>
          <a:stretch>
            <a:fillRect/>
          </a:stretch>
        </p:blipFill>
        <p:spPr bwMode="auto">
          <a:xfrm>
            <a:off x="0" y="0"/>
            <a:ext cx="6057211" cy="3019425"/>
          </a:xfrm>
          <a:prstGeom prst="rect">
            <a:avLst/>
          </a:prstGeom>
          <a:noFill/>
          <a:ln w="9525">
            <a:noFill/>
            <a:miter lim="800000"/>
            <a:headEnd/>
            <a:tailEnd/>
          </a:ln>
          <a:effectLst/>
        </p:spPr>
      </p:pic>
      <p:pic>
        <p:nvPicPr>
          <p:cNvPr id="112644" name="Picture 4"/>
          <p:cNvPicPr>
            <a:picLocks noChangeAspect="1" noChangeArrowheads="1"/>
          </p:cNvPicPr>
          <p:nvPr/>
        </p:nvPicPr>
        <p:blipFill>
          <a:blip r:embed="rId3"/>
          <a:srcRect/>
          <a:stretch>
            <a:fillRect/>
          </a:stretch>
        </p:blipFill>
        <p:spPr bwMode="auto">
          <a:xfrm>
            <a:off x="-125507" y="3019425"/>
            <a:ext cx="5976807" cy="3769563"/>
          </a:xfrm>
          <a:prstGeom prst="rect">
            <a:avLst/>
          </a:prstGeom>
          <a:noFill/>
          <a:ln w="9525">
            <a:noFill/>
            <a:miter lim="800000"/>
            <a:headEnd/>
            <a:tailEnd/>
          </a:ln>
          <a:effectLst/>
        </p:spPr>
      </p:pic>
      <p:pic>
        <p:nvPicPr>
          <p:cNvPr id="112645" name="Picture 5"/>
          <p:cNvPicPr>
            <a:picLocks noChangeAspect="1" noChangeArrowheads="1"/>
          </p:cNvPicPr>
          <p:nvPr/>
        </p:nvPicPr>
        <p:blipFill>
          <a:blip r:embed="rId4"/>
          <a:srcRect/>
          <a:stretch>
            <a:fillRect/>
          </a:stretch>
        </p:blipFill>
        <p:spPr bwMode="auto">
          <a:xfrm>
            <a:off x="5851300" y="139732"/>
            <a:ext cx="6340699" cy="3293582"/>
          </a:xfrm>
          <a:prstGeom prst="rect">
            <a:avLst/>
          </a:prstGeom>
          <a:noFill/>
          <a:ln w="9525">
            <a:noFill/>
            <a:miter lim="800000"/>
            <a:headEnd/>
            <a:tailEnd/>
          </a:ln>
          <a:effectLst/>
        </p:spPr>
      </p:pic>
      <p:pic>
        <p:nvPicPr>
          <p:cNvPr id="112646" name="Picture 6"/>
          <p:cNvPicPr>
            <a:picLocks noChangeAspect="1" noChangeArrowheads="1"/>
          </p:cNvPicPr>
          <p:nvPr/>
        </p:nvPicPr>
        <p:blipFill>
          <a:blip r:embed="rId5"/>
          <a:srcRect/>
          <a:stretch>
            <a:fillRect/>
          </a:stretch>
        </p:blipFill>
        <p:spPr bwMode="auto">
          <a:xfrm>
            <a:off x="5851300" y="3433314"/>
            <a:ext cx="6597636" cy="3228975"/>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p:cNvPicPr>
            <a:picLocks noChangeAspect="1" noChangeArrowheads="1"/>
          </p:cNvPicPr>
          <p:nvPr/>
        </p:nvPicPr>
        <p:blipFill>
          <a:blip r:embed="rId2"/>
          <a:srcRect/>
          <a:stretch>
            <a:fillRect/>
          </a:stretch>
        </p:blipFill>
        <p:spPr bwMode="auto">
          <a:xfrm>
            <a:off x="0" y="0"/>
            <a:ext cx="6057211" cy="3019425"/>
          </a:xfrm>
          <a:prstGeom prst="rect">
            <a:avLst/>
          </a:prstGeom>
          <a:noFill/>
          <a:ln w="9525">
            <a:noFill/>
            <a:miter lim="800000"/>
            <a:headEnd/>
            <a:tailEnd/>
          </a:ln>
          <a:effectLst/>
        </p:spPr>
      </p:pic>
      <p:pic>
        <p:nvPicPr>
          <p:cNvPr id="112643" name="Picture 3"/>
          <p:cNvPicPr>
            <a:picLocks noChangeAspect="1" noChangeArrowheads="1"/>
          </p:cNvPicPr>
          <p:nvPr/>
        </p:nvPicPr>
        <p:blipFill>
          <a:blip r:embed="rId3"/>
          <a:srcRect/>
          <a:stretch>
            <a:fillRect/>
          </a:stretch>
        </p:blipFill>
        <p:spPr bwMode="auto">
          <a:xfrm>
            <a:off x="5851300" y="0"/>
            <a:ext cx="6340700" cy="4566579"/>
          </a:xfrm>
          <a:prstGeom prst="rect">
            <a:avLst/>
          </a:prstGeom>
          <a:noFill/>
          <a:ln w="9525">
            <a:noFill/>
            <a:miter lim="800000"/>
            <a:headEnd/>
            <a:tailEnd/>
          </a:ln>
          <a:effectLst/>
        </p:spPr>
      </p:pic>
      <p:pic>
        <p:nvPicPr>
          <p:cNvPr id="112644" name="Picture 4"/>
          <p:cNvPicPr>
            <a:picLocks noChangeAspect="1" noChangeArrowheads="1"/>
          </p:cNvPicPr>
          <p:nvPr/>
        </p:nvPicPr>
        <p:blipFill>
          <a:blip r:embed="rId4"/>
          <a:srcRect/>
          <a:stretch>
            <a:fillRect/>
          </a:stretch>
        </p:blipFill>
        <p:spPr bwMode="auto">
          <a:xfrm>
            <a:off x="-125507" y="3019425"/>
            <a:ext cx="5976807" cy="3769563"/>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468880" cy="347472"/>
          </a:xfrm>
          <a:prstGeom prst="roundRect">
            <a:avLst>
              <a:gd name="adj" fmla="val 21053"/>
            </a:avLst>
          </a:prstGeom>
          <a:solidFill>
            <a:srgbClr val="FF6B35">
              <a:alpha val="12000"/>
            </a:srgbClr>
          </a:solidFill>
          <a:ln/>
        </p:spPr>
      </p:sp>
      <p:sp>
        <p:nvSpPr>
          <p:cNvPr id="3" name="Text 1"/>
          <p:cNvSpPr/>
          <p:nvPr/>
        </p:nvSpPr>
        <p:spPr>
          <a:xfrm>
            <a:off x="457200" y="384048"/>
            <a:ext cx="2468880" cy="347472"/>
          </a:xfrm>
          <a:prstGeom prst="rect">
            <a:avLst/>
          </a:prstGeom>
          <a:noFill/>
          <a:ln/>
        </p:spPr>
        <p:txBody>
          <a:bodyPr wrap="square" rtlCol="0" anchor="ctr"/>
          <a:lstStyle/>
          <a:p>
            <a:pPr marL="0" indent="0" algn="ctr">
              <a:buNone/>
            </a:pPr>
            <a:r>
              <a:rPr lang="en-US" sz="1200" b="1" kern="0" spc="100" dirty="0">
                <a:solidFill>
                  <a:srgbClr val="FF6B35"/>
                </a:solidFill>
                <a:latin typeface="Calibri" pitchFamily="34" charset="0"/>
                <a:ea typeface="Calibri" pitchFamily="34" charset="-122"/>
                <a:cs typeface="Calibri" pitchFamily="34" charset="-120"/>
              </a:rPr>
              <a:t>RECAP</a:t>
            </a:r>
            <a:endParaRPr lang="en-US" sz="1200" dirty="0"/>
          </a:p>
        </p:txBody>
      </p:sp>
      <p:sp>
        <p:nvSpPr>
          <p:cNvPr id="4" name="Text 2"/>
          <p:cNvSpPr/>
          <p:nvPr/>
        </p:nvSpPr>
        <p:spPr>
          <a:xfrm>
            <a:off x="457200" y="841248"/>
            <a:ext cx="11247120" cy="594360"/>
          </a:xfrm>
          <a:prstGeom prst="rect">
            <a:avLst/>
          </a:prstGeom>
          <a:noFill/>
          <a:ln/>
        </p:spPr>
        <p:txBody>
          <a:bodyPr wrap="square" rtlCol="0" anchor="ctr"/>
          <a:lstStyle/>
          <a:p>
            <a:pPr marL="0" indent="0">
              <a:buNone/>
            </a:pPr>
            <a:r>
              <a:rPr lang="en-US" sz="3100" b="1" dirty="0">
                <a:solidFill>
                  <a:srgbClr val="132743"/>
                </a:solidFill>
                <a:latin typeface="Cambria" pitchFamily="34" charset="0"/>
                <a:ea typeface="Cambria" pitchFamily="34" charset="-122"/>
                <a:cs typeface="Cambria" pitchFamily="34" charset="-120"/>
              </a:rPr>
              <a:t>Key Takeaways</a:t>
            </a:r>
            <a:endParaRPr lang="en-US" sz="3100" dirty="0"/>
          </a:p>
        </p:txBody>
      </p:sp>
      <p:sp>
        <p:nvSpPr>
          <p:cNvPr id="5" name="Shape 3"/>
          <p:cNvSpPr/>
          <p:nvPr/>
        </p:nvSpPr>
        <p:spPr>
          <a:xfrm>
            <a:off x="457200" y="1737360"/>
            <a:ext cx="2697480" cy="3886200"/>
          </a:xfrm>
          <a:prstGeom prst="roundRect">
            <a:avLst>
              <a:gd name="adj" fmla="val 2712"/>
            </a:avLst>
          </a:prstGeom>
          <a:solidFill>
            <a:srgbClr val="132743"/>
          </a:solidFill>
          <a:ln/>
        </p:spPr>
      </p:sp>
      <p:sp>
        <p:nvSpPr>
          <p:cNvPr id="6" name="Shape 4"/>
          <p:cNvSpPr/>
          <p:nvPr/>
        </p:nvSpPr>
        <p:spPr>
          <a:xfrm>
            <a:off x="658368" y="1965960"/>
            <a:ext cx="475488" cy="475488"/>
          </a:xfrm>
          <a:prstGeom prst="roundRect">
            <a:avLst>
              <a:gd name="adj" fmla="val 50000"/>
            </a:avLst>
          </a:prstGeom>
          <a:solidFill>
            <a:srgbClr val="FF6B35"/>
          </a:solidFill>
          <a:ln/>
        </p:spPr>
      </p:sp>
      <p:sp>
        <p:nvSpPr>
          <p:cNvPr id="7" name="Text 5"/>
          <p:cNvSpPr/>
          <p:nvPr/>
        </p:nvSpPr>
        <p:spPr>
          <a:xfrm>
            <a:off x="658368" y="1965960"/>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658368" y="2624328"/>
            <a:ext cx="2295144"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OOP: S3, S4 &amp; R5</a:t>
            </a:r>
            <a:endParaRPr lang="en-US" sz="1600" dirty="0"/>
          </a:p>
        </p:txBody>
      </p:sp>
      <p:sp>
        <p:nvSpPr>
          <p:cNvPr id="9" name="Text 7"/>
          <p:cNvSpPr/>
          <p:nvPr/>
        </p:nvSpPr>
        <p:spPr>
          <a:xfrm>
            <a:off x="658368" y="3182112"/>
            <a:ext cx="2295144" cy="2331720"/>
          </a:xfrm>
          <a:prstGeom prst="rect">
            <a:avLst/>
          </a:prstGeom>
          <a:noFill/>
          <a:ln/>
        </p:spPr>
        <p:txBody>
          <a:bodyPr wrap="square" rtlCol="0" anchor="ctr"/>
          <a:lstStyle/>
          <a:p>
            <a:pPr marL="0" indent="0">
              <a:lnSpc>
                <a:spcPct val="132000"/>
              </a:lnSpc>
              <a:buNone/>
            </a:pPr>
            <a:r>
              <a:rPr lang="en-US" sz="1200" dirty="0">
                <a:solidFill>
                  <a:srgbClr val="CFE8FF"/>
                </a:solidFill>
                <a:latin typeface="Calibri" pitchFamily="34" charset="0"/>
                <a:ea typeface="Calibri" pitchFamily="34" charset="-122"/>
                <a:cs typeface="Calibri" pitchFamily="34" charset="-120"/>
              </a:rPr>
              <a:t>S3 is quick/informal, S4 is formal &amp; validated, R5 is mutable — and S3 powers lm()/glm()'s unified print/summary/predict interface.</a:t>
            </a:r>
            <a:endParaRPr lang="en-US" sz="1200" dirty="0"/>
          </a:p>
        </p:txBody>
      </p:sp>
      <p:sp>
        <p:nvSpPr>
          <p:cNvPr id="10" name="Shape 8"/>
          <p:cNvSpPr/>
          <p:nvPr/>
        </p:nvSpPr>
        <p:spPr>
          <a:xfrm>
            <a:off x="3310128" y="1737360"/>
            <a:ext cx="2697480" cy="3886200"/>
          </a:xfrm>
          <a:prstGeom prst="roundRect">
            <a:avLst>
              <a:gd name="adj" fmla="val 2712"/>
            </a:avLst>
          </a:prstGeom>
          <a:solidFill>
            <a:srgbClr val="1F6E8C"/>
          </a:solidFill>
          <a:ln/>
        </p:spPr>
      </p:sp>
      <p:sp>
        <p:nvSpPr>
          <p:cNvPr id="11" name="Shape 9"/>
          <p:cNvSpPr/>
          <p:nvPr/>
        </p:nvSpPr>
        <p:spPr>
          <a:xfrm>
            <a:off x="3511296" y="1965960"/>
            <a:ext cx="475488" cy="475488"/>
          </a:xfrm>
          <a:prstGeom prst="roundRect">
            <a:avLst>
              <a:gd name="adj" fmla="val 50000"/>
            </a:avLst>
          </a:prstGeom>
          <a:solidFill>
            <a:srgbClr val="FF6B35"/>
          </a:solidFill>
          <a:ln/>
        </p:spPr>
      </p:sp>
      <p:sp>
        <p:nvSpPr>
          <p:cNvPr id="12" name="Text 10"/>
          <p:cNvSpPr/>
          <p:nvPr/>
        </p:nvSpPr>
        <p:spPr>
          <a:xfrm>
            <a:off x="3511296" y="1965960"/>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3511296" y="2624328"/>
            <a:ext cx="2295144"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Managing Objects</a:t>
            </a:r>
            <a:endParaRPr lang="en-US" sz="1600" dirty="0"/>
          </a:p>
        </p:txBody>
      </p:sp>
      <p:sp>
        <p:nvSpPr>
          <p:cNvPr id="14" name="Text 12"/>
          <p:cNvSpPr/>
          <p:nvPr/>
        </p:nvSpPr>
        <p:spPr>
          <a:xfrm>
            <a:off x="3511296" y="3182112"/>
            <a:ext cx="2295144" cy="2331720"/>
          </a:xfrm>
          <a:prstGeom prst="rect">
            <a:avLst/>
          </a:prstGeom>
          <a:noFill/>
          <a:ln/>
        </p:spPr>
        <p:txBody>
          <a:bodyPr wrap="square" rtlCol="0" anchor="ctr"/>
          <a:lstStyle/>
          <a:p>
            <a:pPr marL="0" indent="0">
              <a:lnSpc>
                <a:spcPct val="132000"/>
              </a:lnSpc>
              <a:buNone/>
            </a:pPr>
            <a:r>
              <a:rPr lang="en-US" sz="1200" dirty="0">
                <a:solidFill>
                  <a:srgbClr val="CFE8FF"/>
                </a:solidFill>
                <a:latin typeface="Calibri" pitchFamily="34" charset="0"/>
                <a:ea typeface="Calibri" pitchFamily="34" charset="-122"/>
                <a:cs typeface="Calibri" pitchFamily="34" charset="-120"/>
              </a:rPr>
              <a:t>ls(), str(), exists()/get()/assign(), save()/load() and file() connections keep a workspace organised and reproducible.</a:t>
            </a:r>
            <a:endParaRPr lang="en-US" sz="1200" dirty="0"/>
          </a:p>
        </p:txBody>
      </p:sp>
      <p:sp>
        <p:nvSpPr>
          <p:cNvPr id="15" name="Shape 13"/>
          <p:cNvSpPr/>
          <p:nvPr/>
        </p:nvSpPr>
        <p:spPr>
          <a:xfrm>
            <a:off x="6163056" y="1737360"/>
            <a:ext cx="2697480" cy="3886200"/>
          </a:xfrm>
          <a:prstGeom prst="roundRect">
            <a:avLst>
              <a:gd name="adj" fmla="val 2712"/>
            </a:avLst>
          </a:prstGeom>
          <a:solidFill>
            <a:srgbClr val="132743"/>
          </a:solidFill>
          <a:ln/>
        </p:spPr>
      </p:sp>
      <p:sp>
        <p:nvSpPr>
          <p:cNvPr id="16" name="Shape 14"/>
          <p:cNvSpPr/>
          <p:nvPr/>
        </p:nvSpPr>
        <p:spPr>
          <a:xfrm>
            <a:off x="6364224" y="1965960"/>
            <a:ext cx="475488" cy="475488"/>
          </a:xfrm>
          <a:prstGeom prst="roundRect">
            <a:avLst>
              <a:gd name="adj" fmla="val 50000"/>
            </a:avLst>
          </a:prstGeom>
          <a:solidFill>
            <a:srgbClr val="FF6B35"/>
          </a:solidFill>
          <a:ln/>
        </p:spPr>
      </p:sp>
      <p:sp>
        <p:nvSpPr>
          <p:cNvPr id="17" name="Text 15"/>
          <p:cNvSpPr/>
          <p:nvPr/>
        </p:nvSpPr>
        <p:spPr>
          <a:xfrm>
            <a:off x="6364224" y="1965960"/>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8" name="Text 16"/>
          <p:cNvSpPr/>
          <p:nvPr/>
        </p:nvSpPr>
        <p:spPr>
          <a:xfrm>
            <a:off x="6364224" y="2624328"/>
            <a:ext cx="2295144"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Input / Output</a:t>
            </a:r>
            <a:endParaRPr lang="en-US" sz="1600" dirty="0"/>
          </a:p>
        </p:txBody>
      </p:sp>
      <p:sp>
        <p:nvSpPr>
          <p:cNvPr id="19" name="Text 17"/>
          <p:cNvSpPr/>
          <p:nvPr/>
        </p:nvSpPr>
        <p:spPr>
          <a:xfrm>
            <a:off x="6364224" y="3182112"/>
            <a:ext cx="2295144" cy="2331720"/>
          </a:xfrm>
          <a:prstGeom prst="rect">
            <a:avLst/>
          </a:prstGeom>
          <a:noFill/>
          <a:ln/>
        </p:spPr>
        <p:txBody>
          <a:bodyPr wrap="square" rtlCol="0" anchor="ctr"/>
          <a:lstStyle/>
          <a:p>
            <a:pPr marL="0" indent="0">
              <a:lnSpc>
                <a:spcPct val="132000"/>
              </a:lnSpc>
              <a:buNone/>
            </a:pPr>
            <a:r>
              <a:rPr lang="en-US" sz="1200" dirty="0">
                <a:solidFill>
                  <a:srgbClr val="CFE8FF"/>
                </a:solidFill>
                <a:latin typeface="Calibri" pitchFamily="34" charset="0"/>
                <a:ea typeface="Calibri" pitchFamily="34" charset="-122"/>
                <a:cs typeface="Calibri" pitchFamily="34" charset="-120"/>
              </a:rPr>
              <a:t>readline()/scan() for keyboard, cat()/print() for monitor, read/write.csv() for files, url()/jsonlite for the web.</a:t>
            </a:r>
            <a:endParaRPr lang="en-US" sz="1200" dirty="0"/>
          </a:p>
        </p:txBody>
      </p:sp>
      <p:sp>
        <p:nvSpPr>
          <p:cNvPr id="20" name="Shape 18"/>
          <p:cNvSpPr/>
          <p:nvPr/>
        </p:nvSpPr>
        <p:spPr>
          <a:xfrm>
            <a:off x="9015984" y="1737360"/>
            <a:ext cx="2697480" cy="3886200"/>
          </a:xfrm>
          <a:prstGeom prst="roundRect">
            <a:avLst>
              <a:gd name="adj" fmla="val 2712"/>
            </a:avLst>
          </a:prstGeom>
          <a:solidFill>
            <a:srgbClr val="1F6E8C"/>
          </a:solidFill>
          <a:ln/>
        </p:spPr>
      </p:sp>
      <p:sp>
        <p:nvSpPr>
          <p:cNvPr id="21" name="Shape 19"/>
          <p:cNvSpPr/>
          <p:nvPr/>
        </p:nvSpPr>
        <p:spPr>
          <a:xfrm>
            <a:off x="9217152" y="1965960"/>
            <a:ext cx="475488" cy="475488"/>
          </a:xfrm>
          <a:prstGeom prst="roundRect">
            <a:avLst>
              <a:gd name="adj" fmla="val 50000"/>
            </a:avLst>
          </a:prstGeom>
          <a:solidFill>
            <a:srgbClr val="FF6B35"/>
          </a:solidFill>
          <a:ln/>
        </p:spPr>
      </p:sp>
      <p:sp>
        <p:nvSpPr>
          <p:cNvPr id="22" name="Text 20"/>
          <p:cNvSpPr/>
          <p:nvPr/>
        </p:nvSpPr>
        <p:spPr>
          <a:xfrm>
            <a:off x="9217152" y="1965960"/>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3" name="Text 21"/>
          <p:cNvSpPr/>
          <p:nvPr/>
        </p:nvSpPr>
        <p:spPr>
          <a:xfrm>
            <a:off x="9217152" y="2624328"/>
            <a:ext cx="2295144"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Strings &amp; Graphics</a:t>
            </a:r>
            <a:endParaRPr lang="en-US" sz="1600" dirty="0"/>
          </a:p>
        </p:txBody>
      </p:sp>
      <p:sp>
        <p:nvSpPr>
          <p:cNvPr id="24" name="Text 22"/>
          <p:cNvSpPr/>
          <p:nvPr/>
        </p:nvSpPr>
        <p:spPr>
          <a:xfrm>
            <a:off x="9217152" y="3182112"/>
            <a:ext cx="2295144" cy="2331720"/>
          </a:xfrm>
          <a:prstGeom prst="rect">
            <a:avLst/>
          </a:prstGeom>
          <a:noFill/>
          <a:ln/>
        </p:spPr>
        <p:txBody>
          <a:bodyPr wrap="square" rtlCol="0" anchor="ctr"/>
          <a:lstStyle/>
          <a:p>
            <a:pPr marL="0" indent="0">
              <a:lnSpc>
                <a:spcPct val="132000"/>
              </a:lnSpc>
              <a:buNone/>
            </a:pPr>
            <a:r>
              <a:rPr lang="en-US" sz="1200" dirty="0">
                <a:solidFill>
                  <a:srgbClr val="CFE8FF"/>
                </a:solidFill>
                <a:latin typeface="Calibri" pitchFamily="34" charset="0"/>
                <a:ea typeface="Calibri" pitchFamily="34" charset="-122"/>
                <a:cs typeface="Calibri" pitchFamily="34" charset="-120"/>
              </a:rPr>
              <a:t>trimws/grepl/regmatches/gsub build, validate &amp; mine text; plot/hist + par()/layout() customize, and png()/pdf()/plot3D save 2D &amp; 3D figures.</a:t>
            </a:r>
            <a:endParaRPr lang="en-US" sz="1200" dirty="0"/>
          </a:p>
        </p:txBody>
      </p:sp>
      <p:sp>
        <p:nvSpPr>
          <p:cNvPr id="25" name="Text 23"/>
          <p:cNvSpPr/>
          <p:nvPr/>
        </p:nvSpPr>
        <p:spPr>
          <a:xfrm>
            <a:off x="457200" y="6510528"/>
            <a:ext cx="8229600" cy="292608"/>
          </a:xfrm>
          <a:prstGeom prst="rect">
            <a:avLst/>
          </a:prstGeom>
          <a:noFill/>
          <a:ln/>
        </p:spPr>
        <p:txBody>
          <a:bodyPr wrap="square" rtlCol="0" anchor="ctr"/>
          <a:lstStyle/>
          <a:p>
            <a:pPr marL="0" indent="0" algn="l">
              <a:buNone/>
            </a:pPr>
            <a:r>
              <a:rPr lang="en-US" sz="1000" dirty="0">
                <a:solidFill>
                  <a:srgbClr val="5C6B73"/>
                </a:solidFill>
                <a:latin typeface="Calibri" pitchFamily="34" charset="0"/>
                <a:ea typeface="Calibri" pitchFamily="34" charset="-122"/>
                <a:cs typeface="Calibri" pitchFamily="34" charset="-120"/>
              </a:rPr>
              <a:t>R Programming — Unit V: OOP, I/O, Strings &amp; Graphics</a:t>
            </a:r>
            <a:endParaRPr lang="en-US" sz="1000" dirty="0"/>
          </a:p>
        </p:txBody>
      </p:sp>
      <p:sp>
        <p:nvSpPr>
          <p:cNvPr id="26" name="Text 24"/>
          <p:cNvSpPr/>
          <p:nvPr/>
        </p:nvSpPr>
        <p:spPr>
          <a:xfrm>
            <a:off x="11384280" y="6510528"/>
            <a:ext cx="411480" cy="292608"/>
          </a:xfrm>
          <a:prstGeom prst="rect">
            <a:avLst/>
          </a:prstGeom>
          <a:noFill/>
          <a:ln/>
        </p:spPr>
        <p:txBody>
          <a:bodyPr wrap="square"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6">
    <p:bg>
      <p:bgPr>
        <a:solidFill>
          <a:srgbClr val="132743"/>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F6E8C">
              <a:alpha val="22000"/>
            </a:srgbClr>
          </a:solidFill>
          <a:ln/>
        </p:spPr>
      </p:sp>
      <p:sp>
        <p:nvSpPr>
          <p:cNvPr id="3" name="Shape 1"/>
          <p:cNvSpPr/>
          <p:nvPr/>
        </p:nvSpPr>
        <p:spPr>
          <a:xfrm>
            <a:off x="-1097280" y="4937760"/>
            <a:ext cx="3200400" cy="3200400"/>
          </a:xfrm>
          <a:prstGeom prst="ellipse">
            <a:avLst/>
          </a:prstGeom>
          <a:solidFill>
            <a:srgbClr val="FF6B35">
              <a:alpha val="16000"/>
            </a:srgbClr>
          </a:solidFill>
          <a:ln/>
        </p:spPr>
      </p:sp>
      <p:sp>
        <p:nvSpPr>
          <p:cNvPr id="4" name="Text 2"/>
          <p:cNvSpPr/>
          <p:nvPr/>
        </p:nvSpPr>
        <p:spPr>
          <a:xfrm>
            <a:off x="822960" y="914400"/>
            <a:ext cx="9144000" cy="548640"/>
          </a:xfrm>
          <a:prstGeom prst="rect">
            <a:avLst/>
          </a:prstGeom>
          <a:noFill/>
          <a:ln/>
        </p:spPr>
        <p:txBody>
          <a:bodyPr wrap="square" rtlCol="0" anchor="ctr"/>
          <a:lstStyle/>
          <a:p>
            <a:pPr marL="0" indent="0">
              <a:buNone/>
            </a:pPr>
            <a:r>
              <a:rPr lang="en-US" sz="1500" b="1" kern="0" spc="200" dirty="0">
                <a:solidFill>
                  <a:srgbClr val="FF6B35"/>
                </a:solidFill>
                <a:latin typeface="Calibri" pitchFamily="34" charset="0"/>
                <a:ea typeface="Calibri" pitchFamily="34" charset="-122"/>
                <a:cs typeface="Calibri" pitchFamily="34" charset="-120"/>
              </a:rPr>
              <a:t>Practice &amp; Next Steps</a:t>
            </a:r>
            <a:endParaRPr lang="en-US" sz="1500" dirty="0"/>
          </a:p>
        </p:txBody>
      </p:sp>
      <p:sp>
        <p:nvSpPr>
          <p:cNvPr id="5" name="Text 3"/>
          <p:cNvSpPr/>
          <p:nvPr/>
        </p:nvSpPr>
        <p:spPr>
          <a:xfrm>
            <a:off x="822960" y="1353312"/>
            <a:ext cx="9601200" cy="822960"/>
          </a:xfrm>
          <a:prstGeom prst="rect">
            <a:avLst/>
          </a:prstGeom>
          <a:noFill/>
          <a:ln/>
        </p:spPr>
        <p:txBody>
          <a:bodyPr wrap="square" rtlCol="0" anchor="ctr"/>
          <a:lstStyle/>
          <a:p>
            <a:pPr marL="0" indent="0">
              <a:buNone/>
            </a:pPr>
            <a:r>
              <a:rPr lang="en-US" sz="3500" b="1" dirty="0">
                <a:solidFill>
                  <a:srgbClr val="FFFFFF"/>
                </a:solidFill>
                <a:latin typeface="Cambria" pitchFamily="34" charset="0"/>
                <a:ea typeface="Cambria" pitchFamily="34" charset="-122"/>
                <a:cs typeface="Cambria" pitchFamily="34" charset="-120"/>
              </a:rPr>
              <a:t>Suggested Lab Exercises</a:t>
            </a:r>
            <a:endParaRPr lang="en-US" sz="3500" dirty="0"/>
          </a:p>
        </p:txBody>
      </p:sp>
      <p:sp>
        <p:nvSpPr>
          <p:cNvPr id="6" name="Text 4"/>
          <p:cNvSpPr/>
          <p:nvPr/>
        </p:nvSpPr>
        <p:spPr>
          <a:xfrm>
            <a:off x="822960" y="2377440"/>
            <a:ext cx="10149840" cy="3200400"/>
          </a:xfrm>
          <a:prstGeom prst="rect">
            <a:avLst/>
          </a:prstGeom>
          <a:noFill/>
          <a:ln/>
        </p:spPr>
        <p:txBody>
          <a:bodyPr wrap="square" rtlCol="0" anchor="t"/>
          <a:lstStyle/>
          <a:p>
            <a:pPr marL="342900" indent="-342900">
              <a:lnSpc>
                <a:spcPct val="132000"/>
              </a:lnSpc>
              <a:spcAft>
                <a:spcPts val="1300"/>
              </a:spcAft>
              <a:buSzPct val="100000"/>
              <a:buChar char="•"/>
            </a:pPr>
            <a:r>
              <a:rPr lang="en-US" sz="1450" dirty="0">
                <a:solidFill>
                  <a:srgbClr val="CFE8FF"/>
                </a:solidFill>
                <a:latin typeface="Calibri" pitchFamily="34" charset="0"/>
                <a:ea typeface="Calibri" pitchFamily="34" charset="-122"/>
                <a:cs typeface="Calibri" pitchFamily="34" charset="-120"/>
              </a:rPr>
              <a:t>Build an S3 “BankAccount” class with deposit/withdraw methods and a custom print method; redo it as S4 with slot validity.</a:t>
            </a:r>
            <a:endParaRPr lang="en-US" sz="1450" dirty="0"/>
          </a:p>
          <a:p>
            <a:pPr marL="342900" indent="-342900">
              <a:lnSpc>
                <a:spcPct val="132000"/>
              </a:lnSpc>
              <a:spcAft>
                <a:spcPts val="1300"/>
              </a:spcAft>
              <a:buSzPct val="100000"/>
              <a:buChar char="•"/>
            </a:pPr>
            <a:r>
              <a:rPr lang="en-US" sz="1450" dirty="0">
                <a:solidFill>
                  <a:srgbClr val="CFE8FF"/>
                </a:solidFill>
                <a:latin typeface="Calibri" pitchFamily="34" charset="0"/>
                <a:ea typeface="Calibri" pitchFamily="34" charset="-122"/>
                <a:cs typeface="Calibri" pitchFamily="34" charset="-120"/>
              </a:rPr>
              <a:t>Write a text pipeline: tokenize a paragraph, remove stopwords, compute word frequency and a simple sentiment score.</a:t>
            </a:r>
            <a:endParaRPr lang="en-US" sz="1450" dirty="0"/>
          </a:p>
          <a:p>
            <a:pPr marL="342900" indent="-342900">
              <a:lnSpc>
                <a:spcPct val="132000"/>
              </a:lnSpc>
              <a:spcAft>
                <a:spcPts val="1300"/>
              </a:spcAft>
              <a:buSzPct val="100000"/>
              <a:buChar char="•"/>
            </a:pPr>
            <a:r>
              <a:rPr lang="en-US" sz="1450" dirty="0">
                <a:solidFill>
                  <a:srgbClr val="CFE8FF"/>
                </a:solidFill>
                <a:latin typeface="Calibri" pitchFamily="34" charset="0"/>
                <a:ea typeface="Calibri" pitchFamily="34" charset="-122"/>
                <a:cs typeface="Calibri" pitchFamily="34" charset="-120"/>
              </a:rPr>
              <a:t>Read a JSON API response with jsonlite, clean text fields with gsub()/regmatches(), and write results to CSV.</a:t>
            </a:r>
            <a:endParaRPr lang="en-US" sz="1450" dirty="0"/>
          </a:p>
          <a:p>
            <a:pPr marL="342900" indent="-342900">
              <a:lnSpc>
                <a:spcPct val="132000"/>
              </a:lnSpc>
              <a:spcAft>
                <a:spcPts val="1300"/>
              </a:spcAft>
              <a:buSzPct val="100000"/>
              <a:buChar char="•"/>
            </a:pPr>
            <a:r>
              <a:rPr lang="en-US" sz="1450" dirty="0">
                <a:solidFill>
                  <a:srgbClr val="CFE8FF"/>
                </a:solidFill>
                <a:latin typeface="Calibri" pitchFamily="34" charset="0"/>
                <a:ea typeface="Calibri" pitchFamily="34" charset="-122"/>
                <a:cs typeface="Calibri" pitchFamily="34" charset="-120"/>
              </a:rPr>
              <a:t>Fetch a public dataset via url()/read.csv(), then build a 4-panel dashboard using layout() and save it as PNG.</a:t>
            </a:r>
            <a:endParaRPr lang="en-US" sz="1450" dirty="0"/>
          </a:p>
          <a:p>
            <a:pPr marL="342900" indent="-342900">
              <a:lnSpc>
                <a:spcPct val="132000"/>
              </a:lnSpc>
              <a:spcAft>
                <a:spcPts val="1300"/>
              </a:spcAft>
              <a:buSzPct val="100000"/>
              <a:buChar char="•"/>
            </a:pPr>
            <a:r>
              <a:rPr lang="en-US" sz="1450" dirty="0">
                <a:solidFill>
                  <a:srgbClr val="CFE8FF"/>
                </a:solidFill>
                <a:latin typeface="Calibri" pitchFamily="34" charset="0"/>
                <a:ea typeface="Calibri" pitchFamily="34" charset="-122"/>
                <a:cs typeface="Calibri" pitchFamily="34" charset="-120"/>
              </a:rPr>
              <a:t>Create a 3D surface or scatter plot of two numeric columns from mtcars using persp() or plot3D::scatter3D().</a:t>
            </a:r>
            <a:endParaRPr lang="en-US" sz="1450" dirty="0"/>
          </a:p>
        </p:txBody>
      </p:sp>
      <p:sp>
        <p:nvSpPr>
          <p:cNvPr id="7" name="Text 5"/>
          <p:cNvSpPr/>
          <p:nvPr/>
        </p:nvSpPr>
        <p:spPr>
          <a:xfrm>
            <a:off x="822960" y="6080760"/>
            <a:ext cx="9144000" cy="457200"/>
          </a:xfrm>
          <a:prstGeom prst="rect">
            <a:avLst/>
          </a:prstGeom>
          <a:noFill/>
          <a:ln/>
        </p:spPr>
        <p:txBody>
          <a:bodyPr wrap="square" rtlCol="0" anchor="ctr"/>
          <a:lstStyle/>
          <a:p>
            <a:pPr marL="0" indent="0">
              <a:buNone/>
            </a:pPr>
            <a:r>
              <a:rPr lang="en-US" sz="1500" i="1" dirty="0">
                <a:solidFill>
                  <a:srgbClr val="5FA8C9"/>
                </a:solidFill>
                <a:latin typeface="Calibri" pitchFamily="34" charset="0"/>
                <a:ea typeface="Calibri" pitchFamily="34" charset="-122"/>
                <a:cs typeface="Calibri" pitchFamily="34" charset="-120"/>
              </a:rPr>
              <a:t>Thank you  |  Questions &amp; Discussion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TotalTime>
  <Words>5337</Words>
  <Application>Microsoft Office PowerPoint</Application>
  <PresentationFormat>Custom</PresentationFormat>
  <Paragraphs>874</Paragraphs>
  <Slides>64</Slides>
  <Notes>46</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16</cp:revision>
  <dcterms:created xsi:type="dcterms:W3CDTF">2026-08-18T14:04:14Z</dcterms:created>
  <dcterms:modified xsi:type="dcterms:W3CDTF">2026-09-06T15:00:48Z</dcterms:modified>
</cp:coreProperties>
</file>