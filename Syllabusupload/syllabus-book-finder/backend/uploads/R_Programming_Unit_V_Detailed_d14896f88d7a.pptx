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1097280"/>
            <a:ext cx="3291840" cy="32918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2148840"/>
            <a:ext cx="2834640" cy="28346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3200400"/>
            <a:ext cx="2377440" cy="23774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4251960"/>
            <a:ext cx="1920240" cy="19202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5303520"/>
            <a:ext cx="1463040" cy="1463040"/>
          </a:xfrm>
          <a:prstGeom prst="ellipse">
            <a:avLst/>
          </a:prstGeom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283464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9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0" y="3143250"/>
            <a:ext cx="754380" cy="7543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143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 |  COURSE CODE 35021P28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57276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V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640080" y="248716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R and Statistics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0080" y="312724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Reference Deck — Syntax, Arguments and Complete Programs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657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V function with its full syntax and argument reference, plus 21 complete, runnable R programs — one detailed slide per function, one or more slides per program.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800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CO5 — Learn Big Data and apply R for statistical and interfacing tasks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53492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sections   •   26 functions with syntax &amp; arguments   •   21 complete programs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172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Interfacing R to Other Languages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expressive for statistical analysis but interpreted, so CPU-intensive numeric loops are often much slower than the same logic in a compiled language. R provides several ways to call out to compiled C/C++ code and to Python, so R stays the analysis/orchestration layer while performance-critical code runs natively — directly supporting Big Data pipelines.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functions with syntax &amp; arguments   •   3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.C(.NAME, ..., NAOK = FALSE, DUP = TRUE, PACKAGE, ENCODING)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compiled C function to invoke, as a character string (or native symbol).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 passed to the C function — typically coerced with as.double()/as.integer(). Results return via these arguments (call-by-reference).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NAOK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Logical. If FALSE (default), NA/NaN/Inf in the arguments raises an error.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retained for compatibility — arguments are duplicated before being passed.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PACKAGE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string naming the package the C symbol belongs 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.C() is the simplest, oldest interface to compiled C code — every argument is a pointer and results come back through the argument list. Easy for simple numeric kernels but more overhead than .Call().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.Call() and dyn.load()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.Call(.NAME, ...) dyn.load(x, local = TRUE, now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.Call(): compiled function registered as a .Call routine.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.Call(): R objects passed directly as SEXP pointers — no forced coercion/copy.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dyn.load(): path to the shared library to load, e.g. "add.so" or "add.dll".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.Call() works directly with R's internal SEXP representation, avoiding .C()'s copy overhead and handling complex objects. dyn.load() loads the compiled shared library (built with R CMD SHLIB) before .C()/.Call() can find it.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1: Interfacing R with C — Vector Addition via .C()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 C routine that adds two vectors element-wise, load it, and call it with .C().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>
              <a:gd name="adj" fmla="val 167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File: add.c  (compile: R CMD SHLIB add.c) */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addVec(double *x, double *y, int *n, double *out)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*n; i++) out[i] = x[i] + y[i];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R script ----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dyn.load("add.so")            # "add.dll" on Windows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c(1.5, 2.5, 3.5, 4.5); y &lt;- c(10, 20, 30, 40)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length(x)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.C("addVec", as.double(x), as.double(y),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as.integer(n), out = double(n))$out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          # 11.5 22.5 33.5 44.5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dyn.unload("add.so")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CMD SHLIB compiles add.c; dyn.load() exposes addVec() to R. .C() passes x, y, n and a pre-allocated out buffer; $out extracts the filled result. Big Data numeric kernels routinely see a 10-100x speed-up this way.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cppFunction()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cppFunction(code, depends = character(), includes = character(), plugins = character(), rebuild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FALSE)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string containing the complete C++ source to compile and expose to 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depends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of other R packages this code depends on (e.g. "RcppArmadillo").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C++ lines (such as #include) inserted before the function definition.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Rcpp plugins to enable, e.g. "cpp11".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rebuild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force recompilation even if a cached version exists.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Rcpp is the modern, preferred R-C++ interface. cppFunction() compiles an inline C++ snippet into a callable R function; sourceCpp("file.cpp") does the same for // [[Rcpp::export]] functions in an external file. Rcpp auto-generates the .Call() glue and handles R ↔ C++ type conversion.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2: Rcpp — Fast Vector Sum and Squared-Distance Kernel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two small C++ functions with Rcpp and call them from 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>
              <a:gd name="adj" fmla="val 2375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library(Rcpp)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cppFunction("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sumC(NumericVector x)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double total = 0; int n = x.size();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i = 0; i &lt; n; i++) total += x[i];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total;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2: Rcpp — Fast Vector Sum and Squared-Distance Kernel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697353"/>
          </a:xfrm>
          <a:prstGeom prst="rect">
            <a:avLst>
              <a:gd name="adj" fmla="val 2034"/>
            </a:avLst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cppFunction("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NumericVector sqDiffC(NumericVector x, double center)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 = x.size(); NumericVector out(n);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(int i = 0; i &lt; n; i++) out[i] = pow(x[i]-center, 2);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out;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set.seed(1); v &lt;- runif(1e7)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system.time(sumC(v))          # near-zero overhead vs. sum(v)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head(sqDiffC(v, mean(v)))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61561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6156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cppFunction() compiles each block into a shared library the first time it runs (cached afterwards). For loops that can't be vectorised in R, Rcpp routinely gives 20-100x speed-ups — the standard choice for performance-critical Big Data kernels.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import(module, as = NULL, convert = TRUE, delay_load = FALSE)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Python module to import, e.g. "numpy".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local alias, e.g. np &lt;- import("numpy", as = "np").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whether returned Python objects auto-convert to R equivalents.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delay_load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defer loading until first used.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reticulate embeds a Python interpreter inside R, so Python modules/functions/objects can be used directly from R, and R data can be passed to Python and back.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source_python() / r_to_py() / py_to_r()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source_python(file, envir = parent.frame()) r_to_py(x) py_to_r(x)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a .py script; its top-level functions/variables become R objects after sourcing.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environment the sourced objects are assigned into.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 object / Python object to convert to the other language's representation.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source_python() is the most direct route to reuse an existing Python script as if it were native R. r_to_py()/py_to_r() explicitly convert a single object between representations.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R TO OTHER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3: reticulate — Calling a Python Function and NumPy from 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Python model function into R and drive NumPy interactively.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>
              <a:gd name="adj" fmla="val 1497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model.py ----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predict_price(area_sqft):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2500 + 120 * area_sqft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R script ----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library(reticulate)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source_python("model.py")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predict_price(1200)              # 146500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 &lt;- import("numpy")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&lt;- np$array(c(4, 9, 16, 25))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np$sqrt(arr)                     # 2 3 4 5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 &lt;- import("pandas")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py_df   &lt;- r_to_py(mtcars)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back_df &lt;- py_to_r(py_df)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>
              <a:gd name="adj" fmla="val 9595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source_python() makes predict_price() callable exactly like an R function; import() gives handle-style module access (np$sqrt() mirrors Python's np.sqrt()); r_to_py()/py_to_r() round-trip a full data frame between R and Python.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2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R executes on a single core. Parallel R spreads independent computations across CPU cores or machines, cutting wall-clock time roughly in proportion to the number of workers used. The parallel package offers forking (mclapply, Unix/macOS only) and socket clusters (makeCluster + parLapply, cross-platform).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detectCores()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detectCores(all.tests = FALSE, logical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all.tests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run extra heuristics on unusual platforms to determine core count.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logical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(default) counts logical/hyperthreaded cores; FALSE counts physical cores only.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57200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number of CPU cores available — normally used to decide worker count (commonly detectCores() - 1).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makeCluster() / stopCluster()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makeCluster(spec, type = getClusterOption("type"), ...) stopCluster(cl)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number of local worker processes, or a character vector of remote machine names.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"PSOCK" (socket cluster, cross-platform, default) or "FORK" (Unix-only, shared memory).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(stopCluster) The cluster object to shut down.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makeCluster() starts worker R processes and returns a cluster object; stopCluster(cl) must always be called when done, to release resources.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parLapply() / parSapply()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parLapply(cl, X, fun, ...) / parSapply(cl, X, FUN, ..., simplify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cluster object returned by makeCluster().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vector or list; the function is applied once per element, in parallel.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 / FUN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 applied to each element of 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simplify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(parSapply) Logical; simplify the result to a vector/matrix when possible.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parallel, cluster-based equivalents of lapply()/sapply(): the same function is applied to every element of X, distributed across the cluster's workers.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clusterExport() / mclapply()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varlist, envir = .GlobalEnv) mclapply(X, FUN, ..., mc.cores = 2L)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varlist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clusterExport(): character vector of variable/function names to copy to every worker.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envir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clusterExport(): environment those objects are looked up in.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mc.cores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mclapply(): number of cores (child processes) to fork.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clusterExport() copies objects socket workers need (they start with an empty environment). mclapply() forks the current process instead — workers automatically share memory via copy-on-write, so no export is needed — but it only works on Unix/Linux/macOS.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4: parLapply() — Parallel Squaring Across a Socket Cluster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cluster, export what workers need, run in parallel, and clean up.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>
              <a:gd name="adj" fmla="val 167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library(parallel)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no_cores &lt;- detectCores() - 1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&lt;- makeCluster(no_cores)         # cross-platform socket cluster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&lt;- function(x) x ^ 2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 = c("square"))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parLapply(cl, 1:20, square)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print(unlist(result))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big_result &lt;- parSapply(cl, 1:1e6, square)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cat('Length:', length(big_result),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stopCluster(cl)                     # always release workers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parLapply() returns a list; parSapply() simplifies to a vector/matrix. Forgetting clusterExport() is the most common bug — workers are separate processes and can't see square() otherwise.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5: Benchmark — mclapply() (Forking) vs. Socket Cluster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π via Monte Carlo sampling, comparing sequential, forked, and socket-cluster execution.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1922653"/>
          </a:xfrm>
          <a:prstGeom prst="rect">
            <a:avLst>
              <a:gd name="adj" fmla="val 285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492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library(parallel)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mc_pi &lt;- function(n)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&lt;- runif(n); y &lt;- runif(n)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 * sum(x^2 + y^2 &lt;= 1) / n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&lt;- 5e6; reps &lt;- 8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5: Benchmark — mclapply() (Forking) vs. Socket Cluster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503678"/>
          </a:xfrm>
          <a:prstGeom prst="rect">
            <a:avLst>
              <a:gd name="adj" fmla="val 2191"/>
            </a:avLst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073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t_seq  &lt;- system.time(sapply(1:reps, function(i) mc_pi(n)))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t_fork &lt;- system.time(mclapply(1:reps, function(i) mc_pi(n),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mc.cores = detectCores() - 1))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&lt;- makeCluster(detectCores() - 1)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clusterExport(cl, varlist = c("mc_pi"))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t_sock &lt;- system.time(parSapply(cl, 1:reps, function(i) mc_pi(n)))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stopCluster(cl)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cat('Seq:', t_seq[3], ' Fork:', t_fork[3], ' Sock:', t_sock[3], '\n')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167886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167886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mclapply() needs no clusterExport() (forked children inherit the parent's memory) and is fastest to launch on Linux/macOS, but is unavailable on Windows. Socket clusters work everywhere but need clusterExport() and have more overhead.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3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Statistics in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ships with built-in functions for every core descriptive statistic, making it straightforward to profile a numeric variable before any modelling is attempted.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IN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Statistics in 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mean(x, trim=0,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mean of x; trim removes a fraction of extreme values from each 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median(x,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middle value of x when sorted (50th percentile).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var(x, na.rm=FALSE) / sd(x, na.rm=FALSE)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variance / standard deviation of 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quantile(x, probs=seq(0,1,0.25))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quantiles at the given probabilities (default: min, Q1, median, Q3, max).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summary(object)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overview: min, Q1, median, mean, Q3, max.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cor(x, y, method="pearson")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coefficient; method: "pearson", "kendall" or "spearman".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33288"/>
            <a:ext cx="11064240" cy="621792"/>
          </a:xfrm>
          <a:prstGeom prst="rect">
            <a:avLst>
              <a:gd name="adj" fmla="val 7353"/>
            </a:avLst>
          </a:prstGeom>
          <a:solidFill>
            <a:srgbClr val="EDF3F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5733288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has no built-in mode() for the statistical mode — mode() returns an object's storage type instead. The mode of a vector is computed via table(), as shown below.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IN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6: Descriptive Statistics on a Numeric Vector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every core descriptive statistic on a sample dataset.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>
              <a:gd name="adj" fmla="val 167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&lt;- c(72,85,90,65,88,76,90,95,60,82,90,77)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cat('Mean    :', mean(scores),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cat('Median  :', median(scores),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mode_val &lt;- names(sort(table(scores), decreasing = TRUE))[1]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cat('Mode    :', mode_val,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cat('Variance:', var(scores),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cat('Std Dev :', sd(scores),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print(quantile(scores))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print(summary(scores))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&lt;- c(88,92,95,70,91,80,93,98,65,85,94,79)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cat('Correlation:', cor(scores, attendance), '\n')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summary() is the fastest single call to profile a variable; cor() close to +1/-1 indicates a strong linear relationship, near 0 indicates little linear association.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4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provides a formal framework for deciding whether an observed effect in sample data is likely to reflect a real effect in the population, or could plausibly be due to chance.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hypothesis (H0)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claim of “no effect / no difference” that the test tries to disprove.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hypothesis (H1)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claim accepted if H0 is rejected.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data this extreme if H0 were true; small p-value = evidence against H0.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(commonly 0.05) below which the p-value leads to rejecting H0.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Rejecting H0 when it is actually true (“false positive”); probability = 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to reject H0 when it is actually false (“false negative”); probability = β.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t.test(x, y = NULL, alternative = c("two.sided","less","greater"), mu = 0, paired = FALSE,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var.equal = FALSE, conf.level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x, 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vectors. If y is omitted, a one-sample test against mu is performed.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alternative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two-sided, or that the true mean is less/greater than mu.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Hypothesised mean (one-sample) or mean difference (two-sample).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paired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perform a paired t-test.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var.equal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TRUE uses pooled-variance (Student's) test, else Welch's correction.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mean of one sample differs from a fixed value, or whether the means of two samples differ.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chisq.test() / cor.test()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chisq.test(x, y = NULL, correct = TRUE) cor.test(x, y, method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c("pearson","kendall","spearman"))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chisq.test(): a factor or contingency table of counts.  cor.test(): a numeric vector.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factor (chisq.test) or numeric vector (cor.test) to compare against 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apply Yates' continuity correction for 2×2 tables.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correlation coefficient to compute and test.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chisq.test() tests independence/association between categorical variables (or goodness-of-fit). cor.test() tests whether the correlation between x and y is significantly different from zero.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7: t-test, Chi-square Test and Correlation Test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three tests with interpretation of each result.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084703"/>
          </a:xfrm>
          <a:prstGeom prst="rect">
            <a:avLst>
              <a:gd name="adj" fmla="val 1779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654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class_A &lt;- rnorm(30, 72, 8); class_B &lt;- rnorm(30, 76, 9)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 &lt;- t.test(class_A, class_B)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print(t_result)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  &lt;- sample(c('M','F'), 200, replace = TRUE)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 &lt;- sample(c('Yes','No'), 200, replace = TRUE, prob = c(.4,.6))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 &lt;- table(gender, purchase)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print(chisq.test(tbl))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 &lt;- c(2,4,6,8,3,5,7,9,1,6)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exam_score  &lt;- c(55,63,72,85,58,68,78,90,50,74)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print(cor.test(study_hours, exam_score, method = 'pearson'))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279263"/>
            <a:ext cx="11064240" cy="457200"/>
          </a:xfrm>
          <a:prstGeom prst="rect">
            <a:avLst>
              <a:gd name="adj" fmla="val 10000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279263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case: p-value &lt; α (commonly 0.05) means the result is statistically significant, so H0 is rejected.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aov() / TukeyHSD()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aov(formula, data, subset, na.action) TukeyHSD(x, which, conf.level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y ~ group (one-way) or y ~ factorA * factorB (two-way, with interaction).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TukeyHSD(): a fitted aov() model object.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TukeyHSD(): which factor(s) to compute pairwise comparisons for.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aov() fits an ANOVA model, testing whether a numeric response's mean differs across factor levels. TukeyHSD() runs a post-hoc test finding which specific group pairs differ, controlling the family-wise error rate.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8: One-Way and Two-Way ANOVA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crop yield across fertilizer types (one-way) and fertilizer × irrigation (two-way).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>
              <a:gd name="adj" fmla="val 1898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set.seed(7)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crop_data &lt;- data.frame(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fertilizer = rep(c('A','B','C'), each = 20),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irrigation = rep(c('Low','High'), times = 30),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= c(rnorm(20,40,5), rnorm(20,46,5), rnorm(20,52,5))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model1 &lt;- aov(yield ~ fertilizer, data = crop_data)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print(summary(model1))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print(TukeyHSD(model1))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model2 &lt;- aov(yield ~ fertilizer * irrigation, data = crop_data)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print(summary(model2))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one-way model's p-value (Pr(&gt;F)) tests whether fertilizer type affects yield at all; TukeyHSD() then identifies which pairs (A-B, A-C, B-C) differ significantly. The two-way model adds irrigation and the fertilizer×irrigation interaction.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5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Model — lm()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models a numeric response as a weighted sum of predictors plus random error: simple regression uses one predictor (y = β0 + β1x + ε), multiple regression uses several.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functions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lm(formula, data, subset, weights, na.action, method = "qr")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y ~ x1 + x2 (multiple regression) or y ~ . (all other columns as predictors).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specifying a subset of rows to fit 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of weights for weighted least squares.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na.action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missing values are handled (default: drop incomplete rows).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6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fitting method; "qr" (QR decomposition) is the default.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ordinary least-squares linear model. The result supports summary() (coefficients, R², p-values), predict(), residuals() and plot() (diagnostics).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predict(object, newdata, interval = c("none","confidence","prediction"), level = 0.95)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fitted model, e.g. from lm() or glm().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 frame of new predictor values.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interval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"confidence" (mean response) or "prediction" (a new observation).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level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level for the interval.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fitted/predicted values for new data, optionally with an interval expressing prediction uncertainty.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LM()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9: Multiple Linear Regression — Full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interpret, diagnose, and predict with lm() on the built-in mtcars dataset.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>
              <a:gd name="adj" fmla="val 1898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 + hp + cyl, data = mtcars)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par(mfrow = c(2,2)); plot(model)     # 4-panel diagnostics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new_car &lt;- data.frame(wt = 3.0, hp = 120, cyl = 6)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print(predict(model, newdata = new_car, interval = 'confidence'))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&lt;- sqrt(mean(residuals(model)^2))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&lt;- summary(model)$r.squared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cat('RMSE:', RMSE, ' R-squared:', R2, '\n')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coefficient's Estimate is the expected change in mpg per unit change in that predictor (others fixed); Pr(&gt;|t|) &lt; 0.05 marks a significant predictor; Multiple R-squared is the variance explained. plot(model) checks linearity, normality, variance, and influence.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6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 Linear Models (GLM)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GLMs extend linear regression to response variables that are not normally distributed (binary outcomes, counts, …) by relating the mean of the response to the predictors through a link function.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function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glm(formula, family = gaussian, data, weights, subset, na.action)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formula, e.g. y ~ x1 + x2.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family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binomial() for logistic regression, poisson() for count data, gaussian() (the lm() case),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prior weights for the fit.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vector specifying a subset of rows.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binomial(link="logit") fits logistic regression (predict(type="response") gives probabilities). family = poisson(link="log") fits Poisson regression for count outcomes.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10: Logistic Regression — Classification, Confusion Matrix, ROC  (1/2)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logistic regression, classify a held-out test set, and evaluate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>
              <a:gd name="adj" fmla="val 2375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set.seed(11); n &lt;- 300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&lt;- round(rnorm(n,45,12)); bmi &lt;- round(rnorm(n,27,4),1)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&lt;- round(rnorm(n,110,20))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&lt;- -8 + .05*age + .10*bmi + .04*glucose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 &lt;- rbinom(n, 1, plogis(risk))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&lt;- data.frame(age, bmi, glucose, disease)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&lt;- sample(1:n, .7*n)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patients[idx,]; test &lt;- patients[-idx,]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10: Logistic Regression — Classification, Confusion Matrix, ROC 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11064240" cy="2697353"/>
          </a:xfrm>
          <a:prstGeom prst="rect">
            <a:avLst>
              <a:gd name="adj" fmla="val 2034"/>
            </a:avLst>
          </a:prstGeom>
          <a:solidFill>
            <a:srgbClr val="0D1B2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7190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7190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152144" y="17190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38528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glm(disease ~ age+bmi+glucose, data=train, family=binomial)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&lt;- predict(model, newdata=test, type='response')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&lt;- ifelse(prob &gt; 0.5, 1, 0)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&lt;- table(Predicted=pred, Actual=test$disease)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print(confusion)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cat('Accuracy:', sum(diag(confusion))/sum(confusion),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library(pROC)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roc_obj &lt;- roc(test$disease, prob)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cat('AUC:', auc(roc_obj), '\n')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61561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6156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binomial gives log-odds coefficients (exp(coef()) = odds ratios). The confusion matrix's diagonal is correct predictions; AUC close to 1 indicates a strong classifier (0.5 = no better than chance).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LINEAR MODELS (GLM)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11: Poisson Regression — Modelling Count Data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Poisson GLM to a count outcome (website visits per user per day).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>
              <a:gd name="adj" fmla="val 1898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set.seed(21); n &lt;- 200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ad_spend &lt;- round(runif(n,0,100),1)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 &lt;- rbinom(n,1,0.3)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&lt;- exp(0.5 + 0.02*ad_spend + 0.4*is_weekend)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 &lt;- rpois(n, lambda)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 &lt;- data.frame(ad_spend, is_weekend, visits)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glm(visits ~ ad_spend + is_weekend, data=web_data, family=poisson)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new_day &lt;- data.frame(ad_spend = 50, is_weekend = 1)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predict(model, newdata = new_day, type = 'response')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= poisson uses a log link, so exp(coefficient) gives the multiplicative effect of a one-unit predictor increase on the expected count. type="response" converts back to an actual expected count.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7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 Models — nls()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relationships cannot be expressed as a linear combination of parameters. nls() fits such models by non-linear least squares using the Gauss–Newton algorithm, which iteratively linearizes the model around current parameter estimates. Good starting values are essential for convergence.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function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— NLS()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nls(formula, data, start, control = nls.control(), algorithm = "default")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non-linear model formula, e.g. y ~ Asym/(1+exp((xmid-x)/scal)).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frame containing the variables in formula.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list giving the starting value for every parameter — critical for convergence.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nls.control() object setting iteration limits, tolerance, etc.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"default" (Gauss-Newton), "plinear" or "port".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model non-linear in its parameters. The model shape must be given explicitly, and optimisation needs reasonable initial values to converge to the right solution.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— NLS()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12: Logistic Growth Curve with nls()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an S-shaped growth curve (population over time) and plot 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472053"/>
          </a:xfrm>
          <a:prstGeom prst="rect">
            <a:avLst>
              <a:gd name="adj" fmla="val 1580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042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&lt;- 2000:2020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&lt;- c(1000,1080,1170,1280,1400,1550,1720,1920,2150,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2400,2680,2980,3300,3620,3930,4220,4480,4700,4880,5010,5100)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growth_data &lt;- data.frame(year, population)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growth_model &lt;- nls(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population ~ Asym / (1 + exp((xmid - year)/scal)),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growth_data,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list(Asym = 5200, xmid = 2010, scal = 3)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print(summary(growth_model))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plot(growth_data$year, growth_data$population)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lines(growth_data$year, predict(growth_model), col='blue', lwd=2)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predict(growth_model, newdata = data.frame(year = 2025))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666613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666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 is the estimated upper asymptote (carrying capacity), xmid the year of fastest growth, scal the steepness. summary() reports each parameter's estimate, standard error and significance, like lm().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8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and Autocorrelation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series is a sequence of observations indexed in time order. R's ts() class attaches time information to a numeric vector; from there, decomposition, autocorrelation analysis and ARIMA modelling support trend/seasonality detection and forecasting.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4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ts() / decompose()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ts(data, start, end, frequency, deltat) decompose(x, type = c("additive","multiplicative"))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numeric vector (or matrix) of observed values, in time order.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of the first observation, e.g. c(2020, 1) for January 2020.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frequency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per unit of time — 12 monthly, 4 quarterly, 7 daily-weekly.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decompose(): a ts object with frequency &gt; 1.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decompose(): additive or multiplicative seasonal effects.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ts() wraps a plain vector with time metadata. decompose() splits a series into trend, seasonal and random components via moving averages — the standard first step before forecasting.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13: Creating and Decomposing a Monthly Time Series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monthly sales series and decompose it into trend, seasonal and random components.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>
              <a:gd name="adj" fmla="val 203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set.seed(3)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&lt;- seq(200, 400, length.out = 48)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 &lt;- rep(c(20,10,-5,-15,-10,5,15,25,10,-5,-15,-20), 4)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sales_data &lt;- trend + seasonal + rnorm(48, 0, 8)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sales_ts &lt;- ts(sales_data, start = c(2020,1), frequency = 12)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plot.ts(sales_ts, main = 'Monthly Sales')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 &lt;- decompose(sales_ts)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plot(components)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print(components$trend); print(components$seasonal)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components$trend shows the long-run direction with seasonality smoothed out; components$seasonal shows the repeating month-to-month pattern — confirming seasonality is exactly why the forecast model must account for 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acf() / pacf() / adf.test()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acf(x, lag.max=NULL, plot=TRUE) pacf(x, lag.max=NULL, plot=TRUE) adf.test(x,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alternative="stationary") [pkg: tseries]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univariate time series.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lag.max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maximum lag to compute/plot.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draw the correlogram, or return numeric values if FALSE.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alternative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adf.test(): stationary (default) or explosive.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acf() measures correlation with the series' own past values (suggests MA(q) order); pacf() measures correlation after removing shorter-lag effects (suggests AR(p) order). adf.test()'s H0 is non-stationary — p &lt; 0.05 lets us reject H0 and treat the series as stationary.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14: Autocorrelation and Stationarity Check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ACF, PACF, and test stationarity on the sales series from Program 13.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>
              <a:gd name="adj" fmla="val 203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acf(sales_ts, main = 'ACF of Sales')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pacf(sales_ts, main = 'PACF of Sales')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library(tseries)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adf_result &lt;- adf.test(sales_ts)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print(adf_result)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(adf_result$p.value &gt; 0.05) {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sales_diff &lt;- diff(sales_ts)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print(adf.test(sales_diff))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cat('Series is stationary\n')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p-value is above 0.05, diff() removes the trend by first-differencing; the series is re-tested until stationary. The number of differences applied becomes ARIMA's "d" parameter.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auto.arima() / forecast() / accuracy()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auto.arima(y, seasonal=TRUE, ic=c("aicc","aic","bic")) forecast(object, h=10) accuracy(f, x)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[pkg: forecast]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/ object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time series / fitted model to forecast from.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seasonal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whether to consider seasonal (SARIMA) terms.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criterion used to choose between candidate models.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forecast(): the horizon — how many future periods to predict.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221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f, 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accuracy(): the forecast object, and actual values to compare against.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searches ARIMA(p,d,q) combinations and returns the model with lowest information criterion. forecast() produces point forecasts with prediction intervals; accuracy() reports RMSE/MAE/MAPE against actual data.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15: Complete ARIMA Forecasting Workflow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check, differencing, ACF/PACF, model fit, residual check, and forecasting — end to end.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697353"/>
          </a:xfrm>
          <a:prstGeom prst="rect">
            <a:avLst>
              <a:gd name="adj" fmla="val 203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267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library(forecast); library(tseries)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print(adf.test(sales_ts))                # 1. Stationarity check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sales_diff &lt;- diff(sales_ts)              # 2. Differencing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acf(sales_diff); pacf(sales_diff)         # 3. ACF / PACF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auto.arima(sales_ts, seasonal = TRUE)   # 4. Fit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print(fit)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checkresiduals(fit)                       # 5. Residual diagnostics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&lt;- forecast(fit, h = 12)                # 6. Forecast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plot(fc); print(fc)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891913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89191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auto.arima() determines d (and D for seasonal) automatically, so steps 1-2 are shown for understanding. checkresiduals() plots the residual ACF and runs a Ljung-Box test — a non-significant result (p &gt; 0.05) confirms residuals are white noise.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ets(y, model = "ZZZ", damped = NULL) [pkg: forecast]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time series to model.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3-letter code for (Error, Trend, Seasonal): A/M/N/Z per component; Z = auto-select (default).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damped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Logical; use a damped trend (NULL lets the function decide).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 Exponential Smoothing State-Space model, automatically choosing error/trend/seasonal components by AICc — an ARIMA alternative that's often simpler to tune and very competitive for business series.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AND AUTOCORRELATION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16: Comparing ETS and ARIMA Forecast Accuracy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both model families on the same training data and compare accuracy on a held-out test window.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891028"/>
          </a:xfrm>
          <a:prstGeom prst="rect">
            <a:avLst>
              <a:gd name="adj" fmla="val 1898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46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library(forecast)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window(sales_ts, end = c(2023,6))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&lt;- window(sales_ts, start = c(2023,7))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fit_arima &lt;- auto.arima(train)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fc_arima  &lt;- forecast(fit_arima, h = length(test))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fit_ets &lt;- ets(train)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fc_ets  &lt;- forecast(fit_ets, h = length(test))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print(accuracy(fc_arima, test))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print(accuracy(fc_ets, test))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8558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08558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accuracy() reports RMSE/MAE/MAPE for both fits; the model with lower MAPE/RMSE on the held-out test window (out-of-sample) is preferred over relying on in-sample fit alone.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object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9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groups unlabeled observations so points within a cluster are more similar to each other than to points in other clusters. R provides both partition-based (k-means) and hierarchical approaches.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functions with syntax &amp; arguments   •   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kmeans()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676656"/>
          </a:xfrm>
          <a:prstGeom prst="rect">
            <a:avLst>
              <a:gd name="adj" fmla="val 6757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kmeans(x, centers, iter.max = 10, nstart = 1, algorithm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c("Hartigan-Wong","Lloyd","Forgy","MacQueen"))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0779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numeric matrix/data frame of observations (typically scaled first).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centers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clusters k, or a matrix of initial centers.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iter.max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iterations allowed for convergence.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5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nstart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random initial configurations to try, keeping the best (lowest WSS).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data into k clusters by iteratively assigning points to the nearest centroid, minimising total within-cluster sum of squares. $cluster gives assignments, $centers the centroids, $tot.withinss the WSS used by the elbow method.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17: k-means Clustering with the Elbow Method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data, choose k via the elbow method, fit k-means, and visualise clusters.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278378"/>
          </a:xfrm>
          <a:prstGeom prst="rect">
            <a:avLst>
              <a:gd name="adj" fmla="val 1674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284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set.seed(5)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customer_data &lt;- data.frame(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income   = c(rnorm(50,30,5), rnorm(50,60,6), rnorm(50,90,7), rnorm(50,45,5)),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spending = c(rnorm(50,20,5), rnorm(50,70,8), rnorm(50,30,6), rnorm(50,55,7))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scaled_data &lt;- scale(customer_data)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 &lt;- sapply(1:10, function(k) kmeans(scaled_data,k,nstart=25)$tot.withinss)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plot(1:10, wss, type='b', xlab='k', ylab='WSS')     # elbow method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&lt;- kmeans(scaled_data, centers = 4, nstart = 25)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print(table(km$cluster))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plot(scaled_data, col = km$cluster, pch = 19)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points(km$centers, col = 1:4, pch = 8, cex = 2)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472938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7293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plots WSS against k; the point where WSS stops decreasing sharply is the optimal k. nstart=25 re-runs from 25 random starts, avoiding a poor local optimum.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dist() / hclust() / cutree()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dist(x, method = "euclidean") hclust(d, method = "complete") cutree(tree, k = NULL, h = NULL)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/ method (dist)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 measure; distance metric ("euclidean", "manhattan", ...).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/ method (hclust)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distance matrix; linkage criterion ("complete", "average", "ward.D2", ...).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cutree(): a fitted hclust object.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 / 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cutree(): desired number of clusters, or the height to cut at instead.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dist() computes pairwise distances; hclust() builds a dendrogram by successively merging the closest clusters; cutree() cuts the dendrogram into flat cluster labels.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18: Hierarchical Clustering with Dendrogram Visualisation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cut a dendrogram on the same customer data used for k-means.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2310003"/>
          </a:xfrm>
          <a:prstGeom prst="rect">
            <a:avLst>
              <a:gd name="adj" fmla="val 2375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1880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&lt;- dist(scaled_data, method = 'euclidean')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 &lt;- hclust(d, method = 'ward.D2')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plot(hc, labels = FALSE, main = 'Customer Dendrogram')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&lt;- cutree(hc, k = 4)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rect.hclust(hc, k = 4, border = 'red')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print(table(clusters))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print(table(kmeans = km$cluster, hierarchical = clusters))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504563"/>
            <a:ext cx="11064240" cy="640080"/>
          </a:xfrm>
          <a:prstGeom prst="rect">
            <a:avLst>
              <a:gd name="adj" fmla="val 7143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504563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methods (complete, average, ward.D2, single) change how inter-cluster distance is measured; ward.D2 tends to produce compact, evenly sized clusters. The final table shows how closely the two methods agree.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 k-means vs. Hierarchical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object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(hclust)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Partition-based; assigns points to k centroids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a tree by successively merging 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Pre-specify k?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via elbow / silhouette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-- k chosen later by cutting the dendrogram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on large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for very large n (distance matrix O(n²))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set of k 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 showing nested cluster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Big, spherical clusters; Big Data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Small/medium data; exploratory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10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and 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is, by default, a single-machine, largely in-memory tool. When data outgrows a single machine's RAM, R connects to specialised packages and distributed systems rather than replacing them, acting as the statistical/analytics layer on top.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 with syntax &amp; arguments   •   1 complete program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data.table syntax — DT[i, j, by]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DT[i, j, by] fread(file, sep = "auto", header = "auto")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selection/filtering, e.g. DT[age &gt; 30, 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selection or computation, e.g. DT[, .(avg = mean(salary))].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 variable(s) for the computation in j.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3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fread(): path to the file — a very fast replacement for read.csv().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data.table's dt[i, j, by] syntax filters, computes and groups in one call using highly optimised C code — dramatically faster and more memory-efficient than base data frames on large tables.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dplyr verbs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filter(.data, ...) mutate(.data, ...) summarise(.data, ...) group_by(.data, ...) %&gt;%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rows matching a logical condition.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mutate()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or transforms columns.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summarise()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Collapses each group to one row of summary statistics.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group_by()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rows for subsequent summarise()/mutate().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%&gt;% / |&gt;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pipe operator; chains operations left-to-right.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577840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 offers a readable, verb-based grammar for the same filter/transform/aggregate operations, prioritising clarity — often used together with data.table in a Big Data pipeline.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 package / RHadoop (rmr2)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ffdf(...) read.csv.ffdf(file, ...) mapreduce(input, map, reduce) keyval(key, value)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 (ffdf)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ff vectors making up the data frame's columns.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(read.csv.ffdf)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the CSV file to import.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input, map, reduce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rmr2: input data path on HDFS; the map function(key,value); the reduce function(key,values).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ff package stores data on disk (memory-mapped) so datasets larger than RAM can be processed in chunks. RHadoop's rmr2 lets R express a MapReduce job and submit it to a Hadoop cluster; rhdfs reads/writes HDFS directly.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11064240" cy="502920"/>
          </a:xfrm>
          <a:prstGeom prst="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55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sparkR.session(master, appName) read.df(path, source) spark.lapply(list, func)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1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34056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master, appName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cluster URL to connect to, and an application name.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path, source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format (e.g. "csv", "parquet") of data to load as a distributed Spark DataFrame.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list, func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 to distribute across the cluster, and the function to run on each element in parallel.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38928"/>
            <a:ext cx="11064240" cy="777240"/>
          </a:xfrm>
          <a:prstGeom prst="rect">
            <a:avLst>
              <a:gd name="adj" fmla="val 5882"/>
            </a:avLst>
          </a:prstGeom>
          <a:solidFill>
            <a:srgbClr val="EDF3F8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389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SparkR (and sparklyr) give R an interface to Apache Spark for distributed, in-memory computation — far faster than disk-based Hadoop MapReduce for iterative algorithms. Map applies a function to each chunk in parallel; Reduce aggregates the results.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AND 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19: data.table and dplyr — Fast Grouped Aggregation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program (no cluster needed) demonstrating both styles of fast, large-table manipulation.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472053"/>
          </a:xfrm>
          <a:prstGeom prst="rect">
            <a:avLst>
              <a:gd name="adj" fmla="val 1580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042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library(data.table); library(dplyr)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set.seed(9); n &lt;- 200000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&lt;- data.table(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sample(c('North','South','East','West'), n, replace=TRUE),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= round(runif(n, 10, 500), 2)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data.table syntax: DT[i, j, by]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region_summary &lt;- sales[amount &gt; 50, .(total=sum(amount), avg=mean(amount)), by=region]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print(region_summary)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dplyr pipeline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region_summary_dplyr &lt;- sales %&gt;% filter(amount &gt; 50) %&gt;%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group_by(region) %&gt;% summarise(total=sum(amount), avg=mean(amount))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print(region_summary_dplyr)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666613"/>
            <a:ext cx="11064240" cy="670179"/>
          </a:xfrm>
          <a:prstGeom prst="rect">
            <a:avLst>
              <a:gd name="adj" fmla="val 6822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666613"/>
            <a:ext cx="10698480" cy="670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produce the same grouped totals per region for orders above 50. data.table is typically fastest on very large in-memory tables; dplyr's verb chain is often preferred for readability. On data too large for RAM, the same logic moves to SparkR/sparklyr or an RHadoop mapreduce() job.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E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651760"/>
            <a:ext cx="1737360" cy="1737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3466" y="3042666"/>
            <a:ext cx="955548" cy="955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—  SECTION 11 OF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423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End-to-End Programs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programs combine the techniques above into complete, exam-ready workflows: a general predictive-analytics pipeline, and a full statistical analysis report.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56235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complete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END-TO-END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20: Predictive Analytics Pipeline in 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six-step pipeline: load, preprocess, fit, evaluate, predict, and visualise.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>
              <a:gd name="adj" fmla="val 1497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data(mtcars); df &lt;- na.omit(mtcars)      # 1-2. Load &amp; preprocess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df$cyl &lt;- as.factor(df$cyl)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&lt;- sample(1:nrow(df), .75*nrow(df))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df[idx,]; test &lt;- df[-idx,]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wt+hp+cyl, data=train)        # 3. Fit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pred_test &lt;- predict(model, newdata=test)        # 4. Evaluate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&lt;- sqrt(mean((test$mpg-pred_test)^2))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&lt;- 1 - sum((test$mpg-pred_test)^2)/sum((test$mpg-mean(test$mpg))^2)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cat('Test RMSE:', RMSE, ' R2:', R2, '\n')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new_car &lt;- data.frame(wt=3.2, hp=150, cyl=factor(6, levels=levels(df$cyl)))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predict(model, newdata = new_car)                # 5. Predict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plot(model, which = 1)                           # 6. Visualise residuals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>
              <a:gd name="adj" fmla="val 9595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six-step design mirrors any supervised modelling task in R and generalises directly to glm() (classification), nls() (non-linear) or a clustering pipeline.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END-TO-END PROGRAMS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21: Complete Statistical Analysis Report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normality check, correlation matrix, regression, and prediction with visualisation.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84832"/>
            <a:ext cx="11064240" cy="3665728"/>
          </a:xfrm>
          <a:prstGeom prst="rect">
            <a:avLst>
              <a:gd name="adj" fmla="val 1497"/>
            </a:avLst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249424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950976" y="2249424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152144" y="2249424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68880"/>
            <a:ext cx="10515600" cy="323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data(mtcars); df &lt;- mtcars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print(summary(df)); sapply(df, sd)             # (i) Descriptive stats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shapiro_result &lt;- shapiro.test(df$mpg)          # (ii) Normality test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print(shapiro_result)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cor_matrix &lt;- cor(df)                           # (iii) Correlation matrix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print(round(cor_matrix, 2))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wt+hp+disp, data=df)          # (iv) Regression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print(summary(model))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df$predicted &lt;- predict(model)                  # (v) Prediction + visualisation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plot(df$mpg, df$predicted, xlab='Actual mpg', ylab='Predicted mpg',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pch=19, col='steelblue')</a:t>
            </a:r>
            <a:endParaRPr lang="en-US" sz="1250" dirty="0"/>
          </a:p>
          <a:p>
            <a:pPr indent="0" marL="0">
              <a:lnSpc>
                <a:spcPts val="1525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abline(0, 1, col='red', lwd=2)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860288"/>
            <a:ext cx="11064240" cy="476504"/>
          </a:xfrm>
          <a:prstGeom prst="rect">
            <a:avLst>
              <a:gd name="adj" fmla="val 9595"/>
            </a:avLst>
          </a:prstGeom>
          <a:solidFill>
            <a:srgbClr val="ED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60288"/>
            <a:ext cx="10698480" cy="47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shapiro.test() checks whether the response is approximately normal; the correlation matrix flags predictors strongly related to the response (or each other, indicating multicollinearity); the actual-vs-predicted plot with a 45° reference line gives a quick visual check of model fit.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Functions at a Glance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6217920"/>
              </a:tblGrid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.C() / .Call()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compiled C code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dyn.load()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 compiled shared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cppFunction() / sourceCpp()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and call C++ code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import() / source_python()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Python modules / functions from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r_to_py() / py_to_r()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objects between R and 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detectCores()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CPU cores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makeCluster() / stopCluster()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stop a socket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parLapply() / parSapply()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a function in parallel (socket cluster)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clusterExport() / mclapply()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workers / apply in parallel via forking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mean()/median()/var()/sd()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base/stats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descriptive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quantile()/summary()/cor()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base/stats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Quantiles, overview,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t.test() / chisq.test() / cor.test()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means / categorical association /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aov() / TukeyHSD()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and post-hoc pairwise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29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Functions at a Glance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773" y="789813"/>
            <a:ext cx="477774" cy="477774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6217920"/>
              </a:tblGrid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lm() / predict()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predict from a linear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 generalized linear model (logistic, Poisson, 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 non-linear least-squares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ts() / decompose()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decompose a time 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acf() / pacf() / adf.test()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stats/tseries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Autocorrelation, partial ACF, stationarity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auto.arima() / forecast() / accuracy()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ARIMA / generate &amp; evaluate forecasts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an exponential smoothing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kmeans()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Partition-based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dist() / hclust() / cutree()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data.table / fread()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large-table manipulation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filter()/mutate()/summarise()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dplyr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data transformation verbs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mapreduce() / keyval()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rmr2 (RHadoop)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a Hadoop MapReduce job in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3363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sparkR.session() / spark.lapply()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computation via Apache Spark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(35021P28)  •  UNIT V — INTERFACING R AND STATISTICS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2026-09-15T05:10:54Z</dcterms:created>
  <dcterms:modified xsi:type="dcterms:W3CDTF">2026-09-15T05:10:54Z</dcterms:modified>
</cp:coreProperties>
</file>