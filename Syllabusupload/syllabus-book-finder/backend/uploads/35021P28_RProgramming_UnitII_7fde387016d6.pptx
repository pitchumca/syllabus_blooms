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82" r:id="rId2"/>
    <p:sldId id="283" r:id="rId3"/>
    <p:sldId id="256" r:id="rId4"/>
    <p:sldId id="257" r:id="rId5"/>
    <p:sldId id="258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2" r:id="rId14"/>
    <p:sldId id="259" r:id="rId15"/>
    <p:sldId id="260" r:id="rId16"/>
    <p:sldId id="301" r:id="rId17"/>
    <p:sldId id="261" r:id="rId18"/>
    <p:sldId id="262" r:id="rId19"/>
    <p:sldId id="299" r:id="rId20"/>
    <p:sldId id="263" r:id="rId21"/>
    <p:sldId id="264" r:id="rId22"/>
    <p:sldId id="291" r:id="rId23"/>
    <p:sldId id="293" r:id="rId24"/>
    <p:sldId id="294" r:id="rId25"/>
    <p:sldId id="295" r:id="rId26"/>
    <p:sldId id="296" r:id="rId27"/>
    <p:sldId id="297" r:id="rId28"/>
    <p:sldId id="298" r:id="rId29"/>
    <p:sldId id="265" r:id="rId30"/>
    <p:sldId id="266" r:id="rId31"/>
    <p:sldId id="302" r:id="rId32"/>
    <p:sldId id="303" r:id="rId33"/>
    <p:sldId id="267" r:id="rId34"/>
    <p:sldId id="268" r:id="rId35"/>
    <p:sldId id="300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0AB31-276A-8FF4-EB09-44996C829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0294ED-D6CC-547C-5C5B-1043D3C5D1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B2A78-468E-ED44-2423-E08F5858E1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8279BA-5D56-4D1D-B800-451306E07291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E8586-E89C-267D-8E51-AC94A1631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2FB6D-17D1-6EFD-D8DB-BDF18E15C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C59214-723C-43C9-91B1-B85B33B585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534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12A84-3856-5AEB-9519-D5E17B343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F83AD-377D-5C46-E172-F1A249D4C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BDCCA-5439-ED73-C833-64187A41C9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8279BA-5D56-4D1D-B800-451306E07291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A368F-8CBA-F795-17EB-B647A5F5C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CB37E-4292-7B41-AECA-932E5D13A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C59214-723C-43C9-91B1-B85B33B585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335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geeksforgeeks.org/engineering-mathematics/matrice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4D27621-9ACC-B86F-AE6A-700B5FA34F2A}"/>
              </a:ext>
            </a:extLst>
          </p:cNvPr>
          <p:cNvSpPr txBox="1"/>
          <p:nvPr/>
        </p:nvSpPr>
        <p:spPr>
          <a:xfrm>
            <a:off x="3048000" y="3260074"/>
            <a:ext cx="6096000" cy="1171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Code: </a:t>
            </a:r>
            <a:r>
              <a:rPr lang="en-IN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35021P28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Title: </a:t>
            </a:r>
            <a:r>
              <a:rPr lang="en-IN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 Programming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Category: CC | L-T-P: 3-0-0 | Credits: 3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AC1918-6B48-F12C-8772-73617AABAABF}"/>
              </a:ext>
            </a:extLst>
          </p:cNvPr>
          <p:cNvSpPr txBox="1"/>
          <p:nvPr/>
        </p:nvSpPr>
        <p:spPr>
          <a:xfrm>
            <a:off x="2749733" y="1482567"/>
            <a:ext cx="6892414" cy="136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AARUPADAI VEEDU INSTITUTE OF TECHNOLOGY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(Constituent College of Vinayaka Mission's Research Foundation – Deemed to be University)</a:t>
            </a:r>
            <a:b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Science and Engineering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7ADCD5-96E0-AD56-18B6-EF299B672C88}"/>
              </a:ext>
            </a:extLst>
          </p:cNvPr>
          <p:cNvSpPr/>
          <p:nvPr/>
        </p:nvSpPr>
        <p:spPr>
          <a:xfrm>
            <a:off x="5909187" y="5086223"/>
            <a:ext cx="5820697" cy="14650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 Narrow" panose="020B0606020202030204" pitchFamily="34" charset="0"/>
              </a:rPr>
              <a:t>COURSE INSTRUCTOR: Dr. S. Pitchumani Angayarkanni</a:t>
            </a:r>
          </a:p>
          <a:p>
            <a:pPr algn="ctr"/>
            <a:r>
              <a:rPr lang="en-US" b="1" dirty="0">
                <a:latin typeface="Arial Narrow" panose="020B0606020202030204" pitchFamily="34" charset="0"/>
              </a:rPr>
              <a:t>Professor, Department of CSE, AVIT</a:t>
            </a:r>
            <a:endParaRPr lang="en-IN" b="1" dirty="0">
              <a:latin typeface="Arial Narrow" panose="020B0606020202030204" pitchFamily="34" charset="0"/>
            </a:endParaRPr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1AE1F801-DC1B-DDA4-CB25-7A618D4D3208}"/>
              </a:ext>
            </a:extLst>
          </p:cNvPr>
          <p:cNvGrpSpPr/>
          <p:nvPr/>
        </p:nvGrpSpPr>
        <p:grpSpPr>
          <a:xfrm>
            <a:off x="820882" y="-23868"/>
            <a:ext cx="9725891" cy="1219723"/>
            <a:chOff x="0" y="20432"/>
            <a:chExt cx="9725891" cy="1219723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AC61E8A-5BEE-45E1-566E-F5B00BE44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0432"/>
              <a:ext cx="4395354" cy="1219723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2D2ADEB-2CEC-DFBD-5DA3-13BA1DCCA6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7531" y="20433"/>
              <a:ext cx="1077796" cy="1105286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6D89561-4912-6761-71D0-2FF3CD61C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3325"/>
            <a:stretch>
              <a:fillRect/>
            </a:stretch>
          </p:blipFill>
          <p:spPr>
            <a:xfrm>
              <a:off x="7203529" y="178233"/>
              <a:ext cx="2522362" cy="9580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96723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466B8BB-6C63-CAFA-EB77-ABEB89C6B4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369962"/>
              </p:ext>
            </p:extLst>
          </p:nvPr>
        </p:nvGraphicFramePr>
        <p:xfrm>
          <a:off x="2266161" y="216440"/>
          <a:ext cx="8787026" cy="1654155"/>
        </p:xfrm>
        <a:graphic>
          <a:graphicData uri="http://schemas.openxmlformats.org/drawingml/2006/table">
            <a:tbl>
              <a:tblPr/>
              <a:tblGrid>
                <a:gridCol w="5491166">
                  <a:extLst>
                    <a:ext uri="{9D8B030D-6E8A-4147-A177-3AD203B41FA5}">
                      <a16:colId xmlns:a16="http://schemas.microsoft.com/office/drawing/2014/main" val="209623279"/>
                    </a:ext>
                  </a:extLst>
                </a:gridCol>
                <a:gridCol w="3295860">
                  <a:extLst>
                    <a:ext uri="{9D8B030D-6E8A-4147-A177-3AD203B41FA5}">
                      <a16:colId xmlns:a16="http://schemas.microsoft.com/office/drawing/2014/main" val="46626630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71120" rtl="0" fontAlgn="t">
                        <a:spcBef>
                          <a:spcPts val="265"/>
                        </a:spcBef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COURSE OUTCOMES</a:t>
                      </a:r>
                      <a:endParaRPr lang="en-IN" sz="160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557732"/>
                  </a:ext>
                </a:extLst>
              </a:tr>
              <a:tr h="400373">
                <a:tc gridSpan="2">
                  <a:txBody>
                    <a:bodyPr/>
                    <a:lstStyle/>
                    <a:p>
                      <a:pPr marL="71120"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On the successful completion of the course, students will be able to</a:t>
                      </a:r>
                      <a:endParaRPr lang="en-US" sz="160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718778"/>
                  </a:ext>
                </a:extLst>
              </a:tr>
              <a:tr h="918502">
                <a:tc>
                  <a:txBody>
                    <a:bodyPr/>
                    <a:lstStyle/>
                    <a:p>
                      <a:pPr marL="7112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CO2: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To Understand the use of R for Big Data analytics</a:t>
                      </a:r>
                      <a:endParaRPr lang="en-US" sz="1600" dirty="0"/>
                    </a:p>
                    <a:p>
                      <a:pPr marL="71120" rtl="0" fontAlgn="t">
                        <a:buNone/>
                      </a:pPr>
                      <a:endParaRPr lang="en-US" sz="160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310" rtl="0" fontAlgn="t">
                        <a:spcBef>
                          <a:spcPts val="590"/>
                        </a:spcBef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Understand &amp; Apply</a:t>
                      </a:r>
                      <a:endParaRPr lang="en-IN" sz="160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4983229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D548C7DE-4350-DA0B-D379-9F8F12270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4900" y="3444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9B626A-81EC-CD99-991C-16DB9E821902}"/>
              </a:ext>
            </a:extLst>
          </p:cNvPr>
          <p:cNvSpPr txBox="1"/>
          <p:nvPr/>
        </p:nvSpPr>
        <p:spPr>
          <a:xfrm>
            <a:off x="1548244" y="2956081"/>
            <a:ext cx="969471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Narrow" pitchFamily="34" charset="0"/>
              </a:rPr>
              <a:t> </a:t>
            </a:r>
          </a:p>
          <a:p>
            <a:r>
              <a:rPr lang="en-US" b="1" dirty="0">
                <a:latin typeface="Arial Narrow" pitchFamily="34" charset="0"/>
              </a:rPr>
              <a:t>MATRICES, ARRAYS AND LISTS</a:t>
            </a:r>
            <a:endParaRPr lang="en-US" dirty="0">
              <a:latin typeface="Arial Narrow" pitchFamily="34" charset="0"/>
            </a:endParaRPr>
          </a:p>
          <a:p>
            <a:r>
              <a:rPr lang="en-US" dirty="0">
                <a:latin typeface="Arial Narrow" pitchFamily="34" charset="0"/>
              </a:rPr>
              <a:t>Creating matrices – Matrix operations – Applying Functions to Matrix Rows and Columns – Adding and deleting rows and columns – Vector/Matrix Distinction – Avoiding Dimension Reduction – Higher Dimensional arrays – lists – Creating lists – General list operations – Accessing list components and values – applying functions to lists – recursive lists</a:t>
            </a:r>
          </a:p>
          <a:p>
            <a:br>
              <a:rPr lang="en-US" dirty="0"/>
            </a:br>
            <a:endParaRPr lang="en-IN" dirty="0"/>
          </a:p>
        </p:txBody>
      </p:sp>
      <p:sp>
        <p:nvSpPr>
          <p:cNvPr id="83969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038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937760"/>
            <a:ext cx="2743200" cy="2743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5303520"/>
            <a:ext cx="2377440" cy="2377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Matrices, Arrays and Lists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F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Structures, operations, functionals, and recursive data in 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1088136" cy="384048"/>
          </a:xfrm>
          <a:prstGeom prst="roundRect">
            <a:avLst>
              <a:gd name="adj" fmla="val 19048"/>
            </a:avLst>
          </a:prstGeom>
          <a:solidFill>
            <a:srgbClr val="0E454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114800"/>
            <a:ext cx="1088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892808" y="4114800"/>
            <a:ext cx="1760220" cy="384048"/>
          </a:xfrm>
          <a:prstGeom prst="roundRect">
            <a:avLst>
              <a:gd name="adj" fmla="val 19048"/>
            </a:avLst>
          </a:prstGeom>
          <a:solidFill>
            <a:srgbClr val="0E454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92808" y="4114800"/>
            <a:ext cx="17602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Functions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17620" y="4114800"/>
            <a:ext cx="1568196" cy="384048"/>
          </a:xfrm>
          <a:prstGeom prst="roundRect">
            <a:avLst>
              <a:gd name="adj" fmla="val 19048"/>
            </a:avLst>
          </a:prstGeom>
          <a:solidFill>
            <a:srgbClr val="0E454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17620" y="4114800"/>
            <a:ext cx="15681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rbind / cbind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550408" y="4114800"/>
            <a:ext cx="1472184" cy="384048"/>
          </a:xfrm>
          <a:prstGeom prst="roundRect">
            <a:avLst>
              <a:gd name="adj" fmla="val 19048"/>
            </a:avLst>
          </a:prstGeom>
          <a:solidFill>
            <a:srgbClr val="0E454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0408" y="4114800"/>
            <a:ext cx="1472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(N-D)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87184" y="4114800"/>
            <a:ext cx="800100" cy="384048"/>
          </a:xfrm>
          <a:prstGeom prst="roundRect">
            <a:avLst>
              <a:gd name="adj" fmla="val 19048"/>
            </a:avLst>
          </a:prstGeom>
          <a:solidFill>
            <a:srgbClr val="0E454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87184" y="4114800"/>
            <a:ext cx="8001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51876" y="4114800"/>
            <a:ext cx="1184148" cy="384048"/>
          </a:xfrm>
          <a:prstGeom prst="roundRect">
            <a:avLst>
              <a:gd name="adj" fmla="val 19048"/>
            </a:avLst>
          </a:prstGeom>
          <a:solidFill>
            <a:srgbClr val="0E454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51876" y="4114800"/>
            <a:ext cx="11841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 •  R Programming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76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matrices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0370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03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76" dirty="0"/>
          </a:p>
        </p:txBody>
      </p:sp>
      <p:sp>
        <p:nvSpPr>
          <p:cNvPr id="9" name="Text 7"/>
          <p:cNvSpPr/>
          <p:nvPr/>
        </p:nvSpPr>
        <p:spPr>
          <a:xfrm>
            <a:off x="1188720" y="215798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operations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99008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90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76" dirty="0"/>
          </a:p>
        </p:txBody>
      </p:sp>
      <p:sp>
        <p:nvSpPr>
          <p:cNvPr id="12" name="Text 10"/>
          <p:cNvSpPr/>
          <p:nvPr/>
        </p:nvSpPr>
        <p:spPr>
          <a:xfrm>
            <a:off x="1188720" y="294436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functions to rows &amp; columns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7764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76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76" dirty="0"/>
          </a:p>
        </p:txBody>
      </p:sp>
      <p:sp>
        <p:nvSpPr>
          <p:cNvPr id="15" name="Text 13"/>
          <p:cNvSpPr/>
          <p:nvPr/>
        </p:nvSpPr>
        <p:spPr>
          <a:xfrm>
            <a:off x="1188720" y="373075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&amp; deleting rows/columns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56285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628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76" dirty="0"/>
          </a:p>
        </p:txBody>
      </p:sp>
      <p:sp>
        <p:nvSpPr>
          <p:cNvPr id="18" name="Text 16"/>
          <p:cNvSpPr/>
          <p:nvPr/>
        </p:nvSpPr>
        <p:spPr>
          <a:xfrm>
            <a:off x="1188720" y="451713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/ matrix distinction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349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76" dirty="0"/>
          </a:p>
        </p:txBody>
      </p:sp>
      <p:sp>
        <p:nvSpPr>
          <p:cNvPr id="21" name="Text 19"/>
          <p:cNvSpPr/>
          <p:nvPr/>
        </p:nvSpPr>
        <p:spPr>
          <a:xfrm>
            <a:off x="1188720" y="53035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dimension reduction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14173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76" dirty="0"/>
          </a:p>
        </p:txBody>
      </p:sp>
      <p:sp>
        <p:nvSpPr>
          <p:cNvPr id="24" name="Text 22"/>
          <p:cNvSpPr/>
          <p:nvPr/>
        </p:nvSpPr>
        <p:spPr>
          <a:xfrm>
            <a:off x="6949440" y="13716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Higher-dimensional arrays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220370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2203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76" dirty="0"/>
          </a:p>
        </p:txBody>
      </p:sp>
      <p:sp>
        <p:nvSpPr>
          <p:cNvPr id="27" name="Text 25"/>
          <p:cNvSpPr/>
          <p:nvPr/>
        </p:nvSpPr>
        <p:spPr>
          <a:xfrm>
            <a:off x="6949440" y="215798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— creation, access, apply, recursion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299008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2990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76" dirty="0"/>
          </a:p>
        </p:txBody>
      </p:sp>
      <p:sp>
        <p:nvSpPr>
          <p:cNvPr id="30" name="Text 28"/>
          <p:cNvSpPr/>
          <p:nvPr/>
        </p:nvSpPr>
        <p:spPr>
          <a:xfrm>
            <a:off x="6949440" y="294436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&amp; membership checks, which()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0" y="3776472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3776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76" dirty="0"/>
          </a:p>
        </p:txBody>
      </p:sp>
      <p:sp>
        <p:nvSpPr>
          <p:cNvPr id="33" name="Text 31"/>
          <p:cNvSpPr/>
          <p:nvPr/>
        </p:nvSpPr>
        <p:spPr>
          <a:xfrm>
            <a:off x="6949440" y="373075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/ Reduce / Filter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0" y="456285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45628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76" dirty="0"/>
          </a:p>
        </p:txBody>
      </p:sp>
      <p:sp>
        <p:nvSpPr>
          <p:cNvPr id="36" name="Text 34"/>
          <p:cNvSpPr/>
          <p:nvPr/>
        </p:nvSpPr>
        <p:spPr>
          <a:xfrm>
            <a:off x="6949440" y="451713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vs arrays vs lists + worked programs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00800" y="53492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5349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76" dirty="0"/>
          </a:p>
        </p:txBody>
      </p:sp>
      <p:sp>
        <p:nvSpPr>
          <p:cNvPr id="39" name="Text 37"/>
          <p:cNvSpPr/>
          <p:nvPr/>
        </p:nvSpPr>
        <p:spPr>
          <a:xfrm>
            <a:off x="6949440" y="53035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&amp; analytics use cases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|  Unit: Matrices, Arrays &amp; Lists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Matrices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matrix is a two-dimensional array where every element shares the same data type.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matrix(), or by giving a vector a dim attribute.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fill order is column-major; set byrow = TRUE to fill across rows instead.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nrow / ncol set shape; dimnames() names rows and columns.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63640" y="155448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0C2B2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0" y="1719072"/>
            <a:ext cx="489204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 &lt;- matrix(1:6, nrow = 2, ncol = 3)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[,1] [,2] [,3]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[1,]    1    3    5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[2,]    2    4    6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m2 &lt;- matrix(1:6, nrow = 2, byrow = TRUE)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dim(m2) &lt;- c(3, 2)   # reshape via dim&lt;-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448056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0C2B2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4645152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rownames(m) &lt;- c('r1','r2')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colnames(m) &lt;- c('c1','c2','c3')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|  Unit: Matrices, Arrays &amp; Lists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81095" y="3575206"/>
            <a:ext cx="2882545" cy="296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288" y="287338"/>
            <a:ext cx="11403012" cy="6288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63" y="811213"/>
            <a:ext cx="10050462" cy="523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458624" y="16488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b="1" dirty="0"/>
              <a:t>2.1 Matrix where all rows and columns are filled by a single constant 'k'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40934" y="0"/>
            <a:ext cx="100270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/>
              <a:t>2.2 Diagonal matrix</a:t>
            </a:r>
          </a:p>
          <a:p>
            <a:pPr fontAlgn="base"/>
            <a:r>
              <a:rPr lang="en-US" dirty="0"/>
              <a:t>A diagonal matrix is a matrix in which the entries outside the main diagonal are all zero. To create such a R matrix the syntax is given below: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6313" y="868363"/>
            <a:ext cx="10240962" cy="512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93703" y="0"/>
            <a:ext cx="111465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/>
              <a:t>2.3 Identity matrix</a:t>
            </a:r>
          </a:p>
          <a:p>
            <a:pPr fontAlgn="base"/>
            <a:r>
              <a:rPr lang="en-US" dirty="0"/>
              <a:t>An identity matrix in which all the elements of the principal diagonal are ones and all other elements are zeros. To create such a R matrix the syntax is given below: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09900" y="896938"/>
            <a:ext cx="6173788" cy="506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8444" y="410198"/>
            <a:ext cx="886483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/>
              <a:t>2.4. Matrix Metrics</a:t>
            </a:r>
          </a:p>
          <a:p>
            <a:pPr algn="just" fontAlgn="base"/>
            <a:r>
              <a:rPr lang="en-US" dirty="0">
                <a:latin typeface="Arial Narrow" pitchFamily="34" charset="0"/>
              </a:rPr>
              <a:t>Matrix metrics tell you about the Matrix you created. You might want to know the number of rows, number of columns, dimensions of a Matrix.</a:t>
            </a:r>
          </a:p>
          <a:p>
            <a:pPr algn="just" fontAlgn="base"/>
            <a:r>
              <a:rPr lang="en-US" dirty="0">
                <a:latin typeface="Arial Narrow" pitchFamily="34" charset="0"/>
              </a:rPr>
              <a:t>Below Example will help you in answering following questions:</a:t>
            </a:r>
          </a:p>
          <a:p>
            <a:pPr algn="just" fontAlgn="base"/>
            <a:r>
              <a:rPr lang="en-US" dirty="0">
                <a:latin typeface="Arial Narrow" pitchFamily="34" charset="0"/>
              </a:rPr>
              <a:t>How can you know the dimension of the matrix?</a:t>
            </a:r>
          </a:p>
          <a:p>
            <a:pPr algn="just" fontAlgn="base"/>
            <a:r>
              <a:rPr lang="en-US" dirty="0">
                <a:latin typeface="Arial Narrow" pitchFamily="34" charset="0"/>
              </a:rPr>
              <a:t>How can you know how many rows are there in the matrix?</a:t>
            </a:r>
          </a:p>
          <a:p>
            <a:pPr algn="just" fontAlgn="base"/>
            <a:r>
              <a:rPr lang="en-US" dirty="0">
                <a:latin typeface="Arial Narrow" pitchFamily="34" charset="0"/>
              </a:rPr>
              <a:t>How many columns are in the matrix?</a:t>
            </a:r>
          </a:p>
          <a:p>
            <a:pPr algn="just" fontAlgn="base"/>
            <a:r>
              <a:rPr lang="en-US" dirty="0">
                <a:latin typeface="Arial Narrow" pitchFamily="34" charset="0"/>
              </a:rPr>
              <a:t>How many elements are there in the matrix?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94789" y="922945"/>
            <a:ext cx="3783635" cy="5549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0975" y="0"/>
            <a:ext cx="112149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/>
              <a:t>Accessing Elements of a Matrix</a:t>
            </a:r>
          </a:p>
          <a:p>
            <a:pPr fontAlgn="base"/>
            <a:r>
              <a:rPr lang="en-US" dirty="0"/>
              <a:t>We can access elements in the R </a:t>
            </a:r>
            <a:r>
              <a:rPr lang="en-US" u="sng" dirty="0">
                <a:hlinkClick r:id="rId2"/>
              </a:rPr>
              <a:t>matrices</a:t>
            </a:r>
            <a:r>
              <a:rPr lang="en-US" dirty="0"/>
              <a:t> using the same convention that is followed in data frames. So, we will have a matrix and followed by a square bracket with a comma in between array. Value before the comma is used to access rows and value that is after the comma is used to access columns.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7468" y="1410567"/>
            <a:ext cx="4690603" cy="4452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69302" y="998833"/>
            <a:ext cx="5543046" cy="5395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66586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5819686" y="0"/>
            <a:ext cx="341832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 b="57341"/>
          <a:stretch>
            <a:fillRect/>
          </a:stretch>
        </p:blipFill>
        <p:spPr bwMode="auto">
          <a:xfrm>
            <a:off x="6161518" y="0"/>
            <a:ext cx="4513851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27903" y="58738"/>
            <a:ext cx="6465235" cy="674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MATRICES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Operations — Arithmetic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733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, - , *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Element-wise addition, subtraction, multiplication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697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%*%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309981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matrix (inner product) multiplication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648456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7216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t(m)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31520" y="412394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Transpose — rows become columns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672584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7457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%o% 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31520" y="51480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product of two vectors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60020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0C2B2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1764792"/>
            <a:ext cx="4892040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 &lt;- matrix(1:4, 2, 2)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b &lt;- matrix(5:8, 2, 2)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 + b            # element-wise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 %*% b          # matrix product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t(a)             # transpose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solve(a)         # matrix inverse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det(a)           # determinant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diag(a)          # extract diagonal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diag(3)          # 3x3 identity matrix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 == b           # element-wise compare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|  Unit: Matrices, Arrays &amp; Lists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Functions to Rows and Columns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apply(X, MARGIN, FUN, ...)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76" dirty="0"/>
          </a:p>
        </p:txBody>
      </p:sp>
      <p:sp>
        <p:nvSpPr>
          <p:cNvPr id="7" name="Text 5"/>
          <p:cNvSpPr/>
          <p:nvPr/>
        </p:nvSpPr>
        <p:spPr>
          <a:xfrm>
            <a:off x="1097280" y="20574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= 1  </a:t>
            </a: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FUN to each row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0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76" dirty="0"/>
          </a:p>
        </p:txBody>
      </p:sp>
      <p:sp>
        <p:nvSpPr>
          <p:cNvPr id="10" name="Text 8"/>
          <p:cNvSpPr/>
          <p:nvPr/>
        </p:nvSpPr>
        <p:spPr>
          <a:xfrm>
            <a:off x="1097280" y="262432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= 2  </a:t>
            </a: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FUN to each column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76" dirty="0"/>
          </a:p>
        </p:txBody>
      </p:sp>
      <p:sp>
        <p:nvSpPr>
          <p:cNvPr id="13" name="Text 11"/>
          <p:cNvSpPr/>
          <p:nvPr/>
        </p:nvSpPr>
        <p:spPr>
          <a:xfrm>
            <a:off x="1097280" y="319125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= c(1,2)  </a:t>
            </a: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FUN to every element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06908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vector, matrix, or list depending on what FUN produces for each margin.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50876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0C2B2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1673352"/>
            <a:ext cx="4892040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 &lt;- matrix(1:6, nrow = 2)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apply(m, 1, sum)     # row sums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9 12 15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apply(m, 2, sum)     # column sums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3 7 11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apply(m, 1, function(x) x^2)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convenience shortcuts: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rowSums(m); colSums(m)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rowMeans(m); colMeans(m)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|  Unit: Matrices, Arrays &amp; Lists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8A315-5B29-805D-B8CA-B54B782C35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9C9511-5DF0-F999-8C42-5048A4B626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B47DF8-4102-746A-0359-A5E9D7E8C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276" y="999146"/>
            <a:ext cx="8425448" cy="451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640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and Deleting Rows and Columns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0C2B2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39112"/>
            <a:ext cx="493776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 &lt;- rbind(m, c(7, 8, 9))   # add a row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 &lt;- cbind(m, c(10, 11))    # add a column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 &lt;- rbind(m, new = c(1,2,3))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 &lt;- cbind(m, total = rowSums(m))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3434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0C2B2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4507992"/>
            <a:ext cx="493776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 &lt;- m[-1, ]      # delete row 1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 &lt;- m[, -2]      # delete column 2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 &lt;- m[-c(1,3), ] # delete rows 1 &amp; 3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E6F5F1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148840"/>
            <a:ext cx="48920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rbind() and cbind() do not modify a matrix in place — they return a new matrix that must be reassigned.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indices remove elements; there is no dedicated delete function.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rbind/cbind can combine matrices of matching dimensions, not just add a single row or column.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a matrix repeatedly in a loop is inefficient — preallocate when the final size is known.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|  Unit: Matrices, Arrays &amp; Lists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/ Matrix Distinction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matrix is a vector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R, a matrix is simply an atomic vector with a dim attribute attached.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is.matrix(x) is TRUE only when dim has length 2.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attributes(m) reveals the dim (and dimnames) attribute behind the matrix.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0C2B2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719072"/>
            <a:ext cx="4892040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v &lt;- 1:6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is.matrix(v)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FALSE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dim(v) &lt;- c(2, 3)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is.matrix(v)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TRUE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attributes(v)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$dim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2 3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class(1:6)          # "integer"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class(matrix(1:6,2))# "matrix" "array"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|  Unit: Matrices, Arrays &amp; Lists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1D539-4629-5381-D9AA-2DCFF83CDF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7FB1F6-4B37-FC4D-3739-DD902F90AC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9A3C4-7BA5-26C3-C3D4-6395A177D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206" y="571101"/>
            <a:ext cx="6363588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64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GOTCHA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Avoiding Dimension Reduction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a single row or column drops the matrix down to a plain vector by default.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dimension reduction and can silently break code expecting a matrix.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 with drop = FALSE inside the [ ] index.</a:t>
            </a:r>
            <a:endParaRPr lang="en-US" sz="14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applies to data frames — [ , j] drops, [ , j, drop=FALSE] keeps shape.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263640" y="16002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0C2B2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0" y="1764792"/>
            <a:ext cx="489204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 &lt;- matrix(1:6, nrow = 2)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m[1, ]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1 3 5        # dropped to a vector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is.matrix(m[1, ])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FALSE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41148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0C2B2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4279392"/>
            <a:ext cx="489204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m[1, , drop = FALSE]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[,1] [,2] [,3]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[1,]    1    3    5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is.matrix(m[1, , drop = FALSE])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TRUE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|  Unit: Matrices, Arrays &amp; Lists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TWO DIMENSIONS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Higher-Dimensional Arrays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array() generalizes matrix() to any number of dimensions.</a:t>
            </a:r>
            <a:endParaRPr lang="en-US" sz="140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dim argument is a vector giving the size of each dimension.</a:t>
            </a:r>
            <a:endParaRPr lang="en-US" sz="140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are still stored in one contiguous vector, filled in column-major order across the first dimension, then the next.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with one comma per dimension: a[i, j, k].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6364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0C2B2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0" y="1764792"/>
            <a:ext cx="4892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 &lt;- array(1:24, dim = c(2, 3, 4))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dim(a)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2 3 4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a[1, 2, 3]     # single element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a[, , 1]       # first 2x3 'slice'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a[1, , ]       # a 3x4 matrix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apply(a, 3, sum)   # sum each slice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dimnames(a) &lt;- list(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c('r1','r2'), c('c1','c2','c3'),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c('t1','t2','t3','t4'))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|  Unit: Matrices, Arrays &amp; Lists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5337" y="0"/>
            <a:ext cx="1079618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/>
              <a:t>1. Creating an Array</a:t>
            </a:r>
          </a:p>
          <a:p>
            <a:pPr fontAlgn="base"/>
            <a:r>
              <a:rPr lang="en-US" dirty="0"/>
              <a:t>An R array can be created with the use of array() the function. A list of elements is passed to the array() functions along with the dimensions as required.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67013" y="1235075"/>
            <a:ext cx="6659562" cy="439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62250" y="58738"/>
            <a:ext cx="6669088" cy="674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3999" y="0"/>
            <a:ext cx="9397525" cy="624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05570" y="0"/>
            <a:ext cx="6887910" cy="6690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4295" y="0"/>
            <a:ext cx="660597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19338" y="406400"/>
            <a:ext cx="7554912" cy="6049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 t="3189"/>
          <a:stretch>
            <a:fillRect/>
          </a:stretch>
        </p:blipFill>
        <p:spPr bwMode="auto">
          <a:xfrm>
            <a:off x="2409825" y="367469"/>
            <a:ext cx="7373938" cy="633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— Creating Lists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is R's general-purpose container: each component can hold a different type and length.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list(), optionally naming each component.</a:t>
            </a:r>
            <a:endParaRPr lang="en-US" sz="14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can themselves be vectors, matrices, functions, or other lists.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0749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E6F5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51663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must hold one type; a list can mix types — that's the core distinction.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0C2B2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764792"/>
            <a:ext cx="4892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mylist &lt;- list(name = 'Aravind',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scores = c(88, 92, 79),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passed = TRUE)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mylist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"Aravind"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$scores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88 92 79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$passed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TRUE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str(mylist)   # compact structure 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|  Unit: Matrices, Arrays &amp; Lists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LISTS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List Operations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length(lst)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926080" y="160020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top-level components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46888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names(lst)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926080" y="246888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or set component names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33756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c(lst1, lst2)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926080" y="333756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lists together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20624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unlist(lst)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926080" y="420624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a list into a vector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507492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rapply()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926080" y="507492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apply a function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0C2B2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1764792"/>
            <a:ext cx="4892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lst &lt;- list(a = 1:3, b = 'x', c = TRUE)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length(lst)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3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names(lst)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"a" "b" "c"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lst$d &lt;- list(1, 2)     # add component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lst$b &lt;- NULL           # remove component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combined &lt;- c(list(x=1), list(y=2))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unlist(list(1, 2, 3))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1 2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|  Unit: Matrices, Arrays &amp; Lists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1AA3F-B7FE-6366-AB66-FFD1D5BD9F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94B73A-9F28-B07F-E00C-D00EEBC69F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EFC3C4-D586-F393-F41D-2A76A0E6A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226" y="-25912"/>
            <a:ext cx="8330989" cy="576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2032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2BFA4-64B6-BC24-348B-5BA507FAE1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589D37-33FF-CA90-4160-4C31A5533D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99128E-CA52-D376-35D9-092CBA03D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21" y="437746"/>
            <a:ext cx="9461627" cy="519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6145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RULES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Accessing List Components and Values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58191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lst[i]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0116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bracket — returns a sub-list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63347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lst[[i]]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30632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bracket — returns the value itself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68503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lst$name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41148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sign — returns the value by name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73659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lst[["name"]]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51663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bracket by name — same result as $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80644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023436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8064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9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[ ] keeps list-ness; double [[ ]] unwraps to the content.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0C2B2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92240" y="1764792"/>
            <a:ext cx="4892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lst &lt;- list(name='R', ver=4.4, ok=TRUE)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lst[1]        # a list of length 1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"R"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lst[[1]]      # the character value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"R"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lst$ver       # 4.4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lst[["ver"]] # 4.4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lst[c(1,3)]   # multiple components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|  Unit: Matrices, Arrays &amp; Lists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FUNCTIONALS FOR LISTS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Functions to Lists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733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lapply(lst, FUN)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FUN to each element — always returns a list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3949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7249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sapply(lst, FUN)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lapply, but simplifies to a vector/matrix when possible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3949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7764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vapply(lst, FUN, 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sapply, with an enforced return type/length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53949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8280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mapply(FUN, l1, l2)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21208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FUN over several lists in parallel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0C2B2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1764792"/>
            <a:ext cx="4892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lst &lt;- list(a = 1:3, b = 4:6, c = 7:9)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lapply(lst, sum)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 [1] 6   $b [1] 15   $c [1] 24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sapply(lst, sum)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 b  c 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6 15 24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sapply(lst, range)   # simplifies to matrix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mapply(function(x,y) x+y, 1:3, 4:6)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|  Unit: Matrices, Arrays &amp; Lists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C087315-162B-7836-E090-83FABD73F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493" y="4880060"/>
            <a:ext cx="4763165" cy="120984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F2315-6C61-5D8B-80F0-C06661B6C8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AEB037-CAEE-B53F-C106-FE65C8A91C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EB336D-2818-7428-5737-0EC803CA5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626" y="1318918"/>
            <a:ext cx="7868748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1659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Recursive Lists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are recursive: any component may itself be a list, nested to any depth.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is.recursive(x) is TRUE for lists; is.atomic(x) is TRUE for vectors — the two are complementary.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[[ ]] or $ to drill into nested components.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rapply(lst, FUN, how='unlist') walks a nested list and applies FUN at every leaf.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6364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0C2B2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0" y="1764792"/>
            <a:ext cx="4892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nested &lt;- list(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 = list(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name = 'Priya',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grades = list(math=90, sci=85)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active = TRUE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nested$student$grades$math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90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is.recursive(nested)   # TRUE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is.recursive(1:5)      # FALSE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rapply(nested, function(x) x,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how = 'unlist')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|  Unit: Matrices, Arrays &amp; Lists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GUARDING YOUR CODE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Types and Membership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733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is.list(x)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x is a list object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3949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7249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is.null(x)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a component is NULL (often after removal)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3949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7764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 %in% names(lst)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that name exists in the list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53949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8280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%in% v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521208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value occurs anywhere in vector v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0C2B2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1764792"/>
            <a:ext cx="4892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lst &lt;- list(a = 1, b = 2, c = NULL)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is.list(lst)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TRUE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is.null(lst$c)   # c was set to NULL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TRUE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is.null(lst$a)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FALSE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"b" %in% names(lst)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TRUE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"score" %in% names(lst)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FALSE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if (!("score" %in% names(lst)))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lst$score &lt;- 0   # safe default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|  Unit: Matrices, Arrays &amp; Lists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POSITION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Locating Values — which(), which.min(), which.max()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which(condition) returns the indices where a logical vector is TRUE.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which.min(x) / which.max(x) return the position of the first minimum or maximum.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apply() to find the position of the min/max in every row or column of a matrix.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which(m == val, arr.ind = TRUE) returns row/column coordinates inside a matrix.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6364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0C2B2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0" y="1764792"/>
            <a:ext cx="4892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v &lt;- c(4, 9, 2, 9)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which(v &gt; 5)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2 4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which.min(v)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3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which.max(v)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2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 &lt;- matrix(c(9,2,5,1,8,3), nrow = 2)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apply(m, 1, which.min)  # per-row position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2 1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which(m == 1, arr.ind = TRUE)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row col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[1,]   2   2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|  Unit: Matrices, Arrays &amp; Lists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PROGRAMMING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Map(), Reduce(), and Filter()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Map(f, l1, l2, ...)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11226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 element-wise across one or more lists — like a multi-list lapply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3949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82549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Reduce(f, x)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334670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a list/vector to one value by combining elements pairwise</a:t>
            </a:r>
          </a:p>
          <a:p>
            <a:r>
              <a:rPr lang="en-US" dirty="0"/>
              <a:t>combines or collapses elements of a list into a single value by iteratively applying a two-argument function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3949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Filter(f, x)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458114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the elements for which f(x) is TRUE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5321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them for a pipeline: Filter → Map → Reduce.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0C2B2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764792"/>
            <a:ext cx="4892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nums &lt;- list(1, 2, 3, 4, 5)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Map(function(x, y) x + y,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list(1,2,3), list(10,20,30))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[[1]] 11  [[2]] 22  [[3]] 33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Reduce(`+`, nums)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15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Reduce(function(a,b) a*b, nums,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accumulate = TRUE)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 1  2  6 24 120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Filter(function(x) x %% 2 == 0, nums)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[[1]] [1] 2   [[2]] [1] 4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|  Unit: Matrices, Arrays &amp; Lists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SAFELY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rbind() / cbind() — Type Coercion and Errors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rbind() and cbind() coerce every input to one common type — numeric + character becomes all-character.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row/column counts raise an error rather than silently padding.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vectors are recycled to fit; if the shorter length doesn't divide evenly, R issues a warning.</a:t>
            </a:r>
            <a:endParaRPr lang="en-US" sz="13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risky binds in tryCatch() to handle dimension-mismatch errors gracefully.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26364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0C2B2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0" y="1764792"/>
            <a:ext cx="4892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rbind(c(1,2), c('a','b'))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[,1] [,2]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[1,] "1"  "2"     # coerced to character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[2,] "a"  "b"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tryCatch(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rbind(matrix(1:4,2,2),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matrix(1:6,2,3)),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 = function(e)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cat('Error:', conditionMessage(e))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numbers of columns of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matrices must match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|  Unit: Matrices, Arrays &amp; Lists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Matrices vs. Arrays vs. Lists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2976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number (N-D)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or nested, no dims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type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type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mix of types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by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matrix()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index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m[i, j]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a[i, j, k]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lst[[i]] or lst$name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Tables, linear algebra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Multi-way data (time × var × group)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Heterogeneous records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|  Unit: Matrices, Arrays &amp; Lists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PROGRAM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Grade Matrix — End to 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4-subject × 5-student matrix, then use rowSums/colMeans, rank students, add a rank column, and drop a subject.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0C2B2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359152"/>
            <a:ext cx="4937760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marks &lt;- matrix(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c(78,85,92,66,73, 88,79,95,70,60,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91,84,77,68,82, 60,95,89,73,77),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nrow = 4, byrow = TRUE,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dimnames = list(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c('Math','Phys','Chem','CS'),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paste0('S', 1:5)))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colMeans(marks)      # avg per student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rowSums(marks)       # total per subject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total &lt;- colSums(marks)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rank  &lt;- rank(-total)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marks &lt;- rbind(marks, Rank = rank)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marks &lt;- marks[-2, ]  # drop Physics row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0C2B2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764792"/>
            <a:ext cx="4892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colMeans(marks)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S1    S2    S3    S4    S5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79.25 86.75 88.25 69.25 73.00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total &lt;- colSums(marks)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rank(-total)      # 1 = highest total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 S2 S3 S4 S5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3  2  1  5  4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marks['Rank', ]   # after rbind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 S2 S3 S4 S5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3  2  1  5  4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|  Unit: Matrices, Arrays &amp; Lists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PROGRAM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Solving a System of Linear Equations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Ax = b, solve(A, b) gives x directly; solve(A) alone gives the matrix inverse.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det(A) checks whether A is invertible — a zero determinant means no unique solution.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t(A) transposes A, useful for building normal equations such as t(A) %*% 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50749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E6F5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51663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system:  2x + y = 5,  x + 3y = 10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0C2B2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764792"/>
            <a:ext cx="4892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 &lt;- matrix(c(2,1,1,3), nrow = 2,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byrow = TRUE)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b &lt;- c(5, 10)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det(A)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5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x &lt;- solve(A, b)   # solve for x, y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x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1 3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solve(A)           # inverse of A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t(A) %*% A         # normal-equation form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|  Unit: Matrices, Arrays &amp; Lists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PROGRAM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Recursive List — University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Department → Courses → Students as nested lists.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$ or [[ ]] to reach any depth; the same pattern models a patient record (patient → visits → prescriptions).</a:t>
            </a:r>
            <a:endParaRPr lang="en-US" sz="13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 a nested path to add or remove leaves without rebuilding the whole structure.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26364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0C2B2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0" y="1764792"/>
            <a:ext cx="4892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univ &lt;- list(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dept = 'CS',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courses = list(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list(name = 'R Programming',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students = list('Aravind',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'Priya')),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list(name = 'DBMS',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students = list('Karthik'))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))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univ$courses[[1]]$students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[[1]] "Aravind"  [[2]] "Priya"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univ$courses[[1]]$students[[3]] &lt;-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'Divya'          # add a student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|  Unit: Matrices, Arrays &amp; Lists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PROGRAM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Catalogue with Lists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each book as a small list; the catalogue itself is a list of books.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book by appending with c(); remove by title using Filter().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author with Filter(); summarize titles in one line with sapply().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6364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0C2B2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0" y="1764792"/>
            <a:ext cx="4892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catalogue &lt;- list(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list(title='R Basics', author='Rao'),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list(title='Data Sci', author='Iyer'))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catalogue &lt;- c(catalogue, list(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list(title='Stats 101', author='Rao')))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catalogue &lt;- Filter(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function(b) b$title != 'Stats 101',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catalogue)                # remove by title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Filter(function(b) b$author=='Rao',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catalogue)            # search author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sapply(catalogue, function(b) b$title)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|  Unit: Matrices, Arrays &amp; Lists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PROGRAM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Array — Multi-Year Survey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Regions × Questions × Years as one 3D array for a repeated survey.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a[, , k] slices out the full region-by-question table for year k.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apply(a, 3, mean) tracks how the overall average moves across years.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6364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0C2B2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0" y="1764792"/>
            <a:ext cx="4892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survey &lt;- array(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round(runif(60, 1, 5)),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dim = c(4, 5, 3),         # 4x5x3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dimnames = list(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paste0('Region', 1:4),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paste0('Q', 1:5),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c('2023','2024','2025')))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survey[, , '2024']    # 2024 slice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apply(survey, 3, mean)  # yearly trend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2023  2024  2025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2.95  3.10  3.35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|  Unit: Matrices, Arrays &amp; Lists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Matrices in Big Data &amp; Analytics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73352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Document-term matrix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206240" y="1673352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= documents, columns = vocabulary terms; counts or TF-IDF weights power text mining and search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10642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724912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206240" y="2724912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correlations between numeric variables guide feature selection and multicollinearity checks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110642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776472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matrices (Matrix pkg)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206240" y="3776472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mostly-zero big matrices compactly so million-row datasets fit in memory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110642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828032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crossprod() / parallel apply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206240" y="4828032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t(A) %*% A via crossprod(A) is faster; apply-family functions parallelize with parallel/furrr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|  Unit: Matrices, Arrays &amp; Lists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2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188720"/>
            <a:ext cx="3657600" cy="3657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5212080"/>
            <a:ext cx="2926080" cy="2926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12080" cy="1042416"/>
          </a:xfrm>
          <a:prstGeom prst="roundRect">
            <a:avLst>
              <a:gd name="adj" fmla="val 8772"/>
            </a:avLst>
          </a:prstGeom>
          <a:solidFill>
            <a:srgbClr val="0E4548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947672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476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64" dirty="0"/>
          </a:p>
        </p:txBody>
      </p:sp>
      <p:sp>
        <p:nvSpPr>
          <p:cNvPr id="9" name="Text 7"/>
          <p:cNvSpPr/>
          <p:nvPr/>
        </p:nvSpPr>
        <p:spPr>
          <a:xfrm>
            <a:off x="1298448" y="187452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A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are vectors with a dim attribute — same rules, extra structure.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212080" cy="1042416"/>
          </a:xfrm>
          <a:prstGeom prst="roundRect">
            <a:avLst>
              <a:gd name="adj" fmla="val 8772"/>
            </a:avLst>
          </a:prstGeom>
          <a:solidFill>
            <a:srgbClr val="0E4548"/>
          </a:solidFill>
          <a:ln/>
        </p:spPr>
      </p:sp>
      <p:sp>
        <p:nvSpPr>
          <p:cNvPr id="11" name="Shape 9"/>
          <p:cNvSpPr/>
          <p:nvPr/>
        </p:nvSpPr>
        <p:spPr>
          <a:xfrm>
            <a:off x="6473952" y="1947672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73952" y="19476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64" dirty="0"/>
          </a:p>
        </p:txBody>
      </p:sp>
      <p:sp>
        <p:nvSpPr>
          <p:cNvPr id="13" name="Text 11"/>
          <p:cNvSpPr/>
          <p:nvPr/>
        </p:nvSpPr>
        <p:spPr>
          <a:xfrm>
            <a:off x="6967728" y="187452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A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apply() drives row/column functionals; rbind/cbind reshape without mutating in place.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990088"/>
            <a:ext cx="5212080" cy="1042416"/>
          </a:xfrm>
          <a:prstGeom prst="roundRect">
            <a:avLst>
              <a:gd name="adj" fmla="val 8772"/>
            </a:avLst>
          </a:prstGeom>
          <a:solidFill>
            <a:srgbClr val="0E4548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3154680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154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64" dirty="0"/>
          </a:p>
        </p:txBody>
      </p:sp>
      <p:sp>
        <p:nvSpPr>
          <p:cNvPr id="17" name="Text 15"/>
          <p:cNvSpPr/>
          <p:nvPr/>
        </p:nvSpPr>
        <p:spPr>
          <a:xfrm>
            <a:off x="1298448" y="3081528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A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Single-index subsetting drops dimensions unless drop = FALSE is set.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2990088"/>
            <a:ext cx="5212080" cy="1042416"/>
          </a:xfrm>
          <a:prstGeom prst="roundRect">
            <a:avLst>
              <a:gd name="adj" fmla="val 8772"/>
            </a:avLst>
          </a:prstGeom>
          <a:solidFill>
            <a:srgbClr val="0E4548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3952" y="3154680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473952" y="3154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64" dirty="0"/>
          </a:p>
        </p:txBody>
      </p:sp>
      <p:sp>
        <p:nvSpPr>
          <p:cNvPr id="21" name="Text 19"/>
          <p:cNvSpPr/>
          <p:nvPr/>
        </p:nvSpPr>
        <p:spPr>
          <a:xfrm>
            <a:off x="6967728" y="3081528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A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array() extends matrices to any number of dimensions.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197096"/>
            <a:ext cx="5212080" cy="1042416"/>
          </a:xfrm>
          <a:prstGeom prst="roundRect">
            <a:avLst>
              <a:gd name="adj" fmla="val 8772"/>
            </a:avLst>
          </a:prstGeom>
          <a:solidFill>
            <a:srgbClr val="0E4548"/>
          </a:solidFill>
          <a:ln/>
        </p:spPr>
      </p:sp>
      <p:sp>
        <p:nvSpPr>
          <p:cNvPr id="23" name="Shape 21"/>
          <p:cNvSpPr/>
          <p:nvPr/>
        </p:nvSpPr>
        <p:spPr>
          <a:xfrm>
            <a:off x="804672" y="4361688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43616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64" dirty="0"/>
          </a:p>
        </p:txBody>
      </p:sp>
      <p:sp>
        <p:nvSpPr>
          <p:cNvPr id="25" name="Text 23"/>
          <p:cNvSpPr/>
          <p:nvPr/>
        </p:nvSpPr>
        <p:spPr>
          <a:xfrm>
            <a:off x="1298448" y="4288536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A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hold mixed types and nest recursively; [[ ]] unwraps, [ ] keeps list-ness.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09360" y="4197096"/>
            <a:ext cx="5212080" cy="1042416"/>
          </a:xfrm>
          <a:prstGeom prst="roundRect">
            <a:avLst>
              <a:gd name="adj" fmla="val 8772"/>
            </a:avLst>
          </a:prstGeom>
          <a:solidFill>
            <a:srgbClr val="0E4548"/>
          </a:solidFill>
          <a:ln/>
        </p:spPr>
      </p:sp>
      <p:sp>
        <p:nvSpPr>
          <p:cNvPr id="27" name="Shape 25"/>
          <p:cNvSpPr/>
          <p:nvPr/>
        </p:nvSpPr>
        <p:spPr>
          <a:xfrm>
            <a:off x="6473952" y="4361688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6473952" y="43616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64" dirty="0"/>
          </a:p>
        </p:txBody>
      </p:sp>
      <p:sp>
        <p:nvSpPr>
          <p:cNvPr id="29" name="Text 27"/>
          <p:cNvSpPr/>
          <p:nvPr/>
        </p:nvSpPr>
        <p:spPr>
          <a:xfrm>
            <a:off x="6967728" y="4288536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A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lapply / sapply / mapply apply functions idiomatically across list elements.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5404104"/>
            <a:ext cx="5212080" cy="1042416"/>
          </a:xfrm>
          <a:prstGeom prst="roundRect">
            <a:avLst>
              <a:gd name="adj" fmla="val 8772"/>
            </a:avLst>
          </a:prstGeom>
          <a:solidFill>
            <a:srgbClr val="0E4548"/>
          </a:solidFill>
          <a:ln/>
        </p:spPr>
      </p:sp>
      <p:sp>
        <p:nvSpPr>
          <p:cNvPr id="31" name="Shape 29"/>
          <p:cNvSpPr/>
          <p:nvPr/>
        </p:nvSpPr>
        <p:spPr>
          <a:xfrm>
            <a:off x="804672" y="5568696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" y="55686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64" dirty="0"/>
          </a:p>
        </p:txBody>
      </p:sp>
      <p:sp>
        <p:nvSpPr>
          <p:cNvPr id="33" name="Text 31"/>
          <p:cNvSpPr/>
          <p:nvPr/>
        </p:nvSpPr>
        <p:spPr>
          <a:xfrm>
            <a:off x="1298448" y="5495544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A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is.list / is.null / %in% guard code; which.min/which.max locate positions.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09360" y="5404104"/>
            <a:ext cx="5212080" cy="1042416"/>
          </a:xfrm>
          <a:prstGeom prst="roundRect">
            <a:avLst>
              <a:gd name="adj" fmla="val 8772"/>
            </a:avLst>
          </a:prstGeom>
          <a:solidFill>
            <a:srgbClr val="0E4548"/>
          </a:solidFill>
          <a:ln/>
        </p:spPr>
      </p:sp>
      <p:sp>
        <p:nvSpPr>
          <p:cNvPr id="35" name="Shape 33"/>
          <p:cNvSpPr/>
          <p:nvPr/>
        </p:nvSpPr>
        <p:spPr>
          <a:xfrm>
            <a:off x="6473952" y="5568696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6473952" y="55686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64" dirty="0"/>
          </a:p>
        </p:txBody>
      </p:sp>
      <p:sp>
        <p:nvSpPr>
          <p:cNvPr id="37" name="Text 35"/>
          <p:cNvSpPr/>
          <p:nvPr/>
        </p:nvSpPr>
        <p:spPr>
          <a:xfrm>
            <a:off x="6967728" y="5495544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A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/ Reduce / Filter and the worked programs show these ideas end to end.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4506</Words>
  <Application>Microsoft Office PowerPoint</Application>
  <PresentationFormat>Widescreen</PresentationFormat>
  <Paragraphs>643</Paragraphs>
  <Slides>48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Arial Narrow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Pitchumani Angayarkanni</cp:lastModifiedBy>
  <cp:revision>13</cp:revision>
  <dcterms:created xsi:type="dcterms:W3CDTF">2026-07-25T07:38:43Z</dcterms:created>
  <dcterms:modified xsi:type="dcterms:W3CDTF">2026-07-27T13:15:07Z</dcterms:modified>
</cp:coreProperties>
</file>